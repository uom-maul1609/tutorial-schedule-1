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The ONI is a continuous number, but a composite needs groups, so we draw lines at ±0.5 °C. The notebook labels each month on its own: above +0.5 °C is an El Niño month, below −0.5 °C a La Niña month, and everything else neutral. NOAA's official definition is stricter: the threshold must be crossed for five overlapping three-month seasons in a row. Either is defensible, but say which you used. On the plot, the red and blue areas are the months that go into each group. Note that the 54 El Niño months come from only about six events, and 14 of them belong to the very strong 2015–16 event, so the El Niño composite is partly a 2015–16 composite.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ENSO events are tied to the seasons. They usually start growing in northern spring or summer, peak around November to January, and fade by the following spring. The bar chart shows how much the ONI varies in each three-month season: about twice as much in Nov–Jan as in Apr–Jun. So many El Niño months are winter months, and the cloud response may really be a winter response. A question restricted to one season (DJF, for example) can therefore be sharper. Because the ONI is a three-month average, any timing is blurred by about a month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Follow the three steps on the figure. Step 1: each dot is one month's cloud anomaly, coloured by ENSO state. Step 2: average the El Niño, neutral and La Niña months separately. Step 3: subtract the La Niña average from the El Niño average. That difference is the composite, in the same units as the variable (percentage points of cloud); positive means cloudier during El Niño. It compares two groups of months: it doesn't use the neutral months or how large the ONI was. The cloud series in this figure is made up, to show the method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Committing to a prediction before you look at the result is how science works: a prediction you could be wrong about is a real test. Write down your expected sign for each region and a one-line physical reason, then compare with the map. Any surprise is valuable: an unexpected result, explained carefully, makes a strong 'however' for your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This is the map you'll produce in notebook section 2. The strong red tongue along the equator in the central and eastern Pacific means more cloud during El Niño; the strong blue patch over the Maritime Continent means less. Together they show the Walker circulation weakening and convection shifting east. Elsewhere the signals are weaker and patchier, and some of those weaker areas are where interesting questions can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B2A41"/>
          </a:solidFill>
          <a:ln/>
        </p:spPr>
      </p:sp>
      <p:sp>
        <p:nvSpPr>
          <p:cNvPr id="3" name="Text 1"/>
          <p:cNvSpPr/>
          <p:nvPr/>
        </p:nvSpPr>
        <p:spPr>
          <a:xfrm>
            <a:off x="548640" y="27432"/>
            <a:ext cx="6400800" cy="182880"/>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ENSO &amp; CLOUD COVER PROJECT  ·  WRITING STRAND</a:t>
            </a:r>
            <a:endParaRPr lang="en-US" sz="900" dirty="0"/>
          </a:p>
        </p:txBody>
      </p:sp>
      <p:sp>
        <p:nvSpPr>
          <p:cNvPr id="4" name="Text 2"/>
          <p:cNvSpPr/>
          <p:nvPr/>
        </p:nvSpPr>
        <p:spPr>
          <a:xfrm>
            <a:off x="7982712" y="27432"/>
            <a:ext cx="3657600" cy="18288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Tutorial 3  ·  Thu 15 Oct</a:t>
            </a:r>
            <a:endParaRPr lang="en-US" sz="900" dirty="0"/>
          </a:p>
        </p:txBody>
      </p:sp>
      <p:sp>
        <p:nvSpPr>
          <p:cNvPr id="5" name="Shape 3"/>
          <p:cNvSpPr/>
          <p:nvPr/>
        </p:nvSpPr>
        <p:spPr>
          <a:xfrm>
            <a:off x="548640" y="1024128"/>
            <a:ext cx="822960" cy="54864"/>
          </a:xfrm>
          <a:prstGeom prst="rect">
            <a:avLst/>
          </a:prstGeom>
          <a:solidFill>
            <a:srgbClr val="D98E1F"/>
          </a:solidFill>
          <a:ln/>
        </p:spPr>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S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_1"/>
          <p:cNvSpPr/>
          <p:nvPr/>
        </p:nvSpPr>
        <p:spPr>
          <a:xfrm>
            <a:off x="0" y="0"/>
            <a:ext cx="256032" cy="6858000"/>
          </a:xfrm>
          <a:prstGeom prst="rect">
            <a:avLst/>
          </a:prstGeom>
          <a:solidFill>
            <a:srgbClr val="D98E1F"/>
          </a:solidFill>
          <a:ln w="12700">
            <a:solidFill>
              <a:srgbClr val="D98E1F"/>
            </a:solidFill>
            <a:prstDash val="solid"/>
          </a:ln>
        </p:spPr>
      </p:sp>
      <p:sp>
        <p:nvSpPr>
          <p:cNvPr id="3" name="text_2"/>
          <p:cNvSpPr txBox="1"/>
          <p:nvPr/>
        </p:nvSpPr>
        <p:spPr>
          <a:xfrm>
            <a:off x="822960" y="960120"/>
            <a:ext cx="10058400"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F2C27A"/>
                </a:solidFill>
                <a:latin typeface="Calibri" pitchFamily="34" charset="0"/>
                <a:ea typeface="Calibri" pitchFamily="34" charset="-122"/>
                <a:cs typeface="Calibri" pitchFamily="34" charset="-120"/>
              </a:rPr>
              <a:t>TUTORIAL 3  ·  THURSDAY 15 OCTOBER</a:t>
            </a:r>
            <a:endParaRPr lang="en-US" sz="1300" dirty="0"/>
          </a:p>
        </p:txBody>
      </p:sp>
      <p:sp>
        <p:nvSpPr>
          <p:cNvPr id="4" name="text_3"/>
          <p:cNvSpPr txBox="1"/>
          <p:nvPr/>
        </p:nvSpPr>
        <p:spPr>
          <a:xfrm>
            <a:off x="822960" y="1417320"/>
            <a:ext cx="10332720" cy="1737360"/>
          </a:xfrm>
          <a:prstGeom prst="rect">
            <a:avLst/>
          </a:prstGeom>
          <a:noFill/>
          <a:ln/>
        </p:spPr>
        <p:txBody>
          <a:bodyPr wrap="square" lIns="635" tIns="635" rIns="635" bIns="635" rtlCol="0" anchor="t"/>
          <a:lstStyle/>
          <a:p>
            <a:pPr algn="l" indent="0" marL="0">
              <a:lnSpc>
                <a:spcPct val="95000"/>
              </a:lnSpc>
              <a:buNone/>
            </a:pPr>
            <a:r>
              <a:rPr lang="en-US" sz="4200" b="1" dirty="0">
                <a:solidFill>
                  <a:srgbClr val="FFFFFF"/>
                </a:solidFill>
                <a:latin typeface="Georgia" pitchFamily="34" charset="0"/>
                <a:ea typeface="Georgia" pitchFamily="34" charset="-122"/>
                <a:cs typeface="Georgia" pitchFamily="34" charset="-120"/>
              </a:rPr>
              <a:t>Hook, problem, purpose: the Introduction</a:t>
            </a:r>
            <a:endParaRPr lang="en-US" sz="4200" dirty="0"/>
          </a:p>
        </p:txBody>
      </p:sp>
      <p:sp>
        <p:nvSpPr>
          <p:cNvPr id="5" name="text_4"/>
          <p:cNvSpPr txBox="1"/>
          <p:nvPr/>
        </p:nvSpPr>
        <p:spPr>
          <a:xfrm>
            <a:off x="822960" y="3246120"/>
            <a:ext cx="10058400" cy="822960"/>
          </a:xfrm>
          <a:prstGeom prst="rect">
            <a:avLst/>
          </a:prstGeom>
          <a:noFill/>
          <a:ln/>
        </p:spPr>
        <p:txBody>
          <a:bodyPr wrap="square" lIns="635" tIns="635" rIns="635" bIns="635" rtlCol="0" anchor="t"/>
          <a:lstStyle/>
          <a:p>
            <a:pPr algn="l" indent="0" marL="0">
              <a:lnSpc>
                <a:spcPct val="100000"/>
              </a:lnSpc>
              <a:buNone/>
            </a:pPr>
            <a:r>
              <a:rPr lang="en-US" sz="2000" i="1" dirty="0">
                <a:solidFill>
                  <a:srgbClr val="C9D6E3"/>
                </a:solidFill>
                <a:latin typeface="Calibri" pitchFamily="34" charset="0"/>
                <a:ea typeface="Calibri" pitchFamily="34" charset="-122"/>
                <a:cs typeface="Calibri" pitchFamily="34" charset="-120"/>
              </a:rPr>
              <a:t>Turning a pattern on a map into a reason to read on</a:t>
            </a:r>
            <a:endParaRPr lang="en-US" sz="2000" dirty="0"/>
          </a:p>
        </p:txBody>
      </p:sp>
      <p:sp>
        <p:nvSpPr>
          <p:cNvPr id="6" name="leave_5"/>
          <p:cNvSpPr/>
          <p:nvPr/>
        </p:nvSpPr>
        <p:spPr>
          <a:xfrm>
            <a:off x="822960" y="4343400"/>
            <a:ext cx="6949440" cy="960120"/>
          </a:xfrm>
          <a:prstGeom prst="roundRect">
            <a:avLst>
              <a:gd name="adj" fmla="val 7619"/>
            </a:avLst>
          </a:prstGeom>
          <a:solidFill>
            <a:srgbClr val="2E4A6B"/>
          </a:solidFill>
          <a:ln w="12700">
            <a:solidFill>
              <a:srgbClr val="2E4A6B"/>
            </a:solidFill>
            <a:prstDash val="solid"/>
          </a:ln>
        </p:spPr>
      </p:sp>
      <p:sp>
        <p:nvSpPr>
          <p:cNvPr id="7" name="text_6"/>
          <p:cNvSpPr txBox="1"/>
          <p:nvPr/>
        </p:nvSpPr>
        <p:spPr>
          <a:xfrm>
            <a:off x="1005840" y="4434840"/>
            <a:ext cx="274320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F2C27A"/>
                </a:solidFill>
                <a:latin typeface="Calibri" pitchFamily="34" charset="0"/>
                <a:ea typeface="Calibri" pitchFamily="34" charset="-122"/>
                <a:cs typeface="Calibri" pitchFamily="34" charset="-120"/>
              </a:rPr>
              <a:t>YOU LEAVE WITH</a:t>
            </a:r>
            <a:endParaRPr lang="en-US" sz="1050" dirty="0"/>
          </a:p>
        </p:txBody>
      </p:sp>
      <p:sp>
        <p:nvSpPr>
          <p:cNvPr id="8" name="text_7"/>
          <p:cNvSpPr txBox="1"/>
          <p:nvPr/>
        </p:nvSpPr>
        <p:spPr>
          <a:xfrm>
            <a:off x="1005840" y="4681728"/>
            <a:ext cx="658368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A draft purpose statement, a ‘however’ hook and a working title for a question you might investigate.</a:t>
            </a:r>
            <a:endParaRPr lang="en-US" sz="1500" dirty="0"/>
          </a:p>
        </p:txBody>
      </p:sp>
      <p:sp>
        <p:nvSpPr>
          <p:cNvPr id="9" name="text_8"/>
          <p:cNvSpPr txBox="1"/>
          <p:nvPr/>
        </p:nvSpPr>
        <p:spPr>
          <a:xfrm>
            <a:off x="822960" y="6355080"/>
            <a:ext cx="8229600" cy="274320"/>
          </a:xfrm>
          <a:prstGeom prst="rect">
            <a:avLst/>
          </a:prstGeom>
          <a:noFill/>
          <a:ln/>
        </p:spPr>
        <p:txBody>
          <a:bodyPr wrap="square" lIns="635" tIns="635" rIns="635" bIns="635" rtlCol="0" anchor="t"/>
          <a:lstStyle/>
          <a:p>
            <a:pPr algn="l" indent="0" marL="0">
              <a:lnSpc>
                <a:spcPct val="100000"/>
              </a:lnSpc>
              <a:buNone/>
            </a:pPr>
            <a:r>
              <a:rPr lang="en-US" sz="1000" dirty="0">
                <a:solidFill>
                  <a:srgbClr val="8FA6BF"/>
                </a:solidFill>
                <a:latin typeface="Calibri" pitchFamily="34" charset="0"/>
                <a:ea typeface="Calibri" pitchFamily="34" charset="-122"/>
                <a:cs typeface="Calibri" pitchFamily="34" charset="-120"/>
              </a:rPr>
              <a:t>EART29200  ·  ENSO and cloud cover mini-project  ·  Writing strand</a:t>
            </a:r>
            <a:endParaRPr lang="en-US" sz="1000" dirty="0"/>
          </a:p>
        </p:txBody>
      </p:sp>
      <p:sp>
        <p:nvSpPr>
          <p:cNvPr id="10" name="dot_9"/>
          <p:cNvSpPr/>
          <p:nvPr/>
        </p:nvSpPr>
        <p:spPr>
          <a:xfrm>
            <a:off x="4852264" y="5715000"/>
            <a:ext cx="182880" cy="182880"/>
          </a:xfrm>
          <a:prstGeom prst="ellipse">
            <a:avLst/>
          </a:prstGeom>
          <a:solidFill>
            <a:srgbClr val="6C8EAD"/>
          </a:solidFill>
          <a:ln w="6350">
            <a:solidFill>
              <a:srgbClr val="6C8EAD"/>
            </a:solidFill>
            <a:prstDash val="solid"/>
          </a:ln>
        </p:spPr>
      </p:sp>
      <p:sp>
        <p:nvSpPr>
          <p:cNvPr id="11" name="dot_10"/>
          <p:cNvSpPr/>
          <p:nvPr/>
        </p:nvSpPr>
        <p:spPr>
          <a:xfrm>
            <a:off x="5181448" y="5715000"/>
            <a:ext cx="182880" cy="182880"/>
          </a:xfrm>
          <a:prstGeom prst="ellipse">
            <a:avLst/>
          </a:prstGeom>
          <a:solidFill>
            <a:srgbClr val="6C8EAD"/>
          </a:solidFill>
          <a:ln w="6350">
            <a:solidFill>
              <a:srgbClr val="6C8EAD"/>
            </a:solidFill>
            <a:prstDash val="solid"/>
          </a:ln>
        </p:spPr>
      </p:sp>
      <p:sp>
        <p:nvSpPr>
          <p:cNvPr id="12" name="dot_11"/>
          <p:cNvSpPr/>
          <p:nvPr/>
        </p:nvSpPr>
        <p:spPr>
          <a:xfrm>
            <a:off x="5510632" y="5715000"/>
            <a:ext cx="182880" cy="182880"/>
          </a:xfrm>
          <a:prstGeom prst="ellipse">
            <a:avLst/>
          </a:prstGeom>
          <a:solidFill>
            <a:srgbClr val="D98E1F"/>
          </a:solidFill>
          <a:ln w="6350">
            <a:solidFill>
              <a:srgbClr val="6C8EAD"/>
            </a:solidFill>
            <a:prstDash val="solid"/>
          </a:ln>
        </p:spPr>
      </p:sp>
      <p:sp>
        <p:nvSpPr>
          <p:cNvPr id="13" name="dot_12"/>
          <p:cNvSpPr/>
          <p:nvPr/>
        </p:nvSpPr>
        <p:spPr>
          <a:xfrm>
            <a:off x="5839816" y="5715000"/>
            <a:ext cx="182880" cy="182880"/>
          </a:xfrm>
          <a:prstGeom prst="ellipse">
            <a:avLst/>
          </a:prstGeom>
          <a:solidFill>
            <a:srgbClr val="2E4A6B"/>
          </a:solidFill>
          <a:ln w="6350">
            <a:solidFill>
              <a:srgbClr val="6C8EAD"/>
            </a:solidFill>
            <a:prstDash val="solid"/>
          </a:ln>
        </p:spPr>
      </p:sp>
      <p:sp>
        <p:nvSpPr>
          <p:cNvPr id="14" name="dot_13"/>
          <p:cNvSpPr/>
          <p:nvPr/>
        </p:nvSpPr>
        <p:spPr>
          <a:xfrm>
            <a:off x="6169000" y="5715000"/>
            <a:ext cx="182880" cy="182880"/>
          </a:xfrm>
          <a:prstGeom prst="ellipse">
            <a:avLst/>
          </a:prstGeom>
          <a:solidFill>
            <a:srgbClr val="2E4A6B"/>
          </a:solidFill>
          <a:ln w="6350">
            <a:solidFill>
              <a:srgbClr val="6C8EAD"/>
            </a:solidFill>
            <a:prstDash val="solid"/>
          </a:ln>
        </p:spPr>
      </p:sp>
      <p:sp>
        <p:nvSpPr>
          <p:cNvPr id="15" name="dot_14"/>
          <p:cNvSpPr/>
          <p:nvPr/>
        </p:nvSpPr>
        <p:spPr>
          <a:xfrm>
            <a:off x="6498184" y="5715000"/>
            <a:ext cx="182880" cy="182880"/>
          </a:xfrm>
          <a:prstGeom prst="ellipse">
            <a:avLst/>
          </a:prstGeom>
          <a:solidFill>
            <a:srgbClr val="2E4A6B"/>
          </a:solidFill>
          <a:ln w="6350">
            <a:solidFill>
              <a:srgbClr val="6C8EAD"/>
            </a:solidFill>
            <a:prstDash val="solid"/>
          </a:ln>
        </p:spPr>
      </p:sp>
      <p:sp>
        <p:nvSpPr>
          <p:cNvPr id="16" name="dot_15"/>
          <p:cNvSpPr/>
          <p:nvPr/>
        </p:nvSpPr>
        <p:spPr>
          <a:xfrm>
            <a:off x="6827368" y="5715000"/>
            <a:ext cx="182880" cy="182880"/>
          </a:xfrm>
          <a:prstGeom prst="ellipse">
            <a:avLst/>
          </a:prstGeom>
          <a:solidFill>
            <a:srgbClr val="2E4A6B"/>
          </a:solidFill>
          <a:ln w="6350">
            <a:solidFill>
              <a:srgbClr val="6C8EAD"/>
            </a:solidFill>
            <a:prstDash val="solid"/>
          </a:ln>
        </p:spPr>
      </p:sp>
      <p:sp>
        <p:nvSpPr>
          <p:cNvPr id="17" name="dot_16"/>
          <p:cNvSpPr/>
          <p:nvPr/>
        </p:nvSpPr>
        <p:spPr>
          <a:xfrm>
            <a:off x="7156552" y="5715000"/>
            <a:ext cx="182880" cy="182880"/>
          </a:xfrm>
          <a:prstGeom prst="ellipse">
            <a:avLst/>
          </a:prstGeom>
          <a:solidFill>
            <a:srgbClr val="2E4A6B"/>
          </a:solidFill>
          <a:ln w="6350">
            <a:solidFill>
              <a:srgbClr val="6C8EAD"/>
            </a:solidFill>
            <a:prstDash val="solid"/>
          </a:ln>
        </p:spPr>
      </p:sp>
      <p:sp>
        <p:nvSpPr>
          <p:cNvPr id="18" name="text_17"/>
          <p:cNvSpPr txBox="1"/>
          <p:nvPr/>
        </p:nvSpPr>
        <p:spPr>
          <a:xfrm>
            <a:off x="0" y="593445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AFC2D6"/>
                </a:solidFill>
                <a:latin typeface="Calibri" pitchFamily="34" charset="0"/>
                <a:ea typeface="Calibri" pitchFamily="34" charset="-122"/>
                <a:cs typeface="Calibri" pitchFamily="34" charset="-120"/>
              </a:rPr>
              <a:t>Tutorial 3 of 8  ·  Semester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_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Today's plan</a:t>
            </a:r>
            <a:endParaRPr lang="en-US" sz="2800" dirty="0"/>
          </a:p>
        </p:txBody>
      </p:sp>
      <p:sp>
        <p:nvSpPr>
          <p:cNvPr id="3" name="text_19"/>
          <p:cNvSpPr txBox="1"/>
          <p:nvPr/>
        </p:nvSpPr>
        <p:spPr>
          <a:xfrm>
            <a:off x="548640" y="1234440"/>
            <a:ext cx="11064240" cy="685800"/>
          </a:xfrm>
          <a:prstGeom prst="rect">
            <a:avLst/>
          </a:prstGeom>
          <a:noFill/>
          <a:ln/>
        </p:spPr>
        <p:txBody>
          <a:bodyPr wrap="square" lIns="635" tIns="635" rIns="635" bIns="635" rtlCol="0" anchor="t"/>
          <a:lstStyle/>
          <a:p>
            <a:pPr algn="l" indent="0" marL="0">
              <a:lnSpc>
                <a:spcPct val="100000"/>
              </a:lnSpc>
              <a:buNone/>
            </a:pPr>
            <a:r>
              <a:rPr lang="en-US" sz="1900" b="1" dirty="0">
                <a:solidFill>
                  <a:srgbClr val="D98E1F"/>
                </a:solidFill>
                <a:latin typeface="Calibri" pitchFamily="34" charset="0"/>
                <a:ea typeface="Calibri" pitchFamily="34" charset="-122"/>
                <a:cs typeface="Calibri" pitchFamily="34" charset="-120"/>
              </a:rPr>
              <a:t>Goal:  </a:t>
            </a:r>
            <a:r>
              <a:rPr lang="en-US" sz="1900" b="1" dirty="0">
                <a:solidFill>
                  <a:srgbClr val="1B2A41"/>
                </a:solidFill>
                <a:latin typeface="Calibri" pitchFamily="34" charset="0"/>
                <a:ea typeface="Calibri" pitchFamily="34" charset="-122"/>
                <a:cs typeface="Calibri" pitchFamily="34" charset="-120"/>
              </a:rPr>
              <a:t>Draft the opening and the purpose statement for a question you might investigate.</a:t>
            </a:r>
            <a:endParaRPr lang="en-US" sz="1900" dirty="0"/>
          </a:p>
        </p:txBody>
      </p:sp>
      <p:sp>
        <p:nvSpPr>
          <p:cNvPr id="4" name="num_20"/>
          <p:cNvSpPr/>
          <p:nvPr/>
        </p:nvSpPr>
        <p:spPr>
          <a:xfrm>
            <a:off x="685800" y="2057400"/>
            <a:ext cx="384048" cy="384048"/>
          </a:xfrm>
          <a:prstGeom prst="ellipse">
            <a:avLst/>
          </a:prstGeom>
          <a:solidFill>
            <a:srgbClr val="1B2A41"/>
          </a:solidFill>
          <a:ln w="12700">
            <a:solidFill>
              <a:srgbClr val="1B2A41"/>
            </a:solidFill>
            <a:prstDash val="solid"/>
          </a:ln>
        </p:spPr>
      </p:sp>
      <p:sp>
        <p:nvSpPr>
          <p:cNvPr id="5" name="text_21"/>
          <p:cNvSpPr txBox="1"/>
          <p:nvPr/>
        </p:nvSpPr>
        <p:spPr>
          <a:xfrm>
            <a:off x="685800" y="20574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_22"/>
          <p:cNvSpPr txBox="1"/>
          <p:nvPr/>
        </p:nvSpPr>
        <p:spPr>
          <a:xfrm>
            <a:off x="1234440" y="2039112"/>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Check-in: what did your reverse outline show?</a:t>
            </a:r>
            <a:endParaRPr lang="en-US" sz="1600" dirty="0"/>
          </a:p>
        </p:txBody>
      </p:sp>
      <p:sp>
        <p:nvSpPr>
          <p:cNvPr id="7" name="num_23"/>
          <p:cNvSpPr/>
          <p:nvPr/>
        </p:nvSpPr>
        <p:spPr>
          <a:xfrm>
            <a:off x="685800" y="2715768"/>
            <a:ext cx="384048" cy="384048"/>
          </a:xfrm>
          <a:prstGeom prst="ellipse">
            <a:avLst/>
          </a:prstGeom>
          <a:solidFill>
            <a:srgbClr val="1B2A41"/>
          </a:solidFill>
          <a:ln w="12700">
            <a:solidFill>
              <a:srgbClr val="1B2A41"/>
            </a:solidFill>
            <a:prstDash val="solid"/>
          </a:ln>
        </p:spPr>
      </p:sp>
      <p:sp>
        <p:nvSpPr>
          <p:cNvPr id="8" name="text_24"/>
          <p:cNvSpPr txBox="1"/>
          <p:nvPr/>
        </p:nvSpPr>
        <p:spPr>
          <a:xfrm>
            <a:off x="685800" y="2715768"/>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_25"/>
          <p:cNvSpPr txBox="1"/>
          <p:nvPr/>
        </p:nvSpPr>
        <p:spPr>
          <a:xfrm>
            <a:off x="1234440" y="2697480"/>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Methods: thresholds, ENSO's calendar, composites</a:t>
            </a:r>
            <a:endParaRPr lang="en-US" sz="1600" dirty="0"/>
          </a:p>
        </p:txBody>
      </p:sp>
      <p:sp>
        <p:nvSpPr>
          <p:cNvPr id="10" name="num_26"/>
          <p:cNvSpPr/>
          <p:nvPr/>
        </p:nvSpPr>
        <p:spPr>
          <a:xfrm>
            <a:off x="685800" y="3374136"/>
            <a:ext cx="384048" cy="384048"/>
          </a:xfrm>
          <a:prstGeom prst="ellipse">
            <a:avLst/>
          </a:prstGeom>
          <a:solidFill>
            <a:srgbClr val="1B2A41"/>
          </a:solidFill>
          <a:ln w="12700">
            <a:solidFill>
              <a:srgbClr val="1B2A41"/>
            </a:solidFill>
            <a:prstDash val="solid"/>
          </a:ln>
        </p:spPr>
      </p:sp>
      <p:sp>
        <p:nvSpPr>
          <p:cNvPr id="11" name="text_27"/>
          <p:cNvSpPr txBox="1"/>
          <p:nvPr/>
        </p:nvSpPr>
        <p:spPr>
          <a:xfrm>
            <a:off x="685800" y="3374136"/>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_28"/>
          <p:cNvSpPr txBox="1"/>
          <p:nvPr/>
        </p:nvSpPr>
        <p:spPr>
          <a:xfrm>
            <a:off x="1234440" y="3355848"/>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Predict before you plot</a:t>
            </a:r>
            <a:endParaRPr lang="en-US" sz="1600" dirty="0"/>
          </a:p>
        </p:txBody>
      </p:sp>
      <p:sp>
        <p:nvSpPr>
          <p:cNvPr id="13" name="num_29"/>
          <p:cNvSpPr/>
          <p:nvPr/>
        </p:nvSpPr>
        <p:spPr>
          <a:xfrm>
            <a:off x="685800" y="4032504"/>
            <a:ext cx="384048" cy="384048"/>
          </a:xfrm>
          <a:prstGeom prst="ellipse">
            <a:avLst/>
          </a:prstGeom>
          <a:solidFill>
            <a:srgbClr val="1B2A41"/>
          </a:solidFill>
          <a:ln w="12700">
            <a:solidFill>
              <a:srgbClr val="1B2A41"/>
            </a:solidFill>
            <a:prstDash val="solid"/>
          </a:ln>
        </p:spPr>
      </p:sp>
      <p:sp>
        <p:nvSpPr>
          <p:cNvPr id="14" name="text_30"/>
          <p:cNvSpPr txBox="1"/>
          <p:nvPr/>
        </p:nvSpPr>
        <p:spPr>
          <a:xfrm>
            <a:off x="685800" y="4032504"/>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_31"/>
          <p:cNvSpPr txBox="1"/>
          <p:nvPr/>
        </p:nvSpPr>
        <p:spPr>
          <a:xfrm>
            <a:off x="1234440" y="4014216"/>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The three moves of an Introduction; openings that work</a:t>
            </a:r>
            <a:endParaRPr lang="en-US" sz="1600" dirty="0"/>
          </a:p>
        </p:txBody>
      </p:sp>
      <p:sp>
        <p:nvSpPr>
          <p:cNvPr id="16" name="num_32"/>
          <p:cNvSpPr/>
          <p:nvPr/>
        </p:nvSpPr>
        <p:spPr>
          <a:xfrm>
            <a:off x="685800" y="4690872"/>
            <a:ext cx="384048" cy="384048"/>
          </a:xfrm>
          <a:prstGeom prst="ellipse">
            <a:avLst/>
          </a:prstGeom>
          <a:solidFill>
            <a:srgbClr val="1B2A41"/>
          </a:solidFill>
          <a:ln w="12700">
            <a:solidFill>
              <a:srgbClr val="1B2A41"/>
            </a:solidFill>
            <a:prstDash val="solid"/>
          </a:ln>
        </p:spPr>
      </p:sp>
      <p:sp>
        <p:nvSpPr>
          <p:cNvPr id="17" name="text_33"/>
          <p:cNvSpPr txBox="1"/>
          <p:nvPr/>
        </p:nvSpPr>
        <p:spPr>
          <a:xfrm>
            <a:off x="685800" y="4690872"/>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_34"/>
          <p:cNvSpPr txBox="1"/>
          <p:nvPr/>
        </p:nvSpPr>
        <p:spPr>
          <a:xfrm>
            <a:off x="1234440" y="4672584"/>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The purpose statement; synthesising literature</a:t>
            </a:r>
            <a:endParaRPr lang="en-US" sz="1600" dirty="0"/>
          </a:p>
        </p:txBody>
      </p:sp>
      <p:sp>
        <p:nvSpPr>
          <p:cNvPr id="19" name="card_35"/>
          <p:cNvSpPr/>
          <p:nvPr/>
        </p:nvSpPr>
        <p:spPr>
          <a:xfrm>
            <a:off x="8092440" y="2011680"/>
            <a:ext cx="3520440" cy="3246120"/>
          </a:xfrm>
          <a:prstGeom prst="roundRect">
            <a:avLst>
              <a:gd name="adj" fmla="val 2254"/>
            </a:avLst>
          </a:prstGeom>
          <a:solidFill>
            <a:srgbClr val="FBEBD0"/>
          </a:solidFill>
          <a:ln w="9525">
            <a:solidFill>
              <a:srgbClr val="FBEBD0"/>
            </a:solidFill>
            <a:prstDash val="solid"/>
          </a:ln>
        </p:spPr>
      </p:sp>
      <p:sp>
        <p:nvSpPr>
          <p:cNvPr id="20" name="tag_36"/>
          <p:cNvSpPr/>
          <p:nvPr/>
        </p:nvSpPr>
        <p:spPr>
          <a:xfrm>
            <a:off x="8257032" y="2139696"/>
            <a:ext cx="1545336" cy="256032"/>
          </a:xfrm>
          <a:prstGeom prst="roundRect">
            <a:avLst>
              <a:gd name="adj" fmla="val 21429"/>
            </a:avLst>
          </a:prstGeom>
          <a:solidFill>
            <a:srgbClr val="D98E1F"/>
          </a:solidFill>
          <a:ln w="12700">
            <a:solidFill>
              <a:srgbClr val="D98E1F"/>
            </a:solidFill>
            <a:prstDash val="solid"/>
          </a:ln>
        </p:spPr>
      </p:sp>
      <p:sp>
        <p:nvSpPr>
          <p:cNvPr id="21" name="text_37"/>
          <p:cNvSpPr txBox="1"/>
          <p:nvPr/>
        </p:nvSpPr>
        <p:spPr>
          <a:xfrm>
            <a:off x="8257032" y="2139696"/>
            <a:ext cx="154533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BRING / HAVE READY</a:t>
            </a:r>
            <a:endParaRPr lang="en-US" sz="1050" dirty="0"/>
          </a:p>
        </p:txBody>
      </p:sp>
      <p:sp>
        <p:nvSpPr>
          <p:cNvPr id="22" name="cardbody_38"/>
          <p:cNvSpPr txBox="1"/>
          <p:nvPr/>
        </p:nvSpPr>
        <p:spPr>
          <a:xfrm>
            <a:off x="8257032" y="2487168"/>
            <a:ext cx="3191256" cy="2679192"/>
          </a:xfrm>
          <a:prstGeom prst="rect">
            <a:avLst/>
          </a:prstGeom>
          <a:noFill/>
          <a:ln/>
        </p:spPr>
        <p:txBody>
          <a:bodyPr wrap="square" lIns="381" tIns="381" rIns="381" bIns="381" rtlCol="0" anchor="t"/>
          <a:lstStyle/>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Task 2A (≤200 words) and Task 2B (reverse outline)</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Your composite and correlation maps (notebook §2)</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1–2 patterns that caught your eye</a:t>
            </a:r>
            <a:endParaRPr lang="en-US" sz="1400" dirty="0"/>
          </a:p>
        </p:txBody>
      </p:sp>
      <p:sp>
        <p:nvSpPr>
          <p:cNvPr id="23" name="dot_39"/>
          <p:cNvSpPr/>
          <p:nvPr/>
        </p:nvSpPr>
        <p:spPr>
          <a:xfrm>
            <a:off x="4852264" y="5897880"/>
            <a:ext cx="182880" cy="182880"/>
          </a:xfrm>
          <a:prstGeom prst="ellipse">
            <a:avLst/>
          </a:prstGeom>
          <a:solidFill>
            <a:srgbClr val="2E4A6B"/>
          </a:solidFill>
          <a:ln w="6350">
            <a:solidFill>
              <a:srgbClr val="D5DAE1"/>
            </a:solidFill>
            <a:prstDash val="solid"/>
          </a:ln>
        </p:spPr>
      </p:sp>
      <p:sp>
        <p:nvSpPr>
          <p:cNvPr id="24" name="dot_40"/>
          <p:cNvSpPr/>
          <p:nvPr/>
        </p:nvSpPr>
        <p:spPr>
          <a:xfrm>
            <a:off x="5181448" y="5897880"/>
            <a:ext cx="182880" cy="182880"/>
          </a:xfrm>
          <a:prstGeom prst="ellipse">
            <a:avLst/>
          </a:prstGeom>
          <a:solidFill>
            <a:srgbClr val="2E4A6B"/>
          </a:solidFill>
          <a:ln w="6350">
            <a:solidFill>
              <a:srgbClr val="D5DAE1"/>
            </a:solidFill>
            <a:prstDash val="solid"/>
          </a:ln>
        </p:spPr>
      </p:sp>
      <p:sp>
        <p:nvSpPr>
          <p:cNvPr id="25" name="dot_41"/>
          <p:cNvSpPr/>
          <p:nvPr/>
        </p:nvSpPr>
        <p:spPr>
          <a:xfrm>
            <a:off x="5510632" y="5897880"/>
            <a:ext cx="182880" cy="182880"/>
          </a:xfrm>
          <a:prstGeom prst="ellipse">
            <a:avLst/>
          </a:prstGeom>
          <a:solidFill>
            <a:srgbClr val="D98E1F"/>
          </a:solidFill>
          <a:ln w="6350">
            <a:solidFill>
              <a:srgbClr val="D5DAE1"/>
            </a:solidFill>
            <a:prstDash val="solid"/>
          </a:ln>
        </p:spPr>
      </p:sp>
      <p:sp>
        <p:nvSpPr>
          <p:cNvPr id="26" name="dot_42"/>
          <p:cNvSpPr/>
          <p:nvPr/>
        </p:nvSpPr>
        <p:spPr>
          <a:xfrm>
            <a:off x="5839816" y="5897880"/>
            <a:ext cx="182880" cy="182880"/>
          </a:xfrm>
          <a:prstGeom prst="ellipse">
            <a:avLst/>
          </a:prstGeom>
          <a:solidFill>
            <a:srgbClr val="D5DAE1"/>
          </a:solidFill>
          <a:ln w="6350">
            <a:solidFill>
              <a:srgbClr val="D5DAE1"/>
            </a:solidFill>
            <a:prstDash val="solid"/>
          </a:ln>
        </p:spPr>
      </p:sp>
      <p:sp>
        <p:nvSpPr>
          <p:cNvPr id="27" name="dot_43"/>
          <p:cNvSpPr/>
          <p:nvPr/>
        </p:nvSpPr>
        <p:spPr>
          <a:xfrm>
            <a:off x="6169000" y="5897880"/>
            <a:ext cx="182880" cy="182880"/>
          </a:xfrm>
          <a:prstGeom prst="ellipse">
            <a:avLst/>
          </a:prstGeom>
          <a:solidFill>
            <a:srgbClr val="D5DAE1"/>
          </a:solidFill>
          <a:ln w="6350">
            <a:solidFill>
              <a:srgbClr val="D5DAE1"/>
            </a:solidFill>
            <a:prstDash val="solid"/>
          </a:ln>
        </p:spPr>
      </p:sp>
      <p:sp>
        <p:nvSpPr>
          <p:cNvPr id="28" name="dot_44"/>
          <p:cNvSpPr/>
          <p:nvPr/>
        </p:nvSpPr>
        <p:spPr>
          <a:xfrm>
            <a:off x="6498184" y="5897880"/>
            <a:ext cx="182880" cy="182880"/>
          </a:xfrm>
          <a:prstGeom prst="ellipse">
            <a:avLst/>
          </a:prstGeom>
          <a:solidFill>
            <a:srgbClr val="D5DAE1"/>
          </a:solidFill>
          <a:ln w="6350">
            <a:solidFill>
              <a:srgbClr val="D5DAE1"/>
            </a:solidFill>
            <a:prstDash val="solid"/>
          </a:ln>
        </p:spPr>
      </p:sp>
      <p:sp>
        <p:nvSpPr>
          <p:cNvPr id="29" name="dot_45"/>
          <p:cNvSpPr/>
          <p:nvPr/>
        </p:nvSpPr>
        <p:spPr>
          <a:xfrm>
            <a:off x="6827368" y="5897880"/>
            <a:ext cx="182880" cy="182880"/>
          </a:xfrm>
          <a:prstGeom prst="ellipse">
            <a:avLst/>
          </a:prstGeom>
          <a:solidFill>
            <a:srgbClr val="D5DAE1"/>
          </a:solidFill>
          <a:ln w="6350">
            <a:solidFill>
              <a:srgbClr val="D5DAE1"/>
            </a:solidFill>
            <a:prstDash val="solid"/>
          </a:ln>
        </p:spPr>
      </p:sp>
      <p:sp>
        <p:nvSpPr>
          <p:cNvPr id="30" name="dot_46"/>
          <p:cNvSpPr/>
          <p:nvPr/>
        </p:nvSpPr>
        <p:spPr>
          <a:xfrm>
            <a:off x="7156552" y="5897880"/>
            <a:ext cx="182880" cy="182880"/>
          </a:xfrm>
          <a:prstGeom prst="ellipse">
            <a:avLst/>
          </a:prstGeom>
          <a:solidFill>
            <a:srgbClr val="D5DAE1"/>
          </a:solidFill>
          <a:ln w="6350">
            <a:solidFill>
              <a:srgbClr val="D5DAE1"/>
            </a:solidFill>
            <a:prstDash val="solid"/>
          </a:ln>
        </p:spPr>
      </p:sp>
      <p:sp>
        <p:nvSpPr>
          <p:cNvPr id="31" name="text_47"/>
          <p:cNvSpPr txBox="1"/>
          <p:nvPr/>
        </p:nvSpPr>
        <p:spPr>
          <a:xfrm>
            <a:off x="0" y="611733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8A93A0"/>
                </a:solidFill>
                <a:latin typeface="Calibri" pitchFamily="34" charset="0"/>
                <a:ea typeface="Calibri" pitchFamily="34" charset="-122"/>
                <a:cs typeface="Calibri" pitchFamily="34" charset="-120"/>
              </a:rPr>
              <a:t>Tutorial 3 of 8  ·  Semester 1</a:t>
            </a:r>
            <a:endParaRPr lang="en-US" sz="9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_4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Check-in: what did the reverse outline show?</a:t>
            </a:r>
            <a:endParaRPr lang="en-US" sz="2800" dirty="0"/>
          </a:p>
        </p:txBody>
      </p:sp>
      <p:sp>
        <p:nvSpPr>
          <p:cNvPr id="3" name="bullets_49"/>
          <p:cNvSpPr txBox="1"/>
          <p:nvPr/>
        </p:nvSpPr>
        <p:spPr>
          <a:xfrm>
            <a:off x="548640" y="1325880"/>
            <a:ext cx="5669280" cy="4937760"/>
          </a:xfrm>
          <a:prstGeom prst="rect">
            <a:avLst/>
          </a:prstGeom>
          <a:noFill/>
          <a:ln/>
        </p:spPr>
        <p:txBody>
          <a:bodyPr wrap="square" lIns="635" tIns="635" rIns="635" bIns="635" rtlCol="0" anchor="t"/>
          <a:lstStyle/>
          <a:p>
            <a:pPr marL="342900" indent="-342900">
              <a:spcAft>
                <a:spcPts val="900"/>
              </a:spcAft>
              <a:buSzPct val="100000"/>
              <a:buChar char="■"/>
            </a:pPr>
            <a:r>
              <a:rPr lang="en-US" sz="1800" dirty="0">
                <a:solidFill>
                  <a:srgbClr val="222B36"/>
                </a:solidFill>
                <a:latin typeface="Calibri" pitchFamily="34" charset="0"/>
                <a:ea typeface="Calibri" pitchFamily="34" charset="-122"/>
                <a:cs typeface="Calibri" pitchFamily="34" charset="-120"/>
              </a:rPr>
              <a:t>With a neighbour (3 min), compare your reverse outlines:</a:t>
            </a:r>
            <a:endParaRPr lang="en-US" sz="1800" dirty="0"/>
          </a:p>
          <a:p>
            <a:pPr marL="342900" indent="-342900">
              <a:spcAft>
                <a:spcPts val="900"/>
              </a:spcAft>
              <a:buSzPct val="100000"/>
              <a:buChar char="■"/>
            </a:pPr>
            <a:r>
              <a:rPr lang="en-US" sz="1800" dirty="0">
                <a:solidFill>
                  <a:srgbClr val="222B36"/>
                </a:solidFill>
                <a:latin typeface="Calibri" pitchFamily="34" charset="0"/>
                <a:ea typeface="Calibri" pitchFamily="34" charset="-122"/>
                <a:cs typeface="Calibri" pitchFamily="34" charset="-120"/>
              </a:rPr>
              <a:t>How many paragraphs before the </a:t>
            </a:r>
            <a:r>
              <a:rPr lang="en-US" sz="1800" b="1" dirty="0">
                <a:solidFill>
                  <a:srgbClr val="222B36"/>
                </a:solidFill>
                <a:latin typeface="Calibri" pitchFamily="34" charset="0"/>
                <a:ea typeface="Calibri" pitchFamily="34" charset="-122"/>
                <a:cs typeface="Calibri" pitchFamily="34" charset="-120"/>
              </a:rPr>
              <a:t>problem</a:t>
            </a:r>
            <a:r>
              <a:rPr lang="en-US" sz="1800" dirty="0">
                <a:solidFill>
                  <a:srgbClr val="222B36"/>
                </a:solidFill>
                <a:latin typeface="Calibri" pitchFamily="34" charset="0"/>
                <a:ea typeface="Calibri" pitchFamily="34" charset="-122"/>
                <a:cs typeface="Calibri" pitchFamily="34" charset="-120"/>
              </a:rPr>
              <a:t> appeared?</a:t>
            </a:r>
            <a:endParaRPr lang="en-US" sz="1800" dirty="0"/>
          </a:p>
          <a:p>
            <a:pPr marL="342900" indent="-342900">
              <a:spcAft>
                <a:spcPts val="900"/>
              </a:spcAft>
              <a:buSzPct val="100000"/>
              <a:buChar char="■"/>
            </a:pPr>
            <a:r>
              <a:rPr lang="en-US" sz="1800" dirty="0">
                <a:solidFill>
                  <a:srgbClr val="222B36"/>
                </a:solidFill>
                <a:latin typeface="Calibri" pitchFamily="34" charset="0"/>
                <a:ea typeface="Calibri" pitchFamily="34" charset="-122"/>
                <a:cs typeface="Calibri" pitchFamily="34" charset="-120"/>
              </a:rPr>
              <a:t>Was there a clear </a:t>
            </a:r>
            <a:r>
              <a:rPr lang="en-US" sz="1800" b="1" dirty="0">
                <a:solidFill>
                  <a:srgbClr val="222B36"/>
                </a:solidFill>
                <a:latin typeface="Calibri" pitchFamily="34" charset="0"/>
                <a:ea typeface="Calibri" pitchFamily="34" charset="-122"/>
                <a:cs typeface="Calibri" pitchFamily="34" charset="-120"/>
              </a:rPr>
              <a:t>purpose</a:t>
            </a:r>
            <a:r>
              <a:rPr lang="en-US" sz="1800" dirty="0">
                <a:solidFill>
                  <a:srgbClr val="222B36"/>
                </a:solidFill>
                <a:latin typeface="Calibri" pitchFamily="34" charset="0"/>
                <a:ea typeface="Calibri" pitchFamily="34" charset="-122"/>
                <a:cs typeface="Calibri" pitchFamily="34" charset="-120"/>
              </a:rPr>
              <a:t> sentence? Where?</a:t>
            </a:r>
            <a:endParaRPr lang="en-US" sz="1800" dirty="0"/>
          </a:p>
          <a:p>
            <a:pPr marL="342900" indent="-342900">
              <a:spcAft>
                <a:spcPts val="900"/>
              </a:spcAft>
              <a:buSzPct val="100000"/>
              <a:buChar char="■"/>
            </a:pPr>
            <a:r>
              <a:rPr lang="en-US" sz="1800" dirty="0">
                <a:solidFill>
                  <a:srgbClr val="222B36"/>
                </a:solidFill>
                <a:latin typeface="Calibri" pitchFamily="34" charset="0"/>
                <a:ea typeface="Calibri" pitchFamily="34" charset="-122"/>
                <a:cs typeface="Calibri" pitchFamily="34" charset="-120"/>
              </a:rPr>
              <a:t>Which sentence made you want to keep reading, and why?</a:t>
            </a:r>
            <a:endParaRPr lang="en-US" sz="1800" dirty="0"/>
          </a:p>
          <a:p>
            <a:pPr marL="342900" indent="-342900">
              <a:spcAft>
                <a:spcPts val="900"/>
              </a:spcAft>
              <a:buSzPct val="100000"/>
              <a:buChar char="■"/>
            </a:pPr>
            <a:r>
              <a:rPr lang="en-US" sz="1800" dirty="0">
                <a:solidFill>
                  <a:srgbClr val="222B36"/>
                </a:solidFill>
                <a:latin typeface="Calibri" pitchFamily="34" charset="0"/>
                <a:ea typeface="Calibri" pitchFamily="34" charset="-122"/>
                <a:cs typeface="Calibri" pitchFamily="34" charset="-120"/>
              </a:rPr>
              <a:t>Then (2 min): two or three pairs report back one thing they noticed.</a:t>
            </a:r>
            <a:endParaRPr lang="en-US" sz="1800" dirty="0"/>
          </a:p>
        </p:txBody>
      </p:sp>
      <p:sp>
        <p:nvSpPr>
          <p:cNvPr id="4" name="card_50"/>
          <p:cNvSpPr/>
          <p:nvPr/>
        </p:nvSpPr>
        <p:spPr>
          <a:xfrm>
            <a:off x="6537960" y="1325880"/>
            <a:ext cx="5105095" cy="4754880"/>
          </a:xfrm>
          <a:prstGeom prst="roundRect">
            <a:avLst>
              <a:gd name="adj" fmla="val 1538"/>
            </a:avLst>
          </a:prstGeom>
          <a:solidFill>
            <a:srgbClr val="DCE7F2"/>
          </a:solidFill>
          <a:ln w="9525">
            <a:solidFill>
              <a:srgbClr val="DCE7F2"/>
            </a:solidFill>
            <a:prstDash val="solid"/>
          </a:ln>
        </p:spPr>
      </p:sp>
      <p:sp>
        <p:nvSpPr>
          <p:cNvPr id="5" name="tag_51"/>
          <p:cNvSpPr/>
          <p:nvPr/>
        </p:nvSpPr>
        <p:spPr>
          <a:xfrm>
            <a:off x="6702552" y="1453896"/>
            <a:ext cx="2089404" cy="256032"/>
          </a:xfrm>
          <a:prstGeom prst="roundRect">
            <a:avLst>
              <a:gd name="adj" fmla="val 21429"/>
            </a:avLst>
          </a:prstGeom>
          <a:solidFill>
            <a:srgbClr val="2E4A6B"/>
          </a:solidFill>
          <a:ln w="12700">
            <a:solidFill>
              <a:srgbClr val="2E4A6B"/>
            </a:solidFill>
            <a:prstDash val="solid"/>
          </a:ln>
        </p:spPr>
      </p:sp>
      <p:sp>
        <p:nvSpPr>
          <p:cNvPr id="6" name="text_52"/>
          <p:cNvSpPr txBox="1"/>
          <p:nvPr/>
        </p:nvSpPr>
        <p:spPr>
          <a:xfrm>
            <a:off x="6702552" y="1453896"/>
            <a:ext cx="208940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WHAT YOU'LL PROBABLY FIND</a:t>
            </a:r>
            <a:endParaRPr lang="en-US" sz="1050" dirty="0"/>
          </a:p>
        </p:txBody>
      </p:sp>
      <p:sp>
        <p:nvSpPr>
          <p:cNvPr id="7" name="cardbody_53"/>
          <p:cNvSpPr txBox="1"/>
          <p:nvPr/>
        </p:nvSpPr>
        <p:spPr>
          <a:xfrm>
            <a:off x="6702552" y="1801368"/>
            <a:ext cx="4775911" cy="4187952"/>
          </a:xfrm>
          <a:prstGeom prst="rect">
            <a:avLst/>
          </a:prstGeom>
          <a:noFill/>
          <a:ln/>
        </p:spPr>
        <p:txBody>
          <a:bodyPr wrap="square" lIns="381" tIns="381" rIns="381" bIns="381" rtlCol="0" anchor="t"/>
          <a:lstStyle/>
          <a:p>
            <a:pPr marL="342900" indent="-342900">
              <a:spcAft>
                <a:spcPts val="500"/>
              </a:spcAft>
              <a:buSzPct val="100000"/>
              <a:buChar char="■"/>
            </a:pPr>
            <a:r>
              <a:rPr lang="en-US" sz="1500" dirty="0">
                <a:solidFill>
                  <a:srgbClr val="222B36"/>
                </a:solidFill>
                <a:latin typeface="Calibri" pitchFamily="34" charset="0"/>
                <a:ea typeface="Calibri" pitchFamily="34" charset="-122"/>
                <a:cs typeface="Calibri" pitchFamily="34" charset="-120"/>
              </a:rPr>
              <a:t>Context first, kept short</a:t>
            </a:r>
            <a:endParaRPr lang="en-US" sz="1500" dirty="0"/>
          </a:p>
          <a:p>
            <a:pPr marL="342900" indent="-342900">
              <a:spcAft>
                <a:spcPts val="500"/>
              </a:spcAft>
              <a:buSzPct val="100000"/>
              <a:buChar char="■"/>
            </a:pPr>
            <a:r>
              <a:rPr lang="en-US" sz="1500" dirty="0">
                <a:solidFill>
                  <a:srgbClr val="222B36"/>
                </a:solidFill>
                <a:latin typeface="Calibri" pitchFamily="34" charset="0"/>
                <a:ea typeface="Calibri" pitchFamily="34" charset="-122"/>
                <a:cs typeface="Calibri" pitchFamily="34" charset="-120"/>
              </a:rPr>
              <a:t>A turn (‘however’, ‘but’, ‘yet’, ‘remains unclear’)</a:t>
            </a:r>
            <a:endParaRPr lang="en-US" sz="1500" dirty="0"/>
          </a:p>
          <a:p>
            <a:pPr marL="342900" indent="-342900">
              <a:spcAft>
                <a:spcPts val="500"/>
              </a:spcAft>
              <a:buSzPct val="100000"/>
              <a:buChar char="■"/>
            </a:pPr>
            <a:r>
              <a:rPr lang="en-US" sz="1500" dirty="0">
                <a:solidFill>
                  <a:srgbClr val="222B36"/>
                </a:solidFill>
                <a:latin typeface="Calibri" pitchFamily="34" charset="0"/>
                <a:ea typeface="Calibri" pitchFamily="34" charset="-122"/>
                <a:cs typeface="Calibri" pitchFamily="34" charset="-120"/>
              </a:rPr>
              <a:t>A purpose near the </a:t>
            </a:r>
            <a:r>
              <a:rPr lang="en-US" sz="1500" b="1" dirty="0">
                <a:solidFill>
                  <a:srgbClr val="222B36"/>
                </a:solidFill>
                <a:latin typeface="Calibri" pitchFamily="34" charset="0"/>
                <a:ea typeface="Calibri" pitchFamily="34" charset="-122"/>
                <a:cs typeface="Calibri" pitchFamily="34" charset="-120"/>
              </a:rPr>
              <a:t>end</a:t>
            </a:r>
            <a:r>
              <a:rPr lang="en-US" sz="1500" dirty="0">
                <a:solidFill>
                  <a:srgbClr val="222B36"/>
                </a:solidFill>
                <a:latin typeface="Calibri" pitchFamily="34" charset="0"/>
                <a:ea typeface="Calibri" pitchFamily="34" charset="-122"/>
                <a:cs typeface="Calibri" pitchFamily="34" charset="-120"/>
              </a:rPr>
              <a:t> of the Introduction</a:t>
            </a:r>
            <a:endParaRPr lang="en-US" sz="1500" dirty="0"/>
          </a:p>
          <a:p>
            <a:pPr marL="342900" indent="-342900">
              <a:spcAft>
                <a:spcPts val="500"/>
              </a:spcAft>
              <a:buSzPct val="100000"/>
              <a:buChar char="■"/>
            </a:pPr>
            <a:r>
              <a:rPr lang="en-US" sz="1500" dirty="0">
                <a:solidFill>
                  <a:srgbClr val="222B36"/>
                </a:solidFill>
                <a:latin typeface="Calibri" pitchFamily="34" charset="0"/>
                <a:ea typeface="Calibri" pitchFamily="34" charset="-122"/>
                <a:cs typeface="Calibri" pitchFamily="34" charset="-120"/>
              </a:rPr>
              <a:t>Very little about the results themselves</a:t>
            </a:r>
            <a:endParaRPr lang="en-US" sz="15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l_54"/>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55"/>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5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Choosing El Niño and La Niña months: thresholds</a:t>
            </a:r>
            <a:endParaRPr lang="en-US" sz="2800" dirty="0"/>
          </a:p>
        </p:txBody>
      </p:sp>
      <p:pic>
        <p:nvPicPr>
          <p:cNvPr id="5" name="img_57" descr="/home/claude/work/build/figs/oni_thresholds.png">    </p:cNvPr>
          <p:cNvPicPr>
            <a:picLocks noChangeAspect="1"/>
          </p:cNvPicPr>
          <p:nvPr/>
        </p:nvPicPr>
        <p:blipFill>
          <a:blip r:embed="rId1"/>
          <a:stretch>
            <a:fillRect/>
          </a:stretch>
        </p:blipFill>
        <p:spPr>
          <a:xfrm>
            <a:off x="2344280" y="1234440"/>
            <a:ext cx="7500391" cy="2697480"/>
          </a:xfrm>
          <a:prstGeom prst="rect">
            <a:avLst/>
          </a:prstGeom>
        </p:spPr>
      </p:pic>
      <p:sp>
        <p:nvSpPr>
          <p:cNvPr id="6" name="mwbul_58"/>
          <p:cNvSpPr txBox="1"/>
          <p:nvPr/>
        </p:nvSpPr>
        <p:spPr>
          <a:xfrm>
            <a:off x="548640" y="4069080"/>
            <a:ext cx="6949440" cy="2286000"/>
          </a:xfrm>
          <a:prstGeom prst="rect">
            <a:avLst/>
          </a:prstGeom>
          <a:noFill/>
          <a:ln/>
        </p:spPr>
        <p:txBody>
          <a:bodyPr wrap="square" lIns="635" tIns="635" rIns="635" bIns="635" rtlCol="0" anchor="t"/>
          <a:lstStyle/>
          <a:p>
            <a:pPr marL="342900" indent="-342900">
              <a:spcAft>
                <a:spcPts val="400"/>
              </a:spcAft>
              <a:buSzPct val="100000"/>
              <a:buChar char="■"/>
            </a:pPr>
            <a:r>
              <a:rPr lang="en-US" sz="1450" b="1" dirty="0">
                <a:solidFill>
                  <a:srgbClr val="1B2A41"/>
                </a:solidFill>
                <a:latin typeface="Calibri" pitchFamily="34" charset="0"/>
                <a:ea typeface="Calibri" pitchFamily="34" charset="-122"/>
                <a:cs typeface="Calibri" pitchFamily="34" charset="-120"/>
              </a:rPr>
              <a:t>ONI: </a:t>
            </a:r>
            <a:r>
              <a:rPr lang="en-US" sz="1450" dirty="0">
                <a:solidFill>
                  <a:srgbClr val="222B36"/>
                </a:solidFill>
                <a:latin typeface="Calibri" pitchFamily="34" charset="0"/>
                <a:ea typeface="Calibri" pitchFamily="34" charset="-122"/>
                <a:cs typeface="Calibri" pitchFamily="34" charset="-120"/>
              </a:rPr>
              <a:t>3-month running mean of sea-surface-temperature anomaly in the Niño 3.4 region (5°N–5°S, 170°W–120°W), NOAA CPC.</a:t>
            </a:r>
            <a:endParaRPr lang="en-US" sz="1450" dirty="0"/>
          </a:p>
          <a:p>
            <a:pPr marL="342900" indent="-342900">
              <a:spcAft>
                <a:spcPts val="400"/>
              </a:spcAft>
              <a:buSzPct val="100000"/>
              <a:buChar char="■"/>
            </a:pPr>
            <a:r>
              <a:rPr lang="en-US" sz="1450" b="1" dirty="0">
                <a:solidFill>
                  <a:srgbClr val="1B2A41"/>
                </a:solidFill>
                <a:latin typeface="Calibri" pitchFamily="34" charset="0"/>
                <a:ea typeface="Calibri" pitchFamily="34" charset="-122"/>
                <a:cs typeface="Calibri" pitchFamily="34" charset="-120"/>
              </a:rPr>
              <a:t>The notebook's rule: </a:t>
            </a:r>
            <a:r>
              <a:rPr lang="en-US" sz="1450" dirty="0">
                <a:solidFill>
                  <a:srgbClr val="222B36"/>
                </a:solidFill>
                <a:latin typeface="Calibri" pitchFamily="34" charset="0"/>
                <a:ea typeface="Calibri" pitchFamily="34" charset="-122"/>
                <a:cs typeface="Calibri" pitchFamily="34" charset="-120"/>
              </a:rPr>
              <a:t>each </a:t>
            </a:r>
            <a:r>
              <a:rPr lang="en-US" sz="1450" b="1" dirty="0">
                <a:solidFill>
                  <a:srgbClr val="222B36"/>
                </a:solidFill>
                <a:latin typeface="Calibri" pitchFamily="34" charset="0"/>
                <a:ea typeface="Calibri" pitchFamily="34" charset="-122"/>
                <a:cs typeface="Calibri" pitchFamily="34" charset="-120"/>
              </a:rPr>
              <a:t>month</a:t>
            </a:r>
            <a:r>
              <a:rPr lang="en-US" sz="1450" dirty="0">
                <a:solidFill>
                  <a:srgbClr val="222B36"/>
                </a:solidFill>
                <a:latin typeface="Calibri" pitchFamily="34" charset="0"/>
                <a:ea typeface="Calibri" pitchFamily="34" charset="-122"/>
                <a:cs typeface="Calibri" pitchFamily="34" charset="-120"/>
              </a:rPr>
              <a:t> with ONI ≥ +0.5 °C is an El Niño month, ≤ −0.5 °C La Niña, otherwise neutral (ENSO_THRESH).</a:t>
            </a:r>
            <a:endParaRPr lang="en-US" sz="1450" dirty="0"/>
          </a:p>
          <a:p>
            <a:pPr marL="342900" indent="-342900">
              <a:spcAft>
                <a:spcPts val="400"/>
              </a:spcAft>
              <a:buSzPct val="100000"/>
              <a:buChar char="■"/>
            </a:pPr>
            <a:r>
              <a:rPr lang="en-US" sz="1450" b="1" dirty="0">
                <a:solidFill>
                  <a:srgbClr val="1B2A41"/>
                </a:solidFill>
                <a:latin typeface="Calibri" pitchFamily="34" charset="0"/>
                <a:ea typeface="Calibri" pitchFamily="34" charset="-122"/>
                <a:cs typeface="Calibri" pitchFamily="34" charset="-120"/>
              </a:rPr>
              <a:t>NOAA's official episodes are stricter: </a:t>
            </a:r>
            <a:r>
              <a:rPr lang="en-US" sz="1450" dirty="0">
                <a:solidFill>
                  <a:srgbClr val="222B36"/>
                </a:solidFill>
                <a:latin typeface="Calibri" pitchFamily="34" charset="0"/>
                <a:ea typeface="Calibri" pitchFamily="34" charset="-122"/>
                <a:cs typeface="Calibri" pitchFamily="34" charset="-120"/>
              </a:rPr>
              <a:t>±0.5 °C must hold for ≥ 5 consecutive overlapping seasons. Say which rule you used.</a:t>
            </a:r>
            <a:endParaRPr lang="en-US" sz="1450" dirty="0"/>
          </a:p>
          <a:p>
            <a:pPr marL="342900" indent="-342900">
              <a:spcAft>
                <a:spcPts val="400"/>
              </a:spcAft>
              <a:buSzPct val="100000"/>
              <a:buChar char="■"/>
            </a:pPr>
            <a:r>
              <a:rPr lang="en-US" sz="1450" b="1" dirty="0">
                <a:solidFill>
                  <a:srgbClr val="1B2A41"/>
                </a:solidFill>
                <a:latin typeface="Calibri" pitchFamily="34" charset="0"/>
                <a:ea typeface="Calibri" pitchFamily="34" charset="-122"/>
                <a:cs typeface="Calibri" pitchFamily="34" charset="-120"/>
              </a:rPr>
              <a:t>One event dominates: </a:t>
            </a:r>
            <a:r>
              <a:rPr lang="en-US" sz="1450" dirty="0">
                <a:solidFill>
                  <a:srgbClr val="222B36"/>
                </a:solidFill>
                <a:latin typeface="Calibri" pitchFamily="34" charset="0"/>
                <a:ea typeface="Calibri" pitchFamily="34" charset="-122"/>
                <a:cs typeface="Calibri" pitchFamily="34" charset="-120"/>
              </a:rPr>
              <a:t>2015–16 supplies 14 of the 54 El Niño months. Your El Niño composite is partly a 2015–16 composite.</a:t>
            </a:r>
            <a:endParaRPr lang="en-US" sz="1450" dirty="0"/>
          </a:p>
        </p:txBody>
      </p:sp>
      <p:sp>
        <p:nvSpPr>
          <p:cNvPr id="7" name="sent_59"/>
          <p:cNvSpPr/>
          <p:nvPr/>
        </p:nvSpPr>
        <p:spPr>
          <a:xfrm>
            <a:off x="7726680" y="4114800"/>
            <a:ext cx="3913632" cy="1737360"/>
          </a:xfrm>
          <a:prstGeom prst="roundRect">
            <a:avLst>
              <a:gd name="adj" fmla="val 3158"/>
            </a:avLst>
          </a:prstGeom>
          <a:solidFill>
            <a:srgbClr val="DCEFEA"/>
          </a:solidFill>
          <a:ln w="12700">
            <a:solidFill>
              <a:srgbClr val="1F7A6E"/>
            </a:solidFill>
            <a:prstDash val="solid"/>
          </a:ln>
        </p:spPr>
      </p:sp>
      <p:sp>
        <p:nvSpPr>
          <p:cNvPr id="8" name="text_60"/>
          <p:cNvSpPr txBox="1"/>
          <p:nvPr/>
        </p:nvSpPr>
        <p:spPr>
          <a:xfrm>
            <a:off x="7863840" y="4187952"/>
            <a:ext cx="3639312"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METHODS, THIS BECOMES</a:t>
            </a:r>
            <a:endParaRPr lang="en-US" sz="1000" dirty="0"/>
          </a:p>
        </p:txBody>
      </p:sp>
      <p:sp>
        <p:nvSpPr>
          <p:cNvPr id="9" name="text_61"/>
          <p:cNvSpPr txBox="1"/>
          <p:nvPr/>
        </p:nvSpPr>
        <p:spPr>
          <a:xfrm>
            <a:off x="7863840" y="4425696"/>
            <a:ext cx="3639312" cy="13716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“Months with ONI ≥ 0.5 °C (≤ −0.5 °C) were classed as El Niño (La Niña), giving 54 El Niño and 82 La Niña months.”</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l_62"/>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63"/>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64"/>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ENSO keeps to a calendar</a:t>
            </a:r>
            <a:endParaRPr lang="en-US" sz="2800" dirty="0"/>
          </a:p>
        </p:txBody>
      </p:sp>
      <p:sp>
        <p:nvSpPr>
          <p:cNvPr id="5" name="mbul_65"/>
          <p:cNvSpPr txBox="1"/>
          <p:nvPr/>
        </p:nvSpPr>
        <p:spPr>
          <a:xfrm>
            <a:off x="548640" y="1280160"/>
            <a:ext cx="5943600" cy="5029200"/>
          </a:xfrm>
          <a:prstGeom prst="rect">
            <a:avLst/>
          </a:prstGeom>
          <a:noFill/>
          <a:ln/>
        </p:spPr>
        <p:txBody>
          <a:bodyPr wrap="square" lIns="635" tIns="635" rIns="635" bIns="635" rtlCol="0" anchor="t"/>
          <a:lstStyle/>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ENSO is </a:t>
            </a:r>
            <a:r>
              <a:rPr lang="en-US" sz="1550" b="1" dirty="0">
                <a:solidFill>
                  <a:srgbClr val="222B36"/>
                </a:solidFill>
                <a:latin typeface="Calibri" pitchFamily="34" charset="0"/>
                <a:ea typeface="Calibri" pitchFamily="34" charset="-122"/>
                <a:cs typeface="Calibri" pitchFamily="34" charset="-120"/>
              </a:rPr>
              <a:t>phase-locked</a:t>
            </a:r>
            <a:r>
              <a:rPr lang="en-US" sz="1550" dirty="0">
                <a:solidFill>
                  <a:srgbClr val="222B36"/>
                </a:solidFill>
                <a:latin typeface="Calibri" pitchFamily="34" charset="0"/>
                <a:ea typeface="Calibri" pitchFamily="34" charset="-122"/>
                <a:cs typeface="Calibri" pitchFamily="34" charset="-120"/>
              </a:rPr>
              <a:t> to the seasons: events grow through northern summer and autumn, peak around </a:t>
            </a:r>
            <a:r>
              <a:rPr lang="en-US" sz="1550" b="1" dirty="0">
                <a:solidFill>
                  <a:srgbClr val="222B36"/>
                </a:solidFill>
                <a:latin typeface="Calibri" pitchFamily="34" charset="0"/>
                <a:ea typeface="Calibri" pitchFamily="34" charset="-122"/>
                <a:cs typeface="Calibri" pitchFamily="34" charset="-120"/>
              </a:rPr>
              <a:t>Nov–Jan</a:t>
            </a:r>
            <a:r>
              <a:rPr lang="en-US" sz="1550" dirty="0">
                <a:solidFill>
                  <a:srgbClr val="222B36"/>
                </a:solidFill>
                <a:latin typeface="Calibri" pitchFamily="34" charset="0"/>
                <a:ea typeface="Calibri" pitchFamily="34" charset="-122"/>
                <a:cs typeface="Calibri" pitchFamily="34" charset="-120"/>
              </a:rPr>
              <a:t>, and decay by spring.</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ONI varies about </a:t>
            </a:r>
            <a:r>
              <a:rPr lang="en-US" sz="1550" b="1" dirty="0">
                <a:solidFill>
                  <a:srgbClr val="222B36"/>
                </a:solidFill>
                <a:latin typeface="Calibri" pitchFamily="34" charset="0"/>
                <a:ea typeface="Calibri" pitchFamily="34" charset="-122"/>
                <a:cs typeface="Calibri" pitchFamily="34" charset="-120"/>
              </a:rPr>
              <a:t>twice</a:t>
            </a:r>
            <a:r>
              <a:rPr lang="en-US" sz="1550" dirty="0">
                <a:solidFill>
                  <a:srgbClr val="222B36"/>
                </a:solidFill>
                <a:latin typeface="Calibri" pitchFamily="34" charset="0"/>
                <a:ea typeface="Calibri" pitchFamily="34" charset="-122"/>
                <a:cs typeface="Calibri" pitchFamily="34" charset="-120"/>
              </a:rPr>
              <a:t> as much in Nov–Jan as in Apr–Jun (s.d. ≈ 1.1 vs 0.56 °C, 1950–2025).</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So many El Niño months are winter months. Anomalies remove the seasonal cycle, but the response itself can depend on season.</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 season-specific question (e.g. DJF only) can be a good one; notebook §6 compares DJF and JJA.</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The 3-month running mean blurs timing by about ±1 month.</a:t>
            </a:r>
            <a:endParaRPr lang="en-US" sz="1550" dirty="0"/>
          </a:p>
        </p:txBody>
      </p:sp>
      <p:pic>
        <p:nvPicPr>
          <p:cNvPr id="6" name="img_66" descr="/home/claude/work/build/figs/oni_seasonality.png">    </p:cNvPr>
          <p:cNvPicPr>
            <a:picLocks noChangeAspect="1"/>
          </p:cNvPicPr>
          <p:nvPr/>
        </p:nvPicPr>
        <p:blipFill>
          <a:blip r:embed="rId1"/>
          <a:stretch>
            <a:fillRect/>
          </a:stretch>
        </p:blipFill>
        <p:spPr>
          <a:xfrm>
            <a:off x="6766560" y="1280160"/>
            <a:ext cx="4876495" cy="3873560"/>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l_67"/>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68"/>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69"/>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What a composite is: El Niño − La Niña</a:t>
            </a:r>
            <a:endParaRPr lang="en-US" sz="2800" dirty="0"/>
          </a:p>
        </p:txBody>
      </p:sp>
      <p:pic>
        <p:nvPicPr>
          <p:cNvPr id="5" name="img_70" descr="/home/claude/work/build/figs/composite_steps.png">    </p:cNvPr>
          <p:cNvPicPr>
            <a:picLocks noChangeAspect="1"/>
          </p:cNvPicPr>
          <p:nvPr/>
        </p:nvPicPr>
        <p:blipFill>
          <a:blip r:embed="rId1"/>
          <a:stretch>
            <a:fillRect/>
          </a:stretch>
        </p:blipFill>
        <p:spPr>
          <a:xfrm>
            <a:off x="2690876" y="1234440"/>
            <a:ext cx="6807200" cy="2743200"/>
          </a:xfrm>
          <a:prstGeom prst="rect">
            <a:avLst/>
          </a:prstGeom>
        </p:spPr>
      </p:pic>
      <p:sp>
        <p:nvSpPr>
          <p:cNvPr id="6" name="mwbul_71"/>
          <p:cNvSpPr txBox="1"/>
          <p:nvPr/>
        </p:nvSpPr>
        <p:spPr>
          <a:xfrm>
            <a:off x="548640" y="4114800"/>
            <a:ext cx="6949440" cy="2240280"/>
          </a:xfrm>
          <a:prstGeom prst="rect">
            <a:avLst/>
          </a:prstGeom>
          <a:noFill/>
          <a:ln/>
        </p:spPr>
        <p:txBody>
          <a:bodyPr wrap="square" lIns="635" tIns="635" rIns="635" bIns="635" rtlCol="0" anchor="t"/>
          <a:lstStyle/>
          <a:p>
            <a:pPr marL="342900" indent="-342900">
              <a:spcAft>
                <a:spcPts val="400"/>
              </a:spcAft>
              <a:buSzPct val="100000"/>
              <a:buChar char="■"/>
            </a:pPr>
            <a:r>
              <a:rPr lang="en-US" sz="1450" b="1" dirty="0">
                <a:solidFill>
                  <a:srgbClr val="1B2A41"/>
                </a:solidFill>
                <a:latin typeface="Calibri" pitchFamily="34" charset="0"/>
                <a:ea typeface="Calibri" pitchFamily="34" charset="-122"/>
                <a:cs typeface="Calibri" pitchFamily="34" charset="-120"/>
              </a:rPr>
              <a:t>A composite asks: </a:t>
            </a:r>
            <a:r>
              <a:rPr lang="en-US" sz="1450" dirty="0">
                <a:solidFill>
                  <a:srgbClr val="222B36"/>
                </a:solidFill>
                <a:latin typeface="Calibri" pitchFamily="34" charset="0"/>
                <a:ea typeface="Calibri" pitchFamily="34" charset="-122"/>
                <a:cs typeface="Calibri" pitchFamily="34" charset="-120"/>
              </a:rPr>
              <a:t>on average, how different is the anomaly in El Niño months from La Niña months?</a:t>
            </a:r>
            <a:endParaRPr lang="en-US" sz="1450" dirty="0"/>
          </a:p>
          <a:p>
            <a:pPr marL="342900" indent="-342900">
              <a:spcAft>
                <a:spcPts val="400"/>
              </a:spcAft>
              <a:buSzPct val="100000"/>
              <a:buChar char="■"/>
            </a:pPr>
            <a:r>
              <a:rPr lang="en-US" sz="1450" b="1" dirty="0">
                <a:solidFill>
                  <a:srgbClr val="222B36"/>
                </a:solidFill>
                <a:latin typeface="Calibri" pitchFamily="34" charset="0"/>
                <a:ea typeface="Calibri" pitchFamily="34" charset="-122"/>
                <a:cs typeface="Calibri" pitchFamily="34" charset="-120"/>
              </a:rPr>
              <a:t>1</a:t>
            </a:r>
            <a:r>
              <a:rPr lang="en-US" sz="1450" dirty="0">
                <a:solidFill>
                  <a:srgbClr val="222B36"/>
                </a:solidFill>
                <a:latin typeface="Calibri" pitchFamily="34" charset="0"/>
                <a:ea typeface="Calibri" pitchFamily="34" charset="-122"/>
                <a:cs typeface="Calibri" pitchFamily="34" charset="-120"/>
              </a:rPr>
              <a:t> anomalies → </a:t>
            </a:r>
            <a:r>
              <a:rPr lang="en-US" sz="1450" b="1" dirty="0">
                <a:solidFill>
                  <a:srgbClr val="222B36"/>
                </a:solidFill>
                <a:latin typeface="Calibri" pitchFamily="34" charset="0"/>
                <a:ea typeface="Calibri" pitchFamily="34" charset="-122"/>
                <a:cs typeface="Calibri" pitchFamily="34" charset="-120"/>
              </a:rPr>
              <a:t>2</a:t>
            </a:r>
            <a:r>
              <a:rPr lang="en-US" sz="1450" dirty="0">
                <a:solidFill>
                  <a:srgbClr val="222B36"/>
                </a:solidFill>
                <a:latin typeface="Calibri" pitchFamily="34" charset="0"/>
                <a:ea typeface="Calibri" pitchFamily="34" charset="-122"/>
                <a:cs typeface="Calibri" pitchFamily="34" charset="-120"/>
              </a:rPr>
              <a:t> average each group → </a:t>
            </a:r>
            <a:r>
              <a:rPr lang="en-US" sz="1450" b="1" dirty="0">
                <a:solidFill>
                  <a:srgbClr val="222B36"/>
                </a:solidFill>
                <a:latin typeface="Calibri" pitchFamily="34" charset="0"/>
                <a:ea typeface="Calibri" pitchFamily="34" charset="-122"/>
                <a:cs typeface="Calibri" pitchFamily="34" charset="-120"/>
              </a:rPr>
              <a:t>3</a:t>
            </a:r>
            <a:r>
              <a:rPr lang="en-US" sz="1450" dirty="0">
                <a:solidFill>
                  <a:srgbClr val="222B36"/>
                </a:solidFill>
                <a:latin typeface="Calibri" pitchFamily="34" charset="0"/>
                <a:ea typeface="Calibri" pitchFamily="34" charset="-122"/>
                <a:cs typeface="Calibri" pitchFamily="34" charset="-120"/>
              </a:rPr>
              <a:t> subtract. Units stay those of the variable (pp).</a:t>
            </a:r>
            <a:endParaRPr lang="en-US" sz="1450" dirty="0"/>
          </a:p>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Positive El Niño − La Niña = higher during El Niño. It's a difference between two states, </a:t>
            </a:r>
            <a:r>
              <a:rPr lang="en-US" sz="1450" b="1" dirty="0">
                <a:solidFill>
                  <a:srgbClr val="222B36"/>
                </a:solidFill>
                <a:latin typeface="Calibri" pitchFamily="34" charset="0"/>
                <a:ea typeface="Calibri" pitchFamily="34" charset="-122"/>
                <a:cs typeface="Calibri" pitchFamily="34" charset="-120"/>
              </a:rPr>
              <a:t>not</a:t>
            </a:r>
            <a:r>
              <a:rPr lang="en-US" sz="1450" dirty="0">
                <a:solidFill>
                  <a:srgbClr val="222B36"/>
                </a:solidFill>
                <a:latin typeface="Calibri" pitchFamily="34" charset="0"/>
                <a:ea typeface="Calibri" pitchFamily="34" charset="-122"/>
                <a:cs typeface="Calibri" pitchFamily="34" charset="-120"/>
              </a:rPr>
              <a:t> a correlation.</a:t>
            </a:r>
            <a:endParaRPr lang="en-US" sz="1450" dirty="0"/>
          </a:p>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Always give the </a:t>
            </a:r>
            <a:r>
              <a:rPr lang="en-US" sz="1450" b="1" dirty="0">
                <a:solidFill>
                  <a:srgbClr val="222B36"/>
                </a:solidFill>
                <a:latin typeface="Calibri" pitchFamily="34" charset="0"/>
                <a:ea typeface="Calibri" pitchFamily="34" charset="-122"/>
                <a:cs typeface="Calibri" pitchFamily="34" charset="-120"/>
              </a:rPr>
              <a:t>group sizes</a:t>
            </a:r>
            <a:r>
              <a:rPr lang="en-US" sz="1450" dirty="0">
                <a:solidFill>
                  <a:srgbClr val="222B36"/>
                </a:solidFill>
                <a:latin typeface="Calibri" pitchFamily="34" charset="0"/>
                <a:ea typeface="Calibri" pitchFamily="34" charset="-122"/>
                <a:cs typeface="Calibri" pitchFamily="34" charset="-120"/>
              </a:rPr>
              <a:t> (54 and 82 months), and look at each phase against neutral too (Tutorial 6).</a:t>
            </a:r>
            <a:endParaRPr lang="en-US" sz="1450" dirty="0"/>
          </a:p>
        </p:txBody>
      </p:sp>
      <p:sp>
        <p:nvSpPr>
          <p:cNvPr id="7" name="sent_72"/>
          <p:cNvSpPr/>
          <p:nvPr/>
        </p:nvSpPr>
        <p:spPr>
          <a:xfrm>
            <a:off x="7726680" y="4160520"/>
            <a:ext cx="3913632" cy="1737360"/>
          </a:xfrm>
          <a:prstGeom prst="roundRect">
            <a:avLst>
              <a:gd name="adj" fmla="val 3158"/>
            </a:avLst>
          </a:prstGeom>
          <a:solidFill>
            <a:srgbClr val="DCEFEA"/>
          </a:solidFill>
          <a:ln w="12700">
            <a:solidFill>
              <a:srgbClr val="1F7A6E"/>
            </a:solidFill>
            <a:prstDash val="solid"/>
          </a:ln>
        </p:spPr>
      </p:sp>
      <p:sp>
        <p:nvSpPr>
          <p:cNvPr id="8" name="text_73"/>
          <p:cNvSpPr txBox="1"/>
          <p:nvPr/>
        </p:nvSpPr>
        <p:spPr>
          <a:xfrm>
            <a:off x="7863840" y="4233672"/>
            <a:ext cx="3639312"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METHODS, THIS BECOMES</a:t>
            </a:r>
            <a:endParaRPr lang="en-US" sz="1000" dirty="0"/>
          </a:p>
        </p:txBody>
      </p:sp>
      <p:sp>
        <p:nvSpPr>
          <p:cNvPr id="9" name="text_74"/>
          <p:cNvSpPr txBox="1"/>
          <p:nvPr/>
        </p:nvSpPr>
        <p:spPr>
          <a:xfrm>
            <a:off x="7863840" y="4471416"/>
            <a:ext cx="3639312" cy="13716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“The composite is the mean anomaly over El Niño months minus that over La Niña months.”</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actband_75"/>
          <p:cNvSpPr/>
          <p:nvPr/>
        </p:nvSpPr>
        <p:spPr>
          <a:xfrm>
            <a:off x="0" y="237744"/>
            <a:ext cx="12191695" cy="914400"/>
          </a:xfrm>
          <a:prstGeom prst="rect">
            <a:avLst/>
          </a:prstGeom>
          <a:solidFill>
            <a:srgbClr val="FBEBD0"/>
          </a:solidFill>
          <a:ln w="12700">
            <a:solidFill>
              <a:srgbClr val="FBEBD0"/>
            </a:solidFill>
            <a:prstDash val="solid"/>
          </a:ln>
        </p:spPr>
      </p:sp>
      <p:sp>
        <p:nvSpPr>
          <p:cNvPr id="3" name="text_76"/>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3 MIN</a:t>
            </a:r>
            <a:endParaRPr lang="en-US" sz="1100" dirty="0"/>
          </a:p>
        </p:txBody>
      </p:sp>
      <p:sp>
        <p:nvSpPr>
          <p:cNvPr id="4" name="text_77"/>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Predict before you plot</a:t>
            </a:r>
            <a:endParaRPr lang="en-US" sz="2600" dirty="0"/>
          </a:p>
        </p:txBody>
      </p:sp>
      <p:sp>
        <p:nvSpPr>
          <p:cNvPr id="5" name="num_78"/>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79"/>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80"/>
          <p:cNvSpPr txBox="1"/>
          <p:nvPr/>
        </p:nvSpPr>
        <p:spPr>
          <a:xfrm>
            <a:off x="1097280" y="1417320"/>
            <a:ext cx="6126480" cy="120700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Without looking at your maps, predict the sign (+, −, 0) of the El Niño − La Niña </a:t>
            </a:r>
            <a:r>
              <a:rPr lang="en-US" sz="1500" b="1" dirty="0">
                <a:solidFill>
                  <a:srgbClr val="222B36"/>
                </a:solidFill>
                <a:latin typeface="Calibri" pitchFamily="34" charset="0"/>
                <a:ea typeface="Calibri" pitchFamily="34" charset="-122"/>
                <a:cs typeface="Calibri" pitchFamily="34" charset="-120"/>
              </a:rPr>
              <a:t>total cloud</a:t>
            </a:r>
            <a:r>
              <a:rPr lang="en-US" sz="1500" dirty="0">
                <a:solidFill>
                  <a:srgbClr val="222B36"/>
                </a:solidFill>
                <a:latin typeface="Calibri" pitchFamily="34" charset="0"/>
                <a:ea typeface="Calibri" pitchFamily="34" charset="-122"/>
                <a:cs typeface="Calibri" pitchFamily="34" charset="-120"/>
              </a:rPr>
              <a:t> composite in: </a:t>
            </a:r>
            <a:r>
              <a:rPr lang="en-US" sz="1500" b="1" dirty="0">
                <a:solidFill>
                  <a:srgbClr val="222B36"/>
                </a:solidFill>
                <a:latin typeface="Calibri" pitchFamily="34" charset="0"/>
                <a:ea typeface="Calibri" pitchFamily="34" charset="-122"/>
                <a:cs typeface="Calibri" pitchFamily="34" charset="-120"/>
              </a:rPr>
              <a:t>(a)</a:t>
            </a:r>
            <a:r>
              <a:rPr lang="en-US" sz="1500" dirty="0">
                <a:solidFill>
                  <a:srgbClr val="222B36"/>
                </a:solidFill>
                <a:latin typeface="Calibri" pitchFamily="34" charset="0"/>
                <a:ea typeface="Calibri" pitchFamily="34" charset="-122"/>
                <a:cs typeface="Calibri" pitchFamily="34" charset="-120"/>
              </a:rPr>
              <a:t> region 4, Niño 4 (central Pacific); </a:t>
            </a:r>
            <a:r>
              <a:rPr lang="en-US" sz="1500" b="1" dirty="0">
                <a:solidFill>
                  <a:srgbClr val="222B36"/>
                </a:solidFill>
                <a:latin typeface="Calibri" pitchFamily="34" charset="0"/>
                <a:ea typeface="Calibri" pitchFamily="34" charset="-122"/>
                <a:cs typeface="Calibri" pitchFamily="34" charset="-120"/>
              </a:rPr>
              <a:t>(b)</a:t>
            </a:r>
            <a:r>
              <a:rPr lang="en-US" sz="1500" dirty="0">
                <a:solidFill>
                  <a:srgbClr val="222B36"/>
                </a:solidFill>
                <a:latin typeface="Calibri" pitchFamily="34" charset="0"/>
                <a:ea typeface="Calibri" pitchFamily="34" charset="-122"/>
                <a:cs typeface="Calibri" pitchFamily="34" charset="-120"/>
              </a:rPr>
              <a:t> region 5, Maritime Continent; </a:t>
            </a:r>
            <a:r>
              <a:rPr lang="en-US" sz="1500" b="1" dirty="0">
                <a:solidFill>
                  <a:srgbClr val="222B36"/>
                </a:solidFill>
                <a:latin typeface="Calibri" pitchFamily="34" charset="0"/>
                <a:ea typeface="Calibri" pitchFamily="34" charset="-122"/>
                <a:cs typeface="Calibri" pitchFamily="34" charset="-120"/>
              </a:rPr>
              <a:t>(c)</a:t>
            </a:r>
            <a:r>
              <a:rPr lang="en-US" sz="1500" dirty="0">
                <a:solidFill>
                  <a:srgbClr val="222B36"/>
                </a:solidFill>
                <a:latin typeface="Calibri" pitchFamily="34" charset="0"/>
                <a:ea typeface="Calibri" pitchFamily="34" charset="-122"/>
                <a:cs typeface="Calibri" pitchFamily="34" charset="-120"/>
              </a:rPr>
              <a:t> region 6, SE Pacific stratocumulus.</a:t>
            </a:r>
            <a:endParaRPr lang="en-US" sz="1500" dirty="0"/>
          </a:p>
        </p:txBody>
      </p:sp>
      <p:sp>
        <p:nvSpPr>
          <p:cNvPr id="8" name="num_81"/>
          <p:cNvSpPr/>
          <p:nvPr/>
        </p:nvSpPr>
        <p:spPr>
          <a:xfrm>
            <a:off x="594360" y="2770632"/>
            <a:ext cx="365760" cy="365760"/>
          </a:xfrm>
          <a:prstGeom prst="ellipse">
            <a:avLst/>
          </a:prstGeom>
          <a:solidFill>
            <a:srgbClr val="D98E1F"/>
          </a:solidFill>
          <a:ln w="12700">
            <a:solidFill>
              <a:srgbClr val="D98E1F"/>
            </a:solidFill>
            <a:prstDash val="solid"/>
          </a:ln>
        </p:spPr>
      </p:sp>
      <p:sp>
        <p:nvSpPr>
          <p:cNvPr id="9" name="text_82"/>
          <p:cNvSpPr txBox="1"/>
          <p:nvPr/>
        </p:nvSpPr>
        <p:spPr>
          <a:xfrm>
            <a:off x="594360" y="277063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83"/>
          <p:cNvSpPr txBox="1"/>
          <p:nvPr/>
        </p:nvSpPr>
        <p:spPr>
          <a:xfrm>
            <a:off x="1097280" y="275234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Write a </a:t>
            </a:r>
            <a:r>
              <a:rPr lang="en-US" sz="1500" b="1" dirty="0">
                <a:solidFill>
                  <a:srgbClr val="222B36"/>
                </a:solidFill>
                <a:latin typeface="Calibri" pitchFamily="34" charset="0"/>
                <a:ea typeface="Calibri" pitchFamily="34" charset="-122"/>
                <a:cs typeface="Calibri" pitchFamily="34" charset="-120"/>
              </a:rPr>
              <a:t>one-line physical reason</a:t>
            </a:r>
            <a:r>
              <a:rPr lang="en-US" sz="1500" dirty="0">
                <a:solidFill>
                  <a:srgbClr val="222B36"/>
                </a:solidFill>
                <a:latin typeface="Calibri" pitchFamily="34" charset="0"/>
                <a:ea typeface="Calibri" pitchFamily="34" charset="-122"/>
                <a:cs typeface="Calibri" pitchFamily="34" charset="-120"/>
              </a:rPr>
              <a:t> for each (Walker circulation? SST? subsidence?).</a:t>
            </a:r>
            <a:endParaRPr lang="en-US" sz="1500" dirty="0"/>
          </a:p>
        </p:txBody>
      </p:sp>
      <p:sp>
        <p:nvSpPr>
          <p:cNvPr id="11" name="num_84"/>
          <p:cNvSpPr/>
          <p:nvPr/>
        </p:nvSpPr>
        <p:spPr>
          <a:xfrm>
            <a:off x="594360" y="3557016"/>
            <a:ext cx="365760" cy="365760"/>
          </a:xfrm>
          <a:prstGeom prst="ellipse">
            <a:avLst/>
          </a:prstGeom>
          <a:solidFill>
            <a:srgbClr val="D98E1F"/>
          </a:solidFill>
          <a:ln w="12700">
            <a:solidFill>
              <a:srgbClr val="D98E1F"/>
            </a:solidFill>
            <a:prstDash val="solid"/>
          </a:ln>
        </p:spPr>
      </p:sp>
      <p:sp>
        <p:nvSpPr>
          <p:cNvPr id="12" name="text_85"/>
          <p:cNvSpPr txBox="1"/>
          <p:nvPr/>
        </p:nvSpPr>
        <p:spPr>
          <a:xfrm>
            <a:off x="594360" y="355701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86"/>
          <p:cNvSpPr txBox="1"/>
          <p:nvPr/>
        </p:nvSpPr>
        <p:spPr>
          <a:xfrm>
            <a:off x="1097280" y="3538728"/>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Now look at the real map (next slide) or your §2 map. Where were you wrong?</a:t>
            </a:r>
            <a:endParaRPr lang="en-US" sz="1500" dirty="0"/>
          </a:p>
        </p:txBody>
      </p:sp>
      <p:sp>
        <p:nvSpPr>
          <p:cNvPr id="14" name="card_87"/>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15" name="tag_88"/>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16" name="text_89"/>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17" name="cardbody_90"/>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Three predictions with reasons</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Any surprise is a candidate </a:t>
            </a:r>
            <a:r>
              <a:rPr lang="en-US" sz="1450" b="1" dirty="0">
                <a:solidFill>
                  <a:srgbClr val="FFFFFF"/>
                </a:solidFill>
                <a:latin typeface="Calibri" pitchFamily="34" charset="0"/>
                <a:ea typeface="Calibri" pitchFamily="34" charset="-122"/>
                <a:cs typeface="Calibri" pitchFamily="34" charset="-120"/>
              </a:rPr>
              <a:t>‘however’</a:t>
            </a:r>
            <a:r>
              <a:rPr lang="en-US" sz="1450" dirty="0">
                <a:solidFill>
                  <a:srgbClr val="FFFFFF"/>
                </a:solidFill>
                <a:latin typeface="Calibri" pitchFamily="34" charset="0"/>
                <a:ea typeface="Calibri" pitchFamily="34" charset="-122"/>
                <a:cs typeface="Calibri" pitchFamily="34" charset="-120"/>
              </a:rPr>
              <a:t> for your Introduction</a:t>
            </a:r>
            <a:endParaRPr lang="en-US" sz="1450" dirty="0"/>
          </a:p>
        </p:txBody>
      </p:sp>
      <p:sp>
        <p:nvSpPr>
          <p:cNvPr id="18" name="card_91"/>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19" name="tag_92"/>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0" name="text_93"/>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1" name="cardbody_94"/>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Compare predictions before the reveal. Did you use the same reasoning?</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l_95"/>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96"/>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97"/>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answer: El Niño − La Niña, real ERA5 total cloud</a:t>
            </a:r>
            <a:endParaRPr lang="en-US" sz="2800" dirty="0"/>
          </a:p>
        </p:txBody>
      </p:sp>
      <p:pic>
        <p:nvPicPr>
          <p:cNvPr id="5" name="img_98" descr="/home/claude/work/build/figs/real_composite_map.png">    </p:cNvPr>
          <p:cNvPicPr>
            <a:picLocks noChangeAspect="1"/>
          </p:cNvPicPr>
          <p:nvPr/>
        </p:nvPicPr>
        <p:blipFill>
          <a:blip r:embed="rId1"/>
          <a:stretch>
            <a:fillRect/>
          </a:stretch>
        </p:blipFill>
        <p:spPr>
          <a:xfrm>
            <a:off x="1064357" y="1234440"/>
            <a:ext cx="10060238" cy="3749040"/>
          </a:xfrm>
          <a:prstGeom prst="rect">
            <a:avLst/>
          </a:prstGeom>
        </p:spPr>
      </p:pic>
      <p:sp>
        <p:nvSpPr>
          <p:cNvPr id="6" name="mwbul_99"/>
          <p:cNvSpPr txBox="1"/>
          <p:nvPr/>
        </p:nvSpPr>
        <p:spPr>
          <a:xfrm>
            <a:off x="548640" y="5120640"/>
            <a:ext cx="11091672" cy="1234440"/>
          </a:xfrm>
          <a:prstGeom prst="rect">
            <a:avLst/>
          </a:prstGeom>
          <a:noFill/>
          <a:ln/>
        </p:spPr>
        <p:txBody>
          <a:bodyPr wrap="square" lIns="635" tIns="635" rIns="635" bIns="635" rtlCol="0" anchor="t"/>
          <a:lstStyle/>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Strong positive over the central and eastern equatorial Pacific (regions 2–4); strong negative over the Maritime Continent (5). This is the </a:t>
            </a:r>
            <a:r>
              <a:rPr lang="en-US" sz="1450" b="1" dirty="0">
                <a:solidFill>
                  <a:srgbClr val="222B36"/>
                </a:solidFill>
                <a:latin typeface="Calibri" pitchFamily="34" charset="0"/>
                <a:ea typeface="Calibri" pitchFamily="34" charset="-122"/>
                <a:cs typeface="Calibri" pitchFamily="34" charset="-120"/>
              </a:rPr>
              <a:t>Walker circulation weakening</a:t>
            </a:r>
            <a:r>
              <a:rPr lang="en-US" sz="1450" dirty="0">
                <a:solidFill>
                  <a:srgbClr val="222B36"/>
                </a:solidFill>
                <a:latin typeface="Calibri" pitchFamily="34" charset="0"/>
                <a:ea typeface="Calibri" pitchFamily="34" charset="-122"/>
                <a:cs typeface="Calibri" pitchFamily="34" charset="-120"/>
              </a:rPr>
              <a:t> and convection shifting east.</a:t>
            </a:r>
            <a:endParaRPr lang="en-US" sz="1450" dirty="0"/>
          </a:p>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Weaker, patchier signals elsewhere, including the subtropical stratocumulus boxes (6–9). Some surprise people; that's a question waiting to be asked.</a:t>
            </a:r>
            <a:endParaRPr lang="en-US" sz="14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100"/>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Every good Introduction makes three moves</a:t>
            </a:r>
            <a:endParaRPr lang="en-US" sz="2800" dirty="0"/>
          </a:p>
        </p:txBody>
      </p:sp>
      <p:sp>
        <p:nvSpPr>
          <p:cNvPr id="3" name="mv_101"/>
          <p:cNvSpPr/>
          <p:nvPr/>
        </p:nvSpPr>
        <p:spPr>
          <a:xfrm>
            <a:off x="548640" y="1371600"/>
            <a:ext cx="5486400" cy="1325880"/>
          </a:xfrm>
          <a:prstGeom prst="roundRect">
            <a:avLst>
              <a:gd name="adj" fmla="val 5517"/>
            </a:avLst>
          </a:prstGeom>
          <a:solidFill>
            <a:srgbClr val="1B2A41"/>
          </a:solidFill>
          <a:ln w="12700">
            <a:solidFill>
              <a:srgbClr val="1B2A41"/>
            </a:solidFill>
            <a:prstDash val="solid"/>
          </a:ln>
        </p:spPr>
      </p:sp>
      <p:sp>
        <p:nvSpPr>
          <p:cNvPr id="4" name="text_102"/>
          <p:cNvSpPr txBox="1"/>
          <p:nvPr/>
        </p:nvSpPr>
        <p:spPr>
          <a:xfrm>
            <a:off x="731520" y="1508760"/>
            <a:ext cx="5120640" cy="365760"/>
          </a:xfrm>
          <a:prstGeom prst="rect">
            <a:avLst/>
          </a:prstGeom>
          <a:noFill/>
          <a:ln/>
        </p:spPr>
        <p:txBody>
          <a:bodyPr wrap="square" lIns="635" tIns="635" rIns="635" bIns="635" rtlCol="0" anchor="t"/>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1  CONTEXT</a:t>
            </a:r>
            <a:endParaRPr lang="en-US" sz="1600" dirty="0"/>
          </a:p>
        </p:txBody>
      </p:sp>
      <p:sp>
        <p:nvSpPr>
          <p:cNvPr id="5" name="text_103"/>
          <p:cNvSpPr txBox="1"/>
          <p:nvPr/>
        </p:nvSpPr>
        <p:spPr>
          <a:xfrm>
            <a:off x="731520" y="1920240"/>
            <a:ext cx="5120640" cy="640080"/>
          </a:xfrm>
          <a:prstGeom prst="rect">
            <a:avLst/>
          </a:prstGeom>
          <a:noFill/>
          <a:ln/>
        </p:spPr>
        <p:txBody>
          <a:bodyPr wrap="square" lIns="635" tIns="635" rIns="635" bIns="635" rtlCol="0" anchor="t"/>
          <a:lstStyle/>
          <a:p>
            <a:pPr algn="ctr" indent="0" marL="0">
              <a:lnSpc>
                <a:spcPct val="100000"/>
              </a:lnSpc>
              <a:buNone/>
            </a:pPr>
            <a:r>
              <a:rPr lang="en-US" sz="1350" dirty="0">
                <a:solidFill>
                  <a:srgbClr val="FFFFFF"/>
                </a:solidFill>
                <a:latin typeface="Calibri" pitchFamily="34" charset="0"/>
                <a:ea typeface="Calibri" pitchFamily="34" charset="-122"/>
                <a:cs typeface="Calibri" pitchFamily="34" charset="-120"/>
              </a:rPr>
              <a:t>Common ground the reader already accepts</a:t>
            </a:r>
            <a:endParaRPr lang="en-US" sz="1350" dirty="0"/>
          </a:p>
        </p:txBody>
      </p:sp>
      <p:sp>
        <p:nvSpPr>
          <p:cNvPr id="6" name="text_104"/>
          <p:cNvSpPr txBox="1"/>
          <p:nvPr/>
        </p:nvSpPr>
        <p:spPr>
          <a:xfrm>
            <a:off x="6492240" y="1463040"/>
            <a:ext cx="5120640" cy="1188720"/>
          </a:xfrm>
          <a:prstGeom prst="rect">
            <a:avLst/>
          </a:prstGeom>
          <a:noFill/>
          <a:ln/>
        </p:spPr>
        <p:txBody>
          <a:bodyPr wrap="square" lIns="635" tIns="635" rIns="635" bIns="635" rtlCol="0" anchor="ctr"/>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ENSO reorganises tropical convection through the Walker circulation, and cloud responds.</a:t>
            </a:r>
            <a:endParaRPr lang="en-US" sz="1400" dirty="0"/>
          </a:p>
        </p:txBody>
      </p:sp>
      <p:sp>
        <p:nvSpPr>
          <p:cNvPr id="7" name="mv_105"/>
          <p:cNvSpPr/>
          <p:nvPr/>
        </p:nvSpPr>
        <p:spPr>
          <a:xfrm>
            <a:off x="1005840" y="2971800"/>
            <a:ext cx="4572000" cy="1325880"/>
          </a:xfrm>
          <a:prstGeom prst="roundRect">
            <a:avLst>
              <a:gd name="adj" fmla="val 5517"/>
            </a:avLst>
          </a:prstGeom>
          <a:solidFill>
            <a:srgbClr val="B04A35"/>
          </a:solidFill>
          <a:ln w="12700">
            <a:solidFill>
              <a:srgbClr val="B04A35"/>
            </a:solidFill>
            <a:prstDash val="solid"/>
          </a:ln>
        </p:spPr>
      </p:sp>
      <p:sp>
        <p:nvSpPr>
          <p:cNvPr id="8" name="text_106"/>
          <p:cNvSpPr txBox="1"/>
          <p:nvPr/>
        </p:nvSpPr>
        <p:spPr>
          <a:xfrm>
            <a:off x="1188720" y="3108960"/>
            <a:ext cx="4206240" cy="365760"/>
          </a:xfrm>
          <a:prstGeom prst="rect">
            <a:avLst/>
          </a:prstGeom>
          <a:noFill/>
          <a:ln/>
        </p:spPr>
        <p:txBody>
          <a:bodyPr wrap="square" lIns="635" tIns="635" rIns="635" bIns="635" rtlCol="0" anchor="t"/>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2  PROBLEM</a:t>
            </a:r>
            <a:endParaRPr lang="en-US" sz="1600" dirty="0"/>
          </a:p>
        </p:txBody>
      </p:sp>
      <p:sp>
        <p:nvSpPr>
          <p:cNvPr id="9" name="text_107"/>
          <p:cNvSpPr txBox="1"/>
          <p:nvPr/>
        </p:nvSpPr>
        <p:spPr>
          <a:xfrm>
            <a:off x="1188720" y="3520440"/>
            <a:ext cx="4206240" cy="640080"/>
          </a:xfrm>
          <a:prstGeom prst="rect">
            <a:avLst/>
          </a:prstGeom>
          <a:noFill/>
          <a:ln/>
        </p:spPr>
        <p:txBody>
          <a:bodyPr wrap="square" lIns="635" tIns="635" rIns="635" bIns="635" rtlCol="0" anchor="t"/>
          <a:lstStyle/>
          <a:p>
            <a:pPr algn="ct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hook: a contrast, puzzle, gap or stake</a:t>
            </a:r>
            <a:endParaRPr lang="en-US" sz="1350" dirty="0"/>
          </a:p>
        </p:txBody>
      </p:sp>
      <p:sp>
        <p:nvSpPr>
          <p:cNvPr id="10" name="text_108"/>
          <p:cNvSpPr txBox="1"/>
          <p:nvPr/>
        </p:nvSpPr>
        <p:spPr>
          <a:xfrm>
            <a:off x="6492240" y="3063240"/>
            <a:ext cx="5120640" cy="1188720"/>
          </a:xfrm>
          <a:prstGeom prst="rect">
            <a:avLst/>
          </a:prstGeom>
          <a:noFill/>
          <a:ln/>
        </p:spPr>
        <p:txBody>
          <a:bodyPr wrap="square" lIns="635" tIns="635" rIns="635" bIns="635" rtlCol="0" anchor="ctr"/>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However, cloud at different levels is controlled by different processes, so the response need not be the same everywhere.</a:t>
            </a:r>
            <a:endParaRPr lang="en-US" sz="1400" dirty="0"/>
          </a:p>
        </p:txBody>
      </p:sp>
      <p:sp>
        <p:nvSpPr>
          <p:cNvPr id="11" name="mv_109"/>
          <p:cNvSpPr/>
          <p:nvPr/>
        </p:nvSpPr>
        <p:spPr>
          <a:xfrm>
            <a:off x="1463040" y="4572000"/>
            <a:ext cx="3657600" cy="1325880"/>
          </a:xfrm>
          <a:prstGeom prst="roundRect">
            <a:avLst>
              <a:gd name="adj" fmla="val 5517"/>
            </a:avLst>
          </a:prstGeom>
          <a:solidFill>
            <a:srgbClr val="1F7A6E"/>
          </a:solidFill>
          <a:ln w="12700">
            <a:solidFill>
              <a:srgbClr val="1F7A6E"/>
            </a:solidFill>
            <a:prstDash val="solid"/>
          </a:ln>
        </p:spPr>
      </p:sp>
      <p:sp>
        <p:nvSpPr>
          <p:cNvPr id="12" name="text_110"/>
          <p:cNvSpPr txBox="1"/>
          <p:nvPr/>
        </p:nvSpPr>
        <p:spPr>
          <a:xfrm>
            <a:off x="1645920" y="4709160"/>
            <a:ext cx="3291840" cy="365760"/>
          </a:xfrm>
          <a:prstGeom prst="rect">
            <a:avLst/>
          </a:prstGeom>
          <a:noFill/>
          <a:ln/>
        </p:spPr>
        <p:txBody>
          <a:bodyPr wrap="square" lIns="635" tIns="635" rIns="635" bIns="635" rtlCol="0" anchor="t"/>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3  RESPONSE</a:t>
            </a:r>
            <a:endParaRPr lang="en-US" sz="1600" dirty="0"/>
          </a:p>
        </p:txBody>
      </p:sp>
      <p:sp>
        <p:nvSpPr>
          <p:cNvPr id="13" name="text_111"/>
          <p:cNvSpPr txBox="1"/>
          <p:nvPr/>
        </p:nvSpPr>
        <p:spPr>
          <a:xfrm>
            <a:off x="1645920" y="5120640"/>
            <a:ext cx="3291840" cy="640080"/>
          </a:xfrm>
          <a:prstGeom prst="rect">
            <a:avLst/>
          </a:prstGeom>
          <a:noFill/>
          <a:ln/>
        </p:spPr>
        <p:txBody>
          <a:bodyPr wrap="square" lIns="635" tIns="635" rIns="635" bIns="635" rtlCol="0" anchor="t"/>
          <a:lstStyle/>
          <a:p>
            <a:pPr algn="ctr" indent="0" marL="0">
              <a:lnSpc>
                <a:spcPct val="100000"/>
              </a:lnSpc>
              <a:buNone/>
            </a:pPr>
            <a:r>
              <a:rPr lang="en-US" sz="1350" dirty="0">
                <a:solidFill>
                  <a:srgbClr val="FFFFFF"/>
                </a:solidFill>
                <a:latin typeface="Calibri" pitchFamily="34" charset="0"/>
                <a:ea typeface="Calibri" pitchFamily="34" charset="-122"/>
                <a:cs typeface="Calibri" pitchFamily="34" charset="-120"/>
              </a:rPr>
              <a:t>What this report does, and its scope</a:t>
            </a:r>
            <a:endParaRPr lang="en-US" sz="1350" dirty="0"/>
          </a:p>
        </p:txBody>
      </p:sp>
      <p:sp>
        <p:nvSpPr>
          <p:cNvPr id="14" name="text_112"/>
          <p:cNvSpPr txBox="1"/>
          <p:nvPr/>
        </p:nvSpPr>
        <p:spPr>
          <a:xfrm>
            <a:off x="6492240" y="4663440"/>
            <a:ext cx="5120640" cy="1188720"/>
          </a:xfrm>
          <a:prstGeom prst="rect">
            <a:avLst/>
          </a:prstGeom>
          <a:noFill/>
          <a:ln/>
        </p:spPr>
        <p:txBody>
          <a:bodyPr wrap="square" lIns="635" tIns="635" rIns="635" bIns="635" rtlCol="0" anchor="ctr"/>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The purpose of this report is to compare … over … using ERA5 and the ONI.</a:t>
            </a:r>
            <a:endParaRPr lang="en-US" sz="1400" dirty="0"/>
          </a:p>
        </p:txBody>
      </p:sp>
      <p:sp>
        <p:nvSpPr>
          <p:cNvPr id="15" name="text_113"/>
          <p:cNvSpPr txBox="1"/>
          <p:nvPr/>
        </p:nvSpPr>
        <p:spPr>
          <a:xfrm>
            <a:off x="6492240" y="1097280"/>
            <a:ext cx="512064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D98E1F"/>
                </a:solidFill>
                <a:latin typeface="Calibri" pitchFamily="34" charset="0"/>
                <a:ea typeface="Calibri" pitchFamily="34" charset="-122"/>
                <a:cs typeface="Calibri" pitchFamily="34" charset="-120"/>
              </a:rPr>
              <a:t>IN AN ENSO–CLOUD REPORT, FOR EXAMPLE</a:t>
            </a:r>
            <a:endParaRPr lang="en-US" sz="1050" dirty="0"/>
          </a:p>
        </p:txBody>
      </p:sp>
      <p:sp>
        <p:nvSpPr>
          <p:cNvPr id="16" name="text_114"/>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§4.6, Table 4.4 (after Booth et al. 2003): context → problem statement → response.</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_11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First sentences: avoid the ‘resounding banality’</a:t>
            </a:r>
            <a:endParaRPr lang="en-US" sz="2800" dirty="0"/>
          </a:p>
        </p:txBody>
      </p:sp>
      <p:sp>
        <p:nvSpPr>
          <p:cNvPr id="3" name="text_116"/>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Medawar's phrase (via Schultz) for an opening that is true, obvious, and does no work at all.</a:t>
            </a:r>
            <a:endParaRPr lang="en-US" sz="1500" dirty="0"/>
          </a:p>
        </p:txBody>
      </p:sp>
      <p:sp>
        <p:nvSpPr>
          <p:cNvPr id="4" name="card_117"/>
          <p:cNvSpPr/>
          <p:nvPr/>
        </p:nvSpPr>
        <p:spPr>
          <a:xfrm>
            <a:off x="548640" y="1691640"/>
            <a:ext cx="5440680" cy="3154680"/>
          </a:xfrm>
          <a:prstGeom prst="roundRect">
            <a:avLst>
              <a:gd name="adj" fmla="val 2319"/>
            </a:avLst>
          </a:prstGeom>
          <a:solidFill>
            <a:srgbClr val="F5E0DA"/>
          </a:solidFill>
          <a:ln w="9525">
            <a:solidFill>
              <a:srgbClr val="F5E0DA"/>
            </a:solidFill>
            <a:prstDash val="solid"/>
          </a:ln>
        </p:spPr>
      </p:sp>
      <p:sp>
        <p:nvSpPr>
          <p:cNvPr id="5" name="tag_118"/>
          <p:cNvSpPr/>
          <p:nvPr/>
        </p:nvSpPr>
        <p:spPr>
          <a:xfrm>
            <a:off x="713232" y="1819656"/>
            <a:ext cx="457200" cy="256032"/>
          </a:xfrm>
          <a:prstGeom prst="roundRect">
            <a:avLst>
              <a:gd name="adj" fmla="val 21429"/>
            </a:avLst>
          </a:prstGeom>
          <a:solidFill>
            <a:srgbClr val="B04A35"/>
          </a:solidFill>
          <a:ln w="12700">
            <a:solidFill>
              <a:srgbClr val="B04A35"/>
            </a:solidFill>
            <a:prstDash val="solid"/>
          </a:ln>
        </p:spPr>
      </p:sp>
      <p:sp>
        <p:nvSpPr>
          <p:cNvPr id="6" name="text_119"/>
          <p:cNvSpPr txBox="1"/>
          <p:nvPr/>
        </p:nvSpPr>
        <p:spPr>
          <a:xfrm>
            <a:off x="713232" y="1819656"/>
            <a:ext cx="45720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WEAK</a:t>
            </a:r>
            <a:endParaRPr lang="en-US" sz="1050" dirty="0"/>
          </a:p>
        </p:txBody>
      </p:sp>
      <p:sp>
        <p:nvSpPr>
          <p:cNvPr id="7" name="text_120"/>
          <p:cNvSpPr txBox="1"/>
          <p:nvPr/>
        </p:nvSpPr>
        <p:spPr>
          <a:xfrm>
            <a:off x="713232" y="2167128"/>
            <a:ext cx="5111496" cy="2587752"/>
          </a:xfrm>
          <a:prstGeom prst="rect">
            <a:avLst/>
          </a:prstGeom>
          <a:noFill/>
          <a:ln/>
        </p:spPr>
        <p:txBody>
          <a:bodyPr wrap="square" lIns="635" tIns="635" rIns="635" bIns="635" rtlCol="0" anchor="t"/>
          <a:lstStyle/>
          <a:p>
            <a:pPr algn="l" indent="0" marL="0">
              <a:lnSpc>
                <a:spcPct val="100000"/>
              </a:lnSpc>
              <a:buNone/>
            </a:pPr>
            <a:r>
              <a:rPr lang="en-US" sz="1550" i="1" dirty="0">
                <a:solidFill>
                  <a:srgbClr val="222B36"/>
                </a:solidFill>
                <a:latin typeface="Georgia" pitchFamily="34" charset="0"/>
                <a:ea typeface="Georgia" pitchFamily="34" charset="-122"/>
                <a:cs typeface="Georgia" pitchFamily="34" charset="-120"/>
              </a:rPr>
              <a:t>“ENSO is a very important phenomenon that affects weather all over the world. Clouds are also very important for the climate system.”</a:t>
            </a:r>
            <a:endParaRPr lang="en-US" sz="1550" dirty="0"/>
          </a:p>
        </p:txBody>
      </p:sp>
      <p:sp>
        <p:nvSpPr>
          <p:cNvPr id="8" name="card_121"/>
          <p:cNvSpPr/>
          <p:nvPr/>
        </p:nvSpPr>
        <p:spPr>
          <a:xfrm>
            <a:off x="6199632" y="1691640"/>
            <a:ext cx="5440680" cy="3154680"/>
          </a:xfrm>
          <a:prstGeom prst="roundRect">
            <a:avLst>
              <a:gd name="adj" fmla="val 2319"/>
            </a:avLst>
          </a:prstGeom>
          <a:solidFill>
            <a:srgbClr val="DCEFEA"/>
          </a:solidFill>
          <a:ln w="9525">
            <a:solidFill>
              <a:srgbClr val="DCEFEA"/>
            </a:solidFill>
            <a:prstDash val="solid"/>
          </a:ln>
        </p:spPr>
      </p:sp>
      <p:sp>
        <p:nvSpPr>
          <p:cNvPr id="9" name="tag_122"/>
          <p:cNvSpPr/>
          <p:nvPr/>
        </p:nvSpPr>
        <p:spPr>
          <a:xfrm>
            <a:off x="6364224" y="1819656"/>
            <a:ext cx="612648" cy="256032"/>
          </a:xfrm>
          <a:prstGeom prst="roundRect">
            <a:avLst>
              <a:gd name="adj" fmla="val 21429"/>
            </a:avLst>
          </a:prstGeom>
          <a:solidFill>
            <a:srgbClr val="1F7A6E"/>
          </a:solidFill>
          <a:ln w="12700">
            <a:solidFill>
              <a:srgbClr val="1F7A6E"/>
            </a:solidFill>
            <a:prstDash val="solid"/>
          </a:ln>
        </p:spPr>
      </p:sp>
      <p:sp>
        <p:nvSpPr>
          <p:cNvPr id="10" name="text_123"/>
          <p:cNvSpPr txBox="1"/>
          <p:nvPr/>
        </p:nvSpPr>
        <p:spPr>
          <a:xfrm>
            <a:off x="6364224" y="181965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STRONG</a:t>
            </a:r>
            <a:endParaRPr lang="en-US" sz="1050" dirty="0"/>
          </a:p>
        </p:txBody>
      </p:sp>
      <p:sp>
        <p:nvSpPr>
          <p:cNvPr id="11" name="text_124"/>
          <p:cNvSpPr txBox="1"/>
          <p:nvPr/>
        </p:nvSpPr>
        <p:spPr>
          <a:xfrm>
            <a:off x="6364224" y="2167128"/>
            <a:ext cx="5111496" cy="2587752"/>
          </a:xfrm>
          <a:prstGeom prst="rect">
            <a:avLst/>
          </a:prstGeom>
          <a:noFill/>
          <a:ln/>
        </p:spPr>
        <p:txBody>
          <a:bodyPr wrap="square" lIns="635" tIns="635" rIns="635" bIns="635" rtlCol="0" anchor="t"/>
          <a:lstStyle/>
          <a:p>
            <a:pPr algn="l" indent="0" marL="0">
              <a:lnSpc>
                <a:spcPct val="100000"/>
              </a:lnSpc>
              <a:buNone/>
            </a:pPr>
            <a:r>
              <a:rPr lang="en-US" sz="1550" i="1" dirty="0">
                <a:solidFill>
                  <a:srgbClr val="222B36"/>
                </a:solidFill>
                <a:latin typeface="Georgia" pitchFamily="34" charset="0"/>
                <a:ea typeface="Georgia" pitchFamily="34" charset="-122"/>
                <a:cs typeface="Georgia" pitchFamily="34" charset="-120"/>
              </a:rPr>
              <a:t>“ENSO is the largest source of year-to-year climate variability on Earth, and clouds record it: as the Walker circulation weakens during El Niño, convection over the Maritime Continent is suppressed while parts of the central Pacific become cloudier.”</a:t>
            </a:r>
            <a:endParaRPr lang="en-US" sz="1550" dirty="0"/>
          </a:p>
        </p:txBody>
      </p:sp>
      <p:sp>
        <p:nvSpPr>
          <p:cNvPr id="12" name="text_125"/>
          <p:cNvSpPr txBox="1"/>
          <p:nvPr/>
        </p:nvSpPr>
        <p:spPr>
          <a:xfrm>
            <a:off x="548640" y="502920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3" name="changed_126"/>
          <p:cNvSpPr txBox="1"/>
          <p:nvPr/>
        </p:nvSpPr>
        <p:spPr>
          <a:xfrm>
            <a:off x="548640" y="5303520"/>
            <a:ext cx="11064240" cy="1051560"/>
          </a:xfrm>
          <a:prstGeom prst="rect">
            <a:avLst/>
          </a:prstGeom>
          <a:noFill/>
          <a:ln/>
        </p:spPr>
        <p:txBody>
          <a:bodyPr wrap="square" lIns="635" tIns="635" rIns="635" bIns="635" rtlCol="0" anchor="t"/>
          <a:lstStyle/>
          <a:p>
            <a:pPr marL="342900" indent="-342900">
              <a:spcAft>
                <a:spcPts val="300"/>
              </a:spcAft>
              <a:buSzPct val="100000"/>
              <a:buChar char="■"/>
            </a:pPr>
            <a:r>
              <a:rPr lang="en-US" sz="1450" b="1" dirty="0">
                <a:solidFill>
                  <a:srgbClr val="222B36"/>
                </a:solidFill>
                <a:latin typeface="Calibri" pitchFamily="34" charset="0"/>
                <a:ea typeface="Calibri" pitchFamily="34" charset="-122"/>
                <a:cs typeface="Calibri" pitchFamily="34" charset="-120"/>
              </a:rPr>
              <a:t>Specific:</a:t>
            </a:r>
            <a:r>
              <a:rPr lang="en-US" sz="1450" dirty="0">
                <a:solidFill>
                  <a:srgbClr val="222B36"/>
                </a:solidFill>
                <a:latin typeface="Calibri" pitchFamily="34" charset="0"/>
                <a:ea typeface="Calibri" pitchFamily="34" charset="-122"/>
                <a:cs typeface="Calibri" pitchFamily="34" charset="-120"/>
              </a:rPr>
              <a:t> names the mechanism (Walker circulation) and real places, instead of ‘very important’.</a:t>
            </a:r>
            <a:endParaRPr lang="en-US" sz="1450" dirty="0"/>
          </a:p>
          <a:p>
            <a:pPr marL="342900" indent="-342900">
              <a:spcAft>
                <a:spcPts val="300"/>
              </a:spcAft>
              <a:buSzPct val="100000"/>
              <a:buChar char="■"/>
            </a:pPr>
            <a:r>
              <a:rPr lang="en-US" sz="1450" b="1" dirty="0">
                <a:solidFill>
                  <a:srgbClr val="222B36"/>
                </a:solidFill>
                <a:latin typeface="Calibri" pitchFamily="34" charset="0"/>
                <a:ea typeface="Calibri" pitchFamily="34" charset="-122"/>
                <a:cs typeface="Calibri" pitchFamily="34" charset="-120"/>
              </a:rPr>
              <a:t>Points somewhere:</a:t>
            </a:r>
            <a:r>
              <a:rPr lang="en-US" sz="1450" dirty="0">
                <a:solidFill>
                  <a:srgbClr val="222B36"/>
                </a:solidFill>
                <a:latin typeface="Calibri" pitchFamily="34" charset="0"/>
                <a:ea typeface="Calibri" pitchFamily="34" charset="-122"/>
                <a:cs typeface="Calibri" pitchFamily="34" charset="-120"/>
              </a:rPr>
              <a:t> the reader can already sense the question coming (where else does cloud change, and why?).</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Schultz: avoid statements nearly everyone knows are true, </a:t>
            </a:r>
            <a:r>
              <a:rPr lang="en-US" sz="1450" b="1" dirty="0">
                <a:solidFill>
                  <a:srgbClr val="222B36"/>
                </a:solidFill>
                <a:latin typeface="Calibri" pitchFamily="34" charset="0"/>
                <a:ea typeface="Calibri" pitchFamily="34" charset="-122"/>
                <a:cs typeface="Calibri" pitchFamily="34" charset="-120"/>
              </a:rPr>
              <a:t>unless you are about to contradict them</a:t>
            </a:r>
            <a:r>
              <a:rPr lang="en-US" sz="1450" dirty="0">
                <a:solidFill>
                  <a:srgbClr val="222B36"/>
                </a:solidFill>
                <a:latin typeface="Calibri" pitchFamily="34" charset="0"/>
                <a:ea typeface="Calibri" pitchFamily="34" charset="-122"/>
                <a:cs typeface="Calibri" pitchFamily="34" charset="-120"/>
              </a:rPr>
              <a:t>.</a:t>
            </a:r>
            <a:endParaRPr lang="en-US" sz="1450" dirty="0"/>
          </a:p>
        </p:txBody>
      </p:sp>
      <p:sp>
        <p:nvSpPr>
          <p:cNvPr id="14" name="text_127"/>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§4.6 (Medawar’s ‘resounding banality’; Williams’ orchestra tuning up).</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_12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purpose statement: a little formula helps</a:t>
            </a:r>
            <a:endParaRPr lang="en-US" sz="2800" dirty="0"/>
          </a:p>
        </p:txBody>
      </p:sp>
      <p:sp>
        <p:nvSpPr>
          <p:cNvPr id="3" name="bullets_129"/>
          <p:cNvSpPr txBox="1"/>
          <p:nvPr/>
        </p:nvSpPr>
        <p:spPr>
          <a:xfrm>
            <a:off x="548640" y="1325880"/>
            <a:ext cx="5760720" cy="4937760"/>
          </a:xfrm>
          <a:prstGeom prst="rect">
            <a:avLst/>
          </a:prstGeom>
          <a:noFill/>
          <a:ln/>
        </p:spPr>
        <p:txBody>
          <a:bodyPr wrap="square" lIns="635" tIns="635" rIns="635" bIns="635" rtlCol="0" anchor="t"/>
          <a:lstStyle/>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Schultz recommends every Introduction contain a sentence like </a:t>
            </a:r>
            <a:r>
              <a:rPr lang="en-US" sz="1650" b="1" dirty="0">
                <a:solidFill>
                  <a:srgbClr val="222B36"/>
                </a:solidFill>
                <a:latin typeface="Calibri" pitchFamily="34" charset="0"/>
                <a:ea typeface="Calibri" pitchFamily="34" charset="-122"/>
                <a:cs typeface="Calibri" pitchFamily="34" charset="-120"/>
              </a:rPr>
              <a:t>“The purpose of this paper is to …”</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It forces you to compress your goal into one or two sentences. If you can't, the question isn't ready yet.</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Put it in the </a:t>
            </a:r>
            <a:r>
              <a:rPr lang="en-US" sz="1650" b="1" dirty="0">
                <a:solidFill>
                  <a:srgbClr val="222B36"/>
                </a:solidFill>
                <a:latin typeface="Calibri" pitchFamily="34" charset="0"/>
                <a:ea typeface="Calibri" pitchFamily="34" charset="-122"/>
                <a:cs typeface="Calibri" pitchFamily="34" charset="-120"/>
              </a:rPr>
              <a:t>last paragraph</a:t>
            </a:r>
            <a:r>
              <a:rPr lang="en-US" sz="1650" dirty="0">
                <a:solidFill>
                  <a:srgbClr val="222B36"/>
                </a:solidFill>
                <a:latin typeface="Calibri" pitchFamily="34" charset="0"/>
                <a:ea typeface="Calibri" pitchFamily="34" charset="-122"/>
                <a:cs typeface="Calibri" pitchFamily="34" charset="-120"/>
              </a:rPr>
              <a:t> of the Introduction, after the hook.</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State the </a:t>
            </a:r>
            <a:r>
              <a:rPr lang="en-US" sz="1650" b="1" dirty="0">
                <a:solidFill>
                  <a:srgbClr val="222B36"/>
                </a:solidFill>
                <a:latin typeface="Calibri" pitchFamily="34" charset="0"/>
                <a:ea typeface="Calibri" pitchFamily="34" charset="-122"/>
                <a:cs typeface="Calibri" pitchFamily="34" charset="-120"/>
              </a:rPr>
              <a:t>scope</a:t>
            </a:r>
            <a:r>
              <a:rPr lang="en-US" sz="1650" dirty="0">
                <a:solidFill>
                  <a:srgbClr val="222B36"/>
                </a:solidFill>
                <a:latin typeface="Calibri" pitchFamily="34" charset="0"/>
                <a:ea typeface="Calibri" pitchFamily="34" charset="-122"/>
                <a:cs typeface="Calibri" pitchFamily="34" charset="-120"/>
              </a:rPr>
              <a:t>: what the report will </a:t>
            </a:r>
            <a:r>
              <a:rPr lang="en-US" sz="1650" b="1" dirty="0">
                <a:solidFill>
                  <a:srgbClr val="222B36"/>
                </a:solidFill>
                <a:latin typeface="Calibri" pitchFamily="34" charset="0"/>
                <a:ea typeface="Calibri" pitchFamily="34" charset="-122"/>
                <a:cs typeface="Calibri" pitchFamily="34" charset="-120"/>
              </a:rPr>
              <a:t>not</a:t>
            </a:r>
            <a:r>
              <a:rPr lang="en-US" sz="1650" dirty="0">
                <a:solidFill>
                  <a:srgbClr val="222B36"/>
                </a:solidFill>
                <a:latin typeface="Calibri" pitchFamily="34" charset="0"/>
                <a:ea typeface="Calibri" pitchFamily="34" charset="-122"/>
                <a:cs typeface="Calibri" pitchFamily="34" charset="-120"/>
              </a:rPr>
              <a:t> cover. That stops a reader expecting more than 2,000 words can give.</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A </a:t>
            </a:r>
            <a:r>
              <a:rPr lang="en-US" sz="1650" b="1" dirty="0">
                <a:solidFill>
                  <a:srgbClr val="222B36"/>
                </a:solidFill>
                <a:latin typeface="Calibri" pitchFamily="34" charset="0"/>
                <a:ea typeface="Calibri" pitchFamily="34" charset="-122"/>
                <a:cs typeface="Calibri" pitchFamily="34" charset="-120"/>
              </a:rPr>
              <a:t>hypothesis</a:t>
            </a:r>
            <a:r>
              <a:rPr lang="en-US" sz="1650" dirty="0">
                <a:solidFill>
                  <a:srgbClr val="222B36"/>
                </a:solidFill>
                <a:latin typeface="Calibri" pitchFamily="34" charset="0"/>
                <a:ea typeface="Calibri" pitchFamily="34" charset="-122"/>
                <a:cs typeface="Calibri" pitchFamily="34" charset="-120"/>
              </a:rPr>
              <a:t> is optional but strong: “We expect … because …”.</a:t>
            </a:r>
            <a:endParaRPr lang="en-US" sz="1650" dirty="0"/>
          </a:p>
        </p:txBody>
      </p:sp>
      <p:sp>
        <p:nvSpPr>
          <p:cNvPr id="4" name="card_130"/>
          <p:cNvSpPr/>
          <p:nvPr/>
        </p:nvSpPr>
        <p:spPr>
          <a:xfrm>
            <a:off x="6629400" y="1325880"/>
            <a:ext cx="5013655" cy="4754880"/>
          </a:xfrm>
          <a:prstGeom prst="roundRect">
            <a:avLst>
              <a:gd name="adj" fmla="val 1538"/>
            </a:avLst>
          </a:prstGeom>
          <a:solidFill>
            <a:srgbClr val="FFFFFF"/>
          </a:solidFill>
          <a:ln w="9525">
            <a:solidFill>
              <a:srgbClr val="FFFFFF"/>
            </a:solidFill>
            <a:prstDash val="solid"/>
          </a:ln>
        </p:spPr>
      </p:sp>
      <p:sp>
        <p:nvSpPr>
          <p:cNvPr id="5" name="tag_131"/>
          <p:cNvSpPr/>
          <p:nvPr/>
        </p:nvSpPr>
        <p:spPr>
          <a:xfrm>
            <a:off x="6793992" y="1453896"/>
            <a:ext cx="768096" cy="256032"/>
          </a:xfrm>
          <a:prstGeom prst="roundRect">
            <a:avLst>
              <a:gd name="adj" fmla="val 21429"/>
            </a:avLst>
          </a:prstGeom>
          <a:solidFill>
            <a:srgbClr val="2E4A6B"/>
          </a:solidFill>
          <a:ln w="12700">
            <a:solidFill>
              <a:srgbClr val="2E4A6B"/>
            </a:solidFill>
            <a:prstDash val="solid"/>
          </a:ln>
        </p:spPr>
      </p:sp>
      <p:sp>
        <p:nvSpPr>
          <p:cNvPr id="6" name="text_132"/>
          <p:cNvSpPr txBox="1"/>
          <p:nvPr/>
        </p:nvSpPr>
        <p:spPr>
          <a:xfrm>
            <a:off x="6793992" y="1453896"/>
            <a:ext cx="76809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TEMPLATE</a:t>
            </a:r>
            <a:endParaRPr lang="en-US" sz="1050" dirty="0"/>
          </a:p>
        </p:txBody>
      </p:sp>
      <p:sp>
        <p:nvSpPr>
          <p:cNvPr id="7" name="text_133"/>
          <p:cNvSpPr txBox="1"/>
          <p:nvPr/>
        </p:nvSpPr>
        <p:spPr>
          <a:xfrm>
            <a:off x="6793992" y="1801368"/>
            <a:ext cx="4684471"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The purpose of this report is to…</a:t>
            </a:r>
            <a:endParaRPr lang="en-US" sz="1700" dirty="0"/>
          </a:p>
        </p:txBody>
      </p:sp>
      <p:sp>
        <p:nvSpPr>
          <p:cNvPr id="8" name="cardbody_134"/>
          <p:cNvSpPr txBox="1"/>
          <p:nvPr/>
        </p:nvSpPr>
        <p:spPr>
          <a:xfrm>
            <a:off x="6793992" y="2258568"/>
            <a:ext cx="4684471" cy="3730752"/>
          </a:xfrm>
          <a:prstGeom prst="rect">
            <a:avLst/>
          </a:prstGeom>
          <a:noFill/>
          <a:ln/>
        </p:spPr>
        <p:txBody>
          <a:bodyPr wrap="square" lIns="381" tIns="381" rIns="381" bIns="381" rtlCol="0" anchor="t"/>
          <a:lstStyle/>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verb:</a:t>
            </a:r>
            <a:r>
              <a:rPr lang="en-US" sz="1400" dirty="0">
                <a:solidFill>
                  <a:srgbClr val="222B36"/>
                </a:solidFill>
                <a:latin typeface="Calibri" pitchFamily="34" charset="0"/>
                <a:ea typeface="Calibri" pitchFamily="34" charset="-122"/>
                <a:cs typeface="Calibri" pitchFamily="34" charset="-120"/>
              </a:rPr>
              <a:t> quantify / compare / test whether …</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what:</a:t>
            </a:r>
            <a:r>
              <a:rPr lang="en-US" sz="1400" dirty="0">
                <a:solidFill>
                  <a:srgbClr val="222B36"/>
                </a:solidFill>
                <a:latin typeface="Calibri" pitchFamily="34" charset="0"/>
                <a:ea typeface="Calibri" pitchFamily="34" charset="-122"/>
                <a:cs typeface="Calibri" pitchFamily="34" charset="-120"/>
              </a:rPr>
              <a:t> the ENSO-related change in [cloud variable]</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where/when:</a:t>
            </a:r>
            <a:r>
              <a:rPr lang="en-US" sz="1400" dirty="0">
                <a:solidFill>
                  <a:srgbClr val="222B36"/>
                </a:solidFill>
                <a:latin typeface="Calibri" pitchFamily="34" charset="0"/>
                <a:ea typeface="Calibri" pitchFamily="34" charset="-122"/>
                <a:cs typeface="Calibri" pitchFamily="34" charset="-120"/>
              </a:rPr>
              <a:t> over [region], in [season / all months], [period]</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how:</a:t>
            </a:r>
            <a:r>
              <a:rPr lang="en-US" sz="1400" dirty="0">
                <a:solidFill>
                  <a:srgbClr val="222B36"/>
                </a:solidFill>
                <a:latin typeface="Calibri" pitchFamily="34" charset="0"/>
                <a:ea typeface="Calibri" pitchFamily="34" charset="-122"/>
                <a:cs typeface="Calibri" pitchFamily="34" charset="-120"/>
              </a:rPr>
              <a:t> using ERA5 monthly anomalies and the ONI (composites / correlation)</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optional:</a:t>
            </a:r>
            <a:r>
              <a:rPr lang="en-US" sz="1400" dirty="0">
                <a:solidFill>
                  <a:srgbClr val="222B36"/>
                </a:solidFill>
                <a:latin typeface="Calibri" pitchFamily="34" charset="0"/>
                <a:ea typeface="Calibri" pitchFamily="34" charset="-122"/>
                <a:cs typeface="Calibri" pitchFamily="34" charset="-120"/>
              </a:rPr>
              <a:t> We hypothesise that … because …</a:t>
            </a:r>
            <a:endParaRPr lang="en-US" sz="1400" dirty="0"/>
          </a:p>
        </p:txBody>
      </p:sp>
      <p:sp>
        <p:nvSpPr>
          <p:cNvPr id="9" name="text_135"/>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§4.6 (‘The purpose of this paper is to…’; scope); §6.1 ‘nutshelling’.</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ctband_136"/>
          <p:cNvSpPr/>
          <p:nvPr/>
        </p:nvSpPr>
        <p:spPr>
          <a:xfrm>
            <a:off x="0" y="237744"/>
            <a:ext cx="12191695" cy="914400"/>
          </a:xfrm>
          <a:prstGeom prst="rect">
            <a:avLst/>
          </a:prstGeom>
          <a:solidFill>
            <a:srgbClr val="FBEBD0"/>
          </a:solidFill>
          <a:ln w="12700">
            <a:solidFill>
              <a:srgbClr val="FBEBD0"/>
            </a:solidFill>
            <a:prstDash val="solid"/>
          </a:ln>
        </p:spPr>
      </p:sp>
      <p:sp>
        <p:nvSpPr>
          <p:cNvPr id="3" name="text_137"/>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10 MIN</a:t>
            </a:r>
            <a:endParaRPr lang="en-US" sz="1100" dirty="0"/>
          </a:p>
        </p:txBody>
      </p:sp>
      <p:sp>
        <p:nvSpPr>
          <p:cNvPr id="4" name="text_138"/>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From a pattern to a purpose</a:t>
            </a:r>
            <a:endParaRPr lang="en-US" sz="2600" dirty="0"/>
          </a:p>
        </p:txBody>
      </p:sp>
      <p:sp>
        <p:nvSpPr>
          <p:cNvPr id="5" name="num_139"/>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140"/>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141"/>
          <p:cNvSpPr txBox="1"/>
          <p:nvPr/>
        </p:nvSpPr>
        <p:spPr>
          <a:xfrm>
            <a:off x="1097280" y="1417320"/>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Pick </a:t>
            </a:r>
            <a:r>
              <a:rPr lang="en-US" sz="1500" b="1" dirty="0">
                <a:solidFill>
                  <a:srgbClr val="222B36"/>
                </a:solidFill>
                <a:latin typeface="Calibri" pitchFamily="34" charset="0"/>
                <a:ea typeface="Calibri" pitchFamily="34" charset="-122"/>
                <a:cs typeface="Calibri" pitchFamily="34" charset="-120"/>
              </a:rPr>
              <a:t>one or two</a:t>
            </a:r>
            <a:r>
              <a:rPr lang="en-US" sz="1500" dirty="0">
                <a:solidFill>
                  <a:srgbClr val="222B36"/>
                </a:solidFill>
                <a:latin typeface="Calibri" pitchFamily="34" charset="0"/>
                <a:ea typeface="Calibri" pitchFamily="34" charset="-122"/>
                <a:cs typeface="Calibri" pitchFamily="34" charset="-120"/>
              </a:rPr>
              <a:t> patterns from your composite or correlation maps that you might investigate.</a:t>
            </a:r>
            <a:endParaRPr lang="en-US" sz="1500" dirty="0"/>
          </a:p>
        </p:txBody>
      </p:sp>
      <p:sp>
        <p:nvSpPr>
          <p:cNvPr id="8" name="num_142"/>
          <p:cNvSpPr/>
          <p:nvPr/>
        </p:nvSpPr>
        <p:spPr>
          <a:xfrm>
            <a:off x="594360" y="2221992"/>
            <a:ext cx="365760" cy="365760"/>
          </a:xfrm>
          <a:prstGeom prst="ellipse">
            <a:avLst/>
          </a:prstGeom>
          <a:solidFill>
            <a:srgbClr val="D98E1F"/>
          </a:solidFill>
          <a:ln w="12700">
            <a:solidFill>
              <a:srgbClr val="D98E1F"/>
            </a:solidFill>
            <a:prstDash val="solid"/>
          </a:ln>
        </p:spPr>
      </p:sp>
      <p:sp>
        <p:nvSpPr>
          <p:cNvPr id="9" name="text_143"/>
          <p:cNvSpPr txBox="1"/>
          <p:nvPr/>
        </p:nvSpPr>
        <p:spPr>
          <a:xfrm>
            <a:off x="594360" y="22219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144"/>
          <p:cNvSpPr txBox="1"/>
          <p:nvPr/>
        </p:nvSpPr>
        <p:spPr>
          <a:xfrm>
            <a:off x="1097280" y="22037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For each, write a </a:t>
            </a:r>
            <a:r>
              <a:rPr lang="en-US" sz="1500" b="1" dirty="0">
                <a:solidFill>
                  <a:srgbClr val="222B36"/>
                </a:solidFill>
                <a:latin typeface="Calibri" pitchFamily="34" charset="0"/>
                <a:ea typeface="Calibri" pitchFamily="34" charset="-122"/>
                <a:cs typeface="Calibri" pitchFamily="34" charset="-120"/>
              </a:rPr>
              <a:t>nutshell</a:t>
            </a:r>
            <a:r>
              <a:rPr lang="en-US" sz="1500" dirty="0">
                <a:solidFill>
                  <a:srgbClr val="222B36"/>
                </a:solidFill>
                <a:latin typeface="Calibri" pitchFamily="34" charset="0"/>
                <a:ea typeface="Calibri" pitchFamily="34" charset="-122"/>
                <a:cs typeface="Calibri" pitchFamily="34" charset="-120"/>
              </a:rPr>
              <a:t>: one sentence that starts “The purpose of this report is to…”.</a:t>
            </a:r>
            <a:endParaRPr lang="en-US" sz="1500" dirty="0"/>
          </a:p>
        </p:txBody>
      </p:sp>
      <p:sp>
        <p:nvSpPr>
          <p:cNvPr id="11" name="num_145"/>
          <p:cNvSpPr/>
          <p:nvPr/>
        </p:nvSpPr>
        <p:spPr>
          <a:xfrm>
            <a:off x="594360" y="3008376"/>
            <a:ext cx="365760" cy="365760"/>
          </a:xfrm>
          <a:prstGeom prst="ellipse">
            <a:avLst/>
          </a:prstGeom>
          <a:solidFill>
            <a:srgbClr val="D98E1F"/>
          </a:solidFill>
          <a:ln w="12700">
            <a:solidFill>
              <a:srgbClr val="D98E1F"/>
            </a:solidFill>
            <a:prstDash val="solid"/>
          </a:ln>
        </p:spPr>
      </p:sp>
      <p:sp>
        <p:nvSpPr>
          <p:cNvPr id="12" name="text_146"/>
          <p:cNvSpPr txBox="1"/>
          <p:nvPr/>
        </p:nvSpPr>
        <p:spPr>
          <a:xfrm>
            <a:off x="594360" y="30083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147"/>
          <p:cNvSpPr txBox="1"/>
          <p:nvPr/>
        </p:nvSpPr>
        <p:spPr>
          <a:xfrm>
            <a:off x="1097280" y="2990088"/>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Write a </a:t>
            </a:r>
            <a:r>
              <a:rPr lang="en-US" sz="1500" b="1" dirty="0">
                <a:solidFill>
                  <a:srgbClr val="222B36"/>
                </a:solidFill>
                <a:latin typeface="Calibri" pitchFamily="34" charset="0"/>
                <a:ea typeface="Calibri" pitchFamily="34" charset="-122"/>
                <a:cs typeface="Calibri" pitchFamily="34" charset="-120"/>
              </a:rPr>
              <a:t>two-sentence hook</a:t>
            </a:r>
            <a:r>
              <a:rPr lang="en-US" sz="1500" dirty="0">
                <a:solidFill>
                  <a:srgbClr val="222B36"/>
                </a:solidFill>
                <a:latin typeface="Calibri" pitchFamily="34" charset="0"/>
                <a:ea typeface="Calibri" pitchFamily="34" charset="-122"/>
                <a:cs typeface="Calibri" pitchFamily="34" charset="-120"/>
              </a:rPr>
              <a:t>: one sentence of common ground, then one starting “However, …”.</a:t>
            </a:r>
            <a:endParaRPr lang="en-US" sz="1500" dirty="0"/>
          </a:p>
        </p:txBody>
      </p:sp>
      <p:sp>
        <p:nvSpPr>
          <p:cNvPr id="14" name="num_148"/>
          <p:cNvSpPr/>
          <p:nvPr/>
        </p:nvSpPr>
        <p:spPr>
          <a:xfrm>
            <a:off x="594360" y="3794760"/>
            <a:ext cx="365760" cy="365760"/>
          </a:xfrm>
          <a:prstGeom prst="ellipse">
            <a:avLst/>
          </a:prstGeom>
          <a:solidFill>
            <a:srgbClr val="D98E1F"/>
          </a:solidFill>
          <a:ln w="12700">
            <a:solidFill>
              <a:srgbClr val="D98E1F"/>
            </a:solidFill>
            <a:prstDash val="solid"/>
          </a:ln>
        </p:spPr>
      </p:sp>
      <p:sp>
        <p:nvSpPr>
          <p:cNvPr id="15" name="text_149"/>
          <p:cNvSpPr txBox="1"/>
          <p:nvPr/>
        </p:nvSpPr>
        <p:spPr>
          <a:xfrm>
            <a:off x="594360" y="379476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150"/>
          <p:cNvSpPr txBox="1"/>
          <p:nvPr/>
        </p:nvSpPr>
        <p:spPr>
          <a:xfrm>
            <a:off x="1097280" y="3776472"/>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Write a </a:t>
            </a:r>
            <a:r>
              <a:rPr lang="en-US" sz="1500" b="1" dirty="0">
                <a:solidFill>
                  <a:srgbClr val="222B36"/>
                </a:solidFill>
                <a:latin typeface="Calibri" pitchFamily="34" charset="0"/>
                <a:ea typeface="Calibri" pitchFamily="34" charset="-122"/>
                <a:cs typeface="Calibri" pitchFamily="34" charset="-120"/>
              </a:rPr>
              <a:t>working title</a:t>
            </a:r>
            <a:r>
              <a:rPr lang="en-US" sz="1500" dirty="0">
                <a:solidFill>
                  <a:srgbClr val="222B36"/>
                </a:solidFill>
                <a:latin typeface="Calibri" pitchFamily="34" charset="0"/>
                <a:ea typeface="Calibri" pitchFamily="34" charset="-122"/>
                <a:cs typeface="Calibri" pitchFamily="34" charset="-120"/>
              </a:rPr>
              <a:t> that passes at least three of the five title tests.</a:t>
            </a:r>
            <a:endParaRPr lang="en-US" sz="1500" dirty="0"/>
          </a:p>
        </p:txBody>
      </p:sp>
      <p:sp>
        <p:nvSpPr>
          <p:cNvPr id="17" name="num_151"/>
          <p:cNvSpPr/>
          <p:nvPr/>
        </p:nvSpPr>
        <p:spPr>
          <a:xfrm>
            <a:off x="594360" y="4581144"/>
            <a:ext cx="365760" cy="365760"/>
          </a:xfrm>
          <a:prstGeom prst="ellipse">
            <a:avLst/>
          </a:prstGeom>
          <a:solidFill>
            <a:srgbClr val="D98E1F"/>
          </a:solidFill>
          <a:ln w="12700">
            <a:solidFill>
              <a:srgbClr val="D98E1F"/>
            </a:solidFill>
            <a:prstDash val="solid"/>
          </a:ln>
        </p:spPr>
      </p:sp>
      <p:sp>
        <p:nvSpPr>
          <p:cNvPr id="18" name="text_152"/>
          <p:cNvSpPr txBox="1"/>
          <p:nvPr/>
        </p:nvSpPr>
        <p:spPr>
          <a:xfrm>
            <a:off x="594360" y="4581144"/>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153"/>
          <p:cNvSpPr txBox="1"/>
          <p:nvPr/>
        </p:nvSpPr>
        <p:spPr>
          <a:xfrm>
            <a:off x="1097280" y="4562856"/>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Read </a:t>
            </a:r>
            <a:r>
              <a:rPr lang="en-US" sz="1500" b="1" dirty="0">
                <a:solidFill>
                  <a:srgbClr val="222B36"/>
                </a:solidFill>
                <a:latin typeface="Calibri" pitchFamily="34" charset="0"/>
                <a:ea typeface="Calibri" pitchFamily="34" charset="-122"/>
                <a:cs typeface="Calibri" pitchFamily="34" charset="-120"/>
              </a:rPr>
              <a:t>only your purpose sentence</a:t>
            </a:r>
            <a:r>
              <a:rPr lang="en-US" sz="1500" dirty="0">
                <a:solidFill>
                  <a:srgbClr val="222B36"/>
                </a:solidFill>
                <a:latin typeface="Calibri" pitchFamily="34" charset="0"/>
                <a:ea typeface="Calibri" pitchFamily="34" charset="-122"/>
                <a:cs typeface="Calibri" pitchFamily="34" charset="-120"/>
              </a:rPr>
              <a:t> to your partner. They tell you back what you will do. If they can't, rewrite it.</a:t>
            </a:r>
            <a:endParaRPr lang="en-US" sz="1500" dirty="0"/>
          </a:p>
        </p:txBody>
      </p:sp>
      <p:sp>
        <p:nvSpPr>
          <p:cNvPr id="20" name="card_154"/>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155"/>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156"/>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157"/>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1–2 nutshells, a hook and a title in your workbook (p. for Tutorial 3)</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A first sense of which question you'll commit to on </a:t>
            </a:r>
            <a:r>
              <a:rPr lang="en-US" sz="1450" b="1" dirty="0">
                <a:solidFill>
                  <a:srgbClr val="FFFFFF"/>
                </a:solidFill>
                <a:latin typeface="Calibri" pitchFamily="34" charset="0"/>
                <a:ea typeface="Calibri" pitchFamily="34" charset="-122"/>
                <a:cs typeface="Calibri" pitchFamily="34" charset="-120"/>
              </a:rPr>
              <a:t>29 Oct</a:t>
            </a:r>
            <a:endParaRPr lang="en-US" sz="1450" dirty="0"/>
          </a:p>
        </p:txBody>
      </p:sp>
      <p:sp>
        <p:nvSpPr>
          <p:cNvPr id="24" name="card_158"/>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159"/>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6" name="text_160"/>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7" name="cardbody_161"/>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Could you guess which </a:t>
            </a:r>
            <a:r>
              <a:rPr lang="en-US" sz="1400" b="1" dirty="0">
                <a:solidFill>
                  <a:srgbClr val="222B36"/>
                </a:solidFill>
                <a:latin typeface="Calibri" pitchFamily="34" charset="0"/>
                <a:ea typeface="Calibri" pitchFamily="34" charset="-122"/>
                <a:cs typeface="Calibri" pitchFamily="34" charset="-120"/>
              </a:rPr>
              <a:t>figures</a:t>
            </a:r>
            <a:r>
              <a:rPr lang="en-US" sz="1400" dirty="0">
                <a:solidFill>
                  <a:srgbClr val="222B36"/>
                </a:solidFill>
                <a:latin typeface="Calibri" pitchFamily="34" charset="0"/>
                <a:ea typeface="Calibri" pitchFamily="34" charset="-122"/>
                <a:cs typeface="Calibri" pitchFamily="34" charset="-120"/>
              </a:rPr>
              <a:t> the report would need?</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 scope small enough for </a:t>
            </a:r>
            <a:r>
              <a:rPr lang="en-US" sz="1400" b="1" dirty="0">
                <a:solidFill>
                  <a:srgbClr val="222B36"/>
                </a:solidFill>
                <a:latin typeface="Calibri" pitchFamily="34" charset="0"/>
                <a:ea typeface="Calibri" pitchFamily="34" charset="-122"/>
                <a:cs typeface="Calibri" pitchFamily="34" charset="-120"/>
              </a:rPr>
              <a:t>3–5 figures</a:t>
            </a:r>
            <a:r>
              <a:rPr lang="en-US" sz="1400" dirty="0">
                <a:solidFill>
                  <a:srgbClr val="222B36"/>
                </a:solidFill>
                <a:latin typeface="Calibri" pitchFamily="34" charset="0"/>
                <a:ea typeface="Calibri" pitchFamily="34" charset="-122"/>
                <a:cs typeface="Calibri" pitchFamily="34" charset="-120"/>
              </a:rPr>
              <a:t> and 2,000 words?</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there a real </a:t>
            </a:r>
            <a:r>
              <a:rPr lang="en-US" sz="1400" b="1" dirty="0">
                <a:solidFill>
                  <a:srgbClr val="222B36"/>
                </a:solidFill>
                <a:latin typeface="Calibri" pitchFamily="34" charset="0"/>
                <a:ea typeface="Calibri" pitchFamily="34" charset="-122"/>
                <a:cs typeface="Calibri" pitchFamily="34" charset="-120"/>
              </a:rPr>
              <a:t>‘however’</a:t>
            </a:r>
            <a:r>
              <a:rPr lang="en-US" sz="1400" dirty="0">
                <a:solidFill>
                  <a:srgbClr val="222B36"/>
                </a:solidFill>
                <a:latin typeface="Calibri" pitchFamily="34" charset="0"/>
                <a:ea typeface="Calibri" pitchFamily="34" charset="-122"/>
                <a:cs typeface="Calibri" pitchFamily="34" charset="-120"/>
              </a:rPr>
              <a:t>, or just a topic?</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_162"/>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Using the literature: synthesis, not a grocery list</a:t>
            </a:r>
            <a:endParaRPr lang="en-US" sz="2800" dirty="0"/>
          </a:p>
        </p:txBody>
      </p:sp>
      <p:sp>
        <p:nvSpPr>
          <p:cNvPr id="3" name="text_163"/>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Schultz: describe the topic, not the papers. Organise sources around ideas, and show what is known versus what this report adds.</a:t>
            </a:r>
            <a:endParaRPr lang="en-US" sz="1500" dirty="0"/>
          </a:p>
        </p:txBody>
      </p:sp>
      <p:sp>
        <p:nvSpPr>
          <p:cNvPr id="4" name="card_164"/>
          <p:cNvSpPr/>
          <p:nvPr/>
        </p:nvSpPr>
        <p:spPr>
          <a:xfrm>
            <a:off x="548640" y="1691640"/>
            <a:ext cx="5440680" cy="3017520"/>
          </a:xfrm>
          <a:prstGeom prst="roundRect">
            <a:avLst>
              <a:gd name="adj" fmla="val 2424"/>
            </a:avLst>
          </a:prstGeom>
          <a:solidFill>
            <a:srgbClr val="F5E0DA"/>
          </a:solidFill>
          <a:ln w="9525">
            <a:solidFill>
              <a:srgbClr val="F5E0DA"/>
            </a:solidFill>
            <a:prstDash val="solid"/>
          </a:ln>
        </p:spPr>
      </p:sp>
      <p:sp>
        <p:nvSpPr>
          <p:cNvPr id="5" name="tag_165"/>
          <p:cNvSpPr/>
          <p:nvPr/>
        </p:nvSpPr>
        <p:spPr>
          <a:xfrm>
            <a:off x="713232" y="1819656"/>
            <a:ext cx="1078992" cy="256032"/>
          </a:xfrm>
          <a:prstGeom prst="roundRect">
            <a:avLst>
              <a:gd name="adj" fmla="val 21429"/>
            </a:avLst>
          </a:prstGeom>
          <a:solidFill>
            <a:srgbClr val="B04A35"/>
          </a:solidFill>
          <a:ln w="12700">
            <a:solidFill>
              <a:srgbClr val="B04A35"/>
            </a:solidFill>
            <a:prstDash val="solid"/>
          </a:ln>
        </p:spPr>
      </p:sp>
      <p:sp>
        <p:nvSpPr>
          <p:cNvPr id="6" name="text_166"/>
          <p:cNvSpPr txBox="1"/>
          <p:nvPr/>
        </p:nvSpPr>
        <p:spPr>
          <a:xfrm>
            <a:off x="713232" y="1819656"/>
            <a:ext cx="107899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GROCERY LIST</a:t>
            </a:r>
            <a:endParaRPr lang="en-US" sz="1050" dirty="0"/>
          </a:p>
        </p:txBody>
      </p:sp>
      <p:sp>
        <p:nvSpPr>
          <p:cNvPr id="7" name="text_167"/>
          <p:cNvSpPr txBox="1"/>
          <p:nvPr/>
        </p:nvSpPr>
        <p:spPr>
          <a:xfrm>
            <a:off x="713232" y="2167128"/>
            <a:ext cx="5111496" cy="2450592"/>
          </a:xfrm>
          <a:prstGeom prst="rect">
            <a:avLst/>
          </a:prstGeom>
          <a:noFill/>
          <a:ln/>
        </p:spPr>
        <p:txBody>
          <a:bodyPr wrap="square" lIns="635" tIns="635" rIns="635" bIns="635" rtlCol="0" anchor="t"/>
          <a:lstStyle/>
          <a:p>
            <a:pPr algn="l" indent="0" marL="0">
              <a:lnSpc>
                <a:spcPct val="100000"/>
              </a:lnSpc>
              <a:buNone/>
            </a:pPr>
            <a:r>
              <a:rPr lang="en-US" sz="1450" i="1" dirty="0">
                <a:solidFill>
                  <a:srgbClr val="222B36"/>
                </a:solidFill>
                <a:latin typeface="Georgia" pitchFamily="34" charset="0"/>
                <a:ea typeface="Georgia" pitchFamily="34" charset="-122"/>
                <a:cs typeface="Georgia" pitchFamily="34" charset="-120"/>
              </a:rPr>
              <a:t>“Smith (2001) studied low clouds. Jones (2005) looked at ENSO. Lee (2012) found that SST affects clouds. Brown (2018) also studied this.”</a:t>
            </a:r>
            <a:endParaRPr lang="en-US" sz="1450" dirty="0"/>
          </a:p>
        </p:txBody>
      </p:sp>
      <p:sp>
        <p:nvSpPr>
          <p:cNvPr id="8" name="card_168"/>
          <p:cNvSpPr/>
          <p:nvPr/>
        </p:nvSpPr>
        <p:spPr>
          <a:xfrm>
            <a:off x="6199632" y="1691640"/>
            <a:ext cx="5440680" cy="3017520"/>
          </a:xfrm>
          <a:prstGeom prst="roundRect">
            <a:avLst>
              <a:gd name="adj" fmla="val 2424"/>
            </a:avLst>
          </a:prstGeom>
          <a:solidFill>
            <a:srgbClr val="DCEFEA"/>
          </a:solidFill>
          <a:ln w="9525">
            <a:solidFill>
              <a:srgbClr val="DCEFEA"/>
            </a:solidFill>
            <a:prstDash val="solid"/>
          </a:ln>
        </p:spPr>
      </p:sp>
      <p:sp>
        <p:nvSpPr>
          <p:cNvPr id="9" name="tag_169"/>
          <p:cNvSpPr/>
          <p:nvPr/>
        </p:nvSpPr>
        <p:spPr>
          <a:xfrm>
            <a:off x="6364224" y="1819656"/>
            <a:ext cx="845820" cy="256032"/>
          </a:xfrm>
          <a:prstGeom prst="roundRect">
            <a:avLst>
              <a:gd name="adj" fmla="val 21429"/>
            </a:avLst>
          </a:prstGeom>
          <a:solidFill>
            <a:srgbClr val="1F7A6E"/>
          </a:solidFill>
          <a:ln w="12700">
            <a:solidFill>
              <a:srgbClr val="1F7A6E"/>
            </a:solidFill>
            <a:prstDash val="solid"/>
          </a:ln>
        </p:spPr>
      </p:sp>
      <p:sp>
        <p:nvSpPr>
          <p:cNvPr id="10" name="text_170"/>
          <p:cNvSpPr txBox="1"/>
          <p:nvPr/>
        </p:nvSpPr>
        <p:spPr>
          <a:xfrm>
            <a:off x="6364224" y="1819656"/>
            <a:ext cx="84582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SYNTHESIS</a:t>
            </a:r>
            <a:endParaRPr lang="en-US" sz="1050" dirty="0"/>
          </a:p>
        </p:txBody>
      </p:sp>
      <p:sp>
        <p:nvSpPr>
          <p:cNvPr id="11" name="text_171"/>
          <p:cNvSpPr txBox="1"/>
          <p:nvPr/>
        </p:nvSpPr>
        <p:spPr>
          <a:xfrm>
            <a:off x="6364224" y="2167128"/>
            <a:ext cx="5111496" cy="2450592"/>
          </a:xfrm>
          <a:prstGeom prst="rect">
            <a:avLst/>
          </a:prstGeom>
          <a:noFill/>
          <a:ln/>
        </p:spPr>
        <p:txBody>
          <a:bodyPr wrap="square" lIns="635" tIns="635" rIns="635" bIns="635" rtlCol="0" anchor="t"/>
          <a:lstStyle/>
          <a:p>
            <a:pPr algn="l" indent="0" marL="0">
              <a:lnSpc>
                <a:spcPct val="100000"/>
              </a:lnSpc>
              <a:buNone/>
            </a:pPr>
            <a:r>
              <a:rPr lang="en-US" sz="1450" i="1" dirty="0">
                <a:solidFill>
                  <a:srgbClr val="222B36"/>
                </a:solidFill>
                <a:latin typeface="Georgia" pitchFamily="34" charset="0"/>
                <a:ea typeface="Georgia" pitchFamily="34" charset="-122"/>
                <a:cs typeface="Georgia" pitchFamily="34" charset="-120"/>
              </a:rPr>
              <a:t>“Subtropical low cloud is closely tied to the stability of the lower troposphere (Smith 2001; Lee 2012), so ENSO-driven changes in sea-surface temperature could alter it. Whether this happens in the same sense across the eastern Pacific is less clear (Jones 2005; Brown 2018), which motivates comparing two regions here.”</a:t>
            </a:r>
            <a:endParaRPr lang="en-US" sz="1450" dirty="0"/>
          </a:p>
        </p:txBody>
      </p:sp>
      <p:sp>
        <p:nvSpPr>
          <p:cNvPr id="12" name="text_172"/>
          <p:cNvSpPr txBox="1"/>
          <p:nvPr/>
        </p:nvSpPr>
        <p:spPr>
          <a:xfrm>
            <a:off x="548640" y="489204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3" name="changed_173"/>
          <p:cNvSpPr txBox="1"/>
          <p:nvPr/>
        </p:nvSpPr>
        <p:spPr>
          <a:xfrm>
            <a:off x="548640" y="5166360"/>
            <a:ext cx="11064240" cy="1188720"/>
          </a:xfrm>
          <a:prstGeom prst="rect">
            <a:avLst/>
          </a:prstGeom>
          <a:noFill/>
          <a:ln/>
        </p:spPr>
        <p:txBody>
          <a:bodyPr wrap="square" lIns="635" tIns="635" rIns="635" bIns="635" rtlCol="0" anchor="t"/>
          <a:lstStyle/>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The </a:t>
            </a:r>
            <a:r>
              <a:rPr lang="en-US" sz="1450" b="1" dirty="0">
                <a:solidFill>
                  <a:srgbClr val="222B36"/>
                </a:solidFill>
                <a:latin typeface="Calibri" pitchFamily="34" charset="0"/>
                <a:ea typeface="Calibri" pitchFamily="34" charset="-122"/>
                <a:cs typeface="Calibri" pitchFamily="34" charset="-120"/>
              </a:rPr>
              <a:t>idea</a:t>
            </a:r>
            <a:r>
              <a:rPr lang="en-US" sz="1450" dirty="0">
                <a:solidFill>
                  <a:srgbClr val="222B36"/>
                </a:solidFill>
                <a:latin typeface="Calibri" pitchFamily="34" charset="0"/>
                <a:ea typeface="Calibri" pitchFamily="34" charset="-122"/>
                <a:cs typeface="Calibri" pitchFamily="34" charset="-120"/>
              </a:rPr>
              <a:t> is the subject of each sentence; the citations sit in brackets as evidence.</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Sources are </a:t>
            </a:r>
            <a:r>
              <a:rPr lang="en-US" sz="1450" b="1" dirty="0">
                <a:solidFill>
                  <a:srgbClr val="222B36"/>
                </a:solidFill>
                <a:latin typeface="Calibri" pitchFamily="34" charset="0"/>
                <a:ea typeface="Calibri" pitchFamily="34" charset="-122"/>
                <a:cs typeface="Calibri" pitchFamily="34" charset="-120"/>
              </a:rPr>
              <a:t>grouped</a:t>
            </a:r>
            <a:r>
              <a:rPr lang="en-US" sz="1450" dirty="0">
                <a:solidFill>
                  <a:srgbClr val="222B36"/>
                </a:solidFill>
                <a:latin typeface="Calibri" pitchFamily="34" charset="0"/>
                <a:ea typeface="Calibri" pitchFamily="34" charset="-122"/>
                <a:cs typeface="Calibri" pitchFamily="34" charset="-120"/>
              </a:rPr>
              <a:t> by what they agree on, and the gap leads straight into </a:t>
            </a:r>
            <a:r>
              <a:rPr lang="en-US" sz="1450" b="1" dirty="0">
                <a:solidFill>
                  <a:srgbClr val="222B36"/>
                </a:solidFill>
                <a:latin typeface="Calibri" pitchFamily="34" charset="0"/>
                <a:ea typeface="Calibri" pitchFamily="34" charset="-122"/>
                <a:cs typeface="Calibri" pitchFamily="34" charset="-120"/>
              </a:rPr>
              <a:t>your</a:t>
            </a:r>
            <a:r>
              <a:rPr lang="en-US" sz="1450" dirty="0">
                <a:solidFill>
                  <a:srgbClr val="222B36"/>
                </a:solidFill>
                <a:latin typeface="Calibri" pitchFamily="34" charset="0"/>
                <a:ea typeface="Calibri" pitchFamily="34" charset="-122"/>
                <a:cs typeface="Calibri" pitchFamily="34" charset="-120"/>
              </a:rPr>
              <a:t> purpose.</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(The names here are placeholders. Cite real sources, and always cite </a:t>
            </a:r>
            <a:r>
              <a:rPr lang="en-US" sz="1450" b="1" dirty="0">
                <a:solidFill>
                  <a:srgbClr val="222B36"/>
                </a:solidFill>
                <a:latin typeface="Calibri" pitchFamily="34" charset="0"/>
                <a:ea typeface="Calibri" pitchFamily="34" charset="-122"/>
                <a:cs typeface="Calibri" pitchFamily="34" charset="-120"/>
              </a:rPr>
              <a:t>ERA5</a:t>
            </a:r>
            <a:r>
              <a:rPr lang="en-US" sz="1450" dirty="0">
                <a:solidFill>
                  <a:srgbClr val="222B36"/>
                </a:solidFill>
                <a:latin typeface="Calibri" pitchFamily="34" charset="0"/>
                <a:ea typeface="Calibri" pitchFamily="34" charset="-122"/>
                <a:cs typeface="Calibri" pitchFamily="34" charset="-120"/>
              </a:rPr>
              <a:t> and the </a:t>
            </a:r>
            <a:r>
              <a:rPr lang="en-US" sz="1450" b="1" dirty="0">
                <a:solidFill>
                  <a:srgbClr val="222B36"/>
                </a:solidFill>
                <a:latin typeface="Calibri" pitchFamily="34" charset="0"/>
                <a:ea typeface="Calibri" pitchFamily="34" charset="-122"/>
                <a:cs typeface="Calibri" pitchFamily="34" charset="-120"/>
              </a:rPr>
              <a:t>ONI</a:t>
            </a:r>
            <a:r>
              <a:rPr lang="en-US" sz="1450" dirty="0">
                <a:solidFill>
                  <a:srgbClr val="222B36"/>
                </a:solidFill>
                <a:latin typeface="Calibri" pitchFamily="34" charset="0"/>
                <a:ea typeface="Calibri" pitchFamily="34" charset="-122"/>
                <a:cs typeface="Calibri" pitchFamily="34" charset="-120"/>
              </a:rPr>
              <a:t>.)</a:t>
            </a:r>
            <a:endParaRPr lang="en-US" sz="1450" dirty="0"/>
          </a:p>
        </p:txBody>
      </p:sp>
      <p:sp>
        <p:nvSpPr>
          <p:cNvPr id="14" name="text_174"/>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§4.7 ‘Literature synthesis’ (the ‘grocery list’); ch. 12 on citation.</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_17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Before Tutorial 4  ·  Thu 29 Oct</a:t>
            </a:r>
            <a:endParaRPr lang="en-US" sz="2800" dirty="0"/>
          </a:p>
        </p:txBody>
      </p:sp>
      <p:sp>
        <p:nvSpPr>
          <p:cNvPr id="3" name="text_176"/>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Two weeks, including reading week (no tutorial on 22 Oct). About 3½ hours of writing, plus notebook time.</a:t>
            </a:r>
            <a:endParaRPr lang="en-US" sz="1500" dirty="0"/>
          </a:p>
        </p:txBody>
      </p:sp>
      <p:sp>
        <p:nvSpPr>
          <p:cNvPr id="4" name="card_177"/>
          <p:cNvSpPr/>
          <p:nvPr/>
        </p:nvSpPr>
        <p:spPr>
          <a:xfrm>
            <a:off x="548640" y="1691640"/>
            <a:ext cx="3563112" cy="2971800"/>
          </a:xfrm>
          <a:prstGeom prst="roundRect">
            <a:avLst>
              <a:gd name="adj" fmla="val 2462"/>
            </a:avLst>
          </a:prstGeom>
          <a:solidFill>
            <a:srgbClr val="F7F4EE"/>
          </a:solidFill>
          <a:ln w="9525">
            <a:solidFill>
              <a:srgbClr val="D5DAE1"/>
            </a:solidFill>
            <a:prstDash val="solid"/>
          </a:ln>
        </p:spPr>
      </p:sp>
      <p:sp>
        <p:nvSpPr>
          <p:cNvPr id="5" name="tag_178"/>
          <p:cNvSpPr/>
          <p:nvPr/>
        </p:nvSpPr>
        <p:spPr>
          <a:xfrm>
            <a:off x="713232" y="1819656"/>
            <a:ext cx="1156716" cy="256032"/>
          </a:xfrm>
          <a:prstGeom prst="roundRect">
            <a:avLst>
              <a:gd name="adj" fmla="val 21429"/>
            </a:avLst>
          </a:prstGeom>
          <a:solidFill>
            <a:srgbClr val="1B2A41"/>
          </a:solidFill>
          <a:ln w="12700">
            <a:solidFill>
              <a:srgbClr val="1B2A41"/>
            </a:solidFill>
            <a:prstDash val="solid"/>
          </a:ln>
        </p:spPr>
      </p:sp>
      <p:sp>
        <p:nvSpPr>
          <p:cNvPr id="6" name="text_179"/>
          <p:cNvSpPr txBox="1"/>
          <p:nvPr/>
        </p:nvSpPr>
        <p:spPr>
          <a:xfrm>
            <a:off x="71323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3A  ·  45 min</a:t>
            </a:r>
            <a:endParaRPr lang="en-US" sz="1050" dirty="0"/>
          </a:p>
        </p:txBody>
      </p:sp>
      <p:sp>
        <p:nvSpPr>
          <p:cNvPr id="7" name="text_180"/>
          <p:cNvSpPr txBox="1"/>
          <p:nvPr/>
        </p:nvSpPr>
        <p:spPr>
          <a:xfrm>
            <a:off x="71323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Opening paragraph(s), ~250 words</a:t>
            </a:r>
            <a:endParaRPr lang="en-US" sz="1600" dirty="0"/>
          </a:p>
        </p:txBody>
      </p:sp>
      <p:sp>
        <p:nvSpPr>
          <p:cNvPr id="8" name="cardbody_181"/>
          <p:cNvSpPr txBox="1"/>
          <p:nvPr/>
        </p:nvSpPr>
        <p:spPr>
          <a:xfrm>
            <a:off x="71323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For your </a:t>
            </a:r>
            <a:r>
              <a:rPr lang="en-US" sz="1350" b="1" dirty="0">
                <a:solidFill>
                  <a:srgbClr val="222B36"/>
                </a:solidFill>
                <a:latin typeface="Calibri" pitchFamily="34" charset="0"/>
                <a:ea typeface="Calibri" pitchFamily="34" charset="-122"/>
                <a:cs typeface="Calibri" pitchFamily="34" charset="-120"/>
              </a:rPr>
              <a:t>leading</a:t>
            </a:r>
            <a:r>
              <a:rPr lang="en-US" sz="1350" dirty="0">
                <a:solidFill>
                  <a:srgbClr val="222B36"/>
                </a:solidFill>
                <a:latin typeface="Calibri" pitchFamily="34" charset="0"/>
                <a:ea typeface="Calibri" pitchFamily="34" charset="-122"/>
                <a:cs typeface="Calibri" pitchFamily="34" charset="-120"/>
              </a:rPr>
              <a:t> candidate question</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Context → ‘however’ → purpose statement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No banalities in sentence 1</a:t>
            </a:r>
            <a:endParaRPr lang="en-US" sz="1350" dirty="0"/>
          </a:p>
        </p:txBody>
      </p:sp>
      <p:sp>
        <p:nvSpPr>
          <p:cNvPr id="9" name="card_182"/>
          <p:cNvSpPr/>
          <p:nvPr/>
        </p:nvSpPr>
        <p:spPr>
          <a:xfrm>
            <a:off x="4312920" y="1691640"/>
            <a:ext cx="3563112" cy="2971800"/>
          </a:xfrm>
          <a:prstGeom prst="roundRect">
            <a:avLst>
              <a:gd name="adj" fmla="val 2462"/>
            </a:avLst>
          </a:prstGeom>
          <a:solidFill>
            <a:srgbClr val="F7F4EE"/>
          </a:solidFill>
          <a:ln w="9525">
            <a:solidFill>
              <a:srgbClr val="D5DAE1"/>
            </a:solidFill>
            <a:prstDash val="solid"/>
          </a:ln>
        </p:spPr>
      </p:sp>
      <p:sp>
        <p:nvSpPr>
          <p:cNvPr id="10" name="tag_183"/>
          <p:cNvSpPr/>
          <p:nvPr/>
        </p:nvSpPr>
        <p:spPr>
          <a:xfrm>
            <a:off x="4477512" y="1819656"/>
            <a:ext cx="1156716" cy="256032"/>
          </a:xfrm>
          <a:prstGeom prst="roundRect">
            <a:avLst>
              <a:gd name="adj" fmla="val 21429"/>
            </a:avLst>
          </a:prstGeom>
          <a:solidFill>
            <a:srgbClr val="1B2A41"/>
          </a:solidFill>
          <a:ln w="12700">
            <a:solidFill>
              <a:srgbClr val="1B2A41"/>
            </a:solidFill>
            <a:prstDash val="solid"/>
          </a:ln>
        </p:spPr>
      </p:sp>
      <p:sp>
        <p:nvSpPr>
          <p:cNvPr id="11" name="text_184"/>
          <p:cNvSpPr txBox="1"/>
          <p:nvPr/>
        </p:nvSpPr>
        <p:spPr>
          <a:xfrm>
            <a:off x="447751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3B  ·  75 min</a:t>
            </a:r>
            <a:endParaRPr lang="en-US" sz="1050" dirty="0"/>
          </a:p>
        </p:txBody>
      </p:sp>
      <p:sp>
        <p:nvSpPr>
          <p:cNvPr id="12" name="text_185"/>
          <p:cNvSpPr txBox="1"/>
          <p:nvPr/>
        </p:nvSpPr>
        <p:spPr>
          <a:xfrm>
            <a:off x="447751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Literature synthesis paragraph</a:t>
            </a:r>
            <a:endParaRPr lang="en-US" sz="1600" dirty="0"/>
          </a:p>
        </p:txBody>
      </p:sp>
      <p:sp>
        <p:nvSpPr>
          <p:cNvPr id="13" name="cardbody_186"/>
          <p:cNvSpPr txBox="1"/>
          <p:nvPr/>
        </p:nvSpPr>
        <p:spPr>
          <a:xfrm>
            <a:off x="447751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Find </a:t>
            </a:r>
            <a:r>
              <a:rPr lang="en-US" sz="1350" b="1" dirty="0">
                <a:solidFill>
                  <a:srgbClr val="222B36"/>
                </a:solidFill>
                <a:latin typeface="Calibri" pitchFamily="34" charset="0"/>
                <a:ea typeface="Calibri" pitchFamily="34" charset="-122"/>
                <a:cs typeface="Calibri" pitchFamily="34" charset="-120"/>
              </a:rPr>
              <a:t>3 relevant sources</a:t>
            </a:r>
            <a:r>
              <a:rPr lang="en-US" sz="1350" dirty="0">
                <a:solidFill>
                  <a:srgbClr val="222B36"/>
                </a:solidFill>
                <a:latin typeface="Calibri" pitchFamily="34" charset="0"/>
                <a:ea typeface="Calibri" pitchFamily="34" charset="-122"/>
                <a:cs typeface="Calibri" pitchFamily="34" charset="-120"/>
              </a:rPr>
              <a:t> (at least 2 peer-reviewed)</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Write </a:t>
            </a:r>
            <a:r>
              <a:rPr lang="en-US" sz="1350" b="1" dirty="0">
                <a:solidFill>
                  <a:srgbClr val="222B36"/>
                </a:solidFill>
                <a:latin typeface="Calibri" pitchFamily="34" charset="0"/>
                <a:ea typeface="Calibri" pitchFamily="34" charset="-122"/>
                <a:cs typeface="Calibri" pitchFamily="34" charset="-120"/>
              </a:rPr>
              <a:t>one</a:t>
            </a:r>
            <a:r>
              <a:rPr lang="en-US" sz="1350" dirty="0">
                <a:solidFill>
                  <a:srgbClr val="222B36"/>
                </a:solidFill>
                <a:latin typeface="Calibri" pitchFamily="34" charset="0"/>
                <a:ea typeface="Calibri" pitchFamily="34" charset="-122"/>
                <a:cs typeface="Calibri" pitchFamily="34" charset="-120"/>
              </a:rPr>
              <a:t> ~150-word paragraph that synthesises them around one idea</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Full references in one consistent style</a:t>
            </a:r>
            <a:endParaRPr lang="en-US" sz="1350" dirty="0"/>
          </a:p>
        </p:txBody>
      </p:sp>
      <p:sp>
        <p:nvSpPr>
          <p:cNvPr id="14" name="card_187"/>
          <p:cNvSpPr/>
          <p:nvPr/>
        </p:nvSpPr>
        <p:spPr>
          <a:xfrm>
            <a:off x="8077200" y="1691640"/>
            <a:ext cx="3563112" cy="2971800"/>
          </a:xfrm>
          <a:prstGeom prst="roundRect">
            <a:avLst>
              <a:gd name="adj" fmla="val 2462"/>
            </a:avLst>
          </a:prstGeom>
          <a:solidFill>
            <a:srgbClr val="F7F4EE"/>
          </a:solidFill>
          <a:ln w="9525">
            <a:solidFill>
              <a:srgbClr val="D5DAE1"/>
            </a:solidFill>
            <a:prstDash val="solid"/>
          </a:ln>
        </p:spPr>
      </p:sp>
      <p:sp>
        <p:nvSpPr>
          <p:cNvPr id="15" name="tag_188"/>
          <p:cNvSpPr/>
          <p:nvPr/>
        </p:nvSpPr>
        <p:spPr>
          <a:xfrm>
            <a:off x="8241792" y="1819656"/>
            <a:ext cx="1156716" cy="256032"/>
          </a:xfrm>
          <a:prstGeom prst="roundRect">
            <a:avLst>
              <a:gd name="adj" fmla="val 21429"/>
            </a:avLst>
          </a:prstGeom>
          <a:solidFill>
            <a:srgbClr val="1B2A41"/>
          </a:solidFill>
          <a:ln w="12700">
            <a:solidFill>
              <a:srgbClr val="1B2A41"/>
            </a:solidFill>
            <a:prstDash val="solid"/>
          </a:ln>
        </p:spPr>
      </p:sp>
      <p:sp>
        <p:nvSpPr>
          <p:cNvPr id="16" name="text_189"/>
          <p:cNvSpPr txBox="1"/>
          <p:nvPr/>
        </p:nvSpPr>
        <p:spPr>
          <a:xfrm>
            <a:off x="824179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3C  ·  30 min</a:t>
            </a:r>
            <a:endParaRPr lang="en-US" sz="1050" dirty="0"/>
          </a:p>
        </p:txBody>
      </p:sp>
      <p:sp>
        <p:nvSpPr>
          <p:cNvPr id="17" name="text_190"/>
          <p:cNvSpPr txBox="1"/>
          <p:nvPr/>
        </p:nvSpPr>
        <p:spPr>
          <a:xfrm>
            <a:off x="824179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Three candidate questions</a:t>
            </a:r>
            <a:endParaRPr lang="en-US" sz="1600" dirty="0"/>
          </a:p>
        </p:txBody>
      </p:sp>
      <p:sp>
        <p:nvSpPr>
          <p:cNvPr id="18" name="cardbody_191"/>
          <p:cNvSpPr txBox="1"/>
          <p:nvPr/>
        </p:nvSpPr>
        <p:spPr>
          <a:xfrm>
            <a:off x="824179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Each: the question + “I find this interesting because…”</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 the </a:t>
            </a:r>
            <a:r>
              <a:rPr lang="en-US" sz="1350" b="1" dirty="0">
                <a:solidFill>
                  <a:srgbClr val="222B36"/>
                </a:solidFill>
                <a:latin typeface="Calibri" pitchFamily="34" charset="0"/>
                <a:ea typeface="Calibri" pitchFamily="34" charset="-122"/>
                <a:cs typeface="Calibri" pitchFamily="34" charset="-120"/>
              </a:rPr>
              <a:t>figure</a:t>
            </a:r>
            <a:r>
              <a:rPr lang="en-US" sz="1350" dirty="0">
                <a:solidFill>
                  <a:srgbClr val="222B36"/>
                </a:solidFill>
                <a:latin typeface="Calibri" pitchFamily="34" charset="0"/>
                <a:ea typeface="Calibri" pitchFamily="34" charset="-122"/>
                <a:cs typeface="Calibri" pitchFamily="34" charset="-120"/>
              </a:rPr>
              <a:t> that would answer it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Bring all three on 29 Oct</a:t>
            </a:r>
            <a:endParaRPr lang="en-US" sz="1350" dirty="0"/>
          </a:p>
        </p:txBody>
      </p:sp>
      <p:sp>
        <p:nvSpPr>
          <p:cNvPr id="19" name="card_192"/>
          <p:cNvSpPr/>
          <p:nvPr/>
        </p:nvSpPr>
        <p:spPr>
          <a:xfrm>
            <a:off x="548640" y="4846320"/>
            <a:ext cx="5440680" cy="1463040"/>
          </a:xfrm>
          <a:prstGeom prst="roundRect">
            <a:avLst>
              <a:gd name="adj" fmla="val 5000"/>
            </a:avLst>
          </a:prstGeom>
          <a:solidFill>
            <a:srgbClr val="DCE7F2"/>
          </a:solidFill>
          <a:ln w="9525">
            <a:solidFill>
              <a:srgbClr val="DCE7F2"/>
            </a:solidFill>
            <a:prstDash val="solid"/>
          </a:ln>
        </p:spPr>
      </p:sp>
      <p:sp>
        <p:nvSpPr>
          <p:cNvPr id="20" name="tag_193"/>
          <p:cNvSpPr/>
          <p:nvPr/>
        </p:nvSpPr>
        <p:spPr>
          <a:xfrm>
            <a:off x="713232" y="4974336"/>
            <a:ext cx="1312164" cy="256032"/>
          </a:xfrm>
          <a:prstGeom prst="roundRect">
            <a:avLst>
              <a:gd name="adj" fmla="val 21429"/>
            </a:avLst>
          </a:prstGeom>
          <a:solidFill>
            <a:srgbClr val="2E4A6B"/>
          </a:solidFill>
          <a:ln w="12700">
            <a:solidFill>
              <a:srgbClr val="2E4A6B"/>
            </a:solidFill>
            <a:prstDash val="solid"/>
          </a:ln>
        </p:spPr>
      </p:sp>
      <p:sp>
        <p:nvSpPr>
          <p:cNvPr id="21" name="text_194"/>
          <p:cNvSpPr txBox="1"/>
          <p:nvPr/>
        </p:nvSpPr>
        <p:spPr>
          <a:xfrm>
            <a:off x="713232" y="497433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NOTEBOOK STRAND</a:t>
            </a:r>
            <a:endParaRPr lang="en-US" sz="1050" dirty="0"/>
          </a:p>
        </p:txBody>
      </p:sp>
      <p:sp>
        <p:nvSpPr>
          <p:cNvPr id="22" name="cardbody_195"/>
          <p:cNvSpPr txBox="1"/>
          <p:nvPr/>
        </p:nvSpPr>
        <p:spPr>
          <a:xfrm>
            <a:off x="713232"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Sections 4–5</a:t>
            </a:r>
            <a:r>
              <a:rPr lang="en-US" sz="1350" dirty="0">
                <a:solidFill>
                  <a:srgbClr val="222B36"/>
                </a:solidFill>
                <a:latin typeface="Calibri" pitchFamily="34" charset="0"/>
                <a:ea typeface="Calibri" pitchFamily="34" charset="-122"/>
                <a:cs typeface="Calibri" pitchFamily="34" charset="-120"/>
              </a:rPr>
              <a:t> (+ 6 if timing interests you); try other cloud levels (VARIABLE).</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Optional: </a:t>
            </a:r>
            <a:r>
              <a:rPr lang="en-US" sz="1350" b="1" dirty="0">
                <a:solidFill>
                  <a:srgbClr val="222B36"/>
                </a:solidFill>
                <a:latin typeface="Calibri" pitchFamily="34" charset="0"/>
                <a:ea typeface="Calibri" pitchFamily="34" charset="-122"/>
                <a:cs typeface="Calibri" pitchFamily="34" charset="-120"/>
              </a:rPr>
              <a:t>methods_demos.ipynb §1–2</a:t>
            </a:r>
            <a:r>
              <a:rPr lang="en-US" sz="1350" dirty="0">
                <a:solidFill>
                  <a:srgbClr val="222B36"/>
                </a:solidFill>
                <a:latin typeface="Calibri" pitchFamily="34" charset="0"/>
                <a:ea typeface="Calibri" pitchFamily="34" charset="-122"/>
                <a:cs typeface="Calibri" pitchFamily="34" charset="-120"/>
              </a:rPr>
              <a:t> (thresholds; composites).</a:t>
            </a:r>
            <a:endParaRPr lang="en-US" sz="1350" dirty="0"/>
          </a:p>
        </p:txBody>
      </p:sp>
      <p:sp>
        <p:nvSpPr>
          <p:cNvPr id="23" name="card_196"/>
          <p:cNvSpPr/>
          <p:nvPr/>
        </p:nvSpPr>
        <p:spPr>
          <a:xfrm>
            <a:off x="6199632" y="4846320"/>
            <a:ext cx="5440680" cy="1463040"/>
          </a:xfrm>
          <a:prstGeom prst="roundRect">
            <a:avLst>
              <a:gd name="adj" fmla="val 5000"/>
            </a:avLst>
          </a:prstGeom>
          <a:solidFill>
            <a:srgbClr val="FBEBD0"/>
          </a:solidFill>
          <a:ln w="9525">
            <a:solidFill>
              <a:srgbClr val="FBEBD0"/>
            </a:solidFill>
            <a:prstDash val="solid"/>
          </a:ln>
        </p:spPr>
      </p:sp>
      <p:sp>
        <p:nvSpPr>
          <p:cNvPr id="24" name="tag_197"/>
          <p:cNvSpPr/>
          <p:nvPr/>
        </p:nvSpPr>
        <p:spPr>
          <a:xfrm>
            <a:off x="6364224" y="4974336"/>
            <a:ext cx="3255264" cy="256032"/>
          </a:xfrm>
          <a:prstGeom prst="roundRect">
            <a:avLst>
              <a:gd name="adj" fmla="val 21429"/>
            </a:avLst>
          </a:prstGeom>
          <a:solidFill>
            <a:srgbClr val="D98E1F"/>
          </a:solidFill>
          <a:ln w="12700">
            <a:solidFill>
              <a:srgbClr val="D98E1F"/>
            </a:solidFill>
            <a:prstDash val="solid"/>
          </a:ln>
        </p:spPr>
      </p:sp>
      <p:sp>
        <p:nvSpPr>
          <p:cNvPr id="25" name="text_198"/>
          <p:cNvSpPr txBox="1"/>
          <p:nvPr/>
        </p:nvSpPr>
        <p:spPr>
          <a:xfrm>
            <a:off x="6364224" y="4974336"/>
            <a:ext cx="32552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READ  ·  SCHULTZ (2009) ELOQUENT SCIENCE</a:t>
            </a:r>
            <a:endParaRPr lang="en-US" sz="1050" dirty="0"/>
          </a:p>
        </p:txBody>
      </p:sp>
      <p:sp>
        <p:nvSpPr>
          <p:cNvPr id="26" name="cardbody_199"/>
          <p:cNvSpPr txBox="1"/>
          <p:nvPr/>
        </p:nvSpPr>
        <p:spPr>
          <a:xfrm>
            <a:off x="6364224"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§3.1–3.2</a:t>
            </a:r>
            <a:r>
              <a:rPr lang="en-US" sz="1350" dirty="0">
                <a:solidFill>
                  <a:srgbClr val="222B36"/>
                </a:solidFill>
                <a:latin typeface="Calibri" pitchFamily="34" charset="0"/>
                <a:ea typeface="Calibri" pitchFamily="34" charset="-122"/>
                <a:cs typeface="Calibri" pitchFamily="34" charset="-120"/>
              </a:rPr>
              <a:t> Titles</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§4.6–4.7</a:t>
            </a:r>
            <a:r>
              <a:rPr lang="en-US" sz="1350" dirty="0">
                <a:solidFill>
                  <a:srgbClr val="222B36"/>
                </a:solidFill>
                <a:latin typeface="Calibri" pitchFamily="34" charset="0"/>
                <a:ea typeface="Calibri" pitchFamily="34" charset="-122"/>
                <a:cs typeface="Calibri" pitchFamily="34" charset="-120"/>
              </a:rPr>
              <a:t> Introduction; literature synthesis</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§12.1–12.3</a:t>
            </a:r>
            <a:r>
              <a:rPr lang="en-US" sz="1350" dirty="0">
                <a:solidFill>
                  <a:srgbClr val="222B36"/>
                </a:solidFill>
                <a:latin typeface="Calibri" pitchFamily="34" charset="0"/>
                <a:ea typeface="Calibri" pitchFamily="34" charset="-122"/>
                <a:cs typeface="Calibri" pitchFamily="34" charset="-120"/>
              </a:rPr>
              <a:t> Why, how and what to cite</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ART29200 Writing Strand">
  <a:themeElements>
    <a:clrScheme name="EART29200 Writing Strand">
      <a:dk1>
        <a:srgbClr val="222B36"/>
      </a:dk1>
      <a:lt1>
        <a:srgbClr val="FFFFFF"/>
      </a:lt1>
      <a:dk2>
        <a:srgbClr val="1B2A41"/>
      </a:dk2>
      <a:lt2>
        <a:srgbClr val="F7F4EE"/>
      </a:lt2>
      <a:accent1>
        <a:srgbClr val="2E4A6B"/>
      </a:accent1>
      <a:accent2>
        <a:srgbClr val="D98E1F"/>
      </a:accent2>
      <a:accent3>
        <a:srgbClr val="1F7A6E"/>
      </a:accent3>
      <a:accent4>
        <a:srgbClr val="B04A35"/>
      </a:accent4>
      <a:accent5>
        <a:srgbClr val="6C8EAD"/>
      </a:accent5>
      <a:accent6>
        <a:srgbClr val="9AA5B1"/>
      </a:accent6>
      <a:hlink>
        <a:srgbClr val="2E4A6B"/>
      </a:hlink>
      <a:folHlink>
        <a:srgbClr val="5B6573"/>
      </a:folHlink>
    </a:clrScheme>
    <a:fontScheme name="EART29200 Writing Stran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3 — Hook, problem, purpose: the Introduction</dc:title>
  <dc:subject>ENSO and cloud cover mini-project — writing strand</dc:subject>
  <dc:creator>EART29200 course team</dc:creator>
  <cp:lastModifiedBy>EART29200 course team</cp:lastModifiedBy>
  <cp:revision>1</cp:revision>
  <dcterms:created xsi:type="dcterms:W3CDTF">2026-10-03T17:07:49Z</dcterms:created>
  <dcterms:modified xsi:type="dcterms:W3CDTF">2026-10-03T17:07:49Z</dcterms:modified>
</cp:coreProperties>
</file>