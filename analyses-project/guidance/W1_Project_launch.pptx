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Weather observations are patchy: dense over Europe, sparse over the oceans, and missing at most heights. A weather model fills the gaps using physics, but drifts away from reality on its own. Data assimilation combines the two: start from a model forecast, nudge it towards all available observations (by an amount that depends on how much each is trusted), then forecast again, every 12 hours. Done for every day since 1940 with one fixed model version, this gives ERA5: a complete, consistent 3-D record of the atmosphere. Its strength is consistency; its weakness is that quantities the model has to calculate itself, such as cloud, are only as good as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ENSO is a see-saw in the tropical Pacific. Normally the trade winds push warm surface water west, so the warmest water and the deepest convection sit over Indonesia, and cold water rises off South America. In El Niño the trade winds weaken, warm water spreads east, and convection follows it. La Niña is an exaggerated version of normal conditions. The ONI is the sea-surface temperature anomaly in a box in the central Pacific (Niño 3.4), smoothed over three months: above +0.5 °C counts as El Niño conditions, below −0.5 °C as La Niña.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Clouds form where air rises and cools. The Walker circulation is a loop: air rises over the warm western Pacific (deep convection, tall clouds), flows east high up, sinks over the cool eastern Pacific (dry above a low cloud deck), and returns west as the trade winds. In El Niño the eastern Pacific warms, the loop weakens, and deep convection spreads towards the central Pacific: more high cloud there, less over Indonesia. The rising branch doesn't swap sides; it weakens and shifts. You'll need this mechanism in your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This is the El Niño minus La Niña difference in total cloud cover, made from the same ERA5 data you'll use. For now, just notice where it's strongly red (cloudier during El Niño) and strongly blue (cloudier during La Niña), and which part catches your interest. In Tutorial 3 we build this map step by step; by December you'll explain one part of a map like this properly,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1  ·  Thu 1 Oct</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1  ·  THURSDAY 1 OCTOBER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What are we investigating?</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ENSO, clouds and your mini research project</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The notebook running, your first cloud figures, and two patterns worth a closer look.</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D98E1F"/>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2E4A6B"/>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2E4A6B"/>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2E4A6B"/>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2E4A6B"/>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2E4A6B"/>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2E4A6B"/>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1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Get the notebook running and see your first cloud figures.</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The project: one question, 3–5 figures, 2,000 words</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The two ingredients: ERA5 reanalysis and ENSO</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Why should clouds change with ENSO?</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A tour of the notebook</a:t>
            </a:r>
            <a:endParaRPr lang="en-US" sz="1600" dirty="0"/>
          </a:p>
        </p:txBody>
      </p:sp>
      <p:sp>
        <p:nvSpPr>
          <p:cNvPr id="16" name="num_32"/>
          <p:cNvSpPr/>
          <p:nvPr/>
        </p:nvSpPr>
        <p:spPr>
          <a:xfrm>
            <a:off x="685800" y="4690872"/>
            <a:ext cx="384048" cy="384048"/>
          </a:xfrm>
          <a:prstGeom prst="ellipse">
            <a:avLst/>
          </a:prstGeom>
          <a:solidFill>
            <a:srgbClr val="1B2A41"/>
          </a:solidFill>
          <a:ln w="12700">
            <a:solidFill>
              <a:srgbClr val="1B2A41"/>
            </a:solidFill>
            <a:prstDash val="solid"/>
          </a:ln>
        </p:spPr>
      </p:sp>
      <p:sp>
        <p:nvSpPr>
          <p:cNvPr id="17" name="text_33"/>
          <p:cNvSpPr txBox="1"/>
          <p:nvPr/>
        </p:nvSpPr>
        <p:spPr>
          <a:xfrm>
            <a:off x="685800" y="4690872"/>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_34"/>
          <p:cNvSpPr txBox="1"/>
          <p:nvPr/>
        </p:nvSpPr>
        <p:spPr>
          <a:xfrm>
            <a:off x="1234440" y="4672584"/>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Get it running and note two patterns</a:t>
            </a:r>
            <a:endParaRPr lang="en-US" sz="1600" dirty="0"/>
          </a:p>
        </p:txBody>
      </p:sp>
      <p:sp>
        <p:nvSpPr>
          <p:cNvPr id="19" name="card_35"/>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20" name="tag_36"/>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21" name="text_37"/>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22" name="cardbody_38"/>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A laptop (or a cluster PC)</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The Binder link from Canvas</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The student handbook</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Somewhere to save files: Binder sessions are temporary</a:t>
            </a:r>
            <a:endParaRPr lang="en-US" sz="1400" dirty="0"/>
          </a:p>
        </p:txBody>
      </p:sp>
      <p:sp>
        <p:nvSpPr>
          <p:cNvPr id="23" name="dot_39"/>
          <p:cNvSpPr/>
          <p:nvPr/>
        </p:nvSpPr>
        <p:spPr>
          <a:xfrm>
            <a:off x="4852264" y="5897880"/>
            <a:ext cx="182880" cy="182880"/>
          </a:xfrm>
          <a:prstGeom prst="ellipse">
            <a:avLst/>
          </a:prstGeom>
          <a:solidFill>
            <a:srgbClr val="D98E1F"/>
          </a:solidFill>
          <a:ln w="6350">
            <a:solidFill>
              <a:srgbClr val="D5DAE1"/>
            </a:solidFill>
            <a:prstDash val="solid"/>
          </a:ln>
        </p:spPr>
      </p:sp>
      <p:sp>
        <p:nvSpPr>
          <p:cNvPr id="24" name="dot_40"/>
          <p:cNvSpPr/>
          <p:nvPr/>
        </p:nvSpPr>
        <p:spPr>
          <a:xfrm>
            <a:off x="5181448" y="5897880"/>
            <a:ext cx="182880" cy="182880"/>
          </a:xfrm>
          <a:prstGeom prst="ellipse">
            <a:avLst/>
          </a:prstGeom>
          <a:solidFill>
            <a:srgbClr val="D5DAE1"/>
          </a:solidFill>
          <a:ln w="6350">
            <a:solidFill>
              <a:srgbClr val="D5DAE1"/>
            </a:solidFill>
            <a:prstDash val="solid"/>
          </a:ln>
        </p:spPr>
      </p:sp>
      <p:sp>
        <p:nvSpPr>
          <p:cNvPr id="25" name="dot_41"/>
          <p:cNvSpPr/>
          <p:nvPr/>
        </p:nvSpPr>
        <p:spPr>
          <a:xfrm>
            <a:off x="5510632" y="5897880"/>
            <a:ext cx="182880" cy="182880"/>
          </a:xfrm>
          <a:prstGeom prst="ellipse">
            <a:avLst/>
          </a:prstGeom>
          <a:solidFill>
            <a:srgbClr val="D5DAE1"/>
          </a:solidFill>
          <a:ln w="6350">
            <a:solidFill>
              <a:srgbClr val="D5DAE1"/>
            </a:solidFill>
            <a:prstDash val="solid"/>
          </a:ln>
        </p:spPr>
      </p:sp>
      <p:sp>
        <p:nvSpPr>
          <p:cNvPr id="26" name="dot_42"/>
          <p:cNvSpPr/>
          <p:nvPr/>
        </p:nvSpPr>
        <p:spPr>
          <a:xfrm>
            <a:off x="5839816" y="5897880"/>
            <a:ext cx="182880" cy="182880"/>
          </a:xfrm>
          <a:prstGeom prst="ellipse">
            <a:avLst/>
          </a:prstGeom>
          <a:solidFill>
            <a:srgbClr val="D5DAE1"/>
          </a:solidFill>
          <a:ln w="6350">
            <a:solidFill>
              <a:srgbClr val="D5DAE1"/>
            </a:solidFill>
            <a:prstDash val="solid"/>
          </a:ln>
        </p:spPr>
      </p:sp>
      <p:sp>
        <p:nvSpPr>
          <p:cNvPr id="27" name="dot_43"/>
          <p:cNvSpPr/>
          <p:nvPr/>
        </p:nvSpPr>
        <p:spPr>
          <a:xfrm>
            <a:off x="6169000" y="5897880"/>
            <a:ext cx="182880" cy="182880"/>
          </a:xfrm>
          <a:prstGeom prst="ellipse">
            <a:avLst/>
          </a:prstGeom>
          <a:solidFill>
            <a:srgbClr val="D5DAE1"/>
          </a:solidFill>
          <a:ln w="6350">
            <a:solidFill>
              <a:srgbClr val="D5DAE1"/>
            </a:solidFill>
            <a:prstDash val="solid"/>
          </a:ln>
        </p:spPr>
      </p:sp>
      <p:sp>
        <p:nvSpPr>
          <p:cNvPr id="28" name="dot_44"/>
          <p:cNvSpPr/>
          <p:nvPr/>
        </p:nvSpPr>
        <p:spPr>
          <a:xfrm>
            <a:off x="6498184" y="5897880"/>
            <a:ext cx="182880" cy="182880"/>
          </a:xfrm>
          <a:prstGeom prst="ellipse">
            <a:avLst/>
          </a:prstGeom>
          <a:solidFill>
            <a:srgbClr val="D5DAE1"/>
          </a:solidFill>
          <a:ln w="6350">
            <a:solidFill>
              <a:srgbClr val="D5DAE1"/>
            </a:solidFill>
            <a:prstDash val="solid"/>
          </a:ln>
        </p:spPr>
      </p:sp>
      <p:sp>
        <p:nvSpPr>
          <p:cNvPr id="29" name="dot_45"/>
          <p:cNvSpPr/>
          <p:nvPr/>
        </p:nvSpPr>
        <p:spPr>
          <a:xfrm>
            <a:off x="6827368" y="5897880"/>
            <a:ext cx="182880" cy="182880"/>
          </a:xfrm>
          <a:prstGeom prst="ellipse">
            <a:avLst/>
          </a:prstGeom>
          <a:solidFill>
            <a:srgbClr val="D5DAE1"/>
          </a:solidFill>
          <a:ln w="6350">
            <a:solidFill>
              <a:srgbClr val="D5DAE1"/>
            </a:solidFill>
            <a:prstDash val="solid"/>
          </a:ln>
        </p:spPr>
      </p:sp>
      <p:sp>
        <p:nvSpPr>
          <p:cNvPr id="30" name="dot_46"/>
          <p:cNvSpPr/>
          <p:nvPr/>
        </p:nvSpPr>
        <p:spPr>
          <a:xfrm>
            <a:off x="7156552" y="5897880"/>
            <a:ext cx="182880" cy="182880"/>
          </a:xfrm>
          <a:prstGeom prst="ellipse">
            <a:avLst/>
          </a:prstGeom>
          <a:solidFill>
            <a:srgbClr val="D5DAE1"/>
          </a:solidFill>
          <a:ln w="6350">
            <a:solidFill>
              <a:srgbClr val="D5DAE1"/>
            </a:solidFill>
            <a:prstDash val="solid"/>
          </a:ln>
        </p:spPr>
      </p:sp>
      <p:sp>
        <p:nvSpPr>
          <p:cNvPr id="31" name="text_47"/>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1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_4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bigger picture: Earth's clouds from space</a:t>
            </a:r>
            <a:endParaRPr lang="en-US" sz="2800" dirty="0"/>
          </a:p>
        </p:txBody>
      </p:sp>
      <p:sp>
        <p:nvSpPr>
          <p:cNvPr id="3" name="mbul_49"/>
          <p:cNvSpPr txBox="1"/>
          <p:nvPr/>
        </p:nvSpPr>
        <p:spPr>
          <a:xfrm>
            <a:off x="548640" y="1280160"/>
            <a:ext cx="6035040" cy="5029200"/>
          </a:xfrm>
          <a:prstGeom prst="rect">
            <a:avLst/>
          </a:prstGeom>
          <a:noFill/>
          <a:ln/>
        </p:spPr>
        <p:txBody>
          <a:bodyPr wrap="square" lIns="635" tIns="635" rIns="635" bIns="635" rtlCol="0" anchor="t"/>
          <a:lstStyle/>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Cloud bands like these </a:t>
            </a:r>
            <a:r>
              <a:rPr lang="en-US" sz="1650" b="1" dirty="0">
                <a:solidFill>
                  <a:srgbClr val="222B36"/>
                </a:solidFill>
                <a:latin typeface="Calibri" pitchFamily="34" charset="0"/>
                <a:ea typeface="Calibri" pitchFamily="34" charset="-122"/>
                <a:cs typeface="Calibri" pitchFamily="34" charset="-120"/>
              </a:rPr>
              <a:t>shift with ENSO</a:t>
            </a:r>
            <a:r>
              <a:rPr lang="en-US" sz="1650" dirty="0">
                <a:solidFill>
                  <a:srgbClr val="222B36"/>
                </a:solidFill>
                <a:latin typeface="Calibri" pitchFamily="34" charset="0"/>
                <a:ea typeface="Calibri" pitchFamily="34" charset="-122"/>
                <a:cs typeface="Calibri" pitchFamily="34" charset="-120"/>
              </a:rPr>
              <a:t>, and with them the odds of drought and flood across much of the planet.</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ENSO is the largest source of </a:t>
            </a:r>
            <a:r>
              <a:rPr lang="en-US" sz="1650" b="1" dirty="0">
                <a:solidFill>
                  <a:srgbClr val="222B36"/>
                </a:solidFill>
                <a:latin typeface="Calibri" pitchFamily="34" charset="0"/>
                <a:ea typeface="Calibri" pitchFamily="34" charset="-122"/>
                <a:cs typeface="Calibri" pitchFamily="34" charset="-120"/>
              </a:rPr>
              <a:t>year-to-year</a:t>
            </a:r>
            <a:r>
              <a:rPr lang="en-US" sz="1650" dirty="0">
                <a:solidFill>
                  <a:srgbClr val="222B36"/>
                </a:solidFill>
                <a:latin typeface="Calibri" pitchFamily="34" charset="0"/>
                <a:ea typeface="Calibri" pitchFamily="34" charset="-122"/>
                <a:cs typeface="Calibri" pitchFamily="34" charset="-120"/>
              </a:rPr>
              <a:t> climate variability on Earth.</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The signals you'll analyse are the same ones national weather services watch for </a:t>
            </a:r>
            <a:r>
              <a:rPr lang="en-US" sz="1650" b="1" dirty="0">
                <a:solidFill>
                  <a:srgbClr val="222B36"/>
                </a:solidFill>
                <a:latin typeface="Calibri" pitchFamily="34" charset="0"/>
                <a:ea typeface="Calibri" pitchFamily="34" charset="-122"/>
                <a:cs typeface="Calibri" pitchFamily="34" charset="-120"/>
              </a:rPr>
              <a:t>seasonal forecasts</a:t>
            </a:r>
            <a:r>
              <a:rPr lang="en-US" sz="1650" dirty="0">
                <a:solidFill>
                  <a:srgbClr val="222B36"/>
                </a:solidFill>
                <a:latin typeface="Calibri" pitchFamily="34" charset="0"/>
                <a:ea typeface="Calibri" pitchFamily="34" charset="-122"/>
                <a:cs typeface="Calibri" pitchFamily="34" charset="-120"/>
              </a:rPr>
              <a:t>.</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This term you'll find one of those signals in real data and explain it: a small, genuine piece of climate science.</a:t>
            </a:r>
            <a:endParaRPr lang="en-US" sz="1650" dirty="0"/>
          </a:p>
        </p:txBody>
      </p:sp>
      <p:pic>
        <p:nvPicPr>
          <p:cNvPr id="4" name="img_50" descr="/home/claude/work/build/figs/t1_bluemarble.png">    </p:cNvPr>
          <p:cNvPicPr>
            <a:picLocks noChangeAspect="1"/>
          </p:cNvPicPr>
          <p:nvPr/>
        </p:nvPicPr>
        <p:blipFill>
          <a:blip r:embed="rId1"/>
          <a:stretch>
            <a:fillRect/>
          </a:stretch>
        </p:blipFill>
        <p:spPr>
          <a:xfrm>
            <a:off x="6858000" y="1280160"/>
            <a:ext cx="4785055" cy="4785055"/>
          </a:xfrm>
          <a:prstGeom prst="rect">
            <a:avLst/>
          </a:prstGeom>
        </p:spPr>
      </p:pic>
      <p:sp>
        <p:nvSpPr>
          <p:cNvPr id="5" name="text_51"/>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Image: NASA/NOAA/GSFC/Suomi NPP/VIIRS, Norman Kuring (‘Blue Marble’ composite, 4 Jan 2012).</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_5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 mini research project, not a checklist</a:t>
            </a:r>
            <a:endParaRPr lang="en-US" sz="2800" dirty="0"/>
          </a:p>
        </p:txBody>
      </p:sp>
      <p:sp>
        <p:nvSpPr>
          <p:cNvPr id="3" name="mbul_53"/>
          <p:cNvSpPr txBox="1"/>
          <p:nvPr/>
        </p:nvSpPr>
        <p:spPr>
          <a:xfrm>
            <a:off x="548640" y="1280160"/>
            <a:ext cx="5760720" cy="5029200"/>
          </a:xfrm>
          <a:prstGeom prst="rect">
            <a:avLst/>
          </a:prstGeom>
          <a:noFill/>
          <a:ln/>
        </p:spPr>
        <p:txBody>
          <a:bodyPr wrap="square" lIns="635" tIns="635" rIns="635" bIns="635" rtlCol="0" anchor="t"/>
          <a:lstStyle/>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The notebook contains </a:t>
            </a:r>
            <a:r>
              <a:rPr lang="en-US" sz="1650" b="1" dirty="0">
                <a:solidFill>
                  <a:srgbClr val="222B36"/>
                </a:solidFill>
                <a:latin typeface="Calibri" pitchFamily="34" charset="0"/>
                <a:ea typeface="Calibri" pitchFamily="34" charset="-122"/>
                <a:cs typeface="Calibri" pitchFamily="34" charset="-120"/>
              </a:rPr>
              <a:t>more analyses than you can use</a:t>
            </a:r>
            <a:r>
              <a:rPr lang="en-US" sz="1650" dirty="0">
                <a:solidFill>
                  <a:srgbClr val="222B36"/>
                </a:solidFill>
                <a:latin typeface="Calibri" pitchFamily="34" charset="0"/>
                <a:ea typeface="Calibri" pitchFamily="34" charset="-122"/>
                <a:cs typeface="Calibri" pitchFamily="34" charset="-120"/>
              </a:rPr>
              <a:t>. That's deliberate: it's a toolbox.</a:t>
            </a:r>
            <a:endParaRPr lang="en-US" sz="1650" dirty="0"/>
          </a:p>
          <a:p>
            <a:pPr marL="342900" indent="-342900">
              <a:spcAft>
                <a:spcPts val="700"/>
              </a:spcAft>
              <a:buSzPct val="100000"/>
              <a:buChar char="■"/>
            </a:pPr>
            <a:r>
              <a:rPr lang="en-US" sz="1650" b="1" dirty="0">
                <a:solidFill>
                  <a:srgbClr val="222B36"/>
                </a:solidFill>
                <a:latin typeface="Calibri" pitchFamily="34" charset="0"/>
                <a:ea typeface="Calibri" pitchFamily="34" charset="-122"/>
                <a:cs typeface="Calibri" pitchFamily="34" charset="-120"/>
              </a:rPr>
              <a:t>Explore</a:t>
            </a:r>
            <a:r>
              <a:rPr lang="en-US" sz="1650" dirty="0">
                <a:solidFill>
                  <a:srgbClr val="222B36"/>
                </a:solidFill>
                <a:latin typeface="Calibri" pitchFamily="34" charset="0"/>
                <a:ea typeface="Calibri" pitchFamily="34" charset="-122"/>
                <a:cs typeface="Calibri" pitchFamily="34" charset="-120"/>
              </a:rPr>
              <a:t> first. Then choose one aspect of ENSO and clouds that interests you.</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Answer </a:t>
            </a:r>
            <a:r>
              <a:rPr lang="en-US" sz="1650" b="1" dirty="0">
                <a:solidFill>
                  <a:srgbClr val="222B36"/>
                </a:solidFill>
                <a:latin typeface="Calibri" pitchFamily="34" charset="0"/>
                <a:ea typeface="Calibri" pitchFamily="34" charset="-122"/>
                <a:cs typeface="Calibri" pitchFamily="34" charset="-120"/>
              </a:rPr>
              <a:t>one focused question</a:t>
            </a:r>
            <a:r>
              <a:rPr lang="en-US" sz="1650" dirty="0">
                <a:solidFill>
                  <a:srgbClr val="222B36"/>
                </a:solidFill>
                <a:latin typeface="Calibri" pitchFamily="34" charset="0"/>
                <a:ea typeface="Calibri" pitchFamily="34" charset="-122"/>
                <a:cs typeface="Calibri" pitchFamily="34" charset="-120"/>
              </a:rPr>
              <a:t> with about </a:t>
            </a:r>
            <a:r>
              <a:rPr lang="en-US" sz="1650" b="1" dirty="0">
                <a:solidFill>
                  <a:srgbClr val="222B36"/>
                </a:solidFill>
                <a:latin typeface="Calibri" pitchFamily="34" charset="0"/>
                <a:ea typeface="Calibri" pitchFamily="34" charset="-122"/>
                <a:cs typeface="Calibri" pitchFamily="34" charset="-120"/>
              </a:rPr>
              <a:t>3–5 figures</a:t>
            </a:r>
            <a:r>
              <a:rPr lang="en-US" sz="1650" dirty="0">
                <a:solidFill>
                  <a:srgbClr val="222B36"/>
                </a:solidFill>
                <a:latin typeface="Calibri" pitchFamily="34" charset="0"/>
                <a:ea typeface="Calibri" pitchFamily="34" charset="-122"/>
                <a:cs typeface="Calibri" pitchFamily="34" charset="-120"/>
              </a:rPr>
              <a:t>, in a report of at most </a:t>
            </a:r>
            <a:r>
              <a:rPr lang="en-US" sz="1650" b="1" dirty="0">
                <a:solidFill>
                  <a:srgbClr val="222B36"/>
                </a:solidFill>
                <a:latin typeface="Calibri" pitchFamily="34" charset="0"/>
                <a:ea typeface="Calibri" pitchFamily="34" charset="-122"/>
                <a:cs typeface="Calibri" pitchFamily="34" charset="-120"/>
              </a:rPr>
              <a:t>2,000 words</a:t>
            </a:r>
            <a:r>
              <a:rPr lang="en-US" sz="1650" dirty="0">
                <a:solidFill>
                  <a:srgbClr val="222B36"/>
                </a:solidFill>
                <a:latin typeface="Calibri" pitchFamily="34" charset="0"/>
                <a:ea typeface="Calibri" pitchFamily="34" charset="-122"/>
                <a:cs typeface="Calibri" pitchFamily="34" charset="-120"/>
              </a:rPr>
              <a:t>.</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You are </a:t>
            </a:r>
            <a:r>
              <a:rPr lang="en-US" sz="1650" b="1" dirty="0">
                <a:solidFill>
                  <a:srgbClr val="222B36"/>
                </a:solidFill>
                <a:latin typeface="Calibri" pitchFamily="34" charset="0"/>
                <a:ea typeface="Calibri" pitchFamily="34" charset="-122"/>
                <a:cs typeface="Calibri" pitchFamily="34" charset="-120"/>
              </a:rPr>
              <a:t>not</a:t>
            </a:r>
            <a:r>
              <a:rPr lang="en-US" sz="1650" dirty="0">
                <a:solidFill>
                  <a:srgbClr val="222B36"/>
                </a:solidFill>
                <a:latin typeface="Calibri" pitchFamily="34" charset="0"/>
                <a:ea typeface="Calibri" pitchFamily="34" charset="-122"/>
                <a:cs typeface="Calibri" pitchFamily="34" charset="-120"/>
              </a:rPr>
              <a:t> expected to write the Python from scratch, or to understand every line.</a:t>
            </a:r>
            <a:endParaRPr lang="en-US" sz="1650" dirty="0"/>
          </a:p>
          <a:p>
            <a:pPr marL="342900" indent="-342900">
              <a:spcAft>
                <a:spcPts val="700"/>
              </a:spcAft>
              <a:buSzPct val="100000"/>
              <a:buChar char="■"/>
            </a:pPr>
            <a:r>
              <a:rPr lang="en-US" sz="1650" dirty="0">
                <a:solidFill>
                  <a:srgbClr val="222B36"/>
                </a:solidFill>
                <a:latin typeface="Calibri" pitchFamily="34" charset="0"/>
                <a:ea typeface="Calibri" pitchFamily="34" charset="-122"/>
                <a:cs typeface="Calibri" pitchFamily="34" charset="-120"/>
              </a:rPr>
              <a:t>Report: </a:t>
            </a:r>
            <a:r>
              <a:rPr lang="en-US" sz="1650" b="1" dirty="0">
                <a:solidFill>
                  <a:srgbClr val="222B36"/>
                </a:solidFill>
                <a:latin typeface="Calibri" pitchFamily="34" charset="0"/>
                <a:ea typeface="Calibri" pitchFamily="34" charset="-122"/>
                <a:cs typeface="Calibri" pitchFamily="34" charset="-120"/>
              </a:rPr>
              <a:t>100%</a:t>
            </a:r>
            <a:r>
              <a:rPr lang="en-US" sz="1650" dirty="0">
                <a:solidFill>
                  <a:srgbClr val="222B36"/>
                </a:solidFill>
                <a:latin typeface="Calibri" pitchFamily="34" charset="0"/>
                <a:ea typeface="Calibri" pitchFamily="34" charset="-122"/>
                <a:cs typeface="Calibri" pitchFamily="34" charset="-120"/>
              </a:rPr>
              <a:t> of the course mark. AI category: </a:t>
            </a:r>
            <a:r>
              <a:rPr lang="en-US" sz="1650" b="1" dirty="0">
                <a:solidFill>
                  <a:srgbClr val="222B36"/>
                </a:solidFill>
                <a:latin typeface="Calibri" pitchFamily="34" charset="0"/>
                <a:ea typeface="Calibri" pitchFamily="34" charset="-122"/>
                <a:cs typeface="Calibri" pitchFamily="34" charset="-120"/>
              </a:rPr>
              <a:t>AI Minimal</a:t>
            </a:r>
            <a:r>
              <a:rPr lang="en-US" sz="1650" dirty="0">
                <a:solidFill>
                  <a:srgbClr val="222B36"/>
                </a:solidFill>
                <a:latin typeface="Calibri" pitchFamily="34" charset="0"/>
                <a:ea typeface="Calibri" pitchFamily="34" charset="-122"/>
                <a:cs typeface="Calibri" pitchFamily="34" charset="-120"/>
              </a:rPr>
              <a:t> (more next week).</a:t>
            </a:r>
            <a:endParaRPr lang="en-US" sz="1650" dirty="0"/>
          </a:p>
        </p:txBody>
      </p:sp>
      <p:pic>
        <p:nvPicPr>
          <p:cNvPr id="4" name="img_54" descr="/home/claude/work/build/figs/t1_report_flow.png">    </p:cNvPr>
          <p:cNvPicPr>
            <a:picLocks noChangeAspect="1"/>
          </p:cNvPicPr>
          <p:nvPr/>
        </p:nvPicPr>
        <p:blipFill>
          <a:blip r:embed="rId1"/>
          <a:stretch>
            <a:fillRect/>
          </a:stretch>
        </p:blipFill>
        <p:spPr>
          <a:xfrm>
            <a:off x="6583680" y="1280160"/>
            <a:ext cx="5059375" cy="2500483"/>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_5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year at a glance</a:t>
            </a:r>
            <a:endParaRPr lang="en-US" sz="2800" dirty="0"/>
          </a:p>
        </p:txBody>
      </p:sp>
      <p:sp>
        <p:nvSpPr>
          <p:cNvPr id="3" name="text_56"/>
          <p:cNvSpPr txBox="1"/>
          <p:nvPr/>
        </p:nvSpPr>
        <p:spPr>
          <a:xfrm>
            <a:off x="548640" y="1280160"/>
            <a:ext cx="155448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DATE</a:t>
            </a:r>
            <a:endParaRPr lang="en-US" sz="1050" dirty="0"/>
          </a:p>
        </p:txBody>
      </p:sp>
      <p:sp>
        <p:nvSpPr>
          <p:cNvPr id="4" name="text_57"/>
          <p:cNvSpPr txBox="1"/>
          <p:nvPr/>
        </p:nvSpPr>
        <p:spPr>
          <a:xfrm>
            <a:off x="2148840" y="1280160"/>
            <a:ext cx="566928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TUTORIAL</a:t>
            </a:r>
            <a:endParaRPr lang="en-US" sz="1050" dirty="0"/>
          </a:p>
        </p:txBody>
      </p:sp>
      <p:sp>
        <p:nvSpPr>
          <p:cNvPr id="5" name="text_58"/>
          <p:cNvSpPr txBox="1"/>
          <p:nvPr/>
        </p:nvSpPr>
        <p:spPr>
          <a:xfrm>
            <a:off x="7909560" y="1280160"/>
            <a:ext cx="374904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YOU PRODUCE</a:t>
            </a:r>
            <a:endParaRPr lang="en-US" sz="1050" dirty="0"/>
          </a:p>
        </p:txBody>
      </p:sp>
      <p:sp>
        <p:nvSpPr>
          <p:cNvPr id="6" name="row_59"/>
          <p:cNvSpPr/>
          <p:nvPr/>
        </p:nvSpPr>
        <p:spPr>
          <a:xfrm>
            <a:off x="548640" y="1600200"/>
            <a:ext cx="11091672" cy="420624"/>
          </a:xfrm>
          <a:prstGeom prst="rect">
            <a:avLst/>
          </a:prstGeom>
          <a:solidFill>
            <a:srgbClr val="F7F4EE"/>
          </a:solidFill>
          <a:ln w="12700">
            <a:solidFill>
              <a:srgbClr val="F7F4EE"/>
            </a:solidFill>
            <a:prstDash val="solid"/>
          </a:ln>
        </p:spPr>
      </p:sp>
      <p:sp>
        <p:nvSpPr>
          <p:cNvPr id="7" name="text_60"/>
          <p:cNvSpPr txBox="1"/>
          <p:nvPr/>
        </p:nvSpPr>
        <p:spPr>
          <a:xfrm>
            <a:off x="640080" y="16002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1 Oct</a:t>
            </a:r>
            <a:endParaRPr lang="en-US" sz="1350" dirty="0"/>
          </a:p>
        </p:txBody>
      </p:sp>
      <p:sp>
        <p:nvSpPr>
          <p:cNvPr id="8" name="text_61"/>
          <p:cNvSpPr txBox="1"/>
          <p:nvPr/>
        </p:nvSpPr>
        <p:spPr>
          <a:xfrm>
            <a:off x="2148840" y="16002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Launch: ERA5, ENSO, notebook running</a:t>
            </a:r>
            <a:endParaRPr lang="en-US" sz="1300" dirty="0"/>
          </a:p>
        </p:txBody>
      </p:sp>
      <p:sp>
        <p:nvSpPr>
          <p:cNvPr id="9" name="text_62"/>
          <p:cNvSpPr txBox="1"/>
          <p:nvPr/>
        </p:nvSpPr>
        <p:spPr>
          <a:xfrm>
            <a:off x="7909560" y="16002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Two patterns</a:t>
            </a:r>
            <a:endParaRPr lang="en-US" sz="1300" dirty="0"/>
          </a:p>
        </p:txBody>
      </p:sp>
      <p:sp>
        <p:nvSpPr>
          <p:cNvPr id="10" name="row_63"/>
          <p:cNvSpPr/>
          <p:nvPr/>
        </p:nvSpPr>
        <p:spPr>
          <a:xfrm>
            <a:off x="548640" y="2057400"/>
            <a:ext cx="11091672" cy="420624"/>
          </a:xfrm>
          <a:prstGeom prst="rect">
            <a:avLst/>
          </a:prstGeom>
          <a:solidFill>
            <a:srgbClr val="FFFFFF"/>
          </a:solidFill>
          <a:ln w="12700">
            <a:solidFill>
              <a:srgbClr val="F7F4EE"/>
            </a:solidFill>
            <a:prstDash val="solid"/>
          </a:ln>
        </p:spPr>
      </p:sp>
      <p:sp>
        <p:nvSpPr>
          <p:cNvPr id="11" name="text_64"/>
          <p:cNvSpPr txBox="1"/>
          <p:nvPr/>
        </p:nvSpPr>
        <p:spPr>
          <a:xfrm>
            <a:off x="640080" y="20574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8 Oct</a:t>
            </a:r>
            <a:endParaRPr lang="en-US" sz="1350" dirty="0"/>
          </a:p>
        </p:txBody>
      </p:sp>
      <p:sp>
        <p:nvSpPr>
          <p:cNvPr id="12" name="text_65"/>
          <p:cNvSpPr txBox="1"/>
          <p:nvPr/>
        </p:nvSpPr>
        <p:spPr>
          <a:xfrm>
            <a:off x="2148840" y="20574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Readers and the report · ERA5 cloud, weighting, anomalies · finding sources</a:t>
            </a:r>
            <a:endParaRPr lang="en-US" sz="1300" dirty="0"/>
          </a:p>
        </p:txBody>
      </p:sp>
      <p:sp>
        <p:nvSpPr>
          <p:cNvPr id="13" name="text_66"/>
          <p:cNvSpPr txBox="1"/>
          <p:nvPr/>
        </p:nvSpPr>
        <p:spPr>
          <a:xfrm>
            <a:off x="7909560" y="20574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150 words; reference manager</a:t>
            </a:r>
            <a:endParaRPr lang="en-US" sz="1300" dirty="0"/>
          </a:p>
        </p:txBody>
      </p:sp>
      <p:sp>
        <p:nvSpPr>
          <p:cNvPr id="14" name="row_67"/>
          <p:cNvSpPr/>
          <p:nvPr/>
        </p:nvSpPr>
        <p:spPr>
          <a:xfrm>
            <a:off x="548640" y="2514600"/>
            <a:ext cx="11091672" cy="420624"/>
          </a:xfrm>
          <a:prstGeom prst="rect">
            <a:avLst/>
          </a:prstGeom>
          <a:solidFill>
            <a:srgbClr val="F7F4EE"/>
          </a:solidFill>
          <a:ln w="12700">
            <a:solidFill>
              <a:srgbClr val="F7F4EE"/>
            </a:solidFill>
            <a:prstDash val="solid"/>
          </a:ln>
        </p:spPr>
      </p:sp>
      <p:sp>
        <p:nvSpPr>
          <p:cNvPr id="15" name="text_68"/>
          <p:cNvSpPr txBox="1"/>
          <p:nvPr/>
        </p:nvSpPr>
        <p:spPr>
          <a:xfrm>
            <a:off x="640080" y="25146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15 Oct</a:t>
            </a:r>
            <a:endParaRPr lang="en-US" sz="1350" dirty="0"/>
          </a:p>
        </p:txBody>
      </p:sp>
      <p:sp>
        <p:nvSpPr>
          <p:cNvPr id="16" name="text_69"/>
          <p:cNvSpPr txBox="1"/>
          <p:nvPr/>
        </p:nvSpPr>
        <p:spPr>
          <a:xfrm>
            <a:off x="2148840" y="25146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The Introduction · thresholds and composites</a:t>
            </a:r>
            <a:endParaRPr lang="en-US" sz="1300" dirty="0"/>
          </a:p>
        </p:txBody>
      </p:sp>
      <p:sp>
        <p:nvSpPr>
          <p:cNvPr id="17" name="text_70"/>
          <p:cNvSpPr txBox="1"/>
          <p:nvPr/>
        </p:nvSpPr>
        <p:spPr>
          <a:xfrm>
            <a:off x="7909560" y="25146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Purpose statement</a:t>
            </a:r>
            <a:endParaRPr lang="en-US" sz="1300" dirty="0"/>
          </a:p>
        </p:txBody>
      </p:sp>
      <p:sp>
        <p:nvSpPr>
          <p:cNvPr id="18" name="row_71"/>
          <p:cNvSpPr/>
          <p:nvPr/>
        </p:nvSpPr>
        <p:spPr>
          <a:xfrm>
            <a:off x="548640" y="2971800"/>
            <a:ext cx="11091672" cy="420624"/>
          </a:xfrm>
          <a:prstGeom prst="rect">
            <a:avLst/>
          </a:prstGeom>
          <a:solidFill>
            <a:srgbClr val="FFFFFF"/>
          </a:solidFill>
          <a:ln w="12700">
            <a:solidFill>
              <a:srgbClr val="F7F4EE"/>
            </a:solidFill>
            <a:prstDash val="solid"/>
          </a:ln>
        </p:spPr>
      </p:sp>
      <p:sp>
        <p:nvSpPr>
          <p:cNvPr id="19" name="text_72"/>
          <p:cNvSpPr txBox="1"/>
          <p:nvPr/>
        </p:nvSpPr>
        <p:spPr>
          <a:xfrm>
            <a:off x="640080" y="29718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29 Oct</a:t>
            </a:r>
            <a:endParaRPr lang="en-US" sz="1350" dirty="0"/>
          </a:p>
        </p:txBody>
      </p:sp>
      <p:sp>
        <p:nvSpPr>
          <p:cNvPr id="20" name="text_73"/>
          <p:cNvSpPr txBox="1"/>
          <p:nvPr/>
        </p:nvSpPr>
        <p:spPr>
          <a:xfrm>
            <a:off x="2148840" y="29718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Commit to ONE question · correlation, choosing a region</a:t>
            </a:r>
            <a:endParaRPr lang="en-US" sz="1300" dirty="0"/>
          </a:p>
        </p:txBody>
      </p:sp>
      <p:sp>
        <p:nvSpPr>
          <p:cNvPr id="21" name="text_74"/>
          <p:cNvSpPr txBox="1"/>
          <p:nvPr/>
        </p:nvSpPr>
        <p:spPr>
          <a:xfrm>
            <a:off x="7909560" y="29718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Storyboard; Methods draft</a:t>
            </a:r>
            <a:endParaRPr lang="en-US" sz="1300" dirty="0"/>
          </a:p>
        </p:txBody>
      </p:sp>
      <p:sp>
        <p:nvSpPr>
          <p:cNvPr id="22" name="row_75"/>
          <p:cNvSpPr/>
          <p:nvPr/>
        </p:nvSpPr>
        <p:spPr>
          <a:xfrm>
            <a:off x="548640" y="3429000"/>
            <a:ext cx="11091672" cy="420624"/>
          </a:xfrm>
          <a:prstGeom prst="rect">
            <a:avLst/>
          </a:prstGeom>
          <a:solidFill>
            <a:srgbClr val="F7F4EE"/>
          </a:solidFill>
          <a:ln w="12700">
            <a:solidFill>
              <a:srgbClr val="F7F4EE"/>
            </a:solidFill>
            <a:prstDash val="solid"/>
          </a:ln>
        </p:spPr>
      </p:sp>
      <p:sp>
        <p:nvSpPr>
          <p:cNvPr id="23" name="text_76"/>
          <p:cNvSpPr txBox="1"/>
          <p:nvPr/>
        </p:nvSpPr>
        <p:spPr>
          <a:xfrm>
            <a:off x="640080" y="34290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12 Nov</a:t>
            </a:r>
            <a:endParaRPr lang="en-US" sz="1350" dirty="0"/>
          </a:p>
        </p:txBody>
      </p:sp>
      <p:sp>
        <p:nvSpPr>
          <p:cNvPr id="24" name="text_77"/>
          <p:cNvSpPr txBox="1"/>
          <p:nvPr/>
        </p:nvSpPr>
        <p:spPr>
          <a:xfrm>
            <a:off x="2148840" y="34290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Figures as evidence · significance: r, n, p</a:t>
            </a:r>
            <a:endParaRPr lang="en-US" sz="1300" dirty="0"/>
          </a:p>
        </p:txBody>
      </p:sp>
      <p:sp>
        <p:nvSpPr>
          <p:cNvPr id="25" name="text_78"/>
          <p:cNvSpPr txBox="1"/>
          <p:nvPr/>
        </p:nvSpPr>
        <p:spPr>
          <a:xfrm>
            <a:off x="7909560" y="34290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Results draft</a:t>
            </a:r>
            <a:endParaRPr lang="en-US" sz="1300" dirty="0"/>
          </a:p>
        </p:txBody>
      </p:sp>
      <p:sp>
        <p:nvSpPr>
          <p:cNvPr id="26" name="row_79"/>
          <p:cNvSpPr/>
          <p:nvPr/>
        </p:nvSpPr>
        <p:spPr>
          <a:xfrm>
            <a:off x="548640" y="3886200"/>
            <a:ext cx="11091672" cy="420624"/>
          </a:xfrm>
          <a:prstGeom prst="rect">
            <a:avLst/>
          </a:prstGeom>
          <a:solidFill>
            <a:srgbClr val="FFFFFF"/>
          </a:solidFill>
          <a:ln w="12700">
            <a:solidFill>
              <a:srgbClr val="F7F4EE"/>
            </a:solidFill>
            <a:prstDash val="solid"/>
          </a:ln>
        </p:spPr>
      </p:sp>
      <p:sp>
        <p:nvSpPr>
          <p:cNvPr id="27" name="text_80"/>
          <p:cNvSpPr txBox="1"/>
          <p:nvPr/>
        </p:nvSpPr>
        <p:spPr>
          <a:xfrm>
            <a:off x="640080" y="38862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19 Nov</a:t>
            </a:r>
            <a:endParaRPr lang="en-US" sz="1350" dirty="0"/>
          </a:p>
        </p:txBody>
      </p:sp>
      <p:sp>
        <p:nvSpPr>
          <p:cNvPr id="28" name="text_81"/>
          <p:cNvSpPr txBox="1"/>
          <p:nvPr/>
        </p:nvSpPr>
        <p:spPr>
          <a:xfrm>
            <a:off x="2148840" y="38862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Paragraphs that argue · reporting statistics</a:t>
            </a:r>
            <a:endParaRPr lang="en-US" sz="1300" dirty="0"/>
          </a:p>
        </p:txBody>
      </p:sp>
      <p:sp>
        <p:nvSpPr>
          <p:cNvPr id="29" name="text_82"/>
          <p:cNvSpPr txBox="1"/>
          <p:nvPr/>
        </p:nvSpPr>
        <p:spPr>
          <a:xfrm>
            <a:off x="7909560" y="38862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Introduction draft</a:t>
            </a:r>
            <a:endParaRPr lang="en-US" sz="1300" dirty="0"/>
          </a:p>
        </p:txBody>
      </p:sp>
      <p:sp>
        <p:nvSpPr>
          <p:cNvPr id="30" name="row_83"/>
          <p:cNvSpPr/>
          <p:nvPr/>
        </p:nvSpPr>
        <p:spPr>
          <a:xfrm>
            <a:off x="548640" y="4343400"/>
            <a:ext cx="11091672" cy="420624"/>
          </a:xfrm>
          <a:prstGeom prst="rect">
            <a:avLst/>
          </a:prstGeom>
          <a:solidFill>
            <a:srgbClr val="F7F4EE"/>
          </a:solidFill>
          <a:ln w="12700">
            <a:solidFill>
              <a:srgbClr val="F7F4EE"/>
            </a:solidFill>
            <a:prstDash val="solid"/>
          </a:ln>
        </p:spPr>
      </p:sp>
      <p:sp>
        <p:nvSpPr>
          <p:cNvPr id="31" name="text_84"/>
          <p:cNvSpPr txBox="1"/>
          <p:nvPr/>
        </p:nvSpPr>
        <p:spPr>
          <a:xfrm>
            <a:off x="640080" y="43434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Thu 26 Nov</a:t>
            </a:r>
            <a:endParaRPr lang="en-US" sz="1350" dirty="0"/>
          </a:p>
        </p:txBody>
      </p:sp>
      <p:sp>
        <p:nvSpPr>
          <p:cNvPr id="32" name="text_85"/>
          <p:cNvSpPr txBox="1"/>
          <p:nvPr/>
        </p:nvSpPr>
        <p:spPr>
          <a:xfrm>
            <a:off x="2148840" y="43434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Discussion and Conclusion · lags and mechanisms</a:t>
            </a:r>
            <a:endParaRPr lang="en-US" sz="1300" dirty="0"/>
          </a:p>
        </p:txBody>
      </p:sp>
      <p:sp>
        <p:nvSpPr>
          <p:cNvPr id="33" name="text_86"/>
          <p:cNvSpPr txBox="1"/>
          <p:nvPr/>
        </p:nvSpPr>
        <p:spPr>
          <a:xfrm>
            <a:off x="7909560" y="4343400"/>
            <a:ext cx="365760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Discussion draft</a:t>
            </a:r>
            <a:endParaRPr lang="en-US" sz="1300" dirty="0"/>
          </a:p>
        </p:txBody>
      </p:sp>
      <p:sp>
        <p:nvSpPr>
          <p:cNvPr id="34" name="row_87"/>
          <p:cNvSpPr/>
          <p:nvPr/>
        </p:nvSpPr>
        <p:spPr>
          <a:xfrm>
            <a:off x="548640" y="4800600"/>
            <a:ext cx="11091672" cy="420624"/>
          </a:xfrm>
          <a:prstGeom prst="rect">
            <a:avLst/>
          </a:prstGeom>
          <a:solidFill>
            <a:srgbClr val="1B2A41"/>
          </a:solidFill>
          <a:ln w="12700">
            <a:solidFill>
              <a:srgbClr val="1B2A41"/>
            </a:solidFill>
            <a:prstDash val="solid"/>
          </a:ln>
        </p:spPr>
      </p:sp>
      <p:sp>
        <p:nvSpPr>
          <p:cNvPr id="35" name="text_88"/>
          <p:cNvSpPr txBox="1"/>
          <p:nvPr/>
        </p:nvSpPr>
        <p:spPr>
          <a:xfrm>
            <a:off x="640080" y="4800600"/>
            <a:ext cx="1463040" cy="420624"/>
          </a:xfrm>
          <a:prstGeom prst="rect">
            <a:avLst/>
          </a:prstGeom>
          <a:noFill/>
          <a:ln/>
        </p:spPr>
        <p:txBody>
          <a:bodyPr wrap="square" lIns="635" tIns="635" rIns="635" bIns="635" rtlCol="0" anchor="ctr"/>
          <a:lstStyle/>
          <a:p>
            <a:pPr algn="l" indent="0" marL="0">
              <a:lnSpc>
                <a:spcPct val="100000"/>
              </a:lnSpc>
              <a:buNone/>
            </a:pPr>
            <a:r>
              <a:rPr lang="en-US" sz="1350" b="1" dirty="0">
                <a:solidFill>
                  <a:srgbClr val="F2C27A"/>
                </a:solidFill>
                <a:latin typeface="Calibri" pitchFamily="34" charset="0"/>
                <a:ea typeface="Calibri" pitchFamily="34" charset="-122"/>
                <a:cs typeface="Calibri" pitchFamily="34" charset="-120"/>
              </a:rPr>
              <a:t>Thu 3 Dec</a:t>
            </a:r>
            <a:endParaRPr lang="en-US" sz="1350" dirty="0"/>
          </a:p>
        </p:txBody>
      </p:sp>
      <p:sp>
        <p:nvSpPr>
          <p:cNvPr id="36" name="text_89"/>
          <p:cNvSpPr txBox="1"/>
          <p:nvPr/>
        </p:nvSpPr>
        <p:spPr>
          <a:xfrm>
            <a:off x="2148840" y="4800600"/>
            <a:ext cx="5669280" cy="420624"/>
          </a:xfrm>
          <a:prstGeom prst="rect">
            <a:avLst/>
          </a:prstGeom>
          <a:noFill/>
          <a:ln/>
        </p:spPr>
        <p:txBody>
          <a:bodyPr wrap="square" lIns="635" tIns="635" rIns="635" bIns="635" rtlCol="0" anchor="ctr"/>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Draft complete: from writer to editor</a:t>
            </a:r>
            <a:endParaRPr lang="en-US" sz="1300" dirty="0"/>
          </a:p>
        </p:txBody>
      </p:sp>
      <p:sp>
        <p:nvSpPr>
          <p:cNvPr id="37" name="text_90"/>
          <p:cNvSpPr txBox="1"/>
          <p:nvPr/>
        </p:nvSpPr>
        <p:spPr>
          <a:xfrm>
            <a:off x="7909560" y="4800600"/>
            <a:ext cx="3657600" cy="420624"/>
          </a:xfrm>
          <a:prstGeom prst="rect">
            <a:avLst/>
          </a:prstGeom>
          <a:noFill/>
          <a:ln/>
        </p:spPr>
        <p:txBody>
          <a:bodyPr wrap="square" lIns="635" tIns="635" rIns="635" bIns="635"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Complete first draft</a:t>
            </a:r>
            <a:endParaRPr lang="en-US" sz="1300" dirty="0"/>
          </a:p>
        </p:txBody>
      </p:sp>
      <p:sp>
        <p:nvSpPr>
          <p:cNvPr id="38" name="text_91"/>
          <p:cNvSpPr txBox="1"/>
          <p:nvPr/>
        </p:nvSpPr>
        <p:spPr>
          <a:xfrm>
            <a:off x="548640" y="5486400"/>
            <a:ext cx="11064240" cy="731520"/>
          </a:xfrm>
          <a:prstGeom prst="rect">
            <a:avLst/>
          </a:prstGeom>
          <a:noFill/>
          <a:ln/>
        </p:spPr>
        <p:txBody>
          <a:bodyPr wrap="square" lIns="635" tIns="635" rIns="635" bIns="635" rtlCol="0" anchor="t"/>
          <a:lstStyle/>
          <a:p>
            <a:pPr algn="l" indent="0" marL="0">
              <a:lnSpc>
                <a:spcPct val="100000"/>
              </a:lnSpc>
              <a:buNone/>
            </a:pPr>
            <a:r>
              <a:rPr lang="en-US" sz="1450" dirty="0">
                <a:solidFill>
                  <a:srgbClr val="1B2A41"/>
                </a:solidFill>
                <a:latin typeface="Calibri" pitchFamily="34" charset="0"/>
                <a:ea typeface="Calibri" pitchFamily="34" charset="-122"/>
                <a:cs typeface="Calibri" pitchFamily="34" charset="-120"/>
              </a:rPr>
              <a:t>Then: draft submitted </a:t>
            </a:r>
            <a:r>
              <a:rPr lang="en-US" sz="1450" b="1" dirty="0">
                <a:solidFill>
                  <a:srgbClr val="1B2A41"/>
                </a:solidFill>
                <a:latin typeface="Calibri" pitchFamily="34" charset="0"/>
                <a:ea typeface="Calibri" pitchFamily="34" charset="-122"/>
                <a:cs typeface="Calibri" pitchFamily="34" charset="-120"/>
              </a:rPr>
              <a:t>Fri 5 Feb</a:t>
            </a:r>
            <a:r>
              <a:rPr lang="en-US" sz="1450" dirty="0">
                <a:solidFill>
                  <a:srgbClr val="1B2A41"/>
                </a:solidFill>
                <a:latin typeface="Calibri" pitchFamily="34" charset="0"/>
                <a:ea typeface="Calibri" pitchFamily="34" charset="-122"/>
                <a:cs typeface="Calibri" pitchFamily="34" charset="-120"/>
              </a:rPr>
              <a:t> (formative; no DASS extensions) → peer feedback (w/c 8 or 15 Feb) → group presentation (w/c 1 Mar) → final report </a:t>
            </a:r>
            <a:r>
              <a:rPr lang="en-US" sz="1450" b="1" dirty="0">
                <a:solidFill>
                  <a:srgbClr val="1B2A41"/>
                </a:solidFill>
                <a:latin typeface="Calibri" pitchFamily="34" charset="0"/>
                <a:ea typeface="Calibri" pitchFamily="34" charset="-122"/>
                <a:cs typeface="Calibri" pitchFamily="34" charset="-120"/>
              </a:rPr>
              <a:t>Fri 12 Mar, 12:00</a:t>
            </a:r>
            <a:r>
              <a:rPr lang="en-US" sz="1450" dirty="0">
                <a:solidFill>
                  <a:srgbClr val="1B2A41"/>
                </a:solidFill>
                <a:latin typeface="Calibri" pitchFamily="34" charset="0"/>
                <a:ea typeface="Calibri" pitchFamily="34" charset="-122"/>
                <a:cs typeface="Calibri" pitchFamily="34" charset="-120"/>
              </a:rPr>
              <a:t>.</a:t>
            </a:r>
            <a:endParaRPr lang="en-US" sz="14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l_92"/>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93"/>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94"/>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Ingredient 1: ERA5 reanalysis</a:t>
            </a:r>
            <a:endParaRPr lang="en-US" sz="2800" dirty="0"/>
          </a:p>
        </p:txBody>
      </p:sp>
      <p:sp>
        <p:nvSpPr>
          <p:cNvPr id="5" name="mbul_95"/>
          <p:cNvSpPr txBox="1"/>
          <p:nvPr/>
        </p:nvSpPr>
        <p:spPr>
          <a:xfrm>
            <a:off x="548640" y="1280160"/>
            <a:ext cx="5760720" cy="5029200"/>
          </a:xfrm>
          <a:prstGeom prst="rect">
            <a:avLst/>
          </a:prstGeom>
          <a:noFill/>
          <a:ln/>
        </p:spPr>
        <p:txBody>
          <a:bodyPr wrap="square" lIns="635" tIns="635" rIns="635" bIns="635" rtlCol="0" anchor="t"/>
          <a:lstStyle/>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Observations are </a:t>
            </a:r>
            <a:r>
              <a:rPr lang="en-US" sz="1550" b="1" dirty="0">
                <a:solidFill>
                  <a:srgbClr val="222B36"/>
                </a:solidFill>
                <a:latin typeface="Calibri" pitchFamily="34" charset="0"/>
                <a:ea typeface="Calibri" pitchFamily="34" charset="-122"/>
                <a:cs typeface="Calibri" pitchFamily="34" charset="-120"/>
              </a:rPr>
              <a:t>incomplete</a:t>
            </a:r>
            <a:r>
              <a:rPr lang="en-US" sz="1550" dirty="0">
                <a:solidFill>
                  <a:srgbClr val="222B36"/>
                </a:solidFill>
                <a:latin typeface="Calibri" pitchFamily="34" charset="0"/>
                <a:ea typeface="Calibri" pitchFamily="34" charset="-122"/>
                <a:cs typeface="Calibri" pitchFamily="34" charset="-120"/>
              </a:rPr>
              <a:t> in space and time.</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 </a:t>
            </a:r>
            <a:r>
              <a:rPr lang="en-US" sz="1550" b="1" dirty="0">
                <a:solidFill>
                  <a:srgbClr val="222B36"/>
                </a:solidFill>
                <a:latin typeface="Calibri" pitchFamily="34" charset="0"/>
                <a:ea typeface="Calibri" pitchFamily="34" charset="-122"/>
                <a:cs typeface="Calibri" pitchFamily="34" charset="-120"/>
              </a:rPr>
              <a:t>weather model</a:t>
            </a:r>
            <a:r>
              <a:rPr lang="en-US" sz="1550" dirty="0">
                <a:solidFill>
                  <a:srgbClr val="222B36"/>
                </a:solidFill>
                <a:latin typeface="Calibri" pitchFamily="34" charset="0"/>
                <a:ea typeface="Calibri" pitchFamily="34" charset="-122"/>
                <a:cs typeface="Calibri" pitchFamily="34" charset="-120"/>
              </a:rPr>
              <a:t> represents the physics and dynamics of the atmosphere.</a:t>
            </a:r>
            <a:endParaRPr lang="en-US" sz="1550" dirty="0"/>
          </a:p>
          <a:p>
            <a:pPr marL="342900" indent="-342900">
              <a:spcAft>
                <a:spcPts val="700"/>
              </a:spcAft>
              <a:buSzPct val="100000"/>
              <a:buChar char="■"/>
            </a:pPr>
            <a:r>
              <a:rPr lang="en-US" sz="1550" b="1" dirty="0">
                <a:solidFill>
                  <a:srgbClr val="222B36"/>
                </a:solidFill>
                <a:latin typeface="Calibri" pitchFamily="34" charset="0"/>
                <a:ea typeface="Calibri" pitchFamily="34" charset="-122"/>
                <a:cs typeface="Calibri" pitchFamily="34" charset="-120"/>
              </a:rPr>
              <a:t>Data assimilation</a:t>
            </a:r>
            <a:r>
              <a:rPr lang="en-US" sz="1550" dirty="0">
                <a:solidFill>
                  <a:srgbClr val="222B36"/>
                </a:solidFill>
                <a:latin typeface="Calibri" pitchFamily="34" charset="0"/>
                <a:ea typeface="Calibri" pitchFamily="34" charset="-122"/>
                <a:cs typeface="Calibri" pitchFamily="34" charset="-120"/>
              </a:rPr>
              <a:t> blends the two into a complete, gridded, physically consistent record: a </a:t>
            </a:r>
            <a:r>
              <a:rPr lang="en-US" sz="1550" b="1" dirty="0">
                <a:solidFill>
                  <a:srgbClr val="222B36"/>
                </a:solidFill>
                <a:latin typeface="Calibri" pitchFamily="34" charset="0"/>
                <a:ea typeface="Calibri" pitchFamily="34" charset="-122"/>
                <a:cs typeface="Calibri" pitchFamily="34" charset="-120"/>
              </a:rPr>
              <a:t>reanalysis</a:t>
            </a:r>
            <a:r>
              <a:rPr lang="en-US" sz="1550" dirty="0">
                <a:solidFill>
                  <a:srgbClr val="222B36"/>
                </a:solidFill>
                <a:latin typeface="Calibri" pitchFamily="34" charset="0"/>
                <a:ea typeface="Calibri" pitchFamily="34" charset="-122"/>
                <a:cs typeface="Calibri" pitchFamily="34" charset="-120"/>
              </a:rPr>
              <a:t>.</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Ours: </a:t>
            </a:r>
            <a:r>
              <a:rPr lang="en-US" sz="1550" dirty="0">
                <a:solidFill>
                  <a:srgbClr val="222B36"/>
                </a:solidFill>
                <a:latin typeface="Calibri" pitchFamily="34" charset="0"/>
                <a:ea typeface="Calibri" pitchFamily="34" charset="-122"/>
                <a:cs typeface="Calibri" pitchFamily="34" charset="-120"/>
              </a:rPr>
              <a:t>ERA5 monthly means, 0.75° grid, </a:t>
            </a:r>
            <a:r>
              <a:rPr lang="en-US" sz="1550" b="1" dirty="0">
                <a:solidFill>
                  <a:srgbClr val="222B36"/>
                </a:solidFill>
                <a:latin typeface="Calibri" pitchFamily="34" charset="0"/>
                <a:ea typeface="Calibri" pitchFamily="34" charset="-122"/>
                <a:cs typeface="Calibri" pitchFamily="34" charset="-120"/>
              </a:rPr>
              <a:t>January 2005 – August 2025</a:t>
            </a:r>
            <a:r>
              <a:rPr lang="en-US" sz="1550" dirty="0">
                <a:solidFill>
                  <a:srgbClr val="222B36"/>
                </a:solidFill>
                <a:latin typeface="Calibri" pitchFamily="34" charset="0"/>
                <a:ea typeface="Calibri" pitchFamily="34" charset="-122"/>
                <a:cs typeface="Calibri" pitchFamily="34" charset="-120"/>
              </a:rPr>
              <a:t>, including total, low, medium and high cloud cover.</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Reanalysis is neither a plain archive of observations nor a free-running climate model. (Next week: what that means for </a:t>
            </a:r>
            <a:r>
              <a:rPr lang="en-US" sz="1550" b="1" dirty="0">
                <a:solidFill>
                  <a:srgbClr val="222B36"/>
                </a:solidFill>
                <a:latin typeface="Calibri" pitchFamily="34" charset="0"/>
                <a:ea typeface="Calibri" pitchFamily="34" charset="-122"/>
                <a:cs typeface="Calibri" pitchFamily="34" charset="-120"/>
              </a:rPr>
              <a:t>cloud</a:t>
            </a:r>
            <a:r>
              <a:rPr lang="en-US" sz="1550" dirty="0">
                <a:solidFill>
                  <a:srgbClr val="222B36"/>
                </a:solidFill>
                <a:latin typeface="Calibri" pitchFamily="34" charset="0"/>
                <a:ea typeface="Calibri" pitchFamily="34" charset="-122"/>
                <a:cs typeface="Calibri" pitchFamily="34" charset="-120"/>
              </a:rPr>
              <a:t>.)</a:t>
            </a:r>
            <a:endParaRPr lang="en-US" sz="1550" dirty="0"/>
          </a:p>
        </p:txBody>
      </p:sp>
      <p:pic>
        <p:nvPicPr>
          <p:cNvPr id="6" name="img_96" descr="/home/claude/work/build/figs/t1_reanalysis.png">    </p:cNvPr>
          <p:cNvPicPr>
            <a:picLocks noChangeAspect="1"/>
          </p:cNvPicPr>
          <p:nvPr/>
        </p:nvPicPr>
        <p:blipFill>
          <a:blip r:embed="rId1"/>
          <a:stretch>
            <a:fillRect/>
          </a:stretch>
        </p:blipFill>
        <p:spPr>
          <a:xfrm>
            <a:off x="6583680" y="1280160"/>
            <a:ext cx="5059375" cy="2404838"/>
          </a:xfrm>
          <a:prstGeom prst="rect">
            <a:avLst/>
          </a:prstGeom>
        </p:spPr>
      </p:pic>
      <p:sp>
        <p:nvSpPr>
          <p:cNvPr id="7" name="text_97"/>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Data: ERA5, ECMWF / Copernicus Climate Change Service (Hersbach et al. 2020). Schematic: course team.</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l_98"/>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99"/>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00"/>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Ingredient 2: ENSO</a:t>
            </a:r>
            <a:endParaRPr lang="en-US" sz="2800" dirty="0"/>
          </a:p>
        </p:txBody>
      </p:sp>
      <p:sp>
        <p:nvSpPr>
          <p:cNvPr id="5" name="mbul_101"/>
          <p:cNvSpPr txBox="1"/>
          <p:nvPr/>
        </p:nvSpPr>
        <p:spPr>
          <a:xfrm>
            <a:off x="548640" y="1280160"/>
            <a:ext cx="5760720" cy="5029200"/>
          </a:xfrm>
          <a:prstGeom prst="rect">
            <a:avLst/>
          </a:prstGeom>
          <a:noFill/>
          <a:ln/>
        </p:spPr>
        <p:txBody>
          <a:bodyPr wrap="square" lIns="635" tIns="635" rIns="635" bIns="635" rtlCol="0" anchor="t"/>
          <a:lstStyle/>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El Niño: </a:t>
            </a:r>
            <a:r>
              <a:rPr lang="en-US" sz="1550" dirty="0">
                <a:solidFill>
                  <a:srgbClr val="222B36"/>
                </a:solidFill>
                <a:latin typeface="Calibri" pitchFamily="34" charset="0"/>
                <a:ea typeface="Calibri" pitchFamily="34" charset="-122"/>
                <a:cs typeface="Calibri" pitchFamily="34" charset="-120"/>
              </a:rPr>
              <a:t>an anomalously </a:t>
            </a:r>
            <a:r>
              <a:rPr lang="en-US" sz="1550" b="1" dirty="0">
                <a:solidFill>
                  <a:srgbClr val="222B36"/>
                </a:solidFill>
                <a:latin typeface="Calibri" pitchFamily="34" charset="0"/>
                <a:ea typeface="Calibri" pitchFamily="34" charset="-122"/>
                <a:cs typeface="Calibri" pitchFamily="34" charset="-120"/>
              </a:rPr>
              <a:t>warm</a:t>
            </a:r>
            <a:r>
              <a:rPr lang="en-US" sz="1550" dirty="0">
                <a:solidFill>
                  <a:srgbClr val="222B36"/>
                </a:solidFill>
                <a:latin typeface="Calibri" pitchFamily="34" charset="0"/>
                <a:ea typeface="Calibri" pitchFamily="34" charset="-122"/>
                <a:cs typeface="Calibri" pitchFamily="34" charset="-120"/>
              </a:rPr>
              <a:t> central and eastern tropical Pacific. La Niña: anomalously </a:t>
            </a:r>
            <a:r>
              <a:rPr lang="en-US" sz="1550" b="1" dirty="0">
                <a:solidFill>
                  <a:srgbClr val="222B36"/>
                </a:solidFill>
                <a:latin typeface="Calibri" pitchFamily="34" charset="0"/>
                <a:ea typeface="Calibri" pitchFamily="34" charset="-122"/>
                <a:cs typeface="Calibri" pitchFamily="34" charset="-120"/>
              </a:rPr>
              <a:t>cool</a:t>
            </a:r>
            <a:r>
              <a:rPr lang="en-US" sz="1550" dirty="0">
                <a:solidFill>
                  <a:srgbClr val="222B36"/>
                </a:solidFill>
                <a:latin typeface="Calibri" pitchFamily="34" charset="0"/>
                <a:ea typeface="Calibri" pitchFamily="34" charset="-122"/>
                <a:cs typeface="Calibri" pitchFamily="34" charset="-120"/>
              </a:rPr>
              <a:t>.</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The ocean pattern drags </a:t>
            </a:r>
            <a:r>
              <a:rPr lang="en-US" sz="1550" b="1" dirty="0">
                <a:solidFill>
                  <a:srgbClr val="222B36"/>
                </a:solidFill>
                <a:latin typeface="Calibri" pitchFamily="34" charset="0"/>
                <a:ea typeface="Calibri" pitchFamily="34" charset="-122"/>
                <a:cs typeface="Calibri" pitchFamily="34" charset="-120"/>
              </a:rPr>
              <a:t>winds, convection and rainfall</a:t>
            </a:r>
            <a:r>
              <a:rPr lang="en-US" sz="1550" dirty="0">
                <a:solidFill>
                  <a:srgbClr val="222B36"/>
                </a:solidFill>
                <a:latin typeface="Calibri" pitchFamily="34" charset="0"/>
                <a:ea typeface="Calibri" pitchFamily="34" charset="-122"/>
                <a:cs typeface="Calibri" pitchFamily="34" charset="-120"/>
              </a:rPr>
              <a:t> with it, so cloud is a natural response to study.</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We measure ENSO with the </a:t>
            </a:r>
            <a:r>
              <a:rPr lang="en-US" sz="1550" b="1" dirty="0">
                <a:solidFill>
                  <a:srgbClr val="222B36"/>
                </a:solidFill>
                <a:latin typeface="Calibri" pitchFamily="34" charset="0"/>
                <a:ea typeface="Calibri" pitchFamily="34" charset="-122"/>
                <a:cs typeface="Calibri" pitchFamily="34" charset="-120"/>
              </a:rPr>
              <a:t>ONI</a:t>
            </a:r>
            <a:r>
              <a:rPr lang="en-US" sz="1550" dirty="0">
                <a:solidFill>
                  <a:srgbClr val="222B36"/>
                </a:solidFill>
                <a:latin typeface="Calibri" pitchFamily="34" charset="0"/>
                <a:ea typeface="Calibri" pitchFamily="34" charset="-122"/>
                <a:cs typeface="Calibri" pitchFamily="34" charset="-120"/>
              </a:rPr>
              <a:t>: the 3-month running-mean SST anomaly in the Niño 3.4 region.</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In our period: </a:t>
            </a:r>
            <a:r>
              <a:rPr lang="en-US" sz="1550" dirty="0">
                <a:solidFill>
                  <a:srgbClr val="222B36"/>
                </a:solidFill>
                <a:latin typeface="Calibri" pitchFamily="34" charset="0"/>
                <a:ea typeface="Calibri" pitchFamily="34" charset="-122"/>
                <a:cs typeface="Calibri" pitchFamily="34" charset="-120"/>
              </a:rPr>
              <a:t>El Niño in 2009–10, </a:t>
            </a:r>
            <a:r>
              <a:rPr lang="en-US" sz="1550" b="1" dirty="0">
                <a:solidFill>
                  <a:srgbClr val="222B36"/>
                </a:solidFill>
                <a:latin typeface="Calibri" pitchFamily="34" charset="0"/>
                <a:ea typeface="Calibri" pitchFamily="34" charset="-122"/>
                <a:cs typeface="Calibri" pitchFamily="34" charset="-120"/>
              </a:rPr>
              <a:t>2015–16</a:t>
            </a:r>
            <a:r>
              <a:rPr lang="en-US" sz="1550" dirty="0">
                <a:solidFill>
                  <a:srgbClr val="222B36"/>
                </a:solidFill>
                <a:latin typeface="Calibri" pitchFamily="34" charset="0"/>
                <a:ea typeface="Calibri" pitchFamily="34" charset="-122"/>
                <a:cs typeface="Calibri" pitchFamily="34" charset="-120"/>
              </a:rPr>
              <a:t> (very strong) and 2023–24; La Niña in 2010–12 and 2020–23.</a:t>
            </a:r>
            <a:endParaRPr lang="en-US" sz="1550" dirty="0"/>
          </a:p>
        </p:txBody>
      </p:sp>
      <p:pic>
        <p:nvPicPr>
          <p:cNvPr id="6" name="img_102" descr="/home/claude/work/build/figs/t1_enso_sst.png">    </p:cNvPr>
          <p:cNvPicPr>
            <a:picLocks noChangeAspect="1"/>
          </p:cNvPicPr>
          <p:nvPr/>
        </p:nvPicPr>
        <p:blipFill>
          <a:blip r:embed="rId1"/>
          <a:stretch>
            <a:fillRect/>
          </a:stretch>
        </p:blipFill>
        <p:spPr>
          <a:xfrm>
            <a:off x="6583680" y="1280160"/>
            <a:ext cx="5059375" cy="2655840"/>
          </a:xfrm>
          <a:prstGeom prst="rect">
            <a:avLst/>
          </a:prstGeom>
        </p:spPr>
      </p:pic>
      <p:sp>
        <p:nvSpPr>
          <p:cNvPr id="7" name="text_103"/>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Maps: NOAA Climate.gov, based on NOAA OISST data (El Niño Dec 1997, top; La Niña Dec 1988, bottom).</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l_104"/>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05"/>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0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Why should the clouds change?</a:t>
            </a:r>
            <a:endParaRPr lang="en-US" sz="2800" dirty="0"/>
          </a:p>
        </p:txBody>
      </p:sp>
      <p:sp>
        <p:nvSpPr>
          <p:cNvPr id="5" name="mbul_107"/>
          <p:cNvSpPr txBox="1"/>
          <p:nvPr/>
        </p:nvSpPr>
        <p:spPr>
          <a:xfrm>
            <a:off x="548640" y="1280160"/>
            <a:ext cx="5577840" cy="5029200"/>
          </a:xfrm>
          <a:prstGeom prst="rect">
            <a:avLst/>
          </a:prstGeom>
          <a:noFill/>
          <a:ln/>
        </p:spPr>
        <p:txBody>
          <a:bodyPr wrap="square" lIns="635" tIns="635" rIns="635" bIns="635" rtlCol="0" anchor="t"/>
          <a:lstStyle/>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Warm sea surface and the atmospheric circulation are </a:t>
            </a:r>
            <a:r>
              <a:rPr lang="en-US" sz="1550" b="1" dirty="0">
                <a:solidFill>
                  <a:srgbClr val="222B36"/>
                </a:solidFill>
                <a:latin typeface="Calibri" pitchFamily="34" charset="0"/>
                <a:ea typeface="Calibri" pitchFamily="34" charset="-122"/>
                <a:cs typeface="Calibri" pitchFamily="34" charset="-120"/>
              </a:rPr>
              <a:t>coupled</a:t>
            </a:r>
            <a:r>
              <a:rPr lang="en-US" sz="1550" dirty="0">
                <a:solidFill>
                  <a:srgbClr val="222B36"/>
                </a:solidFill>
                <a:latin typeface="Calibri" pitchFamily="34" charset="0"/>
                <a:ea typeface="Calibri" pitchFamily="34" charset="-122"/>
                <a:cs typeface="Calibri" pitchFamily="34" charset="-120"/>
              </a:rPr>
              <a:t>.</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The Maritime Continent stays the Walker cell's </a:t>
            </a:r>
            <a:r>
              <a:rPr lang="en-US" sz="1550" b="1" dirty="0">
                <a:solidFill>
                  <a:srgbClr val="222B36"/>
                </a:solidFill>
                <a:latin typeface="Calibri" pitchFamily="34" charset="0"/>
                <a:ea typeface="Calibri" pitchFamily="34" charset="-122"/>
                <a:cs typeface="Calibri" pitchFamily="34" charset="-120"/>
              </a:rPr>
              <a:t>rising branch</a:t>
            </a:r>
            <a:r>
              <a:rPr lang="en-US" sz="1550" dirty="0">
                <a:solidFill>
                  <a:srgbClr val="222B36"/>
                </a:solidFill>
                <a:latin typeface="Calibri" pitchFamily="34" charset="0"/>
                <a:ea typeface="Calibri" pitchFamily="34" charset="-122"/>
                <a:cs typeface="Calibri" pitchFamily="34" charset="-120"/>
              </a:rPr>
              <a:t>: El Niño </a:t>
            </a:r>
            <a:r>
              <a:rPr lang="en-US" sz="1550" b="1" dirty="0">
                <a:solidFill>
                  <a:srgbClr val="222B36"/>
                </a:solidFill>
                <a:latin typeface="Calibri" pitchFamily="34" charset="0"/>
                <a:ea typeface="Calibri" pitchFamily="34" charset="-122"/>
                <a:cs typeface="Calibri" pitchFamily="34" charset="-120"/>
              </a:rPr>
              <a:t>weakens</a:t>
            </a:r>
            <a:r>
              <a:rPr lang="en-US" sz="1550" dirty="0">
                <a:solidFill>
                  <a:srgbClr val="222B36"/>
                </a:solidFill>
                <a:latin typeface="Calibri" pitchFamily="34" charset="0"/>
                <a:ea typeface="Calibri" pitchFamily="34" charset="-122"/>
                <a:cs typeface="Calibri" pitchFamily="34" charset="-120"/>
              </a:rPr>
              <a:t> the circulation and La Niña </a:t>
            </a:r>
            <a:r>
              <a:rPr lang="en-US" sz="1550" b="1" dirty="0">
                <a:solidFill>
                  <a:srgbClr val="222B36"/>
                </a:solidFill>
                <a:latin typeface="Calibri" pitchFamily="34" charset="0"/>
                <a:ea typeface="Calibri" pitchFamily="34" charset="-122"/>
                <a:cs typeface="Calibri" pitchFamily="34" charset="-120"/>
              </a:rPr>
              <a:t>strengthens</a:t>
            </a:r>
            <a:r>
              <a:rPr lang="en-US" sz="1550" dirty="0">
                <a:solidFill>
                  <a:srgbClr val="222B36"/>
                </a:solidFill>
                <a:latin typeface="Calibri" pitchFamily="34" charset="0"/>
                <a:ea typeface="Calibri" pitchFamily="34" charset="-122"/>
                <a:cs typeface="Calibri" pitchFamily="34" charset="-120"/>
              </a:rPr>
              <a:t> it.</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During El Niño, convection and high cloud </a:t>
            </a:r>
            <a:r>
              <a:rPr lang="en-US" sz="1550" b="1" dirty="0">
                <a:solidFill>
                  <a:srgbClr val="222B36"/>
                </a:solidFill>
                <a:latin typeface="Calibri" pitchFamily="34" charset="0"/>
                <a:ea typeface="Calibri" pitchFamily="34" charset="-122"/>
                <a:cs typeface="Calibri" pitchFamily="34" charset="-120"/>
              </a:rPr>
              <a:t>shift towards the central Pacific</a:t>
            </a:r>
            <a:r>
              <a:rPr lang="en-US" sz="1550" dirty="0">
                <a:solidFill>
                  <a:srgbClr val="222B36"/>
                </a:solidFill>
                <a:latin typeface="Calibri" pitchFamily="34" charset="0"/>
                <a:ea typeface="Calibri" pitchFamily="34" charset="-122"/>
                <a:cs typeface="Calibri" pitchFamily="34" charset="-120"/>
              </a:rPr>
              <a:t>, and are suppressed over the Maritime Continent.</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Any extra cloud further east near South America is usually </a:t>
            </a:r>
            <a:r>
              <a:rPr lang="en-US" sz="1550" b="1" dirty="0">
                <a:solidFill>
                  <a:srgbClr val="222B36"/>
                </a:solidFill>
                <a:latin typeface="Calibri" pitchFamily="34" charset="0"/>
                <a:ea typeface="Calibri" pitchFamily="34" charset="-122"/>
                <a:cs typeface="Calibri" pitchFamily="34" charset="-120"/>
              </a:rPr>
              <a:t>thin</a:t>
            </a:r>
            <a:r>
              <a:rPr lang="en-US" sz="1550" dirty="0">
                <a:solidFill>
                  <a:srgbClr val="222B36"/>
                </a:solidFill>
                <a:latin typeface="Calibri" pitchFamily="34" charset="0"/>
                <a:ea typeface="Calibri" pitchFamily="34" charset="-122"/>
                <a:cs typeface="Calibri" pitchFamily="34" charset="-120"/>
              </a:rPr>
              <a:t>, not a new deep-convection centre.</a:t>
            </a:r>
            <a:endParaRPr lang="en-US" sz="1550" dirty="0"/>
          </a:p>
          <a:p>
            <a:pPr marL="342900" indent="-342900">
              <a:spcAft>
                <a:spcPts val="700"/>
              </a:spcAft>
              <a:buSzPct val="100000"/>
              <a:buChar char="■"/>
            </a:pPr>
            <a:r>
              <a:rPr lang="en-US" sz="1550" b="1" dirty="0">
                <a:solidFill>
                  <a:srgbClr val="222B36"/>
                </a:solidFill>
                <a:latin typeface="Calibri" pitchFamily="34" charset="0"/>
                <a:ea typeface="Calibri" pitchFamily="34" charset="-122"/>
                <a:cs typeface="Calibri" pitchFamily="34" charset="-120"/>
              </a:rPr>
              <a:t>Low cloud</a:t>
            </a:r>
            <a:r>
              <a:rPr lang="en-US" sz="1550" dirty="0">
                <a:solidFill>
                  <a:srgbClr val="222B36"/>
                </a:solidFill>
                <a:latin typeface="Calibri" pitchFamily="34" charset="0"/>
                <a:ea typeface="Calibri" pitchFamily="34" charset="-122"/>
                <a:cs typeface="Calibri" pitchFamily="34" charset="-120"/>
              </a:rPr>
              <a:t> can respond through different physics (stability, subsidence). Keep an open mind.</a:t>
            </a:r>
            <a:endParaRPr lang="en-US" sz="1550" dirty="0"/>
          </a:p>
        </p:txBody>
      </p:sp>
      <p:pic>
        <p:nvPicPr>
          <p:cNvPr id="6" name="img_108" descr="/home/claude/work/build/figs/t1_walker.png">    </p:cNvPr>
          <p:cNvPicPr>
            <a:picLocks noChangeAspect="1"/>
          </p:cNvPicPr>
          <p:nvPr/>
        </p:nvPicPr>
        <p:blipFill>
          <a:blip r:embed="rId1"/>
          <a:stretch>
            <a:fillRect/>
          </a:stretch>
        </p:blipFill>
        <p:spPr>
          <a:xfrm>
            <a:off x="6400800" y="1280160"/>
            <a:ext cx="5242255" cy="3747707"/>
          </a:xfrm>
          <a:prstGeom prst="rect">
            <a:avLst/>
          </a:prstGeom>
        </p:spPr>
      </p:pic>
      <p:sp>
        <p:nvSpPr>
          <p:cNvPr id="7" name="text_109"/>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Schematic: course team (corrected Walker-circulation version).</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10"/>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By December you'll be able to explain this map</a:t>
            </a:r>
            <a:endParaRPr lang="en-US" sz="2800" dirty="0"/>
          </a:p>
        </p:txBody>
      </p:sp>
      <p:pic>
        <p:nvPicPr>
          <p:cNvPr id="3" name="img_111" descr="/home/claude/work/build/figs/real_composite_map.png">    </p:cNvPr>
          <p:cNvPicPr>
            <a:picLocks noChangeAspect="1"/>
          </p:cNvPicPr>
          <p:nvPr/>
        </p:nvPicPr>
        <p:blipFill>
          <a:blip r:embed="rId1"/>
          <a:stretch>
            <a:fillRect/>
          </a:stretch>
        </p:blipFill>
        <p:spPr>
          <a:xfrm>
            <a:off x="1064357" y="1234440"/>
            <a:ext cx="10060238" cy="3749040"/>
          </a:xfrm>
          <a:prstGeom prst="rect">
            <a:avLst/>
          </a:prstGeom>
        </p:spPr>
      </p:pic>
      <p:sp>
        <p:nvSpPr>
          <p:cNvPr id="4" name="mwbul_112"/>
          <p:cNvSpPr txBox="1"/>
          <p:nvPr/>
        </p:nvSpPr>
        <p:spPr>
          <a:xfrm>
            <a:off x="548640" y="5120640"/>
            <a:ext cx="11091672" cy="1234440"/>
          </a:xfrm>
          <a:prstGeom prst="rect">
            <a:avLst/>
          </a:prstGeom>
          <a:noFill/>
          <a:ln/>
        </p:spPr>
        <p:txBody>
          <a:bodyPr wrap="square" lIns="635" tIns="635" rIns="635" bIns="635" rtlCol="0" anchor="t"/>
          <a:lstStyle/>
          <a:p>
            <a:pPr marL="342900" indent="-342900">
              <a:spcAft>
                <a:spcPts val="400"/>
              </a:spcAft>
              <a:buSzPct val="100000"/>
              <a:buChar char="■"/>
            </a:pPr>
            <a:r>
              <a:rPr lang="en-US" sz="1500" dirty="0">
                <a:solidFill>
                  <a:srgbClr val="222B36"/>
                </a:solidFill>
                <a:latin typeface="Calibri" pitchFamily="34" charset="0"/>
                <a:ea typeface="Calibri" pitchFamily="34" charset="-122"/>
                <a:cs typeface="Calibri" pitchFamily="34" charset="-120"/>
              </a:rPr>
              <a:t>Total cloud in El Niño months minus La Niña months, from </a:t>
            </a:r>
            <a:r>
              <a:rPr lang="en-US" sz="1500" b="1" dirty="0">
                <a:solidFill>
                  <a:srgbClr val="222B36"/>
                </a:solidFill>
                <a:latin typeface="Calibri" pitchFamily="34" charset="0"/>
                <a:ea typeface="Calibri" pitchFamily="34" charset="-122"/>
                <a:cs typeface="Calibri" pitchFamily="34" charset="-120"/>
              </a:rPr>
              <a:t>the same ERA5 data you'll use</a:t>
            </a:r>
            <a:r>
              <a:rPr lang="en-US" sz="1500" dirty="0">
                <a:solidFill>
                  <a:srgbClr val="222B36"/>
                </a:solidFill>
                <a:latin typeface="Calibri" pitchFamily="34" charset="0"/>
                <a:ea typeface="Calibri" pitchFamily="34" charset="-122"/>
                <a:cs typeface="Calibri" pitchFamily="34" charset="-120"/>
              </a:rPr>
              <a:t>. Red = cloudier during El Niño; blue = cloudier during La Niña.</a:t>
            </a:r>
            <a:endParaRPr lang="en-US" sz="1500" dirty="0"/>
          </a:p>
          <a:p>
            <a:pPr marL="342900" indent="-342900">
              <a:spcAft>
                <a:spcPts val="400"/>
              </a:spcAft>
              <a:buSzPct val="100000"/>
              <a:buChar char="■"/>
            </a:pPr>
            <a:r>
              <a:rPr lang="en-US" sz="1500" dirty="0">
                <a:solidFill>
                  <a:srgbClr val="222B36"/>
                </a:solidFill>
                <a:latin typeface="Calibri" pitchFamily="34" charset="0"/>
                <a:ea typeface="Calibri" pitchFamily="34" charset="-122"/>
                <a:cs typeface="Calibri" pitchFamily="34" charset="-120"/>
              </a:rPr>
              <a:t>The numbered boxes are the notebook's regions. Your report will explain </a:t>
            </a:r>
            <a:r>
              <a:rPr lang="en-US" sz="1500" b="1" dirty="0">
                <a:solidFill>
                  <a:srgbClr val="222B36"/>
                </a:solidFill>
                <a:latin typeface="Calibri" pitchFamily="34" charset="0"/>
                <a:ea typeface="Calibri" pitchFamily="34" charset="-122"/>
                <a:cs typeface="Calibri" pitchFamily="34" charset="-120"/>
              </a:rPr>
              <a:t>one</a:t>
            </a:r>
            <a:r>
              <a:rPr lang="en-US" sz="1500" dirty="0">
                <a:solidFill>
                  <a:srgbClr val="222B36"/>
                </a:solidFill>
                <a:latin typeface="Calibri" pitchFamily="34" charset="0"/>
                <a:ea typeface="Calibri" pitchFamily="34" charset="-122"/>
                <a:cs typeface="Calibri" pitchFamily="34" charset="-120"/>
              </a:rPr>
              <a:t> part of a map like this, in depth.</a:t>
            </a:r>
            <a:endParaRPr lang="en-US" sz="15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_113"/>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 tour of the notebook</a:t>
            </a:r>
            <a:endParaRPr lang="en-US" sz="2800" dirty="0"/>
          </a:p>
        </p:txBody>
      </p:sp>
      <p:sp>
        <p:nvSpPr>
          <p:cNvPr id="3" name="row_114"/>
          <p:cNvSpPr/>
          <p:nvPr/>
        </p:nvSpPr>
        <p:spPr>
          <a:xfrm>
            <a:off x="548640" y="1325880"/>
            <a:ext cx="6309360" cy="493776"/>
          </a:xfrm>
          <a:prstGeom prst="rect">
            <a:avLst/>
          </a:prstGeom>
          <a:solidFill>
            <a:srgbClr val="F7F4EE"/>
          </a:solidFill>
          <a:ln w="12700">
            <a:solidFill>
              <a:srgbClr val="F7F4EE"/>
            </a:solidFill>
            <a:prstDash val="solid"/>
          </a:ln>
        </p:spPr>
      </p:sp>
      <p:sp>
        <p:nvSpPr>
          <p:cNvPr id="4" name="text_115"/>
          <p:cNvSpPr txBox="1"/>
          <p:nvPr/>
        </p:nvSpPr>
        <p:spPr>
          <a:xfrm>
            <a:off x="640080" y="132588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0 · 0b</a:t>
            </a:r>
            <a:endParaRPr lang="en-US" sz="1350" dirty="0"/>
          </a:p>
        </p:txBody>
      </p:sp>
      <p:sp>
        <p:nvSpPr>
          <p:cNvPr id="5" name="text_116"/>
          <p:cNvSpPr txBox="1"/>
          <p:nvPr/>
        </p:nvSpPr>
        <p:spPr>
          <a:xfrm>
            <a:off x="1645920" y="132588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Setup and load the data (run once)</a:t>
            </a:r>
            <a:endParaRPr lang="en-US" sz="1300" dirty="0"/>
          </a:p>
        </p:txBody>
      </p:sp>
      <p:sp>
        <p:nvSpPr>
          <p:cNvPr id="6" name="tg_117"/>
          <p:cNvSpPr/>
          <p:nvPr/>
        </p:nvSpPr>
        <p:spPr>
          <a:xfrm>
            <a:off x="5257800" y="1435608"/>
            <a:ext cx="1508760" cy="274320"/>
          </a:xfrm>
          <a:prstGeom prst="roundRect">
            <a:avLst>
              <a:gd name="adj" fmla="val 16667"/>
            </a:avLst>
          </a:prstGeom>
          <a:solidFill>
            <a:srgbClr val="1B2A41"/>
          </a:solidFill>
          <a:ln w="12700">
            <a:solidFill>
              <a:srgbClr val="1B2A41"/>
            </a:solidFill>
            <a:prstDash val="solid"/>
          </a:ln>
        </p:spPr>
      </p:sp>
      <p:sp>
        <p:nvSpPr>
          <p:cNvPr id="7" name="text_118"/>
          <p:cNvSpPr txBox="1"/>
          <p:nvPr/>
        </p:nvSpPr>
        <p:spPr>
          <a:xfrm>
            <a:off x="5257800" y="143560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CORE</a:t>
            </a:r>
            <a:endParaRPr lang="en-US" sz="950" dirty="0"/>
          </a:p>
        </p:txBody>
      </p:sp>
      <p:sp>
        <p:nvSpPr>
          <p:cNvPr id="8" name="row_119"/>
          <p:cNvSpPr/>
          <p:nvPr/>
        </p:nvSpPr>
        <p:spPr>
          <a:xfrm>
            <a:off x="548640" y="1874520"/>
            <a:ext cx="6309360" cy="493776"/>
          </a:xfrm>
          <a:prstGeom prst="rect">
            <a:avLst/>
          </a:prstGeom>
          <a:solidFill>
            <a:srgbClr val="FFFFFF"/>
          </a:solidFill>
          <a:ln w="12700">
            <a:solidFill>
              <a:srgbClr val="F7F4EE"/>
            </a:solidFill>
            <a:prstDash val="solid"/>
          </a:ln>
        </p:spPr>
      </p:sp>
      <p:sp>
        <p:nvSpPr>
          <p:cNvPr id="9" name="text_120"/>
          <p:cNvSpPr txBox="1"/>
          <p:nvPr/>
        </p:nvSpPr>
        <p:spPr>
          <a:xfrm>
            <a:off x="640080" y="187452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1</a:t>
            </a:r>
            <a:endParaRPr lang="en-US" sz="1350" dirty="0"/>
          </a:p>
        </p:txBody>
      </p:sp>
      <p:sp>
        <p:nvSpPr>
          <p:cNvPr id="10" name="text_121"/>
          <p:cNvSpPr txBox="1"/>
          <p:nvPr/>
        </p:nvSpPr>
        <p:spPr>
          <a:xfrm>
            <a:off x="1645920" y="187452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The global seasonal cycle</a:t>
            </a:r>
            <a:endParaRPr lang="en-US" sz="1300" dirty="0"/>
          </a:p>
        </p:txBody>
      </p:sp>
      <p:sp>
        <p:nvSpPr>
          <p:cNvPr id="11" name="tg_122"/>
          <p:cNvSpPr/>
          <p:nvPr/>
        </p:nvSpPr>
        <p:spPr>
          <a:xfrm>
            <a:off x="5257800" y="1984248"/>
            <a:ext cx="1508760" cy="274320"/>
          </a:xfrm>
          <a:prstGeom prst="roundRect">
            <a:avLst>
              <a:gd name="adj" fmla="val 16667"/>
            </a:avLst>
          </a:prstGeom>
          <a:solidFill>
            <a:srgbClr val="1B2A41"/>
          </a:solidFill>
          <a:ln w="12700">
            <a:solidFill>
              <a:srgbClr val="1B2A41"/>
            </a:solidFill>
            <a:prstDash val="solid"/>
          </a:ln>
        </p:spPr>
      </p:sp>
      <p:sp>
        <p:nvSpPr>
          <p:cNvPr id="12" name="text_123"/>
          <p:cNvSpPr txBox="1"/>
          <p:nvPr/>
        </p:nvSpPr>
        <p:spPr>
          <a:xfrm>
            <a:off x="5257800" y="198424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CORE</a:t>
            </a:r>
            <a:endParaRPr lang="en-US" sz="950" dirty="0"/>
          </a:p>
        </p:txBody>
      </p:sp>
      <p:sp>
        <p:nvSpPr>
          <p:cNvPr id="13" name="row_124"/>
          <p:cNvSpPr/>
          <p:nvPr/>
        </p:nvSpPr>
        <p:spPr>
          <a:xfrm>
            <a:off x="548640" y="2423160"/>
            <a:ext cx="6309360" cy="493776"/>
          </a:xfrm>
          <a:prstGeom prst="rect">
            <a:avLst/>
          </a:prstGeom>
          <a:solidFill>
            <a:srgbClr val="F7F4EE"/>
          </a:solidFill>
          <a:ln w="12700">
            <a:solidFill>
              <a:srgbClr val="F7F4EE"/>
            </a:solidFill>
            <a:prstDash val="solid"/>
          </a:ln>
        </p:spPr>
      </p:sp>
      <p:sp>
        <p:nvSpPr>
          <p:cNvPr id="14" name="text_125"/>
          <p:cNvSpPr txBox="1"/>
          <p:nvPr/>
        </p:nvSpPr>
        <p:spPr>
          <a:xfrm>
            <a:off x="640080" y="242316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2</a:t>
            </a:r>
            <a:endParaRPr lang="en-US" sz="1350" dirty="0"/>
          </a:p>
        </p:txBody>
      </p:sp>
      <p:sp>
        <p:nvSpPr>
          <p:cNvPr id="15" name="text_126"/>
          <p:cNvSpPr txBox="1"/>
          <p:nvPr/>
        </p:nvSpPr>
        <p:spPr>
          <a:xfrm>
            <a:off x="1645920" y="242316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Global ENSO maps: composite and correlation</a:t>
            </a:r>
            <a:endParaRPr lang="en-US" sz="1300" dirty="0"/>
          </a:p>
        </p:txBody>
      </p:sp>
      <p:sp>
        <p:nvSpPr>
          <p:cNvPr id="16" name="tg_127"/>
          <p:cNvSpPr/>
          <p:nvPr/>
        </p:nvSpPr>
        <p:spPr>
          <a:xfrm>
            <a:off x="5257800" y="2532888"/>
            <a:ext cx="1508760" cy="274320"/>
          </a:xfrm>
          <a:prstGeom prst="roundRect">
            <a:avLst>
              <a:gd name="adj" fmla="val 16667"/>
            </a:avLst>
          </a:prstGeom>
          <a:solidFill>
            <a:srgbClr val="1B2A41"/>
          </a:solidFill>
          <a:ln w="12700">
            <a:solidFill>
              <a:srgbClr val="1B2A41"/>
            </a:solidFill>
            <a:prstDash val="solid"/>
          </a:ln>
        </p:spPr>
      </p:sp>
      <p:sp>
        <p:nvSpPr>
          <p:cNvPr id="17" name="text_128"/>
          <p:cNvSpPr txBox="1"/>
          <p:nvPr/>
        </p:nvSpPr>
        <p:spPr>
          <a:xfrm>
            <a:off x="5257800" y="253288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CORE</a:t>
            </a:r>
            <a:endParaRPr lang="en-US" sz="950" dirty="0"/>
          </a:p>
        </p:txBody>
      </p:sp>
      <p:sp>
        <p:nvSpPr>
          <p:cNvPr id="18" name="row_129"/>
          <p:cNvSpPr/>
          <p:nvPr/>
        </p:nvSpPr>
        <p:spPr>
          <a:xfrm>
            <a:off x="548640" y="2971800"/>
            <a:ext cx="6309360" cy="493776"/>
          </a:xfrm>
          <a:prstGeom prst="rect">
            <a:avLst/>
          </a:prstGeom>
          <a:solidFill>
            <a:srgbClr val="FFFFFF"/>
          </a:solidFill>
          <a:ln w="12700">
            <a:solidFill>
              <a:srgbClr val="F7F4EE"/>
            </a:solidFill>
            <a:prstDash val="solid"/>
          </a:ln>
        </p:spPr>
      </p:sp>
      <p:sp>
        <p:nvSpPr>
          <p:cNvPr id="19" name="text_130"/>
          <p:cNvSpPr txBox="1"/>
          <p:nvPr/>
        </p:nvSpPr>
        <p:spPr>
          <a:xfrm>
            <a:off x="640080" y="297180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3 (+3b)</a:t>
            </a:r>
            <a:endParaRPr lang="en-US" sz="1350" dirty="0"/>
          </a:p>
        </p:txBody>
      </p:sp>
      <p:sp>
        <p:nvSpPr>
          <p:cNvPr id="20" name="text_131"/>
          <p:cNvSpPr txBox="1"/>
          <p:nvPr/>
        </p:nvSpPr>
        <p:spPr>
          <a:xfrm>
            <a:off x="1645920" y="297180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Global-mean anomalies (+ year-to-year tests)</a:t>
            </a:r>
            <a:endParaRPr lang="en-US" sz="1300" dirty="0"/>
          </a:p>
        </p:txBody>
      </p:sp>
      <p:sp>
        <p:nvSpPr>
          <p:cNvPr id="21" name="tg_132"/>
          <p:cNvSpPr/>
          <p:nvPr/>
        </p:nvSpPr>
        <p:spPr>
          <a:xfrm>
            <a:off x="5257800" y="3081528"/>
            <a:ext cx="1508760" cy="274320"/>
          </a:xfrm>
          <a:prstGeom prst="roundRect">
            <a:avLst>
              <a:gd name="adj" fmla="val 16667"/>
            </a:avLst>
          </a:prstGeom>
          <a:solidFill>
            <a:srgbClr val="1B2A41"/>
          </a:solidFill>
          <a:ln w="12700">
            <a:solidFill>
              <a:srgbClr val="1B2A41"/>
            </a:solidFill>
            <a:prstDash val="solid"/>
          </a:ln>
        </p:spPr>
      </p:sp>
      <p:sp>
        <p:nvSpPr>
          <p:cNvPr id="22" name="text_133"/>
          <p:cNvSpPr txBox="1"/>
          <p:nvPr/>
        </p:nvSpPr>
        <p:spPr>
          <a:xfrm>
            <a:off x="5257800" y="308152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CORE (3b optional)</a:t>
            </a:r>
            <a:endParaRPr lang="en-US" sz="950" dirty="0"/>
          </a:p>
        </p:txBody>
      </p:sp>
      <p:sp>
        <p:nvSpPr>
          <p:cNvPr id="23" name="row_134"/>
          <p:cNvSpPr/>
          <p:nvPr/>
        </p:nvSpPr>
        <p:spPr>
          <a:xfrm>
            <a:off x="548640" y="3520440"/>
            <a:ext cx="6309360" cy="493776"/>
          </a:xfrm>
          <a:prstGeom prst="rect">
            <a:avLst/>
          </a:prstGeom>
          <a:solidFill>
            <a:srgbClr val="F7F4EE"/>
          </a:solidFill>
          <a:ln w="12700">
            <a:solidFill>
              <a:srgbClr val="F7F4EE"/>
            </a:solidFill>
            <a:prstDash val="solid"/>
          </a:ln>
        </p:spPr>
      </p:sp>
      <p:sp>
        <p:nvSpPr>
          <p:cNvPr id="24" name="text_135"/>
          <p:cNvSpPr txBox="1"/>
          <p:nvPr/>
        </p:nvSpPr>
        <p:spPr>
          <a:xfrm>
            <a:off x="640080" y="352044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4</a:t>
            </a:r>
            <a:endParaRPr lang="en-US" sz="1350" dirty="0"/>
          </a:p>
        </p:txBody>
      </p:sp>
      <p:sp>
        <p:nvSpPr>
          <p:cNvPr id="25" name="text_136"/>
          <p:cNvSpPr txBox="1"/>
          <p:nvPr/>
        </p:nvSpPr>
        <p:spPr>
          <a:xfrm>
            <a:off x="1645920" y="352044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Regional analysis: 12 numbered regions</a:t>
            </a:r>
            <a:endParaRPr lang="en-US" sz="1300" dirty="0"/>
          </a:p>
        </p:txBody>
      </p:sp>
      <p:sp>
        <p:nvSpPr>
          <p:cNvPr id="26" name="tg_137"/>
          <p:cNvSpPr/>
          <p:nvPr/>
        </p:nvSpPr>
        <p:spPr>
          <a:xfrm>
            <a:off x="5257800" y="3630168"/>
            <a:ext cx="1508760" cy="274320"/>
          </a:xfrm>
          <a:prstGeom prst="roundRect">
            <a:avLst>
              <a:gd name="adj" fmla="val 16667"/>
            </a:avLst>
          </a:prstGeom>
          <a:solidFill>
            <a:srgbClr val="1F7A6E"/>
          </a:solidFill>
          <a:ln w="12700">
            <a:solidFill>
              <a:srgbClr val="1F7A6E"/>
            </a:solidFill>
            <a:prstDash val="solid"/>
          </a:ln>
        </p:spPr>
      </p:sp>
      <p:sp>
        <p:nvSpPr>
          <p:cNvPr id="27" name="text_138"/>
          <p:cNvSpPr txBox="1"/>
          <p:nvPr/>
        </p:nvSpPr>
        <p:spPr>
          <a:xfrm>
            <a:off x="5257800" y="363016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EXPLORE</a:t>
            </a:r>
            <a:endParaRPr lang="en-US" sz="950" dirty="0"/>
          </a:p>
        </p:txBody>
      </p:sp>
      <p:sp>
        <p:nvSpPr>
          <p:cNvPr id="28" name="row_139"/>
          <p:cNvSpPr/>
          <p:nvPr/>
        </p:nvSpPr>
        <p:spPr>
          <a:xfrm>
            <a:off x="548640" y="4069080"/>
            <a:ext cx="6309360" cy="493776"/>
          </a:xfrm>
          <a:prstGeom prst="rect">
            <a:avLst/>
          </a:prstGeom>
          <a:solidFill>
            <a:srgbClr val="FFFFFF"/>
          </a:solidFill>
          <a:ln w="12700">
            <a:solidFill>
              <a:srgbClr val="F7F4EE"/>
            </a:solidFill>
            <a:prstDash val="solid"/>
          </a:ln>
        </p:spPr>
      </p:sp>
      <p:sp>
        <p:nvSpPr>
          <p:cNvPr id="29" name="text_140"/>
          <p:cNvSpPr txBox="1"/>
          <p:nvPr/>
        </p:nvSpPr>
        <p:spPr>
          <a:xfrm>
            <a:off x="640080" y="406908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5</a:t>
            </a:r>
            <a:endParaRPr lang="en-US" sz="1350" dirty="0"/>
          </a:p>
        </p:txBody>
      </p:sp>
      <p:sp>
        <p:nvSpPr>
          <p:cNvPr id="30" name="text_141"/>
          <p:cNvSpPr txBox="1"/>
          <p:nvPr/>
        </p:nvSpPr>
        <p:spPr>
          <a:xfrm>
            <a:off x="1645920" y="406908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ONI vs regional anomaly: correlation and regression</a:t>
            </a:r>
            <a:endParaRPr lang="en-US" sz="1300" dirty="0"/>
          </a:p>
        </p:txBody>
      </p:sp>
      <p:sp>
        <p:nvSpPr>
          <p:cNvPr id="31" name="tg_142"/>
          <p:cNvSpPr/>
          <p:nvPr/>
        </p:nvSpPr>
        <p:spPr>
          <a:xfrm>
            <a:off x="5257800" y="4178808"/>
            <a:ext cx="1508760" cy="274320"/>
          </a:xfrm>
          <a:prstGeom prst="roundRect">
            <a:avLst>
              <a:gd name="adj" fmla="val 16667"/>
            </a:avLst>
          </a:prstGeom>
          <a:solidFill>
            <a:srgbClr val="1F7A6E"/>
          </a:solidFill>
          <a:ln w="12700">
            <a:solidFill>
              <a:srgbClr val="1F7A6E"/>
            </a:solidFill>
            <a:prstDash val="solid"/>
          </a:ln>
        </p:spPr>
      </p:sp>
      <p:sp>
        <p:nvSpPr>
          <p:cNvPr id="32" name="text_143"/>
          <p:cNvSpPr txBox="1"/>
          <p:nvPr/>
        </p:nvSpPr>
        <p:spPr>
          <a:xfrm>
            <a:off x="5257800" y="417880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EXPLORE</a:t>
            </a:r>
            <a:endParaRPr lang="en-US" sz="950" dirty="0"/>
          </a:p>
        </p:txBody>
      </p:sp>
      <p:sp>
        <p:nvSpPr>
          <p:cNvPr id="33" name="row_144"/>
          <p:cNvSpPr/>
          <p:nvPr/>
        </p:nvSpPr>
        <p:spPr>
          <a:xfrm>
            <a:off x="548640" y="4617720"/>
            <a:ext cx="6309360" cy="493776"/>
          </a:xfrm>
          <a:prstGeom prst="rect">
            <a:avLst/>
          </a:prstGeom>
          <a:solidFill>
            <a:srgbClr val="F7F4EE"/>
          </a:solidFill>
          <a:ln w="12700">
            <a:solidFill>
              <a:srgbClr val="F7F4EE"/>
            </a:solidFill>
            <a:prstDash val="solid"/>
          </a:ln>
        </p:spPr>
      </p:sp>
      <p:sp>
        <p:nvSpPr>
          <p:cNvPr id="34" name="text_145"/>
          <p:cNvSpPr txBox="1"/>
          <p:nvPr/>
        </p:nvSpPr>
        <p:spPr>
          <a:xfrm>
            <a:off x="640080" y="461772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6</a:t>
            </a:r>
            <a:endParaRPr lang="en-US" sz="1350" dirty="0"/>
          </a:p>
        </p:txBody>
      </p:sp>
      <p:sp>
        <p:nvSpPr>
          <p:cNvPr id="35" name="text_146"/>
          <p:cNvSpPr txBox="1"/>
          <p:nvPr/>
        </p:nvSpPr>
        <p:spPr>
          <a:xfrm>
            <a:off x="1645920" y="461772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Autocorrelation and lag</a:t>
            </a:r>
            <a:endParaRPr lang="en-US" sz="1300" dirty="0"/>
          </a:p>
        </p:txBody>
      </p:sp>
      <p:sp>
        <p:nvSpPr>
          <p:cNvPr id="36" name="tg_147"/>
          <p:cNvSpPr/>
          <p:nvPr/>
        </p:nvSpPr>
        <p:spPr>
          <a:xfrm>
            <a:off x="5257800" y="4727448"/>
            <a:ext cx="1508760" cy="274320"/>
          </a:xfrm>
          <a:prstGeom prst="roundRect">
            <a:avLst>
              <a:gd name="adj" fmla="val 16667"/>
            </a:avLst>
          </a:prstGeom>
          <a:solidFill>
            <a:srgbClr val="D98E1F"/>
          </a:solidFill>
          <a:ln w="12700">
            <a:solidFill>
              <a:srgbClr val="D98E1F"/>
            </a:solidFill>
            <a:prstDash val="solid"/>
          </a:ln>
        </p:spPr>
      </p:sp>
      <p:sp>
        <p:nvSpPr>
          <p:cNvPr id="37" name="text_148"/>
          <p:cNvSpPr txBox="1"/>
          <p:nvPr/>
        </p:nvSpPr>
        <p:spPr>
          <a:xfrm>
            <a:off x="5257800" y="4727448"/>
            <a:ext cx="1508760"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OPTIONAL</a:t>
            </a:r>
            <a:endParaRPr lang="en-US" sz="950" dirty="0"/>
          </a:p>
        </p:txBody>
      </p:sp>
      <p:sp>
        <p:nvSpPr>
          <p:cNvPr id="38" name="row_149"/>
          <p:cNvSpPr/>
          <p:nvPr/>
        </p:nvSpPr>
        <p:spPr>
          <a:xfrm>
            <a:off x="548640" y="5166360"/>
            <a:ext cx="6309360" cy="493776"/>
          </a:xfrm>
          <a:prstGeom prst="rect">
            <a:avLst/>
          </a:prstGeom>
          <a:solidFill>
            <a:srgbClr val="FFFFFF"/>
          </a:solidFill>
          <a:ln w="12700">
            <a:solidFill>
              <a:srgbClr val="F7F4EE"/>
            </a:solidFill>
            <a:prstDash val="solid"/>
          </a:ln>
        </p:spPr>
      </p:sp>
      <p:sp>
        <p:nvSpPr>
          <p:cNvPr id="39" name="text_150"/>
          <p:cNvSpPr txBox="1"/>
          <p:nvPr/>
        </p:nvSpPr>
        <p:spPr>
          <a:xfrm>
            <a:off x="640080" y="5166360"/>
            <a:ext cx="1005840" cy="493776"/>
          </a:xfrm>
          <a:prstGeom prst="rect">
            <a:avLst/>
          </a:prstGeom>
          <a:noFill/>
          <a:ln/>
        </p:spPr>
        <p:txBody>
          <a:bodyPr wrap="square" lIns="635" tIns="635" rIns="635" bIns="635" rtlCol="0" anchor="ctr"/>
          <a:lstStyle/>
          <a:p>
            <a:pPr algn="l" indent="0" marL="0">
              <a:lnSpc>
                <a:spcPct val="100000"/>
              </a:lnSpc>
              <a:buNone/>
            </a:pPr>
            <a:r>
              <a:rPr lang="en-US" sz="1350" b="1" dirty="0">
                <a:solidFill>
                  <a:srgbClr val="1B2A41"/>
                </a:solidFill>
                <a:latin typeface="Calibri" pitchFamily="34" charset="0"/>
                <a:ea typeface="Calibri" pitchFamily="34" charset="-122"/>
                <a:cs typeface="Calibri" pitchFamily="34" charset="-120"/>
              </a:rPr>
              <a:t>STOP</a:t>
            </a:r>
            <a:endParaRPr lang="en-US" sz="1350" dirty="0"/>
          </a:p>
        </p:txBody>
      </p:sp>
      <p:sp>
        <p:nvSpPr>
          <p:cNvPr id="40" name="text_151"/>
          <p:cNvSpPr txBox="1"/>
          <p:nvPr/>
        </p:nvSpPr>
        <p:spPr>
          <a:xfrm>
            <a:off x="1645920" y="5166360"/>
            <a:ext cx="3566160" cy="493776"/>
          </a:xfrm>
          <a:prstGeom prst="rect">
            <a:avLst/>
          </a:prstGeom>
          <a:noFill/>
          <a:ln/>
        </p:spPr>
        <p:txBody>
          <a:bodyPr wrap="square" lIns="635" tIns="635" rIns="635" bIns="635" rtlCol="0" anchor="ctr"/>
          <a:lstStyle/>
          <a:p>
            <a:pPr algn="l" indent="0" marL="0">
              <a:lnSpc>
                <a:spcPct val="100000"/>
              </a:lnSpc>
              <a:buNone/>
            </a:pPr>
            <a:r>
              <a:rPr lang="en-US" sz="1300" dirty="0">
                <a:solidFill>
                  <a:srgbClr val="222B36"/>
                </a:solidFill>
                <a:latin typeface="Calibri" pitchFamily="34" charset="0"/>
                <a:ea typeface="Calibri" pitchFamily="34" charset="-122"/>
                <a:cs typeface="Calibri" pitchFamily="34" charset="-120"/>
              </a:rPr>
              <a:t>Choose your investigation (before more analysis)</a:t>
            </a:r>
            <a:endParaRPr lang="en-US" sz="1300" dirty="0"/>
          </a:p>
        </p:txBody>
      </p:sp>
      <p:pic>
        <p:nvPicPr>
          <p:cNvPr id="41" name="img_152" descr="/home/claude/work/build/figs/t1_notebook_load.png">    </p:cNvPr>
          <p:cNvPicPr>
            <a:picLocks noChangeAspect="1"/>
          </p:cNvPicPr>
          <p:nvPr/>
        </p:nvPicPr>
        <p:blipFill>
          <a:blip r:embed="rId1"/>
          <a:stretch>
            <a:fillRect/>
          </a:stretch>
        </p:blipFill>
        <p:spPr>
          <a:xfrm>
            <a:off x="7132320" y="1325880"/>
            <a:ext cx="4507992" cy="1161149"/>
          </a:xfrm>
          <a:prstGeom prst="rect">
            <a:avLst/>
          </a:prstGeom>
        </p:spPr>
      </p:pic>
      <p:sp>
        <p:nvSpPr>
          <p:cNvPr id="42" name="text_153"/>
          <p:cNvSpPr txBox="1"/>
          <p:nvPr/>
        </p:nvSpPr>
        <p:spPr>
          <a:xfrm>
            <a:off x="7132320" y="3200400"/>
            <a:ext cx="4507992" cy="274320"/>
          </a:xfrm>
          <a:prstGeom prst="rect">
            <a:avLst/>
          </a:prstGeom>
          <a:noFill/>
          <a:ln/>
        </p:spPr>
        <p:txBody>
          <a:bodyPr wrap="square" lIns="635" tIns="635" rIns="635" bIns="635" rtlCol="0" anchor="t"/>
          <a:lstStyle/>
          <a:p>
            <a:pPr algn="ctr" indent="0" marL="0">
              <a:lnSpc>
                <a:spcPct val="100000"/>
              </a:lnSpc>
              <a:buNone/>
            </a:pPr>
            <a:r>
              <a:rPr lang="en-US" sz="1150" i="1" dirty="0">
                <a:solidFill>
                  <a:srgbClr val="5B6573"/>
                </a:solidFill>
                <a:latin typeface="Calibri" pitchFamily="34" charset="0"/>
                <a:ea typeface="Calibri" pitchFamily="34" charset="-122"/>
                <a:cs typeface="Calibri" pitchFamily="34" charset="-120"/>
              </a:rPr>
              <a:t>What ‘0b. Load the data’ looks like when it works</a:t>
            </a:r>
            <a:endParaRPr lang="en-US" sz="1150" dirty="0"/>
          </a:p>
        </p:txBody>
      </p:sp>
      <p:sp>
        <p:nvSpPr>
          <p:cNvPr id="43" name="card_154"/>
          <p:cNvSpPr/>
          <p:nvPr/>
        </p:nvSpPr>
        <p:spPr>
          <a:xfrm>
            <a:off x="7132320" y="3657600"/>
            <a:ext cx="4507992" cy="2606040"/>
          </a:xfrm>
          <a:prstGeom prst="roundRect">
            <a:avLst>
              <a:gd name="adj" fmla="val 2807"/>
            </a:avLst>
          </a:prstGeom>
          <a:solidFill>
            <a:srgbClr val="FBEBD0"/>
          </a:solidFill>
          <a:ln w="9525">
            <a:solidFill>
              <a:srgbClr val="FBEBD0"/>
            </a:solidFill>
            <a:prstDash val="solid"/>
          </a:ln>
        </p:spPr>
      </p:sp>
      <p:sp>
        <p:nvSpPr>
          <p:cNvPr id="44" name="tag_155"/>
          <p:cNvSpPr/>
          <p:nvPr/>
        </p:nvSpPr>
        <p:spPr>
          <a:xfrm>
            <a:off x="7296912" y="3785616"/>
            <a:ext cx="1001268" cy="256032"/>
          </a:xfrm>
          <a:prstGeom prst="roundRect">
            <a:avLst>
              <a:gd name="adj" fmla="val 21429"/>
            </a:avLst>
          </a:prstGeom>
          <a:solidFill>
            <a:srgbClr val="D98E1F"/>
          </a:solidFill>
          <a:ln w="12700">
            <a:solidFill>
              <a:srgbClr val="D98E1F"/>
            </a:solidFill>
            <a:prstDash val="solid"/>
          </a:ln>
        </p:spPr>
      </p:sp>
      <p:sp>
        <p:nvSpPr>
          <p:cNvPr id="45" name="text_156"/>
          <p:cNvSpPr txBox="1"/>
          <p:nvPr/>
        </p:nvSpPr>
        <p:spPr>
          <a:xfrm>
            <a:off x="7296912" y="3785616"/>
            <a:ext cx="10012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THREE RULES</a:t>
            </a:r>
            <a:endParaRPr lang="en-US" sz="1050" dirty="0"/>
          </a:p>
        </p:txBody>
      </p:sp>
      <p:sp>
        <p:nvSpPr>
          <p:cNvPr id="46" name="cardbody_157"/>
          <p:cNvSpPr txBox="1"/>
          <p:nvPr/>
        </p:nvSpPr>
        <p:spPr>
          <a:xfrm>
            <a:off x="7296912" y="4133088"/>
            <a:ext cx="4178808" cy="2039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Run </a:t>
            </a:r>
            <a:r>
              <a:rPr lang="en-US" sz="1350" b="1" dirty="0">
                <a:solidFill>
                  <a:srgbClr val="222B36"/>
                </a:solidFill>
                <a:latin typeface="Calibri" pitchFamily="34" charset="0"/>
                <a:ea typeface="Calibri" pitchFamily="34" charset="-122"/>
                <a:cs typeface="Calibri" pitchFamily="34" charset="-120"/>
              </a:rPr>
              <a:t>from the top, in order</a:t>
            </a:r>
            <a:r>
              <a:rPr lang="en-US" sz="1350" dirty="0">
                <a:solidFill>
                  <a:srgbClr val="222B36"/>
                </a:solidFill>
                <a:latin typeface="Calibri" pitchFamily="34" charset="0"/>
                <a:ea typeface="Calibri" pitchFamily="34" charset="-122"/>
                <a:cs typeface="Calibri" pitchFamily="34" charset="-120"/>
              </a:rPr>
              <a:t>: later cells reuse data loaded in 0b.</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Binder sessions are </a:t>
            </a:r>
            <a:r>
              <a:rPr lang="en-US" sz="1350" b="1" dirty="0">
                <a:solidFill>
                  <a:srgbClr val="222B36"/>
                </a:solidFill>
                <a:latin typeface="Calibri" pitchFamily="34" charset="0"/>
                <a:ea typeface="Calibri" pitchFamily="34" charset="-122"/>
                <a:cs typeface="Calibri" pitchFamily="34" charset="-120"/>
              </a:rPr>
              <a:t>temporary</a:t>
            </a:r>
            <a:r>
              <a:rPr lang="en-US" sz="1350" dirty="0">
                <a:solidFill>
                  <a:srgbClr val="222B36"/>
                </a:solidFill>
                <a:latin typeface="Calibri" pitchFamily="34" charset="0"/>
                <a:ea typeface="Calibri" pitchFamily="34" charset="-122"/>
                <a:cs typeface="Calibri" pitchFamily="34" charset="-120"/>
              </a:rPr>
              <a:t>: download figures/, results/ and your notebook.</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To study another variable, change </a:t>
            </a:r>
            <a:r>
              <a:rPr lang="en-US" sz="1350" b="1" dirty="0">
                <a:solidFill>
                  <a:srgbClr val="222B36"/>
                </a:solidFill>
                <a:latin typeface="Calibri" pitchFamily="34" charset="0"/>
                <a:ea typeface="Calibri" pitchFamily="34" charset="-122"/>
                <a:cs typeface="Calibri" pitchFamily="34" charset="-120"/>
              </a:rPr>
              <a:t>one line</a:t>
            </a:r>
            <a:r>
              <a:rPr lang="en-US" sz="1350" dirty="0">
                <a:solidFill>
                  <a:srgbClr val="222B36"/>
                </a:solidFill>
                <a:latin typeface="Calibri" pitchFamily="34" charset="0"/>
                <a:ea typeface="Calibri" pitchFamily="34" charset="-122"/>
                <a:cs typeface="Calibri" pitchFamily="34" charset="-120"/>
              </a:rPr>
              <a:t>: VARIABLE = "lcc", "hcc", …</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_15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How your report will be marked</a:t>
            </a:r>
            <a:endParaRPr lang="en-US" sz="2800" dirty="0"/>
          </a:p>
        </p:txBody>
      </p:sp>
      <p:sp>
        <p:nvSpPr>
          <p:cNvPr id="3" name="band_159"/>
          <p:cNvSpPr/>
          <p:nvPr/>
        </p:nvSpPr>
        <p:spPr>
          <a:xfrm>
            <a:off x="548640" y="1325880"/>
            <a:ext cx="2011680" cy="804672"/>
          </a:xfrm>
          <a:prstGeom prst="roundRect">
            <a:avLst>
              <a:gd name="adj" fmla="val 6818"/>
            </a:avLst>
          </a:prstGeom>
          <a:solidFill>
            <a:srgbClr val="9AA5B1"/>
          </a:solidFill>
          <a:ln w="12700">
            <a:solidFill>
              <a:srgbClr val="9AA5B1"/>
            </a:solidFill>
            <a:prstDash val="solid"/>
          </a:ln>
        </p:spPr>
      </p:sp>
      <p:sp>
        <p:nvSpPr>
          <p:cNvPr id="4" name="text_160"/>
          <p:cNvSpPr txBox="1"/>
          <p:nvPr/>
        </p:nvSpPr>
        <p:spPr>
          <a:xfrm>
            <a:off x="548640" y="1399032"/>
            <a:ext cx="2011680" cy="384048"/>
          </a:xfrm>
          <a:prstGeom prst="rect">
            <a:avLst/>
          </a:prstGeom>
          <a:noFill/>
          <a:ln/>
        </p:spPr>
        <p:txBody>
          <a:bodyPr wrap="square" lIns="635" tIns="635" rIns="635" bIns="635"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40–49%</a:t>
            </a:r>
            <a:endParaRPr lang="en-US" sz="1800" dirty="0"/>
          </a:p>
        </p:txBody>
      </p:sp>
      <p:sp>
        <p:nvSpPr>
          <p:cNvPr id="5" name="text_161"/>
          <p:cNvSpPr txBox="1"/>
          <p:nvPr/>
        </p:nvSpPr>
        <p:spPr>
          <a:xfrm>
            <a:off x="548640" y="1764792"/>
            <a:ext cx="2011680" cy="320040"/>
          </a:xfrm>
          <a:prstGeom prst="rect">
            <a:avLst/>
          </a:prstGeom>
          <a:noFill/>
          <a:ln/>
        </p:spPr>
        <p:txBody>
          <a:bodyPr wrap="square" lIns="635" tIns="635" rIns="635" bIns="635" rtlCol="0" anchor="t"/>
          <a:lstStyle/>
          <a:p>
            <a:pPr algn="ctr" indent="0" marL="0">
              <a:lnSpc>
                <a:spcPct val="100000"/>
              </a:lnSpc>
              <a:buNone/>
            </a:pPr>
            <a:r>
              <a:rPr lang="en-US" sz="1250" dirty="0">
                <a:solidFill>
                  <a:srgbClr val="FFFFFF"/>
                </a:solidFill>
                <a:latin typeface="Calibri" pitchFamily="34" charset="0"/>
                <a:ea typeface="Calibri" pitchFamily="34" charset="-122"/>
                <a:cs typeface="Calibri" pitchFamily="34" charset="-120"/>
              </a:rPr>
              <a:t>Pass</a:t>
            </a:r>
            <a:endParaRPr lang="en-US" sz="1250" dirty="0"/>
          </a:p>
        </p:txBody>
      </p:sp>
      <p:sp>
        <p:nvSpPr>
          <p:cNvPr id="6" name="text_162"/>
          <p:cNvSpPr txBox="1"/>
          <p:nvPr/>
        </p:nvSpPr>
        <p:spPr>
          <a:xfrm>
            <a:off x="2743200" y="1325880"/>
            <a:ext cx="8869680" cy="804672"/>
          </a:xfrm>
          <a:prstGeom prst="rect">
            <a:avLst/>
          </a:prstGeom>
          <a:noFill/>
          <a:ln/>
        </p:spPr>
        <p:txBody>
          <a:bodyPr wrap="square" lIns="635" tIns="635" rIns="635" bIns="635" rtlCol="0" anchor="ctr"/>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Question present but vague; figures not well chosen; reads like a notebook summary rather than an argument.</a:t>
            </a:r>
            <a:endParaRPr lang="en-US" sz="1450" dirty="0"/>
          </a:p>
        </p:txBody>
      </p:sp>
      <p:sp>
        <p:nvSpPr>
          <p:cNvPr id="7" name="band_163"/>
          <p:cNvSpPr/>
          <p:nvPr/>
        </p:nvSpPr>
        <p:spPr>
          <a:xfrm>
            <a:off x="548640" y="2221992"/>
            <a:ext cx="2011680" cy="804672"/>
          </a:xfrm>
          <a:prstGeom prst="roundRect">
            <a:avLst>
              <a:gd name="adj" fmla="val 6818"/>
            </a:avLst>
          </a:prstGeom>
          <a:solidFill>
            <a:srgbClr val="6C8EAD"/>
          </a:solidFill>
          <a:ln w="12700">
            <a:solidFill>
              <a:srgbClr val="6C8EAD"/>
            </a:solidFill>
            <a:prstDash val="solid"/>
          </a:ln>
        </p:spPr>
      </p:sp>
      <p:sp>
        <p:nvSpPr>
          <p:cNvPr id="8" name="text_164"/>
          <p:cNvSpPr txBox="1"/>
          <p:nvPr/>
        </p:nvSpPr>
        <p:spPr>
          <a:xfrm>
            <a:off x="548640" y="2295144"/>
            <a:ext cx="2011680" cy="384048"/>
          </a:xfrm>
          <a:prstGeom prst="rect">
            <a:avLst/>
          </a:prstGeom>
          <a:noFill/>
          <a:ln/>
        </p:spPr>
        <p:txBody>
          <a:bodyPr wrap="square" lIns="635" tIns="635" rIns="635" bIns="635"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50–59%</a:t>
            </a:r>
            <a:endParaRPr lang="en-US" sz="1800" dirty="0"/>
          </a:p>
        </p:txBody>
      </p:sp>
      <p:sp>
        <p:nvSpPr>
          <p:cNvPr id="9" name="text_165"/>
          <p:cNvSpPr txBox="1"/>
          <p:nvPr/>
        </p:nvSpPr>
        <p:spPr>
          <a:xfrm>
            <a:off x="548640" y="2660904"/>
            <a:ext cx="2011680" cy="320040"/>
          </a:xfrm>
          <a:prstGeom prst="rect">
            <a:avLst/>
          </a:prstGeom>
          <a:noFill/>
          <a:ln/>
        </p:spPr>
        <p:txBody>
          <a:bodyPr wrap="square" lIns="635" tIns="635" rIns="635" bIns="635" rtlCol="0" anchor="t"/>
          <a:lstStyle/>
          <a:p>
            <a:pPr algn="ctr" indent="0" marL="0">
              <a:lnSpc>
                <a:spcPct val="100000"/>
              </a:lnSpc>
              <a:buNone/>
            </a:pPr>
            <a:r>
              <a:rPr lang="en-US" sz="1250" dirty="0">
                <a:solidFill>
                  <a:srgbClr val="FFFFFF"/>
                </a:solidFill>
                <a:latin typeface="Calibri" pitchFamily="34" charset="0"/>
                <a:ea typeface="Calibri" pitchFamily="34" charset="-122"/>
                <a:cs typeface="Calibri" pitchFamily="34" charset="-120"/>
              </a:rPr>
              <a:t>2:2</a:t>
            </a:r>
            <a:endParaRPr lang="en-US" sz="1250" dirty="0"/>
          </a:p>
        </p:txBody>
      </p:sp>
      <p:sp>
        <p:nvSpPr>
          <p:cNvPr id="10" name="text_166"/>
          <p:cNvSpPr txBox="1"/>
          <p:nvPr/>
        </p:nvSpPr>
        <p:spPr>
          <a:xfrm>
            <a:off x="2743200" y="2221992"/>
            <a:ext cx="8869680" cy="804672"/>
          </a:xfrm>
          <a:prstGeom prst="rect">
            <a:avLst/>
          </a:prstGeom>
          <a:noFill/>
          <a:ln/>
        </p:spPr>
        <p:txBody>
          <a:bodyPr wrap="square" lIns="635" tIns="635" rIns="635" bIns="635" rtlCol="0" anchor="ctr"/>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One reasonably specific question, answered with thin reasoning; figures mostly relevant; attribution present.</a:t>
            </a:r>
            <a:endParaRPr lang="en-US" sz="1450" dirty="0"/>
          </a:p>
        </p:txBody>
      </p:sp>
      <p:sp>
        <p:nvSpPr>
          <p:cNvPr id="11" name="band_167"/>
          <p:cNvSpPr/>
          <p:nvPr/>
        </p:nvSpPr>
        <p:spPr>
          <a:xfrm>
            <a:off x="548640" y="3118104"/>
            <a:ext cx="2011680" cy="804672"/>
          </a:xfrm>
          <a:prstGeom prst="roundRect">
            <a:avLst>
              <a:gd name="adj" fmla="val 6818"/>
            </a:avLst>
          </a:prstGeom>
          <a:solidFill>
            <a:srgbClr val="2E4A6B"/>
          </a:solidFill>
          <a:ln w="12700">
            <a:solidFill>
              <a:srgbClr val="2E4A6B"/>
            </a:solidFill>
            <a:prstDash val="solid"/>
          </a:ln>
        </p:spPr>
      </p:sp>
      <p:sp>
        <p:nvSpPr>
          <p:cNvPr id="12" name="text_168"/>
          <p:cNvSpPr txBox="1"/>
          <p:nvPr/>
        </p:nvSpPr>
        <p:spPr>
          <a:xfrm>
            <a:off x="548640" y="3191256"/>
            <a:ext cx="2011680" cy="384048"/>
          </a:xfrm>
          <a:prstGeom prst="rect">
            <a:avLst/>
          </a:prstGeom>
          <a:noFill/>
          <a:ln/>
        </p:spPr>
        <p:txBody>
          <a:bodyPr wrap="square" lIns="635" tIns="635" rIns="635" bIns="635"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60–69%</a:t>
            </a:r>
            <a:endParaRPr lang="en-US" sz="1800" dirty="0"/>
          </a:p>
        </p:txBody>
      </p:sp>
      <p:sp>
        <p:nvSpPr>
          <p:cNvPr id="13" name="text_169"/>
          <p:cNvSpPr txBox="1"/>
          <p:nvPr/>
        </p:nvSpPr>
        <p:spPr>
          <a:xfrm>
            <a:off x="548640" y="3557016"/>
            <a:ext cx="2011680" cy="320040"/>
          </a:xfrm>
          <a:prstGeom prst="rect">
            <a:avLst/>
          </a:prstGeom>
          <a:noFill/>
          <a:ln/>
        </p:spPr>
        <p:txBody>
          <a:bodyPr wrap="square" lIns="635" tIns="635" rIns="635" bIns="635" rtlCol="0" anchor="t"/>
          <a:lstStyle/>
          <a:p>
            <a:pPr algn="ctr" indent="0" marL="0">
              <a:lnSpc>
                <a:spcPct val="100000"/>
              </a:lnSpc>
              <a:buNone/>
            </a:pPr>
            <a:r>
              <a:rPr lang="en-US" sz="1250" dirty="0">
                <a:solidFill>
                  <a:srgbClr val="FFFFFF"/>
                </a:solidFill>
                <a:latin typeface="Calibri" pitchFamily="34" charset="0"/>
                <a:ea typeface="Calibri" pitchFamily="34" charset="-122"/>
                <a:cs typeface="Calibri" pitchFamily="34" charset="-120"/>
              </a:rPr>
              <a:t>2:1</a:t>
            </a:r>
            <a:endParaRPr lang="en-US" sz="1250" dirty="0"/>
          </a:p>
        </p:txBody>
      </p:sp>
      <p:sp>
        <p:nvSpPr>
          <p:cNvPr id="14" name="text_170"/>
          <p:cNvSpPr txBox="1"/>
          <p:nvPr/>
        </p:nvSpPr>
        <p:spPr>
          <a:xfrm>
            <a:off x="2743200" y="3118104"/>
            <a:ext cx="8869680" cy="804672"/>
          </a:xfrm>
          <a:prstGeom prst="rect">
            <a:avLst/>
          </a:prstGeom>
          <a:noFill/>
          <a:ln/>
        </p:spPr>
        <p:txBody>
          <a:bodyPr wrap="square" lIns="635" tIns="635" rIns="635" bIns="635" rtlCol="0" anchor="ctr"/>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A focused question, directly answered; 3–5 well-designed figures; quantified, physically interpreted evidence.</a:t>
            </a:r>
            <a:endParaRPr lang="en-US" sz="1450" dirty="0"/>
          </a:p>
        </p:txBody>
      </p:sp>
      <p:sp>
        <p:nvSpPr>
          <p:cNvPr id="15" name="band_171"/>
          <p:cNvSpPr/>
          <p:nvPr/>
        </p:nvSpPr>
        <p:spPr>
          <a:xfrm>
            <a:off x="548640" y="4014216"/>
            <a:ext cx="2011680" cy="804672"/>
          </a:xfrm>
          <a:prstGeom prst="roundRect">
            <a:avLst>
              <a:gd name="adj" fmla="val 6818"/>
            </a:avLst>
          </a:prstGeom>
          <a:solidFill>
            <a:srgbClr val="1F7A6E"/>
          </a:solidFill>
          <a:ln w="12700">
            <a:solidFill>
              <a:srgbClr val="1F7A6E"/>
            </a:solidFill>
            <a:prstDash val="solid"/>
          </a:ln>
        </p:spPr>
      </p:sp>
      <p:sp>
        <p:nvSpPr>
          <p:cNvPr id="16" name="text_172"/>
          <p:cNvSpPr txBox="1"/>
          <p:nvPr/>
        </p:nvSpPr>
        <p:spPr>
          <a:xfrm>
            <a:off x="548640" y="4087368"/>
            <a:ext cx="2011680" cy="384048"/>
          </a:xfrm>
          <a:prstGeom prst="rect">
            <a:avLst/>
          </a:prstGeom>
          <a:noFill/>
          <a:ln/>
        </p:spPr>
        <p:txBody>
          <a:bodyPr wrap="square" lIns="635" tIns="635" rIns="635" bIns="635"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70–79%</a:t>
            </a:r>
            <a:endParaRPr lang="en-US" sz="1800" dirty="0"/>
          </a:p>
        </p:txBody>
      </p:sp>
      <p:sp>
        <p:nvSpPr>
          <p:cNvPr id="17" name="text_173"/>
          <p:cNvSpPr txBox="1"/>
          <p:nvPr/>
        </p:nvSpPr>
        <p:spPr>
          <a:xfrm>
            <a:off x="548640" y="4453128"/>
            <a:ext cx="2011680" cy="320040"/>
          </a:xfrm>
          <a:prstGeom prst="rect">
            <a:avLst/>
          </a:prstGeom>
          <a:noFill/>
          <a:ln/>
        </p:spPr>
        <p:txBody>
          <a:bodyPr wrap="square" lIns="635" tIns="635" rIns="635" bIns="635" rtlCol="0" anchor="t"/>
          <a:lstStyle/>
          <a:p>
            <a:pPr algn="ctr" indent="0" marL="0">
              <a:lnSpc>
                <a:spcPct val="100000"/>
              </a:lnSpc>
              <a:buNone/>
            </a:pPr>
            <a:r>
              <a:rPr lang="en-US" sz="1250" dirty="0">
                <a:solidFill>
                  <a:srgbClr val="FFFFFF"/>
                </a:solidFill>
                <a:latin typeface="Calibri" pitchFamily="34" charset="0"/>
                <a:ea typeface="Calibri" pitchFamily="34" charset="-122"/>
                <a:cs typeface="Calibri" pitchFamily="34" charset="-120"/>
              </a:rPr>
              <a:t>First</a:t>
            </a:r>
            <a:endParaRPr lang="en-US" sz="1250" dirty="0"/>
          </a:p>
        </p:txBody>
      </p:sp>
      <p:sp>
        <p:nvSpPr>
          <p:cNvPr id="18" name="text_174"/>
          <p:cNvSpPr txBox="1"/>
          <p:nvPr/>
        </p:nvSpPr>
        <p:spPr>
          <a:xfrm>
            <a:off x="2743200" y="4014216"/>
            <a:ext cx="8869680" cy="804672"/>
          </a:xfrm>
          <a:prstGeom prst="rect">
            <a:avLst/>
          </a:prstGeom>
          <a:noFill/>
          <a:ln/>
        </p:spPr>
        <p:txBody>
          <a:bodyPr wrap="square" lIns="635" tIns="635" rIns="635" bIns="635" rtlCol="0" anchor="ctr"/>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Well-chosen question; real physical insight; Claim → Evidence → Interpretation → Qualification throughout; independent thinking in the Discussion.</a:t>
            </a:r>
            <a:endParaRPr lang="en-US" sz="1450" dirty="0"/>
          </a:p>
        </p:txBody>
      </p:sp>
      <p:sp>
        <p:nvSpPr>
          <p:cNvPr id="19" name="band_175"/>
          <p:cNvSpPr/>
          <p:nvPr/>
        </p:nvSpPr>
        <p:spPr>
          <a:xfrm>
            <a:off x="548640" y="4910328"/>
            <a:ext cx="2011680" cy="804672"/>
          </a:xfrm>
          <a:prstGeom prst="roundRect">
            <a:avLst>
              <a:gd name="adj" fmla="val 6818"/>
            </a:avLst>
          </a:prstGeom>
          <a:solidFill>
            <a:srgbClr val="D98E1F"/>
          </a:solidFill>
          <a:ln w="12700">
            <a:solidFill>
              <a:srgbClr val="D98E1F"/>
            </a:solidFill>
            <a:prstDash val="solid"/>
          </a:ln>
        </p:spPr>
      </p:sp>
      <p:sp>
        <p:nvSpPr>
          <p:cNvPr id="20" name="text_176"/>
          <p:cNvSpPr txBox="1"/>
          <p:nvPr/>
        </p:nvSpPr>
        <p:spPr>
          <a:xfrm>
            <a:off x="548640" y="4983480"/>
            <a:ext cx="2011680" cy="384048"/>
          </a:xfrm>
          <a:prstGeom prst="rect">
            <a:avLst/>
          </a:prstGeom>
          <a:noFill/>
          <a:ln/>
        </p:spPr>
        <p:txBody>
          <a:bodyPr wrap="square" lIns="635" tIns="635" rIns="635" bIns="635" rtlCol="0" anchor="t"/>
          <a:lstStyle/>
          <a:p>
            <a:pPr algn="ctr" indent="0" marL="0">
              <a:lnSpc>
                <a:spcPct val="100000"/>
              </a:lnSpc>
              <a:buNone/>
            </a:pPr>
            <a:r>
              <a:rPr lang="en-US" sz="1800" b="1" dirty="0">
                <a:solidFill>
                  <a:srgbClr val="FFFFFF"/>
                </a:solidFill>
                <a:latin typeface="Calibri" pitchFamily="34" charset="0"/>
                <a:ea typeface="Calibri" pitchFamily="34" charset="-122"/>
                <a:cs typeface="Calibri" pitchFamily="34" charset="-120"/>
              </a:rPr>
              <a:t>80%+</a:t>
            </a:r>
            <a:endParaRPr lang="en-US" sz="1800" dirty="0"/>
          </a:p>
        </p:txBody>
      </p:sp>
      <p:sp>
        <p:nvSpPr>
          <p:cNvPr id="21" name="text_177"/>
          <p:cNvSpPr txBox="1"/>
          <p:nvPr/>
        </p:nvSpPr>
        <p:spPr>
          <a:xfrm>
            <a:off x="548640" y="5349240"/>
            <a:ext cx="2011680" cy="320040"/>
          </a:xfrm>
          <a:prstGeom prst="rect">
            <a:avLst/>
          </a:prstGeom>
          <a:noFill/>
          <a:ln/>
        </p:spPr>
        <p:txBody>
          <a:bodyPr wrap="square" lIns="635" tIns="635" rIns="635" bIns="635" rtlCol="0" anchor="t"/>
          <a:lstStyle/>
          <a:p>
            <a:pPr algn="ctr" indent="0" marL="0">
              <a:lnSpc>
                <a:spcPct val="100000"/>
              </a:lnSpc>
              <a:buNone/>
            </a:pPr>
            <a:r>
              <a:rPr lang="en-US" sz="1250" dirty="0">
                <a:solidFill>
                  <a:srgbClr val="FFFFFF"/>
                </a:solidFill>
                <a:latin typeface="Calibri" pitchFamily="34" charset="0"/>
                <a:ea typeface="Calibri" pitchFamily="34" charset="-122"/>
                <a:cs typeface="Calibri" pitchFamily="34" charset="-120"/>
              </a:rPr>
              <a:t>Exceptional</a:t>
            </a:r>
            <a:endParaRPr lang="en-US" sz="1250" dirty="0"/>
          </a:p>
        </p:txBody>
      </p:sp>
      <p:sp>
        <p:nvSpPr>
          <p:cNvPr id="22" name="text_178"/>
          <p:cNvSpPr txBox="1"/>
          <p:nvPr/>
        </p:nvSpPr>
        <p:spPr>
          <a:xfrm>
            <a:off x="2743200" y="4910328"/>
            <a:ext cx="8869680" cy="804672"/>
          </a:xfrm>
          <a:prstGeom prst="rect">
            <a:avLst/>
          </a:prstGeom>
          <a:noFill/>
          <a:ln/>
        </p:spPr>
        <p:txBody>
          <a:bodyPr wrap="square" lIns="635" tIns="635" rIns="635" bIns="635" rtlCol="0" anchor="ctr"/>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All of the above plus something beyond what was taught: an original angle or a careful treatment of a subtlety. Rare.</a:t>
            </a:r>
            <a:endParaRPr lang="en-US" sz="1450" dirty="0"/>
          </a:p>
        </p:txBody>
      </p:sp>
      <p:sp>
        <p:nvSpPr>
          <p:cNvPr id="23" name="text_179"/>
          <p:cNvSpPr txBox="1"/>
          <p:nvPr/>
        </p:nvSpPr>
        <p:spPr>
          <a:xfrm>
            <a:off x="548640" y="5897880"/>
            <a:ext cx="11064240" cy="411480"/>
          </a:xfrm>
          <a:prstGeom prst="rect">
            <a:avLst/>
          </a:prstGeom>
          <a:noFill/>
          <a:ln/>
        </p:spPr>
        <p:txBody>
          <a:bodyPr wrap="square" lIns="635" tIns="635" rIns="635" bIns="635" rtlCol="0" anchor="t"/>
          <a:lstStyle/>
          <a:p>
            <a:pPr algn="l" indent="0" marL="0">
              <a:lnSpc>
                <a:spcPct val="100000"/>
              </a:lnSpc>
              <a:buNone/>
            </a:pPr>
            <a:r>
              <a:rPr lang="en-US" sz="1350" i="1" dirty="0">
                <a:solidFill>
                  <a:srgbClr val="5B6573"/>
                </a:solidFill>
                <a:latin typeface="Calibri" pitchFamily="34" charset="0"/>
                <a:ea typeface="Calibri" pitchFamily="34" charset="-122"/>
                <a:cs typeface="Calibri" pitchFamily="34" charset="-120"/>
              </a:rPr>
              <a:t>Full descriptors are in the handbook (§9). The same scheme applies all year, so you know from day one what ‘good’ looks like.</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ctband_180"/>
          <p:cNvSpPr/>
          <p:nvPr/>
        </p:nvSpPr>
        <p:spPr>
          <a:xfrm>
            <a:off x="0" y="237744"/>
            <a:ext cx="12191695" cy="914400"/>
          </a:xfrm>
          <a:prstGeom prst="rect">
            <a:avLst/>
          </a:prstGeom>
          <a:solidFill>
            <a:srgbClr val="FBEBD0"/>
          </a:solidFill>
          <a:ln w="12700">
            <a:solidFill>
              <a:srgbClr val="FBEBD0"/>
            </a:solidFill>
            <a:prstDash val="solid"/>
          </a:ln>
        </p:spPr>
      </p:sp>
      <p:sp>
        <p:nvSpPr>
          <p:cNvPr id="3" name="text_181"/>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18 MIN</a:t>
            </a:r>
            <a:endParaRPr lang="en-US" sz="1100" dirty="0"/>
          </a:p>
        </p:txBody>
      </p:sp>
      <p:sp>
        <p:nvSpPr>
          <p:cNvPr id="4" name="text_182"/>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Get something working</a:t>
            </a:r>
            <a:endParaRPr lang="en-US" sz="2600" dirty="0"/>
          </a:p>
        </p:txBody>
      </p:sp>
      <p:sp>
        <p:nvSpPr>
          <p:cNvPr id="5" name="num_183"/>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184"/>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185"/>
          <p:cNvSpPr txBox="1"/>
          <p:nvPr/>
        </p:nvSpPr>
        <p:spPr>
          <a:xfrm>
            <a:off x="1097280" y="14173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Open the project through the </a:t>
            </a:r>
            <a:r>
              <a:rPr lang="en-US" sz="1500" b="1" dirty="0">
                <a:solidFill>
                  <a:srgbClr val="222B36"/>
                </a:solidFill>
                <a:latin typeface="Calibri" pitchFamily="34" charset="0"/>
                <a:ea typeface="Calibri" pitchFamily="34" charset="-122"/>
                <a:cs typeface="Calibri" pitchFamily="34" charset="-120"/>
              </a:rPr>
              <a:t>Binder link</a:t>
            </a:r>
            <a:r>
              <a:rPr lang="en-US" sz="1500" dirty="0">
                <a:solidFill>
                  <a:srgbClr val="222B36"/>
                </a:solidFill>
                <a:latin typeface="Calibri" pitchFamily="34" charset="0"/>
                <a:ea typeface="Calibri" pitchFamily="34" charset="-122"/>
                <a:cs typeface="Calibri" pitchFamily="34" charset="-120"/>
              </a:rPr>
              <a:t> on Canvas (the first launch can take a few minutes).</a:t>
            </a:r>
            <a:endParaRPr lang="en-US" sz="1500" dirty="0"/>
          </a:p>
        </p:txBody>
      </p:sp>
      <p:sp>
        <p:nvSpPr>
          <p:cNvPr id="8" name="num_186"/>
          <p:cNvSpPr/>
          <p:nvPr/>
        </p:nvSpPr>
        <p:spPr>
          <a:xfrm>
            <a:off x="594360" y="2221992"/>
            <a:ext cx="365760" cy="365760"/>
          </a:xfrm>
          <a:prstGeom prst="ellipse">
            <a:avLst/>
          </a:prstGeom>
          <a:solidFill>
            <a:srgbClr val="D98E1F"/>
          </a:solidFill>
          <a:ln w="12700">
            <a:solidFill>
              <a:srgbClr val="D98E1F"/>
            </a:solidFill>
            <a:prstDash val="solid"/>
          </a:ln>
        </p:spPr>
      </p:sp>
      <p:sp>
        <p:nvSpPr>
          <p:cNvPr id="9" name="text_187"/>
          <p:cNvSpPr txBox="1"/>
          <p:nvPr/>
        </p:nvSpPr>
        <p:spPr>
          <a:xfrm>
            <a:off x="594360" y="22219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188"/>
          <p:cNvSpPr txBox="1"/>
          <p:nvPr/>
        </p:nvSpPr>
        <p:spPr>
          <a:xfrm>
            <a:off x="1097280" y="22037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Run the notebook </a:t>
            </a:r>
            <a:r>
              <a:rPr lang="en-US" sz="1500" b="1" dirty="0">
                <a:solidFill>
                  <a:srgbClr val="222B36"/>
                </a:solidFill>
                <a:latin typeface="Calibri" pitchFamily="34" charset="0"/>
                <a:ea typeface="Calibri" pitchFamily="34" charset="-122"/>
                <a:cs typeface="Calibri" pitchFamily="34" charset="-120"/>
              </a:rPr>
              <a:t>from the top</a:t>
            </a:r>
            <a:r>
              <a:rPr lang="en-US" sz="1500" dirty="0">
                <a:solidFill>
                  <a:srgbClr val="222B36"/>
                </a:solidFill>
                <a:latin typeface="Calibri" pitchFamily="34" charset="0"/>
                <a:ea typeface="Calibri" pitchFamily="34" charset="-122"/>
                <a:cs typeface="Calibri" pitchFamily="34" charset="-120"/>
              </a:rPr>
              <a:t>, through </a:t>
            </a:r>
            <a:r>
              <a:rPr lang="en-US" sz="1500" b="1" dirty="0">
                <a:solidFill>
                  <a:srgbClr val="222B36"/>
                </a:solidFill>
                <a:latin typeface="Calibri" pitchFamily="34" charset="0"/>
                <a:ea typeface="Calibri" pitchFamily="34" charset="-122"/>
                <a:cs typeface="Calibri" pitchFamily="34" charset="-120"/>
              </a:rPr>
              <a:t>0b. Load the data</a:t>
            </a:r>
            <a:r>
              <a:rPr lang="en-US" sz="1500" dirty="0">
                <a:solidFill>
                  <a:srgbClr val="222B36"/>
                </a:solidFill>
                <a:latin typeface="Calibri" pitchFamily="34" charset="0"/>
                <a:ea typeface="Calibri" pitchFamily="34" charset="-122"/>
                <a:cs typeface="Calibri" pitchFamily="34" charset="-120"/>
              </a:rPr>
              <a:t>, then section </a:t>
            </a:r>
            <a:r>
              <a:rPr lang="en-US" sz="1500" b="1" dirty="0">
                <a:solidFill>
                  <a:srgbClr val="222B36"/>
                </a:solidFill>
                <a:latin typeface="Calibri" pitchFamily="34" charset="0"/>
                <a:ea typeface="Calibri" pitchFamily="34" charset="-122"/>
                <a:cs typeface="Calibri" pitchFamily="34" charset="-120"/>
              </a:rPr>
              <a:t>1</a:t>
            </a:r>
            <a:r>
              <a:rPr lang="en-US" sz="1500" dirty="0">
                <a:solidFill>
                  <a:srgbClr val="222B36"/>
                </a:solidFill>
                <a:latin typeface="Calibri" pitchFamily="34" charset="0"/>
                <a:ea typeface="Calibri" pitchFamily="34" charset="-122"/>
                <a:cs typeface="Calibri" pitchFamily="34" charset="-120"/>
              </a:rPr>
              <a:t>, and section </a:t>
            </a:r>
            <a:r>
              <a:rPr lang="en-US" sz="1500" b="1" dirty="0">
                <a:solidFill>
                  <a:srgbClr val="222B36"/>
                </a:solidFill>
                <a:latin typeface="Calibri" pitchFamily="34" charset="0"/>
                <a:ea typeface="Calibri" pitchFamily="34" charset="-122"/>
                <a:cs typeface="Calibri" pitchFamily="34" charset="-120"/>
              </a:rPr>
              <a:t>2</a:t>
            </a:r>
            <a:r>
              <a:rPr lang="en-US" sz="1500" dirty="0">
                <a:solidFill>
                  <a:srgbClr val="222B36"/>
                </a:solidFill>
                <a:latin typeface="Calibri" pitchFamily="34" charset="0"/>
                <a:ea typeface="Calibri" pitchFamily="34" charset="-122"/>
                <a:cs typeface="Calibri" pitchFamily="34" charset="-120"/>
              </a:rPr>
              <a:t> if time allows.</a:t>
            </a:r>
            <a:endParaRPr lang="en-US" sz="1500" dirty="0"/>
          </a:p>
        </p:txBody>
      </p:sp>
      <p:sp>
        <p:nvSpPr>
          <p:cNvPr id="11" name="num_189"/>
          <p:cNvSpPr/>
          <p:nvPr/>
        </p:nvSpPr>
        <p:spPr>
          <a:xfrm>
            <a:off x="594360" y="3008376"/>
            <a:ext cx="365760" cy="365760"/>
          </a:xfrm>
          <a:prstGeom prst="ellipse">
            <a:avLst/>
          </a:prstGeom>
          <a:solidFill>
            <a:srgbClr val="D98E1F"/>
          </a:solidFill>
          <a:ln w="12700">
            <a:solidFill>
              <a:srgbClr val="D98E1F"/>
            </a:solidFill>
            <a:prstDash val="solid"/>
          </a:ln>
        </p:spPr>
      </p:sp>
      <p:sp>
        <p:nvSpPr>
          <p:cNvPr id="12" name="text_190"/>
          <p:cNvSpPr txBox="1"/>
          <p:nvPr/>
        </p:nvSpPr>
        <p:spPr>
          <a:xfrm>
            <a:off x="594360" y="30083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191"/>
          <p:cNvSpPr txBox="1"/>
          <p:nvPr/>
        </p:nvSpPr>
        <p:spPr>
          <a:xfrm>
            <a:off x="1097280" y="2990088"/>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Look at the first cloud figures. Where is cloud cover high or low? What changes through the year?</a:t>
            </a:r>
            <a:endParaRPr lang="en-US" sz="1500" dirty="0"/>
          </a:p>
        </p:txBody>
      </p:sp>
      <p:sp>
        <p:nvSpPr>
          <p:cNvPr id="14" name="num_192"/>
          <p:cNvSpPr/>
          <p:nvPr/>
        </p:nvSpPr>
        <p:spPr>
          <a:xfrm>
            <a:off x="594360" y="3794760"/>
            <a:ext cx="365760" cy="365760"/>
          </a:xfrm>
          <a:prstGeom prst="ellipse">
            <a:avLst/>
          </a:prstGeom>
          <a:solidFill>
            <a:srgbClr val="D98E1F"/>
          </a:solidFill>
          <a:ln w="12700">
            <a:solidFill>
              <a:srgbClr val="D98E1F"/>
            </a:solidFill>
            <a:prstDash val="solid"/>
          </a:ln>
        </p:spPr>
      </p:sp>
      <p:sp>
        <p:nvSpPr>
          <p:cNvPr id="15" name="text_193"/>
          <p:cNvSpPr txBox="1"/>
          <p:nvPr/>
        </p:nvSpPr>
        <p:spPr>
          <a:xfrm>
            <a:off x="594360" y="379476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194"/>
          <p:cNvSpPr txBox="1"/>
          <p:nvPr/>
        </p:nvSpPr>
        <p:spPr>
          <a:xfrm>
            <a:off x="1097280" y="3776472"/>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down </a:t>
            </a:r>
            <a:r>
              <a:rPr lang="en-US" sz="1500" b="1" dirty="0">
                <a:solidFill>
                  <a:srgbClr val="222B36"/>
                </a:solidFill>
                <a:latin typeface="Calibri" pitchFamily="34" charset="0"/>
                <a:ea typeface="Calibri" pitchFamily="34" charset="-122"/>
                <a:cs typeface="Calibri" pitchFamily="34" charset="-120"/>
              </a:rPr>
              <a:t>two patterns or regions</a:t>
            </a:r>
            <a:r>
              <a:rPr lang="en-US" sz="1500" dirty="0">
                <a:solidFill>
                  <a:srgbClr val="222B36"/>
                </a:solidFill>
                <a:latin typeface="Calibri" pitchFamily="34" charset="0"/>
                <a:ea typeface="Calibri" pitchFamily="34" charset="-122"/>
                <a:cs typeface="Calibri" pitchFamily="34" charset="-120"/>
              </a:rPr>
              <a:t> that catch your eye, with </a:t>
            </a:r>
            <a:r>
              <a:rPr lang="en-US" sz="1500" b="1" dirty="0">
                <a:solidFill>
                  <a:srgbClr val="222B36"/>
                </a:solidFill>
                <a:latin typeface="Calibri" pitchFamily="34" charset="0"/>
                <a:ea typeface="Calibri" pitchFamily="34" charset="-122"/>
                <a:cs typeface="Calibri" pitchFamily="34" charset="-120"/>
              </a:rPr>
              <a:t>where, what and when</a:t>
            </a:r>
            <a:r>
              <a:rPr lang="en-US" sz="1500" dirty="0">
                <a:solidFill>
                  <a:srgbClr val="222B36"/>
                </a:solidFill>
                <a:latin typeface="Calibri" pitchFamily="34" charset="0"/>
                <a:ea typeface="Calibri" pitchFamily="34" charset="-122"/>
                <a:cs typeface="Calibri" pitchFamily="34" charset="-120"/>
              </a:rPr>
              <a:t>.</a:t>
            </a:r>
            <a:endParaRPr lang="en-US" sz="1500" dirty="0"/>
          </a:p>
        </p:txBody>
      </p:sp>
      <p:sp>
        <p:nvSpPr>
          <p:cNvPr id="17" name="num_195"/>
          <p:cNvSpPr/>
          <p:nvPr/>
        </p:nvSpPr>
        <p:spPr>
          <a:xfrm>
            <a:off x="594360" y="4581144"/>
            <a:ext cx="365760" cy="365760"/>
          </a:xfrm>
          <a:prstGeom prst="ellipse">
            <a:avLst/>
          </a:prstGeom>
          <a:solidFill>
            <a:srgbClr val="D98E1F"/>
          </a:solidFill>
          <a:ln w="12700">
            <a:solidFill>
              <a:srgbClr val="D98E1F"/>
            </a:solidFill>
            <a:prstDash val="solid"/>
          </a:ln>
        </p:spPr>
      </p:sp>
      <p:sp>
        <p:nvSpPr>
          <p:cNvPr id="18" name="text_196"/>
          <p:cNvSpPr txBox="1"/>
          <p:nvPr/>
        </p:nvSpPr>
        <p:spPr>
          <a:xfrm>
            <a:off x="594360" y="4581144"/>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197"/>
          <p:cNvSpPr txBox="1"/>
          <p:nvPr/>
        </p:nvSpPr>
        <p:spPr>
          <a:xfrm>
            <a:off x="1097280" y="4562856"/>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Before you leave: </a:t>
            </a:r>
            <a:r>
              <a:rPr lang="en-US" sz="1500" b="1" dirty="0">
                <a:solidFill>
                  <a:srgbClr val="222B36"/>
                </a:solidFill>
                <a:latin typeface="Calibri" pitchFamily="34" charset="0"/>
                <a:ea typeface="Calibri" pitchFamily="34" charset="-122"/>
                <a:cs typeface="Calibri" pitchFamily="34" charset="-120"/>
              </a:rPr>
              <a:t>download</a:t>
            </a:r>
            <a:r>
              <a:rPr lang="en-US" sz="1500" dirty="0">
                <a:solidFill>
                  <a:srgbClr val="222B36"/>
                </a:solidFill>
                <a:latin typeface="Calibri" pitchFamily="34" charset="0"/>
                <a:ea typeface="Calibri" pitchFamily="34" charset="-122"/>
                <a:cs typeface="Calibri" pitchFamily="34" charset="-120"/>
              </a:rPr>
              <a:t> your figures and notebook. Binder forgets everything.</a:t>
            </a:r>
            <a:endParaRPr lang="en-US" sz="1500" dirty="0"/>
          </a:p>
        </p:txBody>
      </p:sp>
      <p:sp>
        <p:nvSpPr>
          <p:cNvPr id="20" name="card_198"/>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199"/>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200"/>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201"/>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The notebook running (or a clear note of what went wrong)</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Two patterns written down</a:t>
            </a:r>
            <a:endParaRPr lang="en-US" sz="1450" dirty="0"/>
          </a:p>
        </p:txBody>
      </p:sp>
      <p:sp>
        <p:nvSpPr>
          <p:cNvPr id="24" name="card_202"/>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203"/>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204"/>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205"/>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Compare your two patterns with a neighbour. Did you notice the same things?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If your Binder fails, pair with someone whose works and run it together.</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_20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2  ·  Thu 8 Oct</a:t>
            </a:r>
            <a:endParaRPr lang="en-US" sz="2800" dirty="0"/>
          </a:p>
        </p:txBody>
      </p:sp>
      <p:sp>
        <p:nvSpPr>
          <p:cNvPr id="3" name="text_207"/>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About 1½ hours. Next week the writing starts, using what you notice now.</a:t>
            </a:r>
            <a:endParaRPr lang="en-US" sz="1500" dirty="0"/>
          </a:p>
        </p:txBody>
      </p:sp>
      <p:sp>
        <p:nvSpPr>
          <p:cNvPr id="4" name="card_208"/>
          <p:cNvSpPr/>
          <p:nvPr/>
        </p:nvSpPr>
        <p:spPr>
          <a:xfrm>
            <a:off x="548640" y="1691640"/>
            <a:ext cx="3563112" cy="2971800"/>
          </a:xfrm>
          <a:prstGeom prst="roundRect">
            <a:avLst>
              <a:gd name="adj" fmla="val 2462"/>
            </a:avLst>
          </a:prstGeom>
          <a:solidFill>
            <a:srgbClr val="F7F4EE"/>
          </a:solidFill>
          <a:ln w="9525">
            <a:solidFill>
              <a:srgbClr val="D5DAE1"/>
            </a:solidFill>
            <a:prstDash val="solid"/>
          </a:ln>
        </p:spPr>
      </p:sp>
      <p:sp>
        <p:nvSpPr>
          <p:cNvPr id="5" name="tag_209"/>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210"/>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1A  ·  45 min</a:t>
            </a:r>
            <a:endParaRPr lang="en-US" sz="1050" dirty="0"/>
          </a:p>
        </p:txBody>
      </p:sp>
      <p:sp>
        <p:nvSpPr>
          <p:cNvPr id="7" name="text_211"/>
          <p:cNvSpPr txBox="1"/>
          <p:nvPr/>
        </p:nvSpPr>
        <p:spPr>
          <a:xfrm>
            <a:off x="71323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Finish running the notebook</a:t>
            </a:r>
            <a:endParaRPr lang="en-US" sz="1600" dirty="0"/>
          </a:p>
        </p:txBody>
      </p:sp>
      <p:sp>
        <p:nvSpPr>
          <p:cNvPr id="8" name="cardbody_212"/>
          <p:cNvSpPr txBox="1"/>
          <p:nvPr/>
        </p:nvSpPr>
        <p:spPr>
          <a:xfrm>
            <a:off x="71323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Sections </a:t>
            </a:r>
            <a:r>
              <a:rPr lang="en-US" sz="1350" b="1" dirty="0">
                <a:solidFill>
                  <a:srgbClr val="222B36"/>
                </a:solidFill>
                <a:latin typeface="Calibri" pitchFamily="34" charset="0"/>
                <a:ea typeface="Calibri" pitchFamily="34" charset="-122"/>
                <a:cs typeface="Calibri" pitchFamily="34" charset="-120"/>
              </a:rPr>
              <a:t>0–3</a:t>
            </a:r>
            <a:r>
              <a:rPr lang="en-US" sz="1350" dirty="0">
                <a:solidFill>
                  <a:srgbClr val="222B36"/>
                </a:solidFill>
                <a:latin typeface="Calibri" pitchFamily="34" charset="0"/>
                <a:ea typeface="Calibri" pitchFamily="34" charset="-122"/>
                <a:cs typeface="Calibri" pitchFamily="34" charset="-120"/>
              </a:rPr>
              <a:t> at least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Save figures </a:t>
            </a:r>
            <a:r>
              <a:rPr lang="en-US" sz="1350" b="1" dirty="0">
                <a:solidFill>
                  <a:srgbClr val="222B36"/>
                </a:solidFill>
                <a:latin typeface="Calibri" pitchFamily="34" charset="0"/>
                <a:ea typeface="Calibri" pitchFamily="34" charset="-122"/>
                <a:cs typeface="Calibri" pitchFamily="34" charset="-120"/>
              </a:rPr>
              <a:t>outside Binder</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Note anything that errors</a:t>
            </a:r>
            <a:endParaRPr lang="en-US" sz="1350" dirty="0"/>
          </a:p>
        </p:txBody>
      </p:sp>
      <p:sp>
        <p:nvSpPr>
          <p:cNvPr id="9" name="card_213"/>
          <p:cNvSpPr/>
          <p:nvPr/>
        </p:nvSpPr>
        <p:spPr>
          <a:xfrm>
            <a:off x="4312920" y="1691640"/>
            <a:ext cx="3563112" cy="2971800"/>
          </a:xfrm>
          <a:prstGeom prst="roundRect">
            <a:avLst>
              <a:gd name="adj" fmla="val 2462"/>
            </a:avLst>
          </a:prstGeom>
          <a:solidFill>
            <a:srgbClr val="F7F4EE"/>
          </a:solidFill>
          <a:ln w="9525">
            <a:solidFill>
              <a:srgbClr val="D5DAE1"/>
            </a:solidFill>
            <a:prstDash val="solid"/>
          </a:ln>
        </p:spPr>
      </p:sp>
      <p:sp>
        <p:nvSpPr>
          <p:cNvPr id="10" name="tag_214"/>
          <p:cNvSpPr/>
          <p:nvPr/>
        </p:nvSpPr>
        <p:spPr>
          <a:xfrm>
            <a:off x="4477512" y="1819656"/>
            <a:ext cx="1156716" cy="256032"/>
          </a:xfrm>
          <a:prstGeom prst="roundRect">
            <a:avLst>
              <a:gd name="adj" fmla="val 21429"/>
            </a:avLst>
          </a:prstGeom>
          <a:solidFill>
            <a:srgbClr val="1B2A41"/>
          </a:solidFill>
          <a:ln w="12700">
            <a:solidFill>
              <a:srgbClr val="1B2A41"/>
            </a:solidFill>
            <a:prstDash val="solid"/>
          </a:ln>
        </p:spPr>
      </p:sp>
      <p:sp>
        <p:nvSpPr>
          <p:cNvPr id="11" name="text_215"/>
          <p:cNvSpPr txBox="1"/>
          <p:nvPr/>
        </p:nvSpPr>
        <p:spPr>
          <a:xfrm>
            <a:off x="447751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1B  ·  15 min</a:t>
            </a:r>
            <a:endParaRPr lang="en-US" sz="1050" dirty="0"/>
          </a:p>
        </p:txBody>
      </p:sp>
      <p:sp>
        <p:nvSpPr>
          <p:cNvPr id="12" name="text_216"/>
          <p:cNvSpPr txBox="1"/>
          <p:nvPr/>
        </p:nvSpPr>
        <p:spPr>
          <a:xfrm>
            <a:off x="447751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Two patterns, written properly</a:t>
            </a:r>
            <a:endParaRPr lang="en-US" sz="1600" dirty="0"/>
          </a:p>
        </p:txBody>
      </p:sp>
      <p:sp>
        <p:nvSpPr>
          <p:cNvPr id="13" name="cardbody_217"/>
          <p:cNvSpPr txBox="1"/>
          <p:nvPr/>
        </p:nvSpPr>
        <p:spPr>
          <a:xfrm>
            <a:off x="447751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For each: </a:t>
            </a:r>
            <a:r>
              <a:rPr lang="en-US" sz="1350" b="1" dirty="0">
                <a:solidFill>
                  <a:srgbClr val="222B36"/>
                </a:solidFill>
                <a:latin typeface="Calibri" pitchFamily="34" charset="0"/>
                <a:ea typeface="Calibri" pitchFamily="34" charset="-122"/>
                <a:cs typeface="Calibri" pitchFamily="34" charset="-120"/>
              </a:rPr>
              <a:t>where</a:t>
            </a:r>
            <a:r>
              <a:rPr lang="en-US" sz="1350" dirty="0">
                <a:solidFill>
                  <a:srgbClr val="222B36"/>
                </a:solidFill>
                <a:latin typeface="Calibri" pitchFamily="34" charset="0"/>
                <a:ea typeface="Calibri" pitchFamily="34" charset="-122"/>
                <a:cs typeface="Calibri" pitchFamily="34" charset="-120"/>
              </a:rPr>
              <a:t>, </a:t>
            </a:r>
            <a:r>
              <a:rPr lang="en-US" sz="1350" b="1" dirty="0">
                <a:solidFill>
                  <a:srgbClr val="222B36"/>
                </a:solidFill>
                <a:latin typeface="Calibri" pitchFamily="34" charset="0"/>
                <a:ea typeface="Calibri" pitchFamily="34" charset="-122"/>
                <a:cs typeface="Calibri" pitchFamily="34" charset="-120"/>
              </a:rPr>
              <a:t>what</a:t>
            </a:r>
            <a:r>
              <a:rPr lang="en-US" sz="1350" dirty="0">
                <a:solidFill>
                  <a:srgbClr val="222B36"/>
                </a:solidFill>
                <a:latin typeface="Calibri" pitchFamily="34" charset="0"/>
                <a:ea typeface="Calibri" pitchFamily="34" charset="-122"/>
                <a:cs typeface="Calibri" pitchFamily="34" charset="-120"/>
              </a:rPr>
              <a:t> (which cloud variable), </a:t>
            </a:r>
            <a:r>
              <a:rPr lang="en-US" sz="1350" b="1" dirty="0">
                <a:solidFill>
                  <a:srgbClr val="222B36"/>
                </a:solidFill>
                <a:latin typeface="Calibri" pitchFamily="34" charset="0"/>
                <a:ea typeface="Calibri" pitchFamily="34" charset="-122"/>
                <a:cs typeface="Calibri" pitchFamily="34" charset="-120"/>
              </a:rPr>
              <a:t>when</a:t>
            </a:r>
            <a:r>
              <a:rPr lang="en-US" sz="1350" dirty="0">
                <a:solidFill>
                  <a:srgbClr val="222B36"/>
                </a:solidFill>
                <a:latin typeface="Calibri" pitchFamily="34" charset="0"/>
                <a:ea typeface="Calibri" pitchFamily="34" charset="-122"/>
                <a:cs typeface="Calibri" pitchFamily="34" charset="-120"/>
              </a:rPr>
              <a:t> (season / ENSO phase)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One sentence on </a:t>
            </a:r>
            <a:r>
              <a:rPr lang="en-US" sz="1350" b="1" dirty="0">
                <a:solidFill>
                  <a:srgbClr val="222B36"/>
                </a:solidFill>
                <a:latin typeface="Calibri" pitchFamily="34" charset="0"/>
                <a:ea typeface="Calibri" pitchFamily="34" charset="-122"/>
                <a:cs typeface="Calibri" pitchFamily="34" charset="-120"/>
              </a:rPr>
              <a:t>why</a:t>
            </a:r>
            <a:r>
              <a:rPr lang="en-US" sz="1350" dirty="0">
                <a:solidFill>
                  <a:srgbClr val="222B36"/>
                </a:solidFill>
                <a:latin typeface="Calibri" pitchFamily="34" charset="0"/>
                <a:ea typeface="Calibri" pitchFamily="34" charset="-122"/>
                <a:cs typeface="Calibri" pitchFamily="34" charset="-120"/>
              </a:rPr>
              <a:t> it might happen</a:t>
            </a:r>
            <a:endParaRPr lang="en-US" sz="1350" dirty="0"/>
          </a:p>
        </p:txBody>
      </p:sp>
      <p:sp>
        <p:nvSpPr>
          <p:cNvPr id="14" name="card_218"/>
          <p:cNvSpPr/>
          <p:nvPr/>
        </p:nvSpPr>
        <p:spPr>
          <a:xfrm>
            <a:off x="8077200" y="1691640"/>
            <a:ext cx="3563112" cy="2971800"/>
          </a:xfrm>
          <a:prstGeom prst="roundRect">
            <a:avLst>
              <a:gd name="adj" fmla="val 2462"/>
            </a:avLst>
          </a:prstGeom>
          <a:solidFill>
            <a:srgbClr val="F7F4EE"/>
          </a:solidFill>
          <a:ln w="9525">
            <a:solidFill>
              <a:srgbClr val="D5DAE1"/>
            </a:solidFill>
            <a:prstDash val="solid"/>
          </a:ln>
        </p:spPr>
      </p:sp>
      <p:sp>
        <p:nvSpPr>
          <p:cNvPr id="15" name="tag_219"/>
          <p:cNvSpPr/>
          <p:nvPr/>
        </p:nvSpPr>
        <p:spPr>
          <a:xfrm>
            <a:off x="8241792" y="1819656"/>
            <a:ext cx="1156716" cy="256032"/>
          </a:xfrm>
          <a:prstGeom prst="roundRect">
            <a:avLst>
              <a:gd name="adj" fmla="val 21429"/>
            </a:avLst>
          </a:prstGeom>
          <a:solidFill>
            <a:srgbClr val="1B2A41"/>
          </a:solidFill>
          <a:ln w="12700">
            <a:solidFill>
              <a:srgbClr val="1B2A41"/>
            </a:solidFill>
            <a:prstDash val="solid"/>
          </a:ln>
        </p:spPr>
      </p:sp>
      <p:sp>
        <p:nvSpPr>
          <p:cNvPr id="16" name="text_220"/>
          <p:cNvSpPr txBox="1"/>
          <p:nvPr/>
        </p:nvSpPr>
        <p:spPr>
          <a:xfrm>
            <a:off x="824179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1C  ·  30 min</a:t>
            </a:r>
            <a:endParaRPr lang="en-US" sz="1050" dirty="0"/>
          </a:p>
        </p:txBody>
      </p:sp>
      <p:sp>
        <p:nvSpPr>
          <p:cNvPr id="17" name="text_221"/>
          <p:cNvSpPr txBox="1"/>
          <p:nvPr/>
        </p:nvSpPr>
        <p:spPr>
          <a:xfrm>
            <a:off x="824179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Read the handbook</a:t>
            </a:r>
            <a:endParaRPr lang="en-US" sz="1600" dirty="0"/>
          </a:p>
        </p:txBody>
      </p:sp>
      <p:sp>
        <p:nvSpPr>
          <p:cNvPr id="18" name="cardbody_222"/>
          <p:cNvSpPr txBox="1"/>
          <p:nvPr/>
        </p:nvSpPr>
        <p:spPr>
          <a:xfrm>
            <a:off x="824179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§1–3</a:t>
            </a:r>
            <a:r>
              <a:rPr lang="en-US" sz="1350" dirty="0">
                <a:solidFill>
                  <a:srgbClr val="222B36"/>
                </a:solidFill>
                <a:latin typeface="Calibri" pitchFamily="34" charset="0"/>
                <a:ea typeface="Calibri" pitchFamily="34" charset="-122"/>
                <a:cs typeface="Calibri" pitchFamily="34" charset="-120"/>
              </a:rPr>
              <a:t>: the project, ERA5, ENSO and clouds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Skim §9 (marking)</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Download the </a:t>
            </a:r>
            <a:r>
              <a:rPr lang="en-US" sz="1350" b="1" dirty="0">
                <a:solidFill>
                  <a:srgbClr val="222B36"/>
                </a:solidFill>
                <a:latin typeface="Calibri" pitchFamily="34" charset="0"/>
                <a:ea typeface="Calibri" pitchFamily="34" charset="-122"/>
                <a:cs typeface="Calibri" pitchFamily="34" charset="-120"/>
              </a:rPr>
              <a:t>writing workbook</a:t>
            </a:r>
            <a:r>
              <a:rPr lang="en-US" sz="1350" dirty="0">
                <a:solidFill>
                  <a:srgbClr val="222B36"/>
                </a:solidFill>
                <a:latin typeface="Calibri" pitchFamily="34" charset="0"/>
                <a:ea typeface="Calibri" pitchFamily="34" charset="-122"/>
                <a:cs typeface="Calibri" pitchFamily="34" charset="-120"/>
              </a:rPr>
              <a:t> from Canvas</a:t>
            </a:r>
            <a:endParaRPr lang="en-US" sz="1350" dirty="0"/>
          </a:p>
        </p:txBody>
      </p:sp>
      <p:sp>
        <p:nvSpPr>
          <p:cNvPr id="19" name="card_223"/>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0" name="tag_224"/>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1" name="text_225"/>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2" name="cardbody_226"/>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Sections 0–3. Analysis slides: </a:t>
            </a:r>
            <a:r>
              <a:rPr lang="en-US" sz="1350" b="1" dirty="0">
                <a:solidFill>
                  <a:srgbClr val="222B36"/>
                </a:solidFill>
                <a:latin typeface="Calibri" pitchFamily="34" charset="0"/>
                <a:ea typeface="Calibri" pitchFamily="34" charset="-122"/>
                <a:cs typeface="Calibri" pitchFamily="34" charset="-120"/>
              </a:rPr>
              <a:t>01 Project launch</a:t>
            </a:r>
            <a:r>
              <a:rPr lang="en-US" sz="1350" dirty="0">
                <a:solidFill>
                  <a:srgbClr val="222B36"/>
                </a:solidFill>
                <a:latin typeface="Calibri" pitchFamily="34" charset="0"/>
                <a:ea typeface="Calibri" pitchFamily="34" charset="-122"/>
                <a:cs typeface="Calibri" pitchFamily="34" charset="-120"/>
              </a:rPr>
              <a:t> (and 02 if you're keen).</a:t>
            </a:r>
            <a:endParaRPr lang="en-US" sz="1350" dirty="0"/>
          </a:p>
        </p:txBody>
      </p:sp>
      <p:sp>
        <p:nvSpPr>
          <p:cNvPr id="23" name="card_227"/>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4" name="tag_228"/>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25" name="text_229"/>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26" name="cardbody_230"/>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Optional: the </a:t>
            </a:r>
            <a:r>
              <a:rPr lang="en-US" sz="1350" b="1" dirty="0">
                <a:solidFill>
                  <a:srgbClr val="222B36"/>
                </a:solidFill>
                <a:latin typeface="Calibri" pitchFamily="34" charset="0"/>
                <a:ea typeface="Calibri" pitchFamily="34" charset="-122"/>
                <a:cs typeface="Calibri" pitchFamily="34" charset="-120"/>
              </a:rPr>
              <a:t>Introduction</a:t>
            </a:r>
            <a:r>
              <a:rPr lang="en-US" sz="1350" dirty="0">
                <a:solidFill>
                  <a:srgbClr val="222B36"/>
                </a:solidFill>
                <a:latin typeface="Calibri" pitchFamily="34" charset="0"/>
                <a:ea typeface="Calibri" pitchFamily="34" charset="-122"/>
                <a:cs typeface="Calibri" pitchFamily="34" charset="-120"/>
              </a:rPr>
              <a:t> (‘An incoherent truth’) and </a:t>
            </a:r>
            <a:r>
              <a:rPr lang="en-US" sz="1350" b="1" dirty="0">
                <a:solidFill>
                  <a:srgbClr val="222B36"/>
                </a:solidFill>
                <a:latin typeface="Calibri" pitchFamily="34" charset="0"/>
                <a:ea typeface="Calibri" pitchFamily="34" charset="-122"/>
                <a:cs typeface="Calibri" pitchFamily="34" charset="-120"/>
              </a:rPr>
              <a:t>‘How to use this book’</a:t>
            </a:r>
            <a:r>
              <a:rPr lang="en-US" sz="1350" dirty="0">
                <a:solidFill>
                  <a:srgbClr val="222B36"/>
                </a:solidFill>
                <a:latin typeface="Calibri" pitchFamily="34" charset="0"/>
                <a:ea typeface="Calibri" pitchFamily="34" charset="-122"/>
                <a:cs typeface="Calibri" pitchFamily="34" charset="-120"/>
              </a:rPr>
              <a:t>: a quick taste of the course writing text</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_231"/>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Sources and attribution</a:t>
            </a:r>
            <a:endParaRPr lang="en-US" sz="2800" dirty="0"/>
          </a:p>
        </p:txBody>
      </p:sp>
      <p:sp>
        <p:nvSpPr>
          <p:cNvPr id="3" name="bullets_232"/>
          <p:cNvSpPr txBox="1"/>
          <p:nvPr/>
        </p:nvSpPr>
        <p:spPr>
          <a:xfrm>
            <a:off x="548640" y="1325880"/>
            <a:ext cx="10972800" cy="4937760"/>
          </a:xfrm>
          <a:prstGeom prst="rect">
            <a:avLst/>
          </a:prstGeom>
          <a:noFill/>
          <a:ln/>
        </p:spPr>
        <p:txBody>
          <a:bodyPr wrap="square" lIns="635" tIns="635" rIns="635" bIns="635" rtlCol="0" anchor="t"/>
          <a:lstStyle/>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ERA5: </a:t>
            </a:r>
            <a:r>
              <a:rPr lang="en-US" sz="1600" dirty="0">
                <a:solidFill>
                  <a:srgbClr val="222B36"/>
                </a:solidFill>
                <a:latin typeface="Calibri" pitchFamily="34" charset="0"/>
                <a:ea typeface="Calibri" pitchFamily="34" charset="-122"/>
                <a:cs typeface="Calibri" pitchFamily="34" charset="-120"/>
              </a:rPr>
              <a:t>ECMWF / Copernicus Climate Change Service. Hersbach, H. et al. (2020) The ERA5 global reanalysis. Q. J. R. Meteorol. Soc., 146, 1999–2049.</a:t>
            </a:r>
            <a:endParaRPr lang="en-US" sz="1600" dirty="0"/>
          </a:p>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ONI: </a:t>
            </a:r>
            <a:r>
              <a:rPr lang="en-US" sz="1600" dirty="0">
                <a:solidFill>
                  <a:srgbClr val="222B36"/>
                </a:solidFill>
                <a:latin typeface="Calibri" pitchFamily="34" charset="0"/>
                <a:ea typeface="Calibri" pitchFamily="34" charset="-122"/>
                <a:cs typeface="Calibri" pitchFamily="34" charset="-120"/>
              </a:rPr>
              <a:t>NOAA Climate Prediction Center.</a:t>
            </a:r>
            <a:endParaRPr lang="en-US" sz="1600" dirty="0"/>
          </a:p>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ENSO maps: </a:t>
            </a:r>
            <a:r>
              <a:rPr lang="en-US" sz="1600" dirty="0">
                <a:solidFill>
                  <a:srgbClr val="222B36"/>
                </a:solidFill>
                <a:latin typeface="Calibri" pitchFamily="34" charset="0"/>
                <a:ea typeface="Calibri" pitchFamily="34" charset="-122"/>
                <a:cs typeface="Calibri" pitchFamily="34" charset="-120"/>
              </a:rPr>
              <a:t>NOAA Climate.gov, based on NOAA OISST data.</a:t>
            </a:r>
            <a:endParaRPr lang="en-US" sz="1600" dirty="0"/>
          </a:p>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Blue Marble: </a:t>
            </a:r>
            <a:r>
              <a:rPr lang="en-US" sz="1600" dirty="0">
                <a:solidFill>
                  <a:srgbClr val="222B36"/>
                </a:solidFill>
                <a:latin typeface="Calibri" pitchFamily="34" charset="0"/>
                <a:ea typeface="Calibri" pitchFamily="34" charset="-122"/>
                <a:cs typeface="Calibri" pitchFamily="34" charset="-120"/>
              </a:rPr>
              <a:t>NASA/NOAA/GSFC/Suomi NPP/VIIRS, Norman Kuring (4 Jan 2012).</a:t>
            </a:r>
            <a:endParaRPr lang="en-US" sz="1600" dirty="0"/>
          </a:p>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Composite map: </a:t>
            </a:r>
            <a:r>
              <a:rPr lang="en-US" sz="1600" dirty="0">
                <a:solidFill>
                  <a:srgbClr val="222B36"/>
                </a:solidFill>
                <a:latin typeface="Calibri" pitchFamily="34" charset="0"/>
                <a:ea typeface="Calibri" pitchFamily="34" charset="-122"/>
                <a:cs typeface="Calibri" pitchFamily="34" charset="-120"/>
              </a:rPr>
              <a:t>produced for this course from ERA5 and ONI (anomalies relative to the 2010–2019 monthly climatology).</a:t>
            </a:r>
            <a:endParaRPr lang="en-US" sz="1600" dirty="0"/>
          </a:p>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Schematics: </a:t>
            </a:r>
            <a:r>
              <a:rPr lang="en-US" sz="1600" dirty="0">
                <a:solidFill>
                  <a:srgbClr val="222B36"/>
                </a:solidFill>
                <a:latin typeface="Calibri" pitchFamily="34" charset="0"/>
                <a:ea typeface="Calibri" pitchFamily="34" charset="-122"/>
                <a:cs typeface="Calibri" pitchFamily="34" charset="-120"/>
              </a:rPr>
              <a:t>created by the course team for these tutorials.</a:t>
            </a:r>
            <a:endParaRPr lang="en-US" sz="16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1 — What are we investigating?</dc:title>
  <dc:subject>ENSO and cloud cover mini-project — writing strand</dc:subject>
  <dc:creator>EART29200 course team</dc:creator>
  <cp:lastModifiedBy>EART29200 course team</cp:lastModifiedBy>
  <cp:revision>1</cp:revision>
  <dcterms:created xsi:type="dcterms:W3CDTF">2026-10-03T16:00:37Z</dcterms:created>
  <dcterms:modified xsi:type="dcterms:W3CDTF">2026-10-03T16:00:37Z</dcterms:modified>
</cp:coreProperties>
</file>