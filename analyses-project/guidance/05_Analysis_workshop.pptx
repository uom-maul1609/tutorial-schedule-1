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2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387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Point at it, don't read it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Reframe: today is about building evidence for THEIR question, not running more of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~3 min. What makes a figure report-ready -- units, clear colour scale, an honest caption.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~2 min. Their plots are their figures; ERA5/ONI are still cited data sources underneath.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 min. State the milestone, then hands-on for the rest of the session.</a:t>
            </a:r>
          </a:p>
          <a:p>
            <a:endParaRPr/>
          </a:p>
          <a:p>
            <a:r>
              <a:t>Sources: ERA5 (ECMWF/Copernicus) and ENSO/ONI (NOAA Climate.gov, NOAA CPC). Full source list is on the closing slide of Tutorial 1 -- it applies to every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530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607040" cy="1554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3400" b="1">
                <a:solidFill>
                  <a:srgbClr val="660099"/>
                </a:solidFill>
              </a:defRPr>
            </a:pPr>
            <a:r>
              <a:rPr sz="3600" b="1">
                <a:solidFill>
                  <a:srgbClr val="FFFFFF"/>
                </a:solidFill>
                <a:latin typeface="Calibri"/>
              </a:rPr>
              <a:t>Tutorial 5 — Build the evidence</a:t>
            </a:r>
          </a:p>
          <a:p>
            <a:pPr algn="ctr">
              <a:defRPr sz="2000"/>
            </a:pPr>
            <a:r>
              <a:rPr sz="1800" b="0" i="1">
                <a:solidFill>
                  <a:srgbClr val="E9F1F6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2788919"/>
            <a:ext cx="1143000" cy="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34495" y="342900"/>
            <a:ext cx="27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400" b="1" i="0">
                <a:solidFill>
                  <a:srgbClr val="FFFFFF"/>
                </a:solidFill>
                <a:latin typeface="Calibri"/>
              </a:rPr>
              <a:t>Tutorial 5 of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38000"/>
            <a:ext cx="6000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 b="0" i="1">
                <a:solidFill>
                  <a:srgbClr val="E9F1F6"/>
                </a:solidFill>
                <a:latin typeface="Calibri"/>
              </a:rPr>
              <a:t>ENSO and cloud cover mini-project - tutorial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800" b="1" i="0">
                <a:solidFill>
                  <a:srgbClr val="55307A"/>
                </a:solidFill>
                <a:latin typeface="Calibri"/>
              </a:rPr>
              <a:t>Today's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5  ·  Slide 1 of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220000"/>
            <a:ext cx="1073088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55307A"/>
                </a:solidFill>
                <a:latin typeface="Calibri"/>
              </a:rPr>
              <a:t>Goal: </a:t>
            </a:r>
            <a:r>
              <a:rPr sz="2000" b="1">
                <a:solidFill>
                  <a:srgbClr val="222222"/>
                </a:solidFill>
                <a:latin typeface="Calibri"/>
              </a:rPr>
              <a:t>Produce 3–5 provisional final figures for your report.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50000"/>
            <a:ext cx="1073088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444444"/>
                </a:solidFill>
                <a:latin typeface="Calibri"/>
              </a:rPr>
              <a:t>What you'll do today: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570000"/>
            <a:ext cx="420000" cy="420000"/>
          </a:xfrm>
          <a:prstGeom prst="ellipse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1520" y="256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Revisit your question and decide exactly which figures answer it.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210000"/>
            <a:ext cx="420000" cy="420000"/>
          </a:xfrm>
          <a:prstGeom prst="ellipse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1520" y="320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Learn what makes a figure “good” (units, scale, caption, visible evidence).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850000"/>
            <a:ext cx="420000" cy="420000"/>
          </a:xfrm>
          <a:prstGeom prst="ellipse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1520" y="384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Understand attribution rules: your figures vs. external data/images.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90000"/>
            <a:ext cx="420000" cy="420000"/>
          </a:xfrm>
          <a:prstGeom prst="ellipse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1520" y="4480000"/>
            <a:ext cx="10170880" cy="64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Save 3–5 provisional figures outside Binder, with one result sentence each.</a:t>
            </a:r>
          </a:p>
        </p:txBody>
      </p:sp>
      <p:sp>
        <p:nvSpPr>
          <p:cNvPr id="17" name="Oval 16"/>
          <p:cNvSpPr/>
          <p:nvPr/>
        </p:nvSpPr>
        <p:spPr>
          <a:xfrm>
            <a:off x="4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53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57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565847" y="6298000"/>
            <a:ext cx="260000" cy="260000"/>
          </a:xfrm>
          <a:prstGeom prst="ellipse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965847" y="6298000"/>
            <a:ext cx="260000" cy="2600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0" y="6038000"/>
            <a:ext cx="12191695" cy="2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0" i="1">
                <a:solidFill>
                  <a:srgbClr val="888888"/>
                </a:solidFill>
                <a:latin typeface="Calibri"/>
              </a:rPr>
              <a:t>Tutorial 5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55307A"/>
                </a:solidFill>
                <a:latin typeface="Calibri"/>
              </a:rPr>
              <a:t>Your report is not the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The notebook is deliberately broad.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A figure belongs in the report only if it helps answer your question.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Three strong figures can be better than ten weakly connected figures.</a:t>
            </a:r>
          </a:p>
          <a:p>
            <a:pPr>
              <a:spcAft>
                <a:spcPts val="1000"/>
              </a:spcAft>
              <a:defRPr sz="1800"/>
            </a:pPr>
            <a:r>
              <a:rPr sz="2000">
                <a:solidFill>
                  <a:srgbClr val="2B2B2B"/>
                </a:solidFill>
              </a:rPr>
              <a:t>Stop when you have enough evidence.</a:t>
            </a:r>
          </a:p>
        </p:txBody>
      </p:sp>
      <p:pic>
        <p:nvPicPr>
          <p:cNvPr id="4" name="Picture 3" descr="report_funnel_be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80160"/>
            <a:ext cx="5486400" cy="27513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6419088"/>
            <a:ext cx="10972800" cy="228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800">
                <a:solidFill>
                  <a:srgbClr val="5A5A5A"/>
                </a:solidFill>
              </a:defRPr>
            </a:pPr>
            <a:r>
              <a:t>Course-team schematic / teaching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5  ·  Slide 2 of 5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55307A"/>
                </a:solidFill>
                <a:latin typeface="Calibri"/>
              </a:rPr>
              <a:t>A good scientific figure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Shows the variable, units and relevant time/space clearly.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Uses axes/colour scales that reveal the pattern without exaggerating it.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Has a caption explaining what was calculated.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Lets the reader see the evidence for the statement in your text.</a:t>
            </a:r>
          </a:p>
          <a:p>
            <a:r>
              <a:rPr sz="2000" i="1">
                <a:solidFill>
                  <a:srgbClr val="2B2B2B"/>
                </a:solidFill>
              </a:rPr>
              <a:t>Show a neighbour your best figure without commentary -- can they tell what it shows?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5  ·  Slide 3 of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figure_anat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2018898"/>
            <a:ext cx="5486400" cy="30030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55307A"/>
                </a:solidFill>
                <a:latin typeface="Calibri"/>
              </a:rPr>
              <a:t>Your figures; external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14984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Plots you generate are your own figures.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ERA5 and ONI remain external datasets and should be acknowledged.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Caption example: 'Figure produced by the author using ERA5 … and ONI …'.</a:t>
            </a:r>
          </a:p>
          <a:p>
            <a:pPr>
              <a:spcAft>
                <a:spcPts val="1000"/>
              </a:spcAft>
              <a:defRPr sz="1900"/>
            </a:pPr>
            <a:r>
              <a:rPr sz="2000">
                <a:solidFill>
                  <a:srgbClr val="2B2B2B"/>
                </a:solidFill>
              </a:rPr>
              <a:t>External photos/diagrams are different: attribute the creator/source.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5  ·  Slide 4 of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74320"/>
            <a:ext cx="10972800" cy="566928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700" b="1">
                <a:solidFill>
                  <a:srgbClr val="660099"/>
                </a:solidFill>
              </a:defRPr>
            </a:pPr>
            <a:r>
              <a:rPr sz="2800" b="1">
                <a:solidFill>
                  <a:srgbClr val="55307A"/>
                </a:solidFill>
                <a:latin typeface="Calibri"/>
              </a:rPr>
              <a:t>Today's milestone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4937760" cy="44805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  <a:defRPr sz="2100"/>
            </a:pPr>
            <a:r>
              <a:rPr sz="2000">
                <a:solidFill>
                  <a:srgbClr val="2B2B2B"/>
                </a:solidFill>
              </a:rPr>
              <a:t>Produce 3–5 provisional final figures.</a:t>
            </a:r>
          </a:p>
          <a:p>
            <a:pPr>
              <a:spcAft>
                <a:spcPts val="1000"/>
              </a:spcAft>
              <a:defRPr sz="2100"/>
            </a:pPr>
            <a:r>
              <a:rPr sz="2000">
                <a:solidFill>
                  <a:srgbClr val="2B2B2B"/>
                </a:solidFill>
              </a:rPr>
              <a:t>Save them outside Binder.</a:t>
            </a:r>
          </a:p>
          <a:p>
            <a:pPr>
              <a:spcAft>
                <a:spcPts val="1000"/>
              </a:spcAft>
              <a:defRPr sz="2100"/>
            </a:pPr>
            <a:r>
              <a:rPr sz="2000">
                <a:solidFill>
                  <a:srgbClr val="2B2B2B"/>
                </a:solidFill>
              </a:rPr>
              <a:t>Write one result sentence for each.</a:t>
            </a:r>
          </a:p>
          <a:p>
            <a:pPr>
              <a:spcAft>
                <a:spcPts val="1000"/>
              </a:spcAft>
              <a:defRPr sz="2100"/>
            </a:pPr>
            <a:r>
              <a:rPr sz="2000">
                <a:solidFill>
                  <a:srgbClr val="2B2B2B"/>
                </a:solidFill>
              </a:rPr>
              <a:t>Remove anything that does not help answer the question.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45720"/>
            <a:ext cx="70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ENSO AND CLOUD COVER MINI-PROJECT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4495" y="45720"/>
            <a:ext cx="3600000" cy="1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900" b="1" i="0">
                <a:solidFill>
                  <a:srgbClr val="FFFFFF"/>
                </a:solidFill>
                <a:latin typeface="Calibri"/>
              </a:rPr>
              <a:t>Tutorial 5  ·  Slide 5 of 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868680"/>
            <a:ext cx="10972800" cy="38100"/>
          </a:xfrm>
          <a:prstGeom prst="rect">
            <a:avLst/>
          </a:prstGeom>
          <a:solidFill>
            <a:srgbClr val="553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ilestone_work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291590"/>
            <a:ext cx="5486400" cy="44577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496</Words>
  <Application>Microsoft Macintosh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Paul Connolly</cp:lastModifiedBy>
  <cp:revision>2</cp:revision>
  <dcterms:created xsi:type="dcterms:W3CDTF">2013-01-27T09:14:16Z</dcterms:created>
  <dcterms:modified xsi:type="dcterms:W3CDTF">2026-09-17T21:03:16Z</dcterms:modified>
  <cp:category/>
</cp:coreProperties>
</file>