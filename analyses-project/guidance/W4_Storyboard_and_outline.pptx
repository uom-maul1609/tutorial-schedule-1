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
r measures how tightly points cluster around a straight line: +1 is a perfect rising line, −1 a perfect falling line, 0 no straight-line relationship. It has no units. R² is r squared: the fraction of the month-to-month variation that a straight line in ONI accounts for, so r = 0.5 means only 25%. Look at the bottom row. Middle: the same r as the top-left panel but a quarter of the slope; r tells you how consistent a relationship is, and the slope tells you how big it is. Right: the cloud only responds in El Niño, yet r is about 0.7, so a respectable r can hide a one-sided or curved response. Always look at the scatter plot. Every panel prints n; Tutorial 5 explains why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
These are three different questions about the same data, so choose the one that matches your question. Composite: how different are El Niño and La Niña months on average? It's in percentage points and uses only months beyond the threshold. Correlation: how consistently does cloud follow the ONI from month to month? It has no units and uses every month. Slope: how much does cloud change per degree of ONI? It's in percentage points per °C and uses every month, but extreme months such as 2015–16 pull on it. If the composite is large but r is weak, there are probably a few big events or a one-sided response. Report that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
A regional mean only means something if the region contains one coherent signal. In the schematic, a box across a positive and a negative patch averages to about zero, even though both halves have strong signals. So look at the maps first, then choose a box for a physical reason. On the real composite map, the negative Maritime Continent signal and the positive central Pacific signal are only about 30° apart, so a careless 'western Pacific' box would mix them. As a sensitivity check, move your box by 5° and recompute; if the answer changes sign, say so. Put the box bounds in your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 &amp; CLOUD COVER PROJECT  ·  WRITING STRAND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274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4  ·  Thu 29 Oct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D98E1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S_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3" name="text_2"/>
          <p:cNvSpPr txBox="1"/>
          <p:nvPr/>
        </p:nvSpPr>
        <p:spPr>
          <a:xfrm>
            <a:off x="8229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4  ·  THURSDAY 29 OCTOBER</a:t>
            </a:r>
            <a:endParaRPr lang="en-US" sz="1300" dirty="0"/>
          </a:p>
        </p:txBody>
      </p:sp>
      <p:sp>
        <p:nvSpPr>
          <p:cNvPr id="4" name="text_3"/>
          <p:cNvSpPr txBox="1"/>
          <p:nvPr/>
        </p:nvSpPr>
        <p:spPr>
          <a:xfrm>
            <a:off x="822960" y="1417320"/>
            <a:ext cx="103327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the story before you write it</a:t>
            </a:r>
            <a:endParaRPr lang="en-US" sz="4200" dirty="0"/>
          </a:p>
        </p:txBody>
      </p:sp>
      <p:sp>
        <p:nvSpPr>
          <p:cNvPr id="5" name="text_4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· a figure storyboard · a topic-sentence outline</a:t>
            </a:r>
            <a:endParaRPr lang="en-US" sz="2000" dirty="0"/>
          </a:p>
        </p:txBody>
      </p:sp>
      <p:sp>
        <p:nvSpPr>
          <p:cNvPr id="6" name="leave_5"/>
          <p:cNvSpPr/>
          <p:nvPr/>
        </p:nvSpPr>
        <p:spPr>
          <a:xfrm>
            <a:off x="822960" y="43434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7" name="text_6"/>
          <p:cNvSpPr txBox="1"/>
          <p:nvPr/>
        </p:nvSpPr>
        <p:spPr>
          <a:xfrm>
            <a:off x="10058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050" dirty="0"/>
          </a:p>
        </p:txBody>
      </p:sp>
      <p:sp>
        <p:nvSpPr>
          <p:cNvPr id="8" name="text_7"/>
          <p:cNvSpPr txBox="1"/>
          <p:nvPr/>
        </p:nvSpPr>
        <p:spPr>
          <a:xfrm>
            <a:off x="1005840" y="4681728"/>
            <a:ext cx="6583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committed question, a 3–5 figure storyboard with a claim under each figure, and your word budget.</a:t>
            </a:r>
            <a:endParaRPr lang="en-US" sz="1500" dirty="0"/>
          </a:p>
        </p:txBody>
      </p:sp>
      <p:sp>
        <p:nvSpPr>
          <p:cNvPr id="9" name="text_8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EART29200  ·  ENSO and cloud cover mini-project  ·  Writing strand</a:t>
            </a:r>
            <a:endParaRPr lang="en-US" sz="1000" dirty="0"/>
          </a:p>
        </p:txBody>
      </p:sp>
      <p:sp>
        <p:nvSpPr>
          <p:cNvPr id="10" name="dot_9"/>
          <p:cNvSpPr/>
          <p:nvPr/>
        </p:nvSpPr>
        <p:spPr>
          <a:xfrm>
            <a:off x="4852264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1" name="dot_10"/>
          <p:cNvSpPr/>
          <p:nvPr/>
        </p:nvSpPr>
        <p:spPr>
          <a:xfrm>
            <a:off x="5181448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2" name="dot_11"/>
          <p:cNvSpPr/>
          <p:nvPr/>
        </p:nvSpPr>
        <p:spPr>
          <a:xfrm>
            <a:off x="5510632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3" name="dot_12"/>
          <p:cNvSpPr/>
          <p:nvPr/>
        </p:nvSpPr>
        <p:spPr>
          <a:xfrm>
            <a:off x="5839816" y="5715000"/>
            <a:ext cx="182880" cy="182880"/>
          </a:xfrm>
          <a:prstGeom prst="ellipse">
            <a:avLst/>
          </a:prstGeom>
          <a:solidFill>
            <a:srgbClr val="D98E1F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4" name="dot_13"/>
          <p:cNvSpPr/>
          <p:nvPr/>
        </p:nvSpPr>
        <p:spPr>
          <a:xfrm>
            <a:off x="6169000" y="571500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5" name="dot_14"/>
          <p:cNvSpPr/>
          <p:nvPr/>
        </p:nvSpPr>
        <p:spPr>
          <a:xfrm>
            <a:off x="6498184" y="571500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6" name="dot_15"/>
          <p:cNvSpPr/>
          <p:nvPr/>
        </p:nvSpPr>
        <p:spPr>
          <a:xfrm>
            <a:off x="6827368" y="571500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7" name="dot_16"/>
          <p:cNvSpPr/>
          <p:nvPr/>
        </p:nvSpPr>
        <p:spPr>
          <a:xfrm>
            <a:off x="7156552" y="571500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8" name="text_17"/>
          <p:cNvSpPr txBox="1"/>
          <p:nvPr/>
        </p:nvSpPr>
        <p:spPr>
          <a:xfrm>
            <a:off x="0" y="5934456"/>
            <a:ext cx="12191695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4 of 8  ·  Semester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8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plan</a:t>
            </a:r>
            <a:endParaRPr lang="en-US" sz="2800" dirty="0"/>
          </a:p>
        </p:txBody>
      </p:sp>
      <p:sp>
        <p:nvSpPr>
          <p:cNvPr id="3" name="text_19"/>
          <p:cNvSpPr txBox="1"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one question, a figure storyboard and a topic-sentence outline.</a:t>
            </a:r>
            <a:endParaRPr lang="en-US" sz="1900" dirty="0"/>
          </a:p>
        </p:txBody>
      </p:sp>
      <p:sp>
        <p:nvSpPr>
          <p:cNvPr id="4" name="num_20"/>
          <p:cNvSpPr/>
          <p:nvPr/>
        </p:nvSpPr>
        <p:spPr>
          <a:xfrm>
            <a:off x="685800" y="2057400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_21"/>
          <p:cNvSpPr txBox="1"/>
          <p:nvPr/>
        </p:nvSpPr>
        <p:spPr>
          <a:xfrm>
            <a:off x="6858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_22"/>
          <p:cNvSpPr txBox="1"/>
          <p:nvPr/>
        </p:nvSpPr>
        <p:spPr>
          <a:xfrm>
            <a:off x="1234440" y="2039112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what r tells you; composite vs correlation vs slope</a:t>
            </a:r>
            <a:endParaRPr lang="en-US" sz="1600" dirty="0"/>
          </a:p>
        </p:txBody>
      </p:sp>
      <p:sp>
        <p:nvSpPr>
          <p:cNvPr id="7" name="num_23"/>
          <p:cNvSpPr/>
          <p:nvPr/>
        </p:nvSpPr>
        <p:spPr>
          <a:xfrm>
            <a:off x="685800" y="2715768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_24"/>
          <p:cNvSpPr txBox="1"/>
          <p:nvPr/>
        </p:nvSpPr>
        <p:spPr>
          <a:xfrm>
            <a:off x="6858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_25"/>
          <p:cNvSpPr txBox="1"/>
          <p:nvPr/>
        </p:nvSpPr>
        <p:spPr>
          <a:xfrm>
            <a:off x="1234440" y="2697480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choosing (and testing) your region</a:t>
            </a:r>
            <a:endParaRPr lang="en-US" sz="1600" dirty="0"/>
          </a:p>
        </p:txBody>
      </p:sp>
      <p:sp>
        <p:nvSpPr>
          <p:cNvPr id="10" name="num_26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_27"/>
          <p:cNvSpPr txBox="1"/>
          <p:nvPr/>
        </p:nvSpPr>
        <p:spPr>
          <a:xfrm>
            <a:off x="68580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_28"/>
          <p:cNvSpPr txBox="1"/>
          <p:nvPr/>
        </p:nvSpPr>
        <p:spPr>
          <a:xfrm>
            <a:off x="1234440" y="3355848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question good enough?</a:t>
            </a:r>
            <a:endParaRPr lang="en-US" sz="1600" dirty="0"/>
          </a:p>
        </p:txBody>
      </p:sp>
      <p:sp>
        <p:nvSpPr>
          <p:cNvPr id="13" name="num_29"/>
          <p:cNvSpPr/>
          <p:nvPr/>
        </p:nvSpPr>
        <p:spPr>
          <a:xfrm>
            <a:off x="685800" y="4032504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_30"/>
          <p:cNvSpPr txBox="1"/>
          <p:nvPr/>
        </p:nvSpPr>
        <p:spPr>
          <a:xfrm>
            <a:off x="68580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_31"/>
          <p:cNvSpPr txBox="1"/>
          <p:nvPr/>
        </p:nvSpPr>
        <p:spPr>
          <a:xfrm>
            <a:off x="1234440" y="4014216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Storyboard, topic-sentence outline and word budget</a:t>
            </a:r>
            <a:endParaRPr lang="en-US" sz="1600" dirty="0"/>
          </a:p>
        </p:txBody>
      </p:sp>
      <p:sp>
        <p:nvSpPr>
          <p:cNvPr id="16" name="card_32"/>
          <p:cNvSpPr/>
          <p:nvPr/>
        </p:nvSpPr>
        <p:spPr>
          <a:xfrm>
            <a:off x="8092440" y="20116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BEBD0"/>
          </a:solidFill>
          <a:ln w="9525">
            <a:solidFill>
              <a:srgbClr val="FBEBD0"/>
            </a:solidFill>
            <a:prstDash val="solid"/>
          </a:ln>
        </p:spPr>
      </p:sp>
      <p:sp>
        <p:nvSpPr>
          <p:cNvPr id="17" name="tag_33"/>
          <p:cNvSpPr/>
          <p:nvPr/>
        </p:nvSpPr>
        <p:spPr>
          <a:xfrm>
            <a:off x="8257032" y="2139696"/>
            <a:ext cx="1545336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8" name="text_34"/>
          <p:cNvSpPr txBox="1"/>
          <p:nvPr/>
        </p:nvSpPr>
        <p:spPr>
          <a:xfrm>
            <a:off x="8257032" y="213969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/ HAVE READY</a:t>
            </a:r>
            <a:endParaRPr lang="en-US" sz="1050" dirty="0"/>
          </a:p>
        </p:txBody>
      </p:sp>
      <p:sp>
        <p:nvSpPr>
          <p:cNvPr id="19" name="cardbody_35"/>
          <p:cNvSpPr txBox="1"/>
          <p:nvPr/>
        </p:nvSpPr>
        <p:spPr>
          <a:xfrm>
            <a:off x="8257032" y="2487168"/>
            <a:ext cx="3191256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3A opening paragraph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3B synthesis paragraph + references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3C: your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figures from notebook §4–5</a:t>
            </a:r>
            <a:endParaRPr lang="en-US" sz="1400" dirty="0"/>
          </a:p>
        </p:txBody>
      </p:sp>
      <p:sp>
        <p:nvSpPr>
          <p:cNvPr id="20" name="dot_36"/>
          <p:cNvSpPr/>
          <p:nvPr/>
        </p:nvSpPr>
        <p:spPr>
          <a:xfrm>
            <a:off x="4852264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1" name="dot_37"/>
          <p:cNvSpPr/>
          <p:nvPr/>
        </p:nvSpPr>
        <p:spPr>
          <a:xfrm>
            <a:off x="5181448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2" name="dot_38"/>
          <p:cNvSpPr/>
          <p:nvPr/>
        </p:nvSpPr>
        <p:spPr>
          <a:xfrm>
            <a:off x="5510632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3" name="dot_39"/>
          <p:cNvSpPr/>
          <p:nvPr/>
        </p:nvSpPr>
        <p:spPr>
          <a:xfrm>
            <a:off x="5839816" y="5897880"/>
            <a:ext cx="182880" cy="182880"/>
          </a:xfrm>
          <a:prstGeom prst="ellipse">
            <a:avLst/>
          </a:prstGeom>
          <a:solidFill>
            <a:srgbClr val="D98E1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4" name="dot_40"/>
          <p:cNvSpPr/>
          <p:nvPr/>
        </p:nvSpPr>
        <p:spPr>
          <a:xfrm>
            <a:off x="6169000" y="5897880"/>
            <a:ext cx="182880" cy="182880"/>
          </a:xfrm>
          <a:prstGeom prst="ellipse">
            <a:avLst/>
          </a:prstGeom>
          <a:solidFill>
            <a:srgbClr val="D5DAE1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5" name="dot_41"/>
          <p:cNvSpPr/>
          <p:nvPr/>
        </p:nvSpPr>
        <p:spPr>
          <a:xfrm>
            <a:off x="6498184" y="5897880"/>
            <a:ext cx="182880" cy="182880"/>
          </a:xfrm>
          <a:prstGeom prst="ellipse">
            <a:avLst/>
          </a:prstGeom>
          <a:solidFill>
            <a:srgbClr val="D5DAE1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6" name="dot_42"/>
          <p:cNvSpPr/>
          <p:nvPr/>
        </p:nvSpPr>
        <p:spPr>
          <a:xfrm>
            <a:off x="6827368" y="5897880"/>
            <a:ext cx="182880" cy="182880"/>
          </a:xfrm>
          <a:prstGeom prst="ellipse">
            <a:avLst/>
          </a:prstGeom>
          <a:solidFill>
            <a:srgbClr val="D5DAE1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7" name="dot_43"/>
          <p:cNvSpPr/>
          <p:nvPr/>
        </p:nvSpPr>
        <p:spPr>
          <a:xfrm>
            <a:off x="7156552" y="5897880"/>
            <a:ext cx="182880" cy="182880"/>
          </a:xfrm>
          <a:prstGeom prst="ellipse">
            <a:avLst/>
          </a:prstGeom>
          <a:solidFill>
            <a:srgbClr val="D5DAE1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8" name="text_44"/>
          <p:cNvSpPr txBox="1"/>
          <p:nvPr/>
        </p:nvSpPr>
        <p:spPr>
          <a:xfrm>
            <a:off x="0" y="6117336"/>
            <a:ext cx="12191695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4 of 8  ·  Semester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_45"/>
          <p:cNvSpPr/>
          <p:nvPr/>
        </p:nvSpPr>
        <p:spPr>
          <a:xfrm>
            <a:off x="548640" y="32918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3" name="text_46"/>
          <p:cNvSpPr txBox="1"/>
          <p:nvPr/>
        </p:nvSpPr>
        <p:spPr>
          <a:xfrm>
            <a:off x="548640" y="3291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text_47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 tells you, and what it doesn't</a:t>
            </a:r>
            <a:endParaRPr lang="en-US" sz="2800" dirty="0"/>
          </a:p>
        </p:txBody>
      </p:sp>
      <p:pic>
        <p:nvPicPr>
          <p:cNvPr id="5" name="img_48" descr="/home/claude/work/build/figs/correlation_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4200" y="1234440"/>
            <a:ext cx="7200553" cy="3931920"/>
          </a:xfrm>
          <a:prstGeom prst="rect">
            <a:avLst/>
          </a:prstGeom>
        </p:spPr>
      </p:pic>
      <p:sp>
        <p:nvSpPr>
          <p:cNvPr id="6" name="mwbul_49"/>
          <p:cNvSpPr txBox="1"/>
          <p:nvPr/>
        </p:nvSpPr>
        <p:spPr>
          <a:xfrm>
            <a:off x="548640" y="5303520"/>
            <a:ext cx="11091672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consistently two things vary together along a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from −1 to +1. No units. 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r²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fraction of variance a straight line explains (r = 0.5 → 25%).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size of the effect; the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(pp per °C of ONI). Bottom middle: same r, about a quarter of the slope.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misses one-sided and curved responses. Bottom right only responds in El Niño, yet r = 0.68 looks respectable.  And every r needs its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(Tutorial 5).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_50"/>
          <p:cNvSpPr/>
          <p:nvPr/>
        </p:nvSpPr>
        <p:spPr>
          <a:xfrm>
            <a:off x="548640" y="32918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3" name="text_51"/>
          <p:cNvSpPr txBox="1"/>
          <p:nvPr/>
        </p:nvSpPr>
        <p:spPr>
          <a:xfrm>
            <a:off x="548640" y="3291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text_5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Composite, correlation, slope: three questions</a:t>
            </a:r>
            <a:endParaRPr lang="en-US" sz="2800" dirty="0"/>
          </a:p>
        </p:txBody>
      </p:sp>
      <p:sp>
        <p:nvSpPr>
          <p:cNvPr id="5" name="card_53"/>
          <p:cNvSpPr/>
          <p:nvPr/>
        </p:nvSpPr>
        <p:spPr>
          <a:xfrm>
            <a:off x="548640" y="13258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" name="tag_54"/>
          <p:cNvSpPr/>
          <p:nvPr/>
        </p:nvSpPr>
        <p:spPr>
          <a:xfrm>
            <a:off x="713232" y="1453896"/>
            <a:ext cx="845820" cy="256032"/>
          </a:xfrm>
          <a:prstGeom prst="roundRect">
            <a:avLst>
              <a:gd name="adj" fmla="val 214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_55"/>
          <p:cNvSpPr txBox="1"/>
          <p:nvPr/>
        </p:nvSpPr>
        <p:spPr>
          <a:xfrm>
            <a:off x="713232" y="145389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050" dirty="0"/>
          </a:p>
        </p:txBody>
      </p:sp>
      <p:sp>
        <p:nvSpPr>
          <p:cNvPr id="8" name="text_56"/>
          <p:cNvSpPr txBox="1"/>
          <p:nvPr/>
        </p:nvSpPr>
        <p:spPr>
          <a:xfrm>
            <a:off x="713232" y="1801368"/>
            <a:ext cx="32369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are El Niño and La Niña months, on average?</a:t>
            </a:r>
            <a:endParaRPr lang="en-US" sz="1500" dirty="0"/>
          </a:p>
        </p:txBody>
      </p:sp>
      <p:sp>
        <p:nvSpPr>
          <p:cNvPr id="9" name="cardbody_57"/>
          <p:cNvSpPr txBox="1"/>
          <p:nvPr/>
        </p:nvSpPr>
        <p:spPr>
          <a:xfrm>
            <a:off x="713232" y="2532888"/>
            <a:ext cx="3236976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pp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months beyond the threshold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simple; can show asymmetry (by phase)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few events; depends on the threshold</a:t>
            </a:r>
            <a:endParaRPr lang="en-US" sz="1350" dirty="0"/>
          </a:p>
        </p:txBody>
      </p:sp>
      <p:sp>
        <p:nvSpPr>
          <p:cNvPr id="10" name="card_58"/>
          <p:cNvSpPr/>
          <p:nvPr/>
        </p:nvSpPr>
        <p:spPr>
          <a:xfrm>
            <a:off x="4306824" y="13258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ag_59"/>
          <p:cNvSpPr/>
          <p:nvPr/>
        </p:nvSpPr>
        <p:spPr>
          <a:xfrm>
            <a:off x="4471416" y="145389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12" name="text_60"/>
          <p:cNvSpPr txBox="1"/>
          <p:nvPr/>
        </p:nvSpPr>
        <p:spPr>
          <a:xfrm>
            <a:off x="4471416" y="1453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 r</a:t>
            </a:r>
            <a:endParaRPr lang="en-US" sz="1050" dirty="0"/>
          </a:p>
        </p:txBody>
      </p:sp>
      <p:sp>
        <p:nvSpPr>
          <p:cNvPr id="13" name="text_61"/>
          <p:cNvSpPr txBox="1"/>
          <p:nvPr/>
        </p:nvSpPr>
        <p:spPr>
          <a:xfrm>
            <a:off x="4471416" y="1801368"/>
            <a:ext cx="32369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consistently does cloud follow the ONI?</a:t>
            </a:r>
            <a:endParaRPr lang="en-US" sz="1500" dirty="0"/>
          </a:p>
        </p:txBody>
      </p:sp>
      <p:sp>
        <p:nvSpPr>
          <p:cNvPr id="14" name="cardbody_62"/>
          <p:cNvSpPr txBox="1"/>
          <p:nvPr/>
        </p:nvSpPr>
        <p:spPr>
          <a:xfrm>
            <a:off x="4471416" y="2532888"/>
            <a:ext cx="3236976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units, −1 to +1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every month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uses all the information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says nothing about size; straight lines only</a:t>
            </a:r>
            <a:endParaRPr lang="en-US" sz="1350" dirty="0"/>
          </a:p>
        </p:txBody>
      </p:sp>
      <p:sp>
        <p:nvSpPr>
          <p:cNvPr id="15" name="card_63"/>
          <p:cNvSpPr/>
          <p:nvPr/>
        </p:nvSpPr>
        <p:spPr>
          <a:xfrm>
            <a:off x="8065008" y="13258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ag_64"/>
          <p:cNvSpPr/>
          <p:nvPr/>
        </p:nvSpPr>
        <p:spPr>
          <a:xfrm>
            <a:off x="8229600" y="145389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7" name="text_65"/>
          <p:cNvSpPr txBox="1"/>
          <p:nvPr/>
        </p:nvSpPr>
        <p:spPr>
          <a:xfrm>
            <a:off x="8229600" y="14538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SLOPE</a:t>
            </a:r>
            <a:endParaRPr lang="en-US" sz="1050" dirty="0"/>
          </a:p>
        </p:txBody>
      </p:sp>
      <p:sp>
        <p:nvSpPr>
          <p:cNvPr id="18" name="text_66"/>
          <p:cNvSpPr txBox="1"/>
          <p:nvPr/>
        </p:nvSpPr>
        <p:spPr>
          <a:xfrm>
            <a:off x="8229600" y="1801368"/>
            <a:ext cx="32369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cloud change per °C of ONI?</a:t>
            </a:r>
            <a:endParaRPr lang="en-US" sz="1500" dirty="0"/>
          </a:p>
        </p:txBody>
      </p:sp>
      <p:sp>
        <p:nvSpPr>
          <p:cNvPr id="19" name="cardbody_67"/>
          <p:cNvSpPr txBox="1"/>
          <p:nvPr/>
        </p:nvSpPr>
        <p:spPr>
          <a:xfrm>
            <a:off x="8229600" y="2532888"/>
            <a:ext cx="3236976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pp per °C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every month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gives the size of the effect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straight line; pulled by extremes (2015–16)</a:t>
            </a:r>
            <a:endParaRPr lang="en-US" sz="1350" dirty="0"/>
          </a:p>
        </p:txBody>
      </p:sp>
      <p:sp>
        <p:nvSpPr>
          <p:cNvPr id="20" name="card_68"/>
          <p:cNvSpPr/>
          <p:nvPr/>
        </p:nvSpPr>
        <p:spPr>
          <a:xfrm>
            <a:off x="548640" y="480060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21" name="tag_69"/>
          <p:cNvSpPr/>
          <p:nvPr/>
        </p:nvSpPr>
        <p:spPr>
          <a:xfrm>
            <a:off x="713232" y="4928616"/>
            <a:ext cx="3099816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2" name="text_70"/>
          <p:cNvSpPr txBox="1"/>
          <p:nvPr/>
        </p:nvSpPr>
        <p:spPr>
          <a:xfrm>
            <a:off x="713232" y="492861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DISAGREE, THAT'S INTERESTING</a:t>
            </a:r>
            <a:endParaRPr lang="en-US" sz="1050" dirty="0"/>
          </a:p>
        </p:txBody>
      </p:sp>
      <p:sp>
        <p:nvSpPr>
          <p:cNvPr id="23" name="text_71"/>
          <p:cNvSpPr txBox="1"/>
          <p:nvPr/>
        </p:nvSpPr>
        <p:spPr>
          <a:xfrm>
            <a:off x="713232" y="5276088"/>
            <a:ext cx="10762488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composite difference but a weak r usually means a few strong events or a one-sided response. Say so plainly. Schultz warns against claiming ‘remarkable similarity’ when, looked at closely, two results differ (§11.12).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_72"/>
          <p:cNvSpPr/>
          <p:nvPr/>
        </p:nvSpPr>
        <p:spPr>
          <a:xfrm>
            <a:off x="548640" y="32918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3" name="text_73"/>
          <p:cNvSpPr txBox="1"/>
          <p:nvPr/>
        </p:nvSpPr>
        <p:spPr>
          <a:xfrm>
            <a:off x="548640" y="3291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text_7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your region (and why it matters)</a:t>
            </a:r>
            <a:endParaRPr lang="en-US" sz="2800" dirty="0"/>
          </a:p>
        </p:txBody>
      </p:sp>
      <p:sp>
        <p:nvSpPr>
          <p:cNvPr id="5" name="mbul_75"/>
          <p:cNvSpPr txBox="1"/>
          <p:nvPr/>
        </p:nvSpPr>
        <p:spPr>
          <a:xfrm>
            <a:off x="548640" y="1280160"/>
            <a:ext cx="58521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mean can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out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box straddling positive and negative anomalies averages to almost nothing.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maps first, then choose a box that sits on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signal, for a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reason.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has 12 regions (e.g. 4 = Niño 4, 5°S–5°N, 160°E–150°W; 5 = Maritime Continent, 10°S–10°N, 100–150°E). You can add your own in REGIONS.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check: 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the box by 5° and recompute. If the answer flips, say so.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Methods.</a:t>
            </a:r>
            <a:endParaRPr lang="en-US" sz="1550" dirty="0"/>
          </a:p>
        </p:txBody>
      </p:sp>
      <p:sp>
        <p:nvSpPr>
          <p:cNvPr id="6" name="sent_76"/>
          <p:cNvSpPr/>
          <p:nvPr/>
        </p:nvSpPr>
        <p:spPr>
          <a:xfrm>
            <a:off x="548640" y="5257800"/>
            <a:ext cx="5852160" cy="1051560"/>
          </a:xfrm>
          <a:prstGeom prst="roundRect">
            <a:avLst>
              <a:gd name="adj" fmla="val 5217"/>
            </a:avLst>
          </a:prstGeom>
          <a:solidFill>
            <a:srgbClr val="DCEFEA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7" name="text_77"/>
          <p:cNvSpPr txBox="1"/>
          <p:nvPr/>
        </p:nvSpPr>
        <p:spPr>
          <a:xfrm>
            <a:off x="685800" y="5330952"/>
            <a:ext cx="5577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METHODS, THIS BECOMES</a:t>
            </a:r>
            <a:endParaRPr lang="en-US" sz="1000" dirty="0"/>
          </a:p>
        </p:txBody>
      </p:sp>
      <p:sp>
        <p:nvSpPr>
          <p:cNvPr id="8" name="text_78"/>
          <p:cNvSpPr txBox="1"/>
          <p:nvPr/>
        </p:nvSpPr>
        <p:spPr>
          <a:xfrm>
            <a:off x="685800" y="5568696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Maritime Continent region (MC; 10°S–10°N, 100–150°E) follows the notebook's predefined box.”</a:t>
            </a:r>
            <a:endParaRPr lang="en-US" sz="1350" dirty="0"/>
          </a:p>
        </p:txBody>
      </p:sp>
      <p:sp>
        <p:nvSpPr>
          <p:cNvPr id="9" name="text_79"/>
          <p:cNvSpPr txBox="1"/>
          <p:nvPr/>
        </p:nvSpPr>
        <p:spPr>
          <a:xfrm>
            <a:off x="6675120" y="1280160"/>
            <a:ext cx="49679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BADLY PLACED BOX SEES NOTHING</a:t>
            </a:r>
            <a:endParaRPr lang="en-US" sz="1050" dirty="0"/>
          </a:p>
        </p:txBody>
      </p:sp>
      <p:sp>
        <p:nvSpPr>
          <p:cNvPr id="10" name="pos_80"/>
          <p:cNvSpPr/>
          <p:nvPr/>
        </p:nvSpPr>
        <p:spPr>
          <a:xfrm>
            <a:off x="6812280" y="1737360"/>
            <a:ext cx="2346808" cy="2743200"/>
          </a:xfrm>
          <a:prstGeom prst="rect">
            <a:avLst/>
          </a:prstGeom>
          <a:solidFill>
            <a:srgbClr val="F2B8AE"/>
          </a:solidFill>
          <a:ln w="12700">
            <a:solidFill>
              <a:srgbClr val="F2B8AE"/>
            </a:solidFill>
            <a:prstDash val="solid"/>
          </a:ln>
        </p:spPr>
      </p:sp>
      <p:sp>
        <p:nvSpPr>
          <p:cNvPr id="11" name="neg_81"/>
          <p:cNvSpPr/>
          <p:nvPr/>
        </p:nvSpPr>
        <p:spPr>
          <a:xfrm>
            <a:off x="9159088" y="1737360"/>
            <a:ext cx="2346808" cy="2743200"/>
          </a:xfrm>
          <a:prstGeom prst="rect">
            <a:avLst/>
          </a:prstGeom>
          <a:solidFill>
            <a:srgbClr val="AFC8E3"/>
          </a:solidFill>
          <a:ln w="12700">
            <a:solidFill>
              <a:srgbClr val="AFC8E3"/>
            </a:solidFill>
            <a:prstDash val="solid"/>
          </a:ln>
        </p:spPr>
      </p:sp>
      <p:sp>
        <p:nvSpPr>
          <p:cNvPr id="12" name="text_82"/>
          <p:cNvSpPr txBox="1"/>
          <p:nvPr/>
        </p:nvSpPr>
        <p:spPr>
          <a:xfrm>
            <a:off x="6812280" y="1828800"/>
            <a:ext cx="234680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0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pp</a:t>
            </a:r>
            <a:endParaRPr lang="en-US" sz="1600" dirty="0"/>
          </a:p>
        </p:txBody>
      </p:sp>
      <p:sp>
        <p:nvSpPr>
          <p:cNvPr id="13" name="text_83"/>
          <p:cNvSpPr txBox="1"/>
          <p:nvPr/>
        </p:nvSpPr>
        <p:spPr>
          <a:xfrm>
            <a:off x="9159088" y="1828800"/>
            <a:ext cx="234680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 pp</a:t>
            </a:r>
            <a:endParaRPr lang="en-US" sz="1600" dirty="0"/>
          </a:p>
        </p:txBody>
      </p:sp>
      <p:sp>
        <p:nvSpPr>
          <p:cNvPr id="14" name="bad_84"/>
          <p:cNvSpPr/>
          <p:nvPr/>
        </p:nvSpPr>
        <p:spPr>
          <a:xfrm>
            <a:off x="7985684" y="2560320"/>
            <a:ext cx="2346808" cy="1463040"/>
          </a:xfrm>
          <a:prstGeom prst="rect">
            <a:avLst/>
          </a:prstGeom>
          <a:ln w="31750">
            <a:solidFill>
              <a:srgbClr val="1B2A41"/>
            </a:solidFill>
            <a:prstDash val="dash"/>
          </a:ln>
        </p:spPr>
      </p:sp>
      <p:sp>
        <p:nvSpPr>
          <p:cNvPr id="15" name="text_85"/>
          <p:cNvSpPr txBox="1"/>
          <p:nvPr/>
        </p:nvSpPr>
        <p:spPr>
          <a:xfrm>
            <a:off x="7985684" y="3063240"/>
            <a:ext cx="234680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mean ≈ 0</a:t>
            </a:r>
            <a:endParaRPr lang="en-US" sz="1400" dirty="0"/>
          </a:p>
        </p:txBody>
      </p:sp>
      <p:sp>
        <p:nvSpPr>
          <p:cNvPr id="16" name="good_86"/>
          <p:cNvSpPr/>
          <p:nvPr/>
        </p:nvSpPr>
        <p:spPr>
          <a:xfrm>
            <a:off x="6903720" y="2651760"/>
            <a:ext cx="750978" cy="1097280"/>
          </a:xfrm>
          <a:prstGeom prst="rect">
            <a:avLst/>
          </a:prstGeom>
          <a:ln w="31750">
            <a:solidFill>
              <a:srgbClr val="1F7A6E"/>
            </a:solidFill>
            <a:prstDash val="solid"/>
          </a:ln>
        </p:spPr>
      </p:sp>
      <p:sp>
        <p:nvSpPr>
          <p:cNvPr id="17" name="text_87"/>
          <p:cNvSpPr txBox="1"/>
          <p:nvPr/>
        </p:nvSpPr>
        <p:spPr>
          <a:xfrm>
            <a:off x="6858000" y="3794760"/>
            <a:ext cx="938723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00" dirty="0"/>
          </a:p>
        </p:txBody>
      </p:sp>
      <p:sp>
        <p:nvSpPr>
          <p:cNvPr id="18" name="text_88"/>
          <p:cNvSpPr txBox="1"/>
          <p:nvPr/>
        </p:nvSpPr>
        <p:spPr>
          <a:xfrm>
            <a:off x="6812280" y="4572000"/>
            <a:ext cx="469361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89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your question good enough?</a:t>
            </a:r>
            <a:endParaRPr lang="en-US" sz="2800" dirty="0"/>
          </a:p>
        </p:txBody>
      </p:sp>
      <p:sp>
        <p:nvSpPr>
          <p:cNvPr id="3" name="bullets_90"/>
          <p:cNvSpPr txBox="1"/>
          <p:nvPr/>
        </p:nvSpPr>
        <p:spPr>
          <a:xfrm>
            <a:off x="548640" y="1325880"/>
            <a:ext cx="539496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Specific: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names a cloud type, region, season or timing.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Answerable: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ERA5 + ONI and the notebook's tools.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Interesting: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has a real ‘however’ (Tutorial 3).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3–5 figures and about 650 words of Results.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 is a mechanism you can discuss.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best candidate to a partner (20 s). They score it /5 against this list.</a:t>
            </a:r>
            <a:endParaRPr lang="en-US" sz="1600" dirty="0"/>
          </a:p>
        </p:txBody>
      </p:sp>
      <p:sp>
        <p:nvSpPr>
          <p:cNvPr id="4" name="text_91"/>
          <p:cNvSpPr txBox="1"/>
          <p:nvPr/>
        </p:nvSpPr>
        <p:spPr>
          <a:xfrm>
            <a:off x="6263640" y="1325880"/>
            <a:ext cx="537941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A QUESTION, ONE RUNG AT A TIME</a:t>
            </a:r>
            <a:endParaRPr lang="en-US" sz="1050" dirty="0"/>
          </a:p>
        </p:txBody>
      </p:sp>
      <p:sp>
        <p:nvSpPr>
          <p:cNvPr id="5" name="rung_92"/>
          <p:cNvSpPr/>
          <p:nvPr/>
        </p:nvSpPr>
        <p:spPr>
          <a:xfrm>
            <a:off x="6263640" y="1737360"/>
            <a:ext cx="5379415" cy="777240"/>
          </a:xfrm>
          <a:prstGeom prst="roundRect">
            <a:avLst>
              <a:gd name="adj" fmla="val 7059"/>
            </a:avLst>
          </a:prstGeom>
          <a:solidFill>
            <a:srgbClr val="F7F4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_93"/>
          <p:cNvSpPr txBox="1"/>
          <p:nvPr/>
        </p:nvSpPr>
        <p:spPr>
          <a:xfrm>
            <a:off x="6400800" y="1810512"/>
            <a:ext cx="3779215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ENSO affect clouds?</a:t>
            </a:r>
            <a:endParaRPr lang="en-US" sz="1300" dirty="0"/>
          </a:p>
        </p:txBody>
      </p:sp>
      <p:sp>
        <p:nvSpPr>
          <p:cNvPr id="7" name="text_94"/>
          <p:cNvSpPr txBox="1"/>
          <p:nvPr/>
        </p:nvSpPr>
        <p:spPr>
          <a:xfrm>
            <a:off x="10225735" y="1810512"/>
            <a:ext cx="132588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</a:t>
            </a:r>
            <a:endParaRPr lang="en-US" sz="1100" dirty="0"/>
          </a:p>
        </p:txBody>
      </p:sp>
      <p:sp>
        <p:nvSpPr>
          <p:cNvPr id="8" name="rung_95"/>
          <p:cNvSpPr/>
          <p:nvPr/>
        </p:nvSpPr>
        <p:spPr>
          <a:xfrm>
            <a:off x="6400800" y="2624328"/>
            <a:ext cx="5242255" cy="777240"/>
          </a:xfrm>
          <a:prstGeom prst="roundRect">
            <a:avLst>
              <a:gd name="adj" fmla="val 7059"/>
            </a:avLst>
          </a:prstGeom>
          <a:solidFill>
            <a:srgbClr val="F7F4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_96"/>
          <p:cNvSpPr txBox="1"/>
          <p:nvPr/>
        </p:nvSpPr>
        <p:spPr>
          <a:xfrm>
            <a:off x="6537960" y="2697480"/>
            <a:ext cx="3642055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ENSO affect high cloud?</a:t>
            </a:r>
            <a:endParaRPr lang="en-US" sz="1300" dirty="0"/>
          </a:p>
        </p:txBody>
      </p:sp>
      <p:sp>
        <p:nvSpPr>
          <p:cNvPr id="10" name="text_97"/>
          <p:cNvSpPr txBox="1"/>
          <p:nvPr/>
        </p:nvSpPr>
        <p:spPr>
          <a:xfrm>
            <a:off x="10225735" y="2697480"/>
            <a:ext cx="132588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cloud type</a:t>
            </a:r>
            <a:endParaRPr lang="en-US" sz="1100" dirty="0"/>
          </a:p>
        </p:txBody>
      </p:sp>
      <p:sp>
        <p:nvSpPr>
          <p:cNvPr id="11" name="rung_98"/>
          <p:cNvSpPr/>
          <p:nvPr/>
        </p:nvSpPr>
        <p:spPr>
          <a:xfrm>
            <a:off x="6537960" y="3511296"/>
            <a:ext cx="5105095" cy="777240"/>
          </a:xfrm>
          <a:prstGeom prst="roundRect">
            <a:avLst>
              <a:gd name="adj" fmla="val 7059"/>
            </a:avLst>
          </a:prstGeom>
          <a:solidFill>
            <a:srgbClr val="F7F4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text_99"/>
          <p:cNvSpPr txBox="1"/>
          <p:nvPr/>
        </p:nvSpPr>
        <p:spPr>
          <a:xfrm>
            <a:off x="6675120" y="3584448"/>
            <a:ext cx="3504895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high cloud over the central Pacific respond to ENSO?</a:t>
            </a:r>
            <a:endParaRPr lang="en-US" sz="1300" dirty="0"/>
          </a:p>
        </p:txBody>
      </p:sp>
      <p:sp>
        <p:nvSpPr>
          <p:cNvPr id="13" name="text_100"/>
          <p:cNvSpPr txBox="1"/>
          <p:nvPr/>
        </p:nvSpPr>
        <p:spPr>
          <a:xfrm>
            <a:off x="10225735" y="3584448"/>
            <a:ext cx="132588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</a:t>
            </a:r>
            <a:endParaRPr lang="en-US" sz="1100" dirty="0"/>
          </a:p>
        </p:txBody>
      </p:sp>
      <p:sp>
        <p:nvSpPr>
          <p:cNvPr id="14" name="rung_101"/>
          <p:cNvSpPr/>
          <p:nvPr/>
        </p:nvSpPr>
        <p:spPr>
          <a:xfrm>
            <a:off x="6675120" y="4398264"/>
            <a:ext cx="4967935" cy="1417320"/>
          </a:xfrm>
          <a:prstGeom prst="roundRect">
            <a:avLst>
              <a:gd name="adj" fmla="val 3871"/>
            </a:avLst>
          </a:prstGeom>
          <a:solidFill>
            <a:srgbClr val="DCEFEA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15" name="text_102"/>
          <p:cNvSpPr txBox="1"/>
          <p:nvPr/>
        </p:nvSpPr>
        <p:spPr>
          <a:xfrm>
            <a:off x="6812280" y="4471416"/>
            <a:ext cx="3367735" cy="1271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high cloud over the central Pacific respond to ENSO in the opposite sense to high cloud over the Maritime Continent, and which response is stronger?</a:t>
            </a:r>
            <a:endParaRPr lang="en-US" sz="1300" dirty="0"/>
          </a:p>
        </p:txBody>
      </p:sp>
      <p:sp>
        <p:nvSpPr>
          <p:cNvPr id="16" name="text_103"/>
          <p:cNvSpPr txBox="1"/>
          <p:nvPr/>
        </p:nvSpPr>
        <p:spPr>
          <a:xfrm>
            <a:off x="10225735" y="4471416"/>
            <a:ext cx="1325880" cy="1271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testable contrast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0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Storyboard: one claim under every figure</a:t>
            </a:r>
            <a:endParaRPr lang="en-US" sz="2800" dirty="0"/>
          </a:p>
        </p:txBody>
      </p:sp>
      <p:sp>
        <p:nvSpPr>
          <p:cNvPr id="3" name="q_105"/>
          <p:cNvSpPr/>
          <p:nvPr/>
        </p:nvSpPr>
        <p:spPr>
          <a:xfrm>
            <a:off x="548640" y="12801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_106"/>
          <p:cNvSpPr txBox="1"/>
          <p:nvPr/>
        </p:nvSpPr>
        <p:spPr>
          <a:xfrm>
            <a:off x="731520" y="1280160"/>
            <a:ext cx="10789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Does high cloud over the central Pacific respond to ENSO in the opposite sense to the Maritime Continent?</a:t>
            </a:r>
            <a:endParaRPr lang="en-US" sz="1500" dirty="0"/>
          </a:p>
        </p:txBody>
      </p:sp>
      <p:sp>
        <p:nvSpPr>
          <p:cNvPr id="5" name="thumb_107"/>
          <p:cNvSpPr/>
          <p:nvPr/>
        </p:nvSpPr>
        <p:spPr>
          <a:xfrm>
            <a:off x="548640" y="2057400"/>
            <a:ext cx="2606040" cy="1508760"/>
          </a:xfrm>
          <a:prstGeom prst="rect">
            <a:avLst/>
          </a:prstGeom>
          <a:solidFill>
            <a:srgbClr val="F7F4EE"/>
          </a:solidFill>
          <a:ln w="12700">
            <a:solidFill>
              <a:srgbClr val="5B6573"/>
            </a:solidFill>
            <a:prstDash val="dash"/>
          </a:ln>
        </p:spPr>
      </p:sp>
      <p:sp>
        <p:nvSpPr>
          <p:cNvPr id="6" name="text_108"/>
          <p:cNvSpPr txBox="1"/>
          <p:nvPr/>
        </p:nvSpPr>
        <p:spPr>
          <a:xfrm>
            <a:off x="64008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· CONTEXT</a:t>
            </a:r>
            <a:endParaRPr lang="en-US" sz="1100" dirty="0"/>
          </a:p>
        </p:txBody>
      </p:sp>
      <p:sp>
        <p:nvSpPr>
          <p:cNvPr id="7" name="text_109"/>
          <p:cNvSpPr txBox="1"/>
          <p:nvPr/>
        </p:nvSpPr>
        <p:spPr>
          <a:xfrm>
            <a:off x="640080" y="2395728"/>
            <a:ext cx="2423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Niño − La Niña composite map of high cloud, both regions boxed</a:t>
            </a:r>
            <a:endParaRPr lang="en-US" sz="1200" dirty="0"/>
          </a:p>
        </p:txBody>
      </p:sp>
      <p:sp>
        <p:nvSpPr>
          <p:cNvPr id="8" name="text_110"/>
          <p:cNvSpPr txBox="1"/>
          <p:nvPr/>
        </p:nvSpPr>
        <p:spPr>
          <a:xfrm>
            <a:off x="548640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FIGURE SHOWS THAT…</a:t>
            </a:r>
            <a:endParaRPr lang="en-US" sz="1000" dirty="0"/>
          </a:p>
        </p:txBody>
      </p:sp>
      <p:sp>
        <p:nvSpPr>
          <p:cNvPr id="9" name="text_111"/>
          <p:cNvSpPr txBox="1"/>
          <p:nvPr/>
        </p:nvSpPr>
        <p:spPr>
          <a:xfrm>
            <a:off x="548640" y="3913632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High-cloud anomalies have opposite signs in the two boxed regions.</a:t>
            </a:r>
            <a:endParaRPr lang="en-US" sz="1300" dirty="0"/>
          </a:p>
        </p:txBody>
      </p:sp>
      <p:sp>
        <p:nvSpPr>
          <p:cNvPr id="10" name="arrow_112"/>
          <p:cNvSpPr/>
          <p:nvPr/>
        </p:nvSpPr>
        <p:spPr>
          <a:xfrm>
            <a:off x="3172968" y="2807208"/>
            <a:ext cx="192024" cy="914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1" name="thumb_113"/>
          <p:cNvSpPr/>
          <p:nvPr/>
        </p:nvSpPr>
        <p:spPr>
          <a:xfrm>
            <a:off x="3383280" y="2057400"/>
            <a:ext cx="2606040" cy="1508760"/>
          </a:xfrm>
          <a:prstGeom prst="rect">
            <a:avLst/>
          </a:prstGeom>
          <a:solidFill>
            <a:srgbClr val="F7F4EE"/>
          </a:solidFill>
          <a:ln w="12700">
            <a:solidFill>
              <a:srgbClr val="5B6573"/>
            </a:solidFill>
            <a:prstDash val="dash"/>
          </a:ln>
        </p:spPr>
      </p:sp>
      <p:sp>
        <p:nvSpPr>
          <p:cNvPr id="12" name="text_114"/>
          <p:cNvSpPr txBox="1"/>
          <p:nvPr/>
        </p:nvSpPr>
        <p:spPr>
          <a:xfrm>
            <a:off x="347472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· TEST</a:t>
            </a:r>
            <a:endParaRPr lang="en-US" sz="1100" dirty="0"/>
          </a:p>
        </p:txBody>
      </p:sp>
      <p:sp>
        <p:nvSpPr>
          <p:cNvPr id="13" name="text_115"/>
          <p:cNvSpPr txBox="1"/>
          <p:nvPr/>
        </p:nvSpPr>
        <p:spPr>
          <a:xfrm>
            <a:off x="3474720" y="2395728"/>
            <a:ext cx="2423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anomaly time series with ONI overlaid</a:t>
            </a:r>
            <a:endParaRPr lang="en-US" sz="1200" dirty="0"/>
          </a:p>
        </p:txBody>
      </p:sp>
      <p:sp>
        <p:nvSpPr>
          <p:cNvPr id="14" name="text_116"/>
          <p:cNvSpPr txBox="1"/>
          <p:nvPr/>
        </p:nvSpPr>
        <p:spPr>
          <a:xfrm>
            <a:off x="3383280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FIGURE SHOWS THAT…</a:t>
            </a:r>
            <a:endParaRPr lang="en-US" sz="1000" dirty="0"/>
          </a:p>
        </p:txBody>
      </p:sp>
      <p:sp>
        <p:nvSpPr>
          <p:cNvPr id="15" name="text_117"/>
          <p:cNvSpPr txBox="1"/>
          <p:nvPr/>
        </p:nvSpPr>
        <p:spPr>
          <a:xfrm>
            <a:off x="3383280" y="3913632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Pacific high cloud rises in each El Niño; Maritime Continent high cloud falls.</a:t>
            </a:r>
            <a:endParaRPr lang="en-US" sz="1300" dirty="0"/>
          </a:p>
        </p:txBody>
      </p:sp>
      <p:sp>
        <p:nvSpPr>
          <p:cNvPr id="16" name="arrow_118"/>
          <p:cNvSpPr/>
          <p:nvPr/>
        </p:nvSpPr>
        <p:spPr>
          <a:xfrm>
            <a:off x="6007608" y="2807208"/>
            <a:ext cx="192024" cy="914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7" name="thumb_119"/>
          <p:cNvSpPr/>
          <p:nvPr/>
        </p:nvSpPr>
        <p:spPr>
          <a:xfrm>
            <a:off x="6217920" y="2057400"/>
            <a:ext cx="2606040" cy="1508760"/>
          </a:xfrm>
          <a:prstGeom prst="rect">
            <a:avLst/>
          </a:prstGeom>
          <a:solidFill>
            <a:srgbClr val="F7F4EE"/>
          </a:solidFill>
          <a:ln w="12700">
            <a:solidFill>
              <a:srgbClr val="5B6573"/>
            </a:solidFill>
            <a:prstDash val="dash"/>
          </a:ln>
        </p:spPr>
      </p:sp>
      <p:sp>
        <p:nvSpPr>
          <p:cNvPr id="18" name="text_120"/>
          <p:cNvSpPr txBox="1"/>
          <p:nvPr/>
        </p:nvSpPr>
        <p:spPr>
          <a:xfrm>
            <a:off x="63093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· QUANTIFY</a:t>
            </a:r>
            <a:endParaRPr lang="en-US" sz="1100" dirty="0"/>
          </a:p>
        </p:txBody>
      </p:sp>
      <p:sp>
        <p:nvSpPr>
          <p:cNvPr id="19" name="text_121"/>
          <p:cNvSpPr txBox="1"/>
          <p:nvPr/>
        </p:nvSpPr>
        <p:spPr>
          <a:xfrm>
            <a:off x="6309360" y="2395728"/>
            <a:ext cx="2423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regional anomaly vs ONI, with r, n and slope</a:t>
            </a:r>
            <a:endParaRPr lang="en-US" sz="1200" dirty="0"/>
          </a:p>
        </p:txBody>
      </p:sp>
      <p:sp>
        <p:nvSpPr>
          <p:cNvPr id="20" name="text_122"/>
          <p:cNvSpPr txBox="1"/>
          <p:nvPr/>
        </p:nvSpPr>
        <p:spPr>
          <a:xfrm>
            <a:off x="6217920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FIGURE SHOWS THAT…</a:t>
            </a:r>
            <a:endParaRPr lang="en-US" sz="1000" dirty="0"/>
          </a:p>
        </p:txBody>
      </p:sp>
      <p:sp>
        <p:nvSpPr>
          <p:cNvPr id="21" name="text_123"/>
          <p:cNvSpPr txBox="1"/>
          <p:nvPr/>
        </p:nvSpPr>
        <p:spPr>
          <a:xfrm>
            <a:off x="6217920" y="3913632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Maritime Continent relationship is weaker (r ≈ [ ]) than the central Pacific one (r ≈ [ ]).</a:t>
            </a:r>
            <a:endParaRPr lang="en-US" sz="1300" dirty="0"/>
          </a:p>
        </p:txBody>
      </p:sp>
      <p:sp>
        <p:nvSpPr>
          <p:cNvPr id="22" name="arrow_124"/>
          <p:cNvSpPr/>
          <p:nvPr/>
        </p:nvSpPr>
        <p:spPr>
          <a:xfrm>
            <a:off x="8842248" y="2807208"/>
            <a:ext cx="192024" cy="914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23" name="thumb_125"/>
          <p:cNvSpPr/>
          <p:nvPr/>
        </p:nvSpPr>
        <p:spPr>
          <a:xfrm>
            <a:off x="9052560" y="2057400"/>
            <a:ext cx="2606040" cy="1508760"/>
          </a:xfrm>
          <a:prstGeom prst="rect">
            <a:avLst/>
          </a:prstGeom>
          <a:solidFill>
            <a:srgbClr val="F7F4EE"/>
          </a:solidFill>
          <a:ln w="12700">
            <a:solidFill>
              <a:srgbClr val="5B6573"/>
            </a:solidFill>
            <a:prstDash val="dash"/>
          </a:ln>
        </p:spPr>
      </p:sp>
      <p:sp>
        <p:nvSpPr>
          <p:cNvPr id="24" name="text_126"/>
          <p:cNvSpPr txBox="1"/>
          <p:nvPr/>
        </p:nvSpPr>
        <p:spPr>
          <a:xfrm>
            <a:off x="914400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· QUALIFY</a:t>
            </a:r>
            <a:endParaRPr lang="en-US" sz="1100" dirty="0"/>
          </a:p>
        </p:txBody>
      </p:sp>
      <p:sp>
        <p:nvSpPr>
          <p:cNvPr id="25" name="text_127"/>
          <p:cNvSpPr txBox="1"/>
          <p:nvPr/>
        </p:nvSpPr>
        <p:spPr>
          <a:xfrm>
            <a:off x="9144000" y="2395728"/>
            <a:ext cx="2423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by season (or lag)</a:t>
            </a:r>
            <a:endParaRPr lang="en-US" sz="1200" dirty="0"/>
          </a:p>
        </p:txBody>
      </p:sp>
      <p:sp>
        <p:nvSpPr>
          <p:cNvPr id="26" name="text_128"/>
          <p:cNvSpPr txBox="1"/>
          <p:nvPr/>
        </p:nvSpPr>
        <p:spPr>
          <a:xfrm>
            <a:off x="9052560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FIGURE SHOWS THAT…</a:t>
            </a:r>
            <a:endParaRPr lang="en-US" sz="1000" dirty="0"/>
          </a:p>
        </p:txBody>
      </p:sp>
      <p:sp>
        <p:nvSpPr>
          <p:cNvPr id="27" name="text_129"/>
          <p:cNvSpPr txBox="1"/>
          <p:nvPr/>
        </p:nvSpPr>
        <p:spPr>
          <a:xfrm>
            <a:off x="9052560" y="3913632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Maritime Continent response is concentrated in [season].</a:t>
            </a:r>
            <a:endParaRPr lang="en-US" sz="1300" dirty="0"/>
          </a:p>
        </p:txBody>
      </p:sp>
      <p:sp>
        <p:nvSpPr>
          <p:cNvPr id="28" name="card_130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BEBD0"/>
          </a:solidFill>
          <a:ln w="9525">
            <a:solidFill>
              <a:srgbClr val="FBEBD0"/>
            </a:solidFill>
            <a:prstDash val="solid"/>
          </a:ln>
        </p:spPr>
      </p:sp>
      <p:sp>
        <p:nvSpPr>
          <p:cNvPr id="29" name="text_131"/>
          <p:cNvSpPr txBox="1"/>
          <p:nvPr/>
        </p:nvSpPr>
        <p:spPr>
          <a:xfrm>
            <a:off x="713232" y="5385816"/>
            <a:ext cx="10762488" cy="8321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claims, left to right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Do they answer the question in a sensible order? A claim you can't write means you don't yet know what that figure is for. A step with no figure means a gap. (Example claims are illustrative; yours come from your own analysis.)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3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 in topic sentences</a:t>
            </a:r>
            <a:endParaRPr lang="en-US" sz="2800" dirty="0"/>
          </a:p>
        </p:txBody>
      </p:sp>
      <p:sp>
        <p:nvSpPr>
          <p:cNvPr id="3" name="bullets_133"/>
          <p:cNvSpPr txBox="1"/>
          <p:nvPr/>
        </p:nvSpPr>
        <p:spPr>
          <a:xfrm>
            <a:off x="548640" y="1325880"/>
            <a:ext cx="55778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has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announced by its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sentence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(Schultz ch. 8).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authors outline by writing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sentence first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 in order, they should tell the whole story.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assert–justify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proposal tutorials: state the point first, then the detail. Speed-readers get the message; careful readers read on.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Results, the topic sentence is usually the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rest of the paragraph is the evidence.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words ≈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15–18 paragraphs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That's 15–18 topic sentences: about one side of A4.</a:t>
            </a:r>
            <a:endParaRPr lang="en-US" sz="1600" dirty="0"/>
          </a:p>
        </p:txBody>
      </p:sp>
      <p:sp>
        <p:nvSpPr>
          <p:cNvPr id="4" name="card_134"/>
          <p:cNvSpPr/>
          <p:nvPr/>
        </p:nvSpPr>
        <p:spPr>
          <a:xfrm>
            <a:off x="6446520" y="1325880"/>
            <a:ext cx="519653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ag_135"/>
          <p:cNvSpPr/>
          <p:nvPr/>
        </p:nvSpPr>
        <p:spPr>
          <a:xfrm>
            <a:off x="6611112" y="1453896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6" name="text_136"/>
          <p:cNvSpPr txBox="1"/>
          <p:nvPr/>
        </p:nvSpPr>
        <p:spPr>
          <a:xfrm>
            <a:off x="6611112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RESULTS OUTLINE</a:t>
            </a:r>
            <a:endParaRPr lang="en-US" sz="1050" dirty="0"/>
          </a:p>
        </p:txBody>
      </p:sp>
      <p:sp>
        <p:nvSpPr>
          <p:cNvPr id="7" name="cardbody_137"/>
          <p:cNvSpPr txBox="1"/>
          <p:nvPr/>
        </p:nvSpPr>
        <p:spPr>
          <a:xfrm>
            <a:off x="6611112" y="1801368"/>
            <a:ext cx="4867351" cy="4187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High-cloud anomalies have opposite signs over the central Pacific and the Maritime Continent during El Niño (Fig. 1).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Central Pacific high cloud rises during El Niño and falls during La Niña (Fig. 2).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The Maritime Continent relationship is weaker than the central Pacific one (Fig. 3).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The Maritime Continent response is concentrated in [season] (Fig. 4).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(illustrative; your sentences come from your figures)</a:t>
            </a:r>
            <a:endParaRPr lang="en-US" sz="1350" dirty="0"/>
          </a:p>
        </p:txBody>
      </p:sp>
      <p:sp>
        <p:nvSpPr>
          <p:cNvPr id="8" name="text_138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ch. 8 ‘Constructing effective paragraphs’; assert–justify from Research Funding Toolkit ch. 10.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39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2,000-word budget</a:t>
            </a:r>
            <a:endParaRPr lang="en-US" sz="2800" dirty="0"/>
          </a:p>
        </p:txBody>
      </p:sp>
      <p:sp>
        <p:nvSpPr>
          <p:cNvPr id="3" name="seg_140"/>
          <p:cNvSpPr/>
          <p:nvPr/>
        </p:nvSpPr>
        <p:spPr>
          <a:xfrm>
            <a:off x="548640" y="1600200"/>
            <a:ext cx="1941043" cy="1143000"/>
          </a:xfrm>
          <a:prstGeom prst="rect">
            <a:avLst/>
          </a:prstGeom>
          <a:solidFill>
            <a:srgbClr val="1B2A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_141"/>
          <p:cNvSpPr txBox="1"/>
          <p:nvPr/>
        </p:nvSpPr>
        <p:spPr>
          <a:xfrm>
            <a:off x="548640" y="1709928"/>
            <a:ext cx="1941043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_142"/>
          <p:cNvSpPr txBox="1"/>
          <p:nvPr/>
        </p:nvSpPr>
        <p:spPr>
          <a:xfrm>
            <a:off x="548640" y="2039112"/>
            <a:ext cx="1941043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2000" dirty="0"/>
          </a:p>
        </p:txBody>
      </p:sp>
      <p:sp>
        <p:nvSpPr>
          <p:cNvPr id="6" name="text_143"/>
          <p:cNvSpPr txBox="1"/>
          <p:nvPr/>
        </p:nvSpPr>
        <p:spPr>
          <a:xfrm>
            <a:off x="548640" y="2404872"/>
            <a:ext cx="194104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¶</a:t>
            </a:r>
            <a:endParaRPr lang="en-US" sz="1100" dirty="0"/>
          </a:p>
        </p:txBody>
      </p:sp>
      <p:sp>
        <p:nvSpPr>
          <p:cNvPr id="7" name="seg_144"/>
          <p:cNvSpPr/>
          <p:nvPr/>
        </p:nvSpPr>
        <p:spPr>
          <a:xfrm>
            <a:off x="2489683" y="1600200"/>
            <a:ext cx="1663751" cy="1143000"/>
          </a:xfrm>
          <a:prstGeom prst="rect">
            <a:avLst/>
          </a:prstGeom>
          <a:solidFill>
            <a:srgbClr val="2E4A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_145"/>
          <p:cNvSpPr txBox="1"/>
          <p:nvPr/>
        </p:nvSpPr>
        <p:spPr>
          <a:xfrm>
            <a:off x="2489683" y="1709928"/>
            <a:ext cx="1663751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400" dirty="0"/>
          </a:p>
        </p:txBody>
      </p:sp>
      <p:sp>
        <p:nvSpPr>
          <p:cNvPr id="9" name="text_146"/>
          <p:cNvSpPr txBox="1"/>
          <p:nvPr/>
        </p:nvSpPr>
        <p:spPr>
          <a:xfrm>
            <a:off x="2489683" y="2039112"/>
            <a:ext cx="1663751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000" dirty="0"/>
          </a:p>
        </p:txBody>
      </p:sp>
      <p:sp>
        <p:nvSpPr>
          <p:cNvPr id="10" name="text_147"/>
          <p:cNvSpPr txBox="1"/>
          <p:nvPr/>
        </p:nvSpPr>
        <p:spPr>
          <a:xfrm>
            <a:off x="2489683" y="2404872"/>
            <a:ext cx="1663751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¶</a:t>
            </a:r>
            <a:endParaRPr lang="en-US" sz="1100" dirty="0"/>
          </a:p>
        </p:txBody>
      </p:sp>
      <p:sp>
        <p:nvSpPr>
          <p:cNvPr id="11" name="seg_148"/>
          <p:cNvSpPr/>
          <p:nvPr/>
        </p:nvSpPr>
        <p:spPr>
          <a:xfrm>
            <a:off x="4153433" y="1600200"/>
            <a:ext cx="3604793" cy="1143000"/>
          </a:xfrm>
          <a:prstGeom prst="rect">
            <a:avLst/>
          </a:prstGeom>
          <a:solidFill>
            <a:srgbClr val="1F7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_149"/>
          <p:cNvSpPr txBox="1"/>
          <p:nvPr/>
        </p:nvSpPr>
        <p:spPr>
          <a:xfrm>
            <a:off x="4153433" y="1709928"/>
            <a:ext cx="3604793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13" name="text_150"/>
          <p:cNvSpPr txBox="1"/>
          <p:nvPr/>
        </p:nvSpPr>
        <p:spPr>
          <a:xfrm>
            <a:off x="4153433" y="2039112"/>
            <a:ext cx="3604793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</a:t>
            </a:r>
            <a:endParaRPr lang="en-US" sz="2000" dirty="0"/>
          </a:p>
        </p:txBody>
      </p:sp>
      <p:sp>
        <p:nvSpPr>
          <p:cNvPr id="14" name="text_151"/>
          <p:cNvSpPr txBox="1"/>
          <p:nvPr/>
        </p:nvSpPr>
        <p:spPr>
          <a:xfrm>
            <a:off x="4153433" y="2404872"/>
            <a:ext cx="360479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¶</a:t>
            </a:r>
            <a:endParaRPr lang="en-US" sz="1100" dirty="0"/>
          </a:p>
        </p:txBody>
      </p:sp>
      <p:sp>
        <p:nvSpPr>
          <p:cNvPr id="15" name="seg_152"/>
          <p:cNvSpPr/>
          <p:nvPr/>
        </p:nvSpPr>
        <p:spPr>
          <a:xfrm>
            <a:off x="7758227" y="1600200"/>
            <a:ext cx="2495626" cy="1143000"/>
          </a:xfrm>
          <a:prstGeom prst="rect">
            <a:avLst/>
          </a:prstGeom>
          <a:solidFill>
            <a:srgbClr val="4F6F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_153"/>
          <p:cNvSpPr txBox="1"/>
          <p:nvPr/>
        </p:nvSpPr>
        <p:spPr>
          <a:xfrm>
            <a:off x="7758227" y="1709928"/>
            <a:ext cx="249562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17" name="text_154"/>
          <p:cNvSpPr txBox="1"/>
          <p:nvPr/>
        </p:nvSpPr>
        <p:spPr>
          <a:xfrm>
            <a:off x="7758227" y="2039112"/>
            <a:ext cx="249562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2000" dirty="0"/>
          </a:p>
        </p:txBody>
      </p:sp>
      <p:sp>
        <p:nvSpPr>
          <p:cNvPr id="18" name="text_155"/>
          <p:cNvSpPr txBox="1"/>
          <p:nvPr/>
        </p:nvSpPr>
        <p:spPr>
          <a:xfrm>
            <a:off x="7758227" y="2404872"/>
            <a:ext cx="249562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¶</a:t>
            </a:r>
            <a:endParaRPr lang="en-US" sz="1100" dirty="0"/>
          </a:p>
        </p:txBody>
      </p:sp>
      <p:sp>
        <p:nvSpPr>
          <p:cNvPr id="19" name="seg_156"/>
          <p:cNvSpPr/>
          <p:nvPr/>
        </p:nvSpPr>
        <p:spPr>
          <a:xfrm>
            <a:off x="10253853" y="1600200"/>
            <a:ext cx="831875" cy="1143000"/>
          </a:xfrm>
          <a:prstGeom prst="rect">
            <a:avLst/>
          </a:prstGeom>
          <a:solidFill>
            <a:srgbClr val="D98E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_157"/>
          <p:cNvSpPr txBox="1"/>
          <p:nvPr/>
        </p:nvSpPr>
        <p:spPr>
          <a:xfrm>
            <a:off x="10253853" y="1709928"/>
            <a:ext cx="83187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Concl.</a:t>
            </a:r>
            <a:endParaRPr lang="en-US" sz="1150" dirty="0"/>
          </a:p>
        </p:txBody>
      </p:sp>
      <p:sp>
        <p:nvSpPr>
          <p:cNvPr id="21" name="text_158"/>
          <p:cNvSpPr txBox="1"/>
          <p:nvPr/>
        </p:nvSpPr>
        <p:spPr>
          <a:xfrm>
            <a:off x="10253853" y="2039112"/>
            <a:ext cx="83187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400" dirty="0"/>
          </a:p>
        </p:txBody>
      </p:sp>
      <p:sp>
        <p:nvSpPr>
          <p:cNvPr id="22" name="text_159"/>
          <p:cNvSpPr txBox="1"/>
          <p:nvPr/>
        </p:nvSpPr>
        <p:spPr>
          <a:xfrm>
            <a:off x="10253853" y="2404872"/>
            <a:ext cx="83187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¶</a:t>
            </a:r>
            <a:endParaRPr lang="en-US" sz="1100" dirty="0"/>
          </a:p>
        </p:txBody>
      </p:sp>
      <p:sp>
        <p:nvSpPr>
          <p:cNvPr id="23" name="seg_160"/>
          <p:cNvSpPr/>
          <p:nvPr/>
        </p:nvSpPr>
        <p:spPr>
          <a:xfrm>
            <a:off x="11085728" y="1600200"/>
            <a:ext cx="554584" cy="1143000"/>
          </a:xfrm>
          <a:prstGeom prst="rect">
            <a:avLst/>
          </a:prstGeom>
          <a:solidFill>
            <a:srgbClr val="B8C2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_161"/>
          <p:cNvSpPr txBox="1"/>
          <p:nvPr/>
        </p:nvSpPr>
        <p:spPr>
          <a:xfrm>
            <a:off x="11085728" y="1709928"/>
            <a:ext cx="55458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</a:t>
            </a:r>
            <a:endParaRPr lang="en-US" sz="1150" dirty="0"/>
          </a:p>
        </p:txBody>
      </p:sp>
      <p:sp>
        <p:nvSpPr>
          <p:cNvPr id="25" name="text_162"/>
          <p:cNvSpPr txBox="1"/>
          <p:nvPr/>
        </p:nvSpPr>
        <p:spPr>
          <a:xfrm>
            <a:off x="11085728" y="2039112"/>
            <a:ext cx="55458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26" name="text_163"/>
          <p:cNvSpPr txBox="1"/>
          <p:nvPr/>
        </p:nvSpPr>
        <p:spPr>
          <a:xfrm>
            <a:off x="11085728" y="2404872"/>
            <a:ext cx="55458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100" dirty="0"/>
          </a:p>
        </p:txBody>
      </p:sp>
      <p:sp>
        <p:nvSpPr>
          <p:cNvPr id="27" name="card_164"/>
          <p:cNvSpPr/>
          <p:nvPr/>
        </p:nvSpPr>
        <p:spPr>
          <a:xfrm>
            <a:off x="548640" y="301752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ag_165"/>
          <p:cNvSpPr/>
          <p:nvPr/>
        </p:nvSpPr>
        <p:spPr>
          <a:xfrm>
            <a:off x="713232" y="3145536"/>
            <a:ext cx="1156716" cy="256032"/>
          </a:xfrm>
          <a:prstGeom prst="roundRect">
            <a:avLst>
              <a:gd name="adj" fmla="val 214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9" name="text_166"/>
          <p:cNvSpPr txBox="1"/>
          <p:nvPr/>
        </p:nvSpPr>
        <p:spPr>
          <a:xfrm>
            <a:off x="713232" y="3145536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050" dirty="0"/>
          </a:p>
        </p:txBody>
      </p:sp>
      <p:sp>
        <p:nvSpPr>
          <p:cNvPr id="30" name="cardbody_167"/>
          <p:cNvSpPr txBox="1"/>
          <p:nvPr/>
        </p:nvSpPr>
        <p:spPr>
          <a:xfrm>
            <a:off x="713232" y="3493008"/>
            <a:ext cx="5111496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guide, not a rule: but if Methods hits 600 words, something is wrong.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gets the most words because it carries the evidence.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budget at the top of each section and check it when you finish.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budget in a first draft is normal; you'll cut in January (Tutorial 8).</a:t>
            </a:r>
            <a:endParaRPr lang="en-US" sz="1450" dirty="0"/>
          </a:p>
        </p:txBody>
      </p:sp>
      <p:sp>
        <p:nvSpPr>
          <p:cNvPr id="31" name="card_168"/>
          <p:cNvSpPr/>
          <p:nvPr/>
        </p:nvSpPr>
        <p:spPr>
          <a:xfrm>
            <a:off x="6199632" y="301752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32" name="tag_169"/>
          <p:cNvSpPr/>
          <p:nvPr/>
        </p:nvSpPr>
        <p:spPr>
          <a:xfrm>
            <a:off x="6364224" y="3145536"/>
            <a:ext cx="1778508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3" name="text_170"/>
          <p:cNvSpPr txBox="1"/>
          <p:nvPr/>
        </p:nvSpPr>
        <p:spPr>
          <a:xfrm>
            <a:off x="6364224" y="3145536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YOUR TUTOR</a:t>
            </a:r>
            <a:endParaRPr lang="en-US" sz="1050" dirty="0"/>
          </a:p>
        </p:txBody>
      </p:sp>
      <p:sp>
        <p:nvSpPr>
          <p:cNvPr id="34" name="cardbody_171"/>
          <p:cNvSpPr txBox="1"/>
          <p:nvPr/>
        </p:nvSpPr>
        <p:spPr>
          <a:xfrm>
            <a:off x="6364224" y="3493008"/>
            <a:ext cx="5111496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budget assumes </a:t>
            </a:r>
            <a:r>
              <a:rPr lang="en-US" sz="14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captions, references and the title</a:t>
            </a: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outside the 2,000 words. Your tutor will confirm what counts.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is </a:t>
            </a:r>
            <a:r>
              <a:rPr lang="en-US" sz="14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final report. Being under is fine if the question is fully answered.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Schultz: a paper ‘should be as long as it needs to be, but no longer’.</a:t>
            </a:r>
            <a:endParaRPr lang="en-US" sz="1450" dirty="0"/>
          </a:p>
        </p:txBody>
      </p:sp>
      <p:sp>
        <p:nvSpPr>
          <p:cNvPr id="35" name="text_172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§13.8–13.9 on concision and the right length.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7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things once: tag-phrases and lucid repetition</a:t>
            </a:r>
            <a:endParaRPr lang="en-US" sz="2800" dirty="0"/>
          </a:p>
        </p:txBody>
      </p:sp>
      <p:sp>
        <p:nvSpPr>
          <p:cNvPr id="3" name="bullets_174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proposal tutorials: give regions, methods and variables a short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tag-phrase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define it once, then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vary it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 calls deliberate repetition of key terms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repetition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is how readers keep track.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 essays you were told to vary your words. In science,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a term implies a different thing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abbreviations at first use: low-cloud cover (LCC), Oceanic Niño Index (ONI).</a:t>
            </a:r>
            <a:endParaRPr lang="en-US" sz="1700" dirty="0"/>
          </a:p>
        </p:txBody>
      </p:sp>
      <p:sp>
        <p:nvSpPr>
          <p:cNvPr id="4" name="card_175"/>
          <p:cNvSpPr/>
          <p:nvPr/>
        </p:nvSpPr>
        <p:spPr>
          <a:xfrm>
            <a:off x="6537960" y="1325880"/>
            <a:ext cx="5105095" cy="4754880"/>
          </a:xfrm>
          <a:prstGeom prst="roundRect">
            <a:avLst>
              <a:gd name="adj" fmla="val 1538"/>
            </a:avLst>
          </a:prstGeom>
          <a:solidFill>
            <a:srgbClr val="FBEBD0"/>
          </a:solidFill>
          <a:ln w="9525">
            <a:solidFill>
              <a:srgbClr val="FBEBD0"/>
            </a:solidFill>
            <a:prstDash val="solid"/>
          </a:ln>
        </p:spPr>
      </p:sp>
      <p:sp>
        <p:nvSpPr>
          <p:cNvPr id="5" name="tag_176"/>
          <p:cNvSpPr/>
          <p:nvPr/>
        </p:nvSpPr>
        <p:spPr>
          <a:xfrm>
            <a:off x="6702552" y="145389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6" name="text_177"/>
          <p:cNvSpPr txBox="1"/>
          <p:nvPr/>
        </p:nvSpPr>
        <p:spPr>
          <a:xfrm>
            <a:off x="6702552" y="14538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PROBLEM</a:t>
            </a:r>
            <a:endParaRPr lang="en-US" sz="1050" dirty="0"/>
          </a:p>
        </p:txBody>
      </p:sp>
      <p:sp>
        <p:nvSpPr>
          <p:cNvPr id="7" name="text_178"/>
          <p:cNvSpPr txBox="1"/>
          <p:nvPr/>
        </p:nvSpPr>
        <p:spPr>
          <a:xfrm>
            <a:off x="6702552" y="1801368"/>
            <a:ext cx="4775911" cy="41879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 cloud over the </a:t>
            </a:r>
            <a:r>
              <a:rPr lang="en-US" sz="14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Pacific</a:t>
            </a: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rises during El Niño. In the </a:t>
            </a:r>
            <a:r>
              <a:rPr lang="en-US" sz="14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 4 box</a:t>
            </a: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correlation is 0.8. Cloud </a:t>
            </a:r>
            <a:r>
              <a:rPr lang="en-US" sz="14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dateline</a:t>
            </a: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therefore…”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or three? A marker can't tell.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Define “the central Pacific (CP; Niño 4 region, 5°S–5°N, 160°E–150°W)” once, then always write “CP”.</a:t>
            </a:r>
            <a:endParaRPr lang="en-US" sz="1450" dirty="0"/>
          </a:p>
        </p:txBody>
      </p:sp>
      <p:sp>
        <p:nvSpPr>
          <p:cNvPr id="8" name="text_179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§8.2.1 ‘Repetition’; ‘labelling’ from Research Funding Toolkit ch. 10.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band_180"/>
          <p:cNvSpPr/>
          <p:nvPr/>
        </p:nvSpPr>
        <p:spPr>
          <a:xfrm>
            <a:off x="0" y="237744"/>
            <a:ext cx="12191695" cy="914400"/>
          </a:xfrm>
          <a:prstGeom prst="rect">
            <a:avLst/>
          </a:prstGeom>
          <a:solidFill>
            <a:srgbClr val="FBEBD0"/>
          </a:solidFill>
          <a:ln w="12700">
            <a:solidFill>
              <a:srgbClr val="FBEBD0"/>
            </a:solidFill>
            <a:prstDash val="solid"/>
          </a:ln>
        </p:spPr>
      </p:sp>
      <p:sp>
        <p:nvSpPr>
          <p:cNvPr id="3" name="text_181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ACTIVITY  ·  14 MIN</a:t>
            </a:r>
            <a:endParaRPr lang="en-US" sz="1100" dirty="0"/>
          </a:p>
        </p:txBody>
      </p:sp>
      <p:sp>
        <p:nvSpPr>
          <p:cNvPr id="4" name="text_18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Commit, storyboard, outline</a:t>
            </a:r>
            <a:endParaRPr lang="en-US" sz="2600" dirty="0"/>
          </a:p>
        </p:txBody>
      </p:sp>
      <p:sp>
        <p:nvSpPr>
          <p:cNvPr id="5" name="num_183"/>
          <p:cNvSpPr/>
          <p:nvPr/>
        </p:nvSpPr>
        <p:spPr>
          <a:xfrm>
            <a:off x="594360" y="1435608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6" name="text_184"/>
          <p:cNvSpPr txBox="1"/>
          <p:nvPr/>
        </p:nvSpPr>
        <p:spPr>
          <a:xfrm>
            <a:off x="59436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_185"/>
          <p:cNvSpPr txBox="1"/>
          <p:nvPr/>
        </p:nvSpPr>
        <p:spPr>
          <a:xfrm>
            <a:off x="1097280" y="1417320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three candidate questions. Write it at the top of the storyboard page in your workbook.</a:t>
            </a:r>
            <a:endParaRPr lang="en-US" sz="1500" dirty="0"/>
          </a:p>
        </p:txBody>
      </p:sp>
      <p:sp>
        <p:nvSpPr>
          <p:cNvPr id="8" name="num_186"/>
          <p:cNvSpPr/>
          <p:nvPr/>
        </p:nvSpPr>
        <p:spPr>
          <a:xfrm>
            <a:off x="594360" y="2221992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9" name="text_187"/>
          <p:cNvSpPr txBox="1"/>
          <p:nvPr/>
        </p:nvSpPr>
        <p:spPr>
          <a:xfrm>
            <a:off x="59436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_188"/>
          <p:cNvSpPr txBox="1"/>
          <p:nvPr/>
        </p:nvSpPr>
        <p:spPr>
          <a:xfrm>
            <a:off x="1097280" y="2203704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figure thumbnails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(rough is fine) and label each: context / test / quantify / qualify / compare.</a:t>
            </a:r>
            <a:endParaRPr lang="en-US" sz="1500" dirty="0"/>
          </a:p>
        </p:txBody>
      </p:sp>
      <p:sp>
        <p:nvSpPr>
          <p:cNvPr id="11" name="num_189"/>
          <p:cNvSpPr/>
          <p:nvPr/>
        </p:nvSpPr>
        <p:spPr>
          <a:xfrm>
            <a:off x="594360" y="3008376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2" name="text_190"/>
          <p:cNvSpPr txBox="1"/>
          <p:nvPr/>
        </p:nvSpPr>
        <p:spPr>
          <a:xfrm>
            <a:off x="59436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_191"/>
          <p:cNvSpPr txBox="1"/>
          <p:nvPr/>
        </p:nvSpPr>
        <p:spPr>
          <a:xfrm>
            <a:off x="1097280" y="2990088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each, write the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“This figure shows that…”. Use [ ] for numbers you don't have yet.</a:t>
            </a:r>
            <a:endParaRPr lang="en-US" sz="1500" dirty="0"/>
          </a:p>
        </p:txBody>
      </p:sp>
      <p:sp>
        <p:nvSpPr>
          <p:cNvPr id="14" name="num_192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5" name="text_193"/>
          <p:cNvSpPr txBox="1"/>
          <p:nvPr/>
        </p:nvSpPr>
        <p:spPr>
          <a:xfrm>
            <a:off x="5943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_194"/>
          <p:cNvSpPr txBox="1"/>
          <p:nvPr/>
        </p:nvSpPr>
        <p:spPr>
          <a:xfrm>
            <a:off x="1097280" y="3776472"/>
            <a:ext cx="6126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claims into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topic sentences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(P1, P2, …).</a:t>
            </a:r>
            <a:endParaRPr lang="en-US" sz="1500" dirty="0"/>
          </a:p>
        </p:txBody>
      </p:sp>
      <p:sp>
        <p:nvSpPr>
          <p:cNvPr id="17" name="num_195"/>
          <p:cNvSpPr/>
          <p:nvPr/>
        </p:nvSpPr>
        <p:spPr>
          <a:xfrm>
            <a:off x="594360" y="4379976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8" name="text_196"/>
          <p:cNvSpPr txBox="1"/>
          <p:nvPr/>
        </p:nvSpPr>
        <p:spPr>
          <a:xfrm>
            <a:off x="59436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_197"/>
          <p:cNvSpPr txBox="1"/>
          <p:nvPr/>
        </p:nvSpPr>
        <p:spPr>
          <a:xfrm>
            <a:off x="1097280" y="4361688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storyboards. Partner reads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claims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answers the two questions on the right.</a:t>
            </a:r>
            <a:endParaRPr lang="en-US" sz="1500" dirty="0"/>
          </a:p>
        </p:txBody>
      </p:sp>
      <p:sp>
        <p:nvSpPr>
          <p:cNvPr id="20" name="card_198"/>
          <p:cNvSpPr/>
          <p:nvPr/>
        </p:nvSpPr>
        <p:spPr>
          <a:xfrm>
            <a:off x="7680960" y="1417320"/>
            <a:ext cx="3959352" cy="2331720"/>
          </a:xfrm>
          <a:prstGeom prst="roundRect">
            <a:avLst>
              <a:gd name="adj" fmla="val 313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1" name="tag_199"/>
          <p:cNvSpPr/>
          <p:nvPr/>
        </p:nvSpPr>
        <p:spPr>
          <a:xfrm>
            <a:off x="7845552" y="154533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22" name="text_200"/>
          <p:cNvSpPr txBox="1"/>
          <p:nvPr/>
        </p:nvSpPr>
        <p:spPr>
          <a:xfrm>
            <a:off x="7845552" y="15453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050" dirty="0"/>
          </a:p>
        </p:txBody>
      </p:sp>
      <p:sp>
        <p:nvSpPr>
          <p:cNvPr id="23" name="cardbody_201"/>
          <p:cNvSpPr txBox="1"/>
          <p:nvPr/>
        </p:nvSpPr>
        <p:spPr>
          <a:xfrm>
            <a:off x="7845552" y="1892808"/>
            <a:ext cx="363016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committed question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storyboard with a claim per figure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topic sentences: the spine of your report</a:t>
            </a:r>
            <a:endParaRPr lang="en-US" sz="1450" dirty="0"/>
          </a:p>
        </p:txBody>
      </p:sp>
      <p:sp>
        <p:nvSpPr>
          <p:cNvPr id="24" name="card_202"/>
          <p:cNvSpPr/>
          <p:nvPr/>
        </p:nvSpPr>
        <p:spPr>
          <a:xfrm>
            <a:off x="7680960" y="3931920"/>
            <a:ext cx="3959352" cy="2377440"/>
          </a:xfrm>
          <a:prstGeom prst="roundRect">
            <a:avLst>
              <a:gd name="adj" fmla="val 3077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25" name="tag_203"/>
          <p:cNvSpPr/>
          <p:nvPr/>
        </p:nvSpPr>
        <p:spPr>
          <a:xfrm>
            <a:off x="7845552" y="4059936"/>
            <a:ext cx="923544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6" name="text_204"/>
          <p:cNvSpPr txBox="1"/>
          <p:nvPr/>
        </p:nvSpPr>
        <p:spPr>
          <a:xfrm>
            <a:off x="7845552" y="405993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CHECK</a:t>
            </a:r>
            <a:endParaRPr lang="en-US" sz="1050" dirty="0"/>
          </a:p>
        </p:txBody>
      </p:sp>
      <p:sp>
        <p:nvSpPr>
          <p:cNvPr id="27" name="cardbody_205"/>
          <p:cNvSpPr txBox="1"/>
          <p:nvPr/>
        </p:nvSpPr>
        <p:spPr>
          <a:xfrm>
            <a:off x="7845552" y="4407408"/>
            <a:ext cx="3630168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claims, in order,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figure could be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weakening the answer? (If one can, remove it.)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06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Tutorial 5  ·  Thu 12 Nov</a:t>
            </a:r>
            <a:endParaRPr lang="en-US" sz="2800" dirty="0"/>
          </a:p>
        </p:txBody>
      </p:sp>
      <p:sp>
        <p:nvSpPr>
          <p:cNvPr id="3" name="text_207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(no tutorial on 5 Nov). About 2½ hours of writing; most of your time goes on the figures.</a:t>
            </a:r>
            <a:endParaRPr lang="en-US" sz="1500" dirty="0"/>
          </a:p>
        </p:txBody>
      </p:sp>
      <p:sp>
        <p:nvSpPr>
          <p:cNvPr id="4" name="card_208"/>
          <p:cNvSpPr/>
          <p:nvPr/>
        </p:nvSpPr>
        <p:spPr>
          <a:xfrm>
            <a:off x="548640" y="1691640"/>
            <a:ext cx="3563112" cy="2971800"/>
          </a:xfrm>
          <a:prstGeom prst="roundRect">
            <a:avLst>
              <a:gd name="adj" fmla="val 2462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ag_209"/>
          <p:cNvSpPr/>
          <p:nvPr/>
        </p:nvSpPr>
        <p:spPr>
          <a:xfrm>
            <a:off x="713232" y="1819656"/>
            <a:ext cx="1312164" cy="256032"/>
          </a:xfrm>
          <a:prstGeom prst="roundRect">
            <a:avLst>
              <a:gd name="adj" fmla="val 214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_210"/>
          <p:cNvSpPr txBox="1"/>
          <p:nvPr/>
        </p:nvSpPr>
        <p:spPr>
          <a:xfrm>
            <a:off x="713232" y="1819656"/>
            <a:ext cx="1312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 ·  notebook</a:t>
            </a:r>
            <a:endParaRPr lang="en-US" sz="1050" dirty="0"/>
          </a:p>
        </p:txBody>
      </p:sp>
      <p:sp>
        <p:nvSpPr>
          <p:cNvPr id="7" name="text_211"/>
          <p:cNvSpPr txBox="1"/>
          <p:nvPr/>
        </p:nvSpPr>
        <p:spPr>
          <a:xfrm>
            <a:off x="713232" y="2167128"/>
            <a:ext cx="323392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storyboard figures</a:t>
            </a:r>
            <a:endParaRPr lang="en-US" sz="1600" dirty="0"/>
          </a:p>
        </p:txBody>
      </p:sp>
      <p:sp>
        <p:nvSpPr>
          <p:cNvPr id="8" name="cardbody_212"/>
          <p:cNvSpPr txBox="1"/>
          <p:nvPr/>
        </p:nvSpPr>
        <p:spPr>
          <a:xfrm>
            <a:off x="713232" y="2807208"/>
            <a:ext cx="32339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notebook analyses to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 / level / season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versions of all 3–5 figures outside Binder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key numbers in your writing log</a:t>
            </a:r>
            <a:endParaRPr lang="en-US" sz="1350" dirty="0"/>
          </a:p>
        </p:txBody>
      </p:sp>
      <p:sp>
        <p:nvSpPr>
          <p:cNvPr id="9" name="card_213"/>
          <p:cNvSpPr/>
          <p:nvPr/>
        </p:nvSpPr>
        <p:spPr>
          <a:xfrm>
            <a:off x="4312920" y="1691640"/>
            <a:ext cx="3563112" cy="2971800"/>
          </a:xfrm>
          <a:prstGeom prst="roundRect">
            <a:avLst>
              <a:gd name="adj" fmla="val 2462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ag_214"/>
          <p:cNvSpPr/>
          <p:nvPr/>
        </p:nvSpPr>
        <p:spPr>
          <a:xfrm>
            <a:off x="4477512" y="1819656"/>
            <a:ext cx="1156716" cy="256032"/>
          </a:xfrm>
          <a:prstGeom prst="roundRect">
            <a:avLst>
              <a:gd name="adj" fmla="val 214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_215"/>
          <p:cNvSpPr txBox="1"/>
          <p:nvPr/>
        </p:nvSpPr>
        <p:spPr>
          <a:xfrm>
            <a:off x="4477512" y="1819656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 ·  60 min</a:t>
            </a:r>
            <a:endParaRPr lang="en-US" sz="1050" dirty="0"/>
          </a:p>
        </p:txBody>
      </p:sp>
      <p:sp>
        <p:nvSpPr>
          <p:cNvPr id="12" name="text_216"/>
          <p:cNvSpPr txBox="1"/>
          <p:nvPr/>
        </p:nvSpPr>
        <p:spPr>
          <a:xfrm>
            <a:off x="4477512" y="2167128"/>
            <a:ext cx="323392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draft, 250–300 words</a:t>
            </a:r>
            <a:endParaRPr lang="en-US" sz="1600" dirty="0"/>
          </a:p>
        </p:txBody>
      </p:sp>
      <p:sp>
        <p:nvSpPr>
          <p:cNvPr id="13" name="cardbody_217"/>
          <p:cNvSpPr txBox="1"/>
          <p:nvPr/>
        </p:nvSpPr>
        <p:spPr>
          <a:xfrm>
            <a:off x="4477512" y="2807208"/>
            <a:ext cx="32339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Methods checklist in the workbook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period, region(s), ONI and thresholds, anomaly, weighting, statistics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Science, not code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Bring it on 12 Nov for a peer check</a:t>
            </a:r>
            <a:endParaRPr lang="en-US" sz="1350" dirty="0"/>
          </a:p>
        </p:txBody>
      </p:sp>
      <p:sp>
        <p:nvSpPr>
          <p:cNvPr id="14" name="card_218"/>
          <p:cNvSpPr/>
          <p:nvPr/>
        </p:nvSpPr>
        <p:spPr>
          <a:xfrm>
            <a:off x="8077200" y="1691640"/>
            <a:ext cx="3563112" cy="2971800"/>
          </a:xfrm>
          <a:prstGeom prst="roundRect">
            <a:avLst>
              <a:gd name="adj" fmla="val 2462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ag_219"/>
          <p:cNvSpPr/>
          <p:nvPr/>
        </p:nvSpPr>
        <p:spPr>
          <a:xfrm>
            <a:off x="8241792" y="1819656"/>
            <a:ext cx="1156716" cy="256032"/>
          </a:xfrm>
          <a:prstGeom prst="roundRect">
            <a:avLst>
              <a:gd name="adj" fmla="val 214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_220"/>
          <p:cNvSpPr txBox="1"/>
          <p:nvPr/>
        </p:nvSpPr>
        <p:spPr>
          <a:xfrm>
            <a:off x="8241792" y="1819656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 ·  40 min</a:t>
            </a:r>
            <a:endParaRPr lang="en-US" sz="1050" dirty="0"/>
          </a:p>
        </p:txBody>
      </p:sp>
      <p:sp>
        <p:nvSpPr>
          <p:cNvPr id="17" name="text_221"/>
          <p:cNvSpPr txBox="1"/>
          <p:nvPr/>
        </p:nvSpPr>
        <p:spPr>
          <a:xfrm>
            <a:off x="8241792" y="2167128"/>
            <a:ext cx="323392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topic-sentence outline</a:t>
            </a:r>
            <a:endParaRPr lang="en-US" sz="1600" dirty="0"/>
          </a:p>
        </p:txBody>
      </p:sp>
      <p:sp>
        <p:nvSpPr>
          <p:cNvPr id="18" name="cardbody_222"/>
          <p:cNvSpPr txBox="1"/>
          <p:nvPr/>
        </p:nvSpPr>
        <p:spPr>
          <a:xfrm>
            <a:off x="8241792" y="2807208"/>
            <a:ext cx="32339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paragraph of all five sections, one sentence each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word budget beside each section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tags used consistently?</a:t>
            </a:r>
            <a:endParaRPr lang="en-US" sz="1350" dirty="0"/>
          </a:p>
        </p:txBody>
      </p:sp>
      <p:sp>
        <p:nvSpPr>
          <p:cNvPr id="19" name="card_223"/>
          <p:cNvSpPr/>
          <p:nvPr/>
        </p:nvSpPr>
        <p:spPr>
          <a:xfrm>
            <a:off x="548640" y="48463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20" name="tag_224"/>
          <p:cNvSpPr/>
          <p:nvPr/>
        </p:nvSpPr>
        <p:spPr>
          <a:xfrm>
            <a:off x="713232" y="4974336"/>
            <a:ext cx="1312164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1" name="text_225"/>
          <p:cNvSpPr txBox="1"/>
          <p:nvPr/>
        </p:nvSpPr>
        <p:spPr>
          <a:xfrm>
            <a:off x="713232" y="4974336"/>
            <a:ext cx="1312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STRAND</a:t>
            </a:r>
            <a:endParaRPr lang="en-US" sz="1050" dirty="0"/>
          </a:p>
        </p:txBody>
      </p:sp>
      <p:sp>
        <p:nvSpPr>
          <p:cNvPr id="22" name="cardbody_226"/>
          <p:cNvSpPr txBox="1"/>
          <p:nvPr/>
        </p:nvSpPr>
        <p:spPr>
          <a:xfrm>
            <a:off x="713232" y="5321808"/>
            <a:ext cx="511149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sections 4–5 to </a:t>
            </a: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region, cloud level or season (change VARIABLE or REGIONS).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§6 (autocorrelation / lag) only if your question is about timing.</a:t>
            </a:r>
            <a:endParaRPr lang="en-US" sz="1350" dirty="0"/>
          </a:p>
        </p:txBody>
      </p:sp>
      <p:sp>
        <p:nvSpPr>
          <p:cNvPr id="23" name="card_227"/>
          <p:cNvSpPr/>
          <p:nvPr/>
        </p:nvSpPr>
        <p:spPr>
          <a:xfrm>
            <a:off x="6199632" y="48463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BEBD0"/>
          </a:solidFill>
          <a:ln w="9525">
            <a:solidFill>
              <a:srgbClr val="FBEBD0"/>
            </a:solidFill>
            <a:prstDash val="solid"/>
          </a:ln>
        </p:spPr>
      </p:sp>
      <p:sp>
        <p:nvSpPr>
          <p:cNvPr id="24" name="tag_228"/>
          <p:cNvSpPr/>
          <p:nvPr/>
        </p:nvSpPr>
        <p:spPr>
          <a:xfrm>
            <a:off x="6364224" y="4974336"/>
            <a:ext cx="3255264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25" name="text_229"/>
          <p:cNvSpPr txBox="1"/>
          <p:nvPr/>
        </p:nvSpPr>
        <p:spPr>
          <a:xfrm>
            <a:off x="6364224" y="497433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·  SCHULTZ (2009) ELOQUENT SCIENCE</a:t>
            </a:r>
            <a:endParaRPr lang="en-US" sz="1050" dirty="0"/>
          </a:p>
        </p:txBody>
      </p:sp>
      <p:sp>
        <p:nvSpPr>
          <p:cNvPr id="26" name="cardbody_230"/>
          <p:cNvSpPr txBox="1"/>
          <p:nvPr/>
        </p:nvSpPr>
        <p:spPr>
          <a:xfrm>
            <a:off x="6364224" y="5321808"/>
            <a:ext cx="511149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Brainstorm, outline, first draft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§4.8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and methods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§18.3</a:t>
            </a: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Picking thresholds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RT29200 Writing Strand">
  <a:themeElements>
    <a:clrScheme name="EART29200 Writing Strand">
      <a:dk1>
        <a:srgbClr val="222B36"/>
      </a:dk1>
      <a:lt1>
        <a:srgbClr val="FFFFFF"/>
      </a:lt1>
      <a:dk2>
        <a:srgbClr val="1B2A41"/>
      </a:dk2>
      <a:lt2>
        <a:srgbClr val="F7F4EE"/>
      </a:lt2>
      <a:accent1>
        <a:srgbClr val="2E4A6B"/>
      </a:accent1>
      <a:accent2>
        <a:srgbClr val="D98E1F"/>
      </a:accent2>
      <a:accent3>
        <a:srgbClr val="1F7A6E"/>
      </a:accent3>
      <a:accent4>
        <a:srgbClr val="B04A35"/>
      </a:accent4>
      <a:accent5>
        <a:srgbClr val="6C8EAD"/>
      </a:accent5>
      <a:accent6>
        <a:srgbClr val="9AA5B1"/>
      </a:accent6>
      <a:hlink>
        <a:srgbClr val="2E4A6B"/>
      </a:hlink>
      <a:folHlink>
        <a:srgbClr val="5B6573"/>
      </a:folHlink>
    </a:clrScheme>
    <a:fontScheme name="EART29200 Writing Stran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4 — Plan the story before you write it</dc:title>
  <dc:subject>ENSO and cloud cover mini-project — writing strand</dc:subject>
  <dc:creator>EART29200 course team</dc:creator>
  <cp:lastModifiedBy>EART29200 course team</cp:lastModifiedBy>
  <cp:revision>1</cp:revision>
  <dcterms:created xsi:type="dcterms:W3CDTF">2026-10-03T17:21:44Z</dcterms:created>
  <dcterms:modified xsi:type="dcterms:W3CDTF">2026-10-03T17:21:44Z</dcterms:modified>
</cp:coreProperties>
</file>