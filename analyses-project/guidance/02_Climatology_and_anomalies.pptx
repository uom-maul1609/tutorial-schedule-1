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234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 min. Recap last week's two observations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 min. Point at it, don't read it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~4 min. cos(latitude) weighting -- draw the shrinking grid-box picture if the schematic doesn't land first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~4 min. Seasonal cycle vs interannual (ENSO) variability -- the distinction they need for section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~4 min. Anomaly = value minus climatology for that calendar month. Get one student to say it back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 min. State today's goal, then hands-on.</a:t>
            </a:r>
          </a:p>
          <a:p>
            <a:endParaRPr/>
          </a:p>
          <a:p>
            <a:r>
              <a:t>Sources: ERA5 (ECMWF/Copernicus) and ENSO/ONI (NOAA Climate.gov, NOAA CPC). Full source list is on the closing slide of Tutorial 1 -- it applies to every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607040" cy="1554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3400" b="1">
                <a:solidFill>
                  <a:srgbClr val="660099"/>
                </a:solidFill>
              </a:defRPr>
            </a:pPr>
            <a:r>
              <a:rPr sz="3600" b="1">
                <a:solidFill>
                  <a:srgbClr val="FFFFFF"/>
                </a:solidFill>
                <a:latin typeface="Calibri"/>
              </a:rPr>
              <a:t>Tutorial 2 — Making sense of climate data</a:t>
            </a:r>
          </a:p>
          <a:p>
            <a:pPr algn="ctr">
              <a:defRPr sz="2000"/>
            </a:pPr>
            <a:r>
              <a:rPr sz="1800" b="0" i="1">
                <a:solidFill>
                  <a:srgbClr val="E9F1F6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788919"/>
            <a:ext cx="1143000" cy="28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034495" y="342900"/>
            <a:ext cx="270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Tutorial 2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38000"/>
            <a:ext cx="600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E9F1F6"/>
                </a:solidFill>
                <a:latin typeface="Calibri"/>
              </a:rPr>
              <a:t>ENSO and cloud cover mini-project - tutorial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Today's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2  ·  Slide 1 of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20000"/>
            <a:ext cx="1073088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4E79"/>
                </a:solidFill>
                <a:latin typeface="Calibri"/>
              </a:rPr>
              <a:t>Goal: </a:t>
            </a:r>
            <a:r>
              <a:rPr sz="2000" b="1">
                <a:solidFill>
                  <a:srgbClr val="222222"/>
                </a:solidFill>
                <a:latin typeface="Calibri"/>
              </a:rPr>
              <a:t>Be able to explain cos(latitude) weighting and climatology vs. anomaly, in your own words.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50000"/>
            <a:ext cx="107308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44444"/>
                </a:solidFill>
                <a:latin typeface="Calibri"/>
              </a:rPr>
              <a:t>What you'll do today: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570000"/>
            <a:ext cx="420000" cy="4200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1520" y="2560000"/>
            <a:ext cx="10170880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Run the seasonal-cycle and climatology/anomaly notebook sections.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210000"/>
            <a:ext cx="420000" cy="4200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1520" y="3200000"/>
            <a:ext cx="10170880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Understand why area weighting (cos(latitude)) matters for global averages.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850000"/>
            <a:ext cx="420000" cy="4200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1520" y="3840000"/>
            <a:ext cx="10170880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Practice telling climatology apart from anomaly.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490000"/>
            <a:ext cx="420000" cy="4200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1520" y="4480000"/>
            <a:ext cx="10170880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Note anything that might become your project question.</a:t>
            </a:r>
          </a:p>
        </p:txBody>
      </p:sp>
      <p:sp>
        <p:nvSpPr>
          <p:cNvPr id="17" name="Oval 16"/>
          <p:cNvSpPr/>
          <p:nvPr/>
        </p:nvSpPr>
        <p:spPr>
          <a:xfrm>
            <a:off x="49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365847" y="6298000"/>
            <a:ext cx="260000" cy="260000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1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9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0" y="6038000"/>
            <a:ext cx="12191695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Tutorial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1F4E79"/>
                </a:solidFill>
                <a:latin typeface="Calibri"/>
              </a:rPr>
              <a:t>Why area weighting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Latitude–longitude grid boxes shrink towards the poles.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An ordinary average gives high latitudes too much influence.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For a regular lat–lon grid use a weight proportional to cos(latitude).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This matters whenever you average over an area.</a:t>
            </a:r>
          </a:p>
        </p:txBody>
      </p:sp>
      <p:pic>
        <p:nvPicPr>
          <p:cNvPr id="4" name="Picture 3" descr="cosine_weigh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690842"/>
            <a:ext cx="5486400" cy="24579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Course-team schematic / teaching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2  ·  Slide 2 of 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1F4E79"/>
                </a:solidFill>
                <a:latin typeface="Calibri"/>
              </a:rPr>
              <a:t>Climate has a seasonal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Many atmospheric variables have a repeating annual pattern.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A monthly climatology is the usual January, February, …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ENSO is interannual variability, so the normal seasonal cycle can obscure it.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First understand the mean climate; then remove what is 'usual'.</a:t>
            </a:r>
          </a:p>
        </p:txBody>
      </p:sp>
      <p:pic>
        <p:nvPicPr>
          <p:cNvPr id="4" name="Picture 3" descr="anomaly_be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280160"/>
            <a:ext cx="5486400" cy="28819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Course-team schematic / teaching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2  ·  Slide 3 of 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1F4E79"/>
                </a:solidFill>
                <a:latin typeface="Calibri"/>
              </a:rPr>
              <a:t>Anomaly means 'unusual for this month'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X′(t) = X(t) − monthly climatology.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Positive TCC anomaly = cloudier than usual for that place/month.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Negative = clearer than usual.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Anomaly does not mean the absolute cloud amount is high or low.</a:t>
            </a:r>
          </a:p>
          <a:p>
            <a:r>
              <a:rPr sz="2000" i="1">
                <a:solidFill>
                  <a:srgbClr val="2B2B2B"/>
                </a:solidFill>
              </a:rPr>
              <a:t>Compare your anomaly plot with a neighbour's -- same sign, same timing?</a:t>
            </a:r>
          </a:p>
        </p:txBody>
      </p:sp>
      <p:pic>
        <p:nvPicPr>
          <p:cNvPr id="4" name="Picture 3" descr="anomaly_be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280160"/>
            <a:ext cx="5486400" cy="28819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Course-team schematic / teaching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2  ·  Slide 4 of 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1F4E79"/>
                </a:solidFill>
                <a:latin typeface="Calibri"/>
              </a:rPr>
              <a:t>Today's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2000"/>
            </a:pPr>
            <a:r>
              <a:rPr sz="2000">
                <a:solidFill>
                  <a:srgbClr val="2B2B2B"/>
                </a:solidFill>
              </a:rPr>
              <a:t>Run the seasonal/climatology sections.</a:t>
            </a:r>
          </a:p>
          <a:p>
            <a:pPr>
              <a:spcAft>
                <a:spcPts val="1000"/>
              </a:spcAft>
              <a:defRPr sz="2000"/>
            </a:pPr>
            <a:r>
              <a:rPr sz="2000">
                <a:solidFill>
                  <a:srgbClr val="2B2B2B"/>
                </a:solidFill>
              </a:rPr>
              <a:t>Make sure you can explain cos(latitude).</a:t>
            </a:r>
          </a:p>
          <a:p>
            <a:pPr>
              <a:spcAft>
                <a:spcPts val="1000"/>
              </a:spcAft>
              <a:defRPr sz="2000"/>
            </a:pPr>
            <a:r>
              <a:rPr sz="2000">
                <a:solidFill>
                  <a:srgbClr val="2B2B2B"/>
                </a:solidFill>
              </a:rPr>
              <a:t>Explain climatology versus anomaly in your own words.</a:t>
            </a:r>
          </a:p>
          <a:p>
            <a:pPr>
              <a:spcAft>
                <a:spcPts val="1000"/>
              </a:spcAft>
              <a:defRPr sz="2000"/>
            </a:pPr>
            <a:r>
              <a:rPr sz="2000">
                <a:solidFill>
                  <a:srgbClr val="2B2B2B"/>
                </a:solidFill>
              </a:rPr>
              <a:t>Keep a note of anything that might become a project question.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2  ·  Slide 5 of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goal_climatolo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291590"/>
            <a:ext cx="5486400" cy="4457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528</Words>
  <Application>Microsoft Macintosh PowerPoint</Application>
  <PresentationFormat>Widescreen</PresentationFormat>
  <Paragraphs>58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Paul Connolly</cp:lastModifiedBy>
  <cp:revision>2</cp:revision>
  <dcterms:created xsi:type="dcterms:W3CDTF">2013-01-27T09:14:16Z</dcterms:created>
  <dcterms:modified xsi:type="dcterms:W3CDTF">2026-09-17T21:01:47Z</dcterms:modified>
  <cp:category/>
</cp:coreProperties>
</file>