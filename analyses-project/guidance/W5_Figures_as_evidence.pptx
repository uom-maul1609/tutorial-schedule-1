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EXPLANATION
Put seven coins in a bucket and pull them out at random. The chance they come out in perfect order is one in 7 factorial, one in 5,040, so that would be astonishing. With three coins it's one in six, so it happens all the time. Both give a perfect correlation between draw order and value (r = 1); what differs is how likely that is by chance. That's what a p-value measures: if there were really no relationship, how often would random data give a correlation at least this strong? It depends on both r and n. The histogram shows correlations between pairs of pure random numbers: with 3 points, |r| above 0.8 happens 41% of the time; with 30 points, almost never.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EXPLANATION
n_eff, the effective sample size, is how many independent pieces of information your data really contain, and it's the n to use for a p-value. Think of the coins: a p-value assumes every data point is a fresh coin pulled from the bucket. Monthly ENSO data aren't like that: if the ONI is high this month it's almost certainly high next month (its lag-1 autocorrelation, r1, is 0.97). Counting twelve months of one El Niño as twelve results is like counting the same coin twelve times. The formula is n_eff = n(1 − r1x r1y)/(1 + r1x r1y), where r1x and r1y are each series' month-to-month autocorrelation. If either series has no memory (r1 = 0), n_eff = n; the more memory both have, the smaller n_eff gets. With our 247 months, n_eff is about 135, 85 or 31 if the cloud series' r1 is 0.3, 0.5 or 0.8. Compute the p-value exactly as before but with n_eff instead of n: t = r√(n−2)/√(1−r²), with n−2 degrees of freedom. A correlation that looks highly significant with 247 can be marginal with 31. The notebook's section 6 table prints n and n_eff and uses n_eff for p and the 95% range; Task 5D asks you to do it once by hand. For a single series, as in the year-to-year test on the next slide, the formula simplifies to n(1 − r1)/(1 + r1).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EXPLANATION
The left map correlates the real ONI with completely random numbers that have realistic memory in time and blobs in space, like weather. About a third of the map passes a naive 5% significance test. Even with no memory at all, about 1 in 20 grid points would pass by chance, and a map has thousands of points, so that's hundreds of false 'signals'. The right map, from real data, is much stronger and sits where the physics predicts. Lesson: choose your region for a physical reason, then test it properly (with n_eff or the shift test), rather than picking the most impressive blob.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EXPLANATION
How to read the figure. The thin grey line is every month of global-mean cloud anomaly. Each black dot is one calendar year's mean of those 12 months. The bottom panel is the ONI on the same time axis, red for El Niño months and blue for La Niña, so you can see which years contain events (most events straddle two calendar years). Each year has two bars: the thick grey bar assumes 12 independent months; the black bar uses n_eff. To compare two years, take each year's 12 monthly anomalies and run a t-test: is the difference in means big compared with the month-to-month scatter? Neighbouring months are correlated (r1 = 0.54 for global cloud), and for one series n_eff = n(1 − r1)/(1 + r1) = 12 × 0.46/1.54 ≈ 3.6 independent months per year. That's why the black bars are about twice as long as the grey ones. Example: 2010 minus 2011 is 0.51 percentage points, with naive p = 0.02 but adjusted p = 0.24, so it's not significant. Don't judge by whether the bars overlap: bars can overlap a little and the difference still be significant, so use the test the notebook prints. Two warnings. With 20 complete years there are 190 possible pairs, so about 10 will look significant by chance; choose your years for a reason before looking. And global cloud drifts down by about 0.4 percentage points per decade, especially after 2019, so years far apart differ partly because of that trend. Notebook section 3b has a DETREND option. Why was 2022–23 so low? Tutorial 7 uses it as a worked example of separating evidence from speculation.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EXPLANATION
Every threshold is a choice someone can question, so give a reason for yours: convention (NOAA uses ±0.5 °C), physics, or the data's own distribution (such as the top and bottom quarter of ONI months). Then test it. At ±1.0 °C the El Niño months drop from 54 to 24 and the La Niña months from 82 to 25: stronger events, fewer samples. If the sign and rough size of your answer survive, say so in one sentence. That's the 'careful treatment of a subtlety' the top marking band describes.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EXPLANATION
For anything that can be positive or negative (anomalies, differences, correlations), use a two-sided colour scale with white at zero and the same limits on both sides. Otherwise zero looks like a colour, and readers see a signal that isn't there. Panels you're comparing must share the same limits. Avoid rainbow colour maps: they create sharp-looking boundaries where the data change smoothly, and many colour-blind readers can't read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WS_CONTENT">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237744"/>
          </a:xfrm>
          <a:prstGeom prst="rect">
            <a:avLst/>
          </a:prstGeom>
          <a:solidFill>
            <a:srgbClr val="1B2A41"/>
          </a:solidFill>
          <a:ln/>
        </p:spPr>
      </p:sp>
      <p:sp>
        <p:nvSpPr>
          <p:cNvPr id="3" name="Text 1"/>
          <p:cNvSpPr/>
          <p:nvPr/>
        </p:nvSpPr>
        <p:spPr>
          <a:xfrm>
            <a:off x="548640" y="27432"/>
            <a:ext cx="6400800" cy="182880"/>
          </a:xfrm>
          <a:prstGeom prst="rect">
            <a:avLst/>
          </a:prstGeom>
          <a:noFill/>
          <a:ln/>
        </p:spPr>
        <p:txBody>
          <a:bodyPr wrap="square" rtlCol="0" anchor="ctr"/>
          <a:lstStyle/>
          <a:p>
            <a:pPr indent="0" marL="0">
              <a:buNone/>
            </a:pPr>
            <a:r>
              <a:rPr lang="en-US" sz="900" b="1" spc="100" kern="0" dirty="0">
                <a:solidFill>
                  <a:srgbClr val="FFFFFF"/>
                </a:solidFill>
                <a:latin typeface="Calibri" pitchFamily="34" charset="0"/>
                <a:ea typeface="Calibri" pitchFamily="34" charset="-122"/>
                <a:cs typeface="Calibri" pitchFamily="34" charset="-120"/>
              </a:rPr>
              <a:t>ENSO &amp; CLOUD COVER PROJECT  ·  WRITING STRAND</a:t>
            </a:r>
            <a:endParaRPr lang="en-US" sz="900" dirty="0"/>
          </a:p>
        </p:txBody>
      </p:sp>
      <p:sp>
        <p:nvSpPr>
          <p:cNvPr id="4" name="Text 2"/>
          <p:cNvSpPr/>
          <p:nvPr/>
        </p:nvSpPr>
        <p:spPr>
          <a:xfrm>
            <a:off x="7982712" y="27432"/>
            <a:ext cx="3657600" cy="182880"/>
          </a:xfrm>
          <a:prstGeom prst="rect">
            <a:avLst/>
          </a:prstGeom>
          <a:noFill/>
          <a:ln/>
        </p:spPr>
        <p:txBody>
          <a:bodyPr wrap="square" rtlCol="0" anchor="ctr"/>
          <a:lstStyle/>
          <a:p>
            <a:pPr algn="r" indent="0" marL="0">
              <a:buNone/>
            </a:pPr>
            <a:r>
              <a:rPr lang="en-US" sz="900" b="1" dirty="0">
                <a:solidFill>
                  <a:srgbClr val="FFFFFF"/>
                </a:solidFill>
                <a:latin typeface="Calibri" pitchFamily="34" charset="0"/>
                <a:ea typeface="Calibri" pitchFamily="34" charset="-122"/>
                <a:cs typeface="Calibri" pitchFamily="34" charset="-120"/>
              </a:rPr>
              <a:t>Tutorial 5  ·  Thu 12 Nov</a:t>
            </a:r>
            <a:endParaRPr lang="en-US" sz="900" dirty="0"/>
          </a:p>
        </p:txBody>
      </p:sp>
      <p:sp>
        <p:nvSpPr>
          <p:cNvPr id="5" name="Shape 3"/>
          <p:cNvSpPr/>
          <p:nvPr/>
        </p:nvSpPr>
        <p:spPr>
          <a:xfrm>
            <a:off x="548640" y="1024128"/>
            <a:ext cx="822960" cy="54864"/>
          </a:xfrm>
          <a:prstGeom prst="rect">
            <a:avLst/>
          </a:prstGeom>
          <a:solidFill>
            <a:srgbClr val="D98E1F"/>
          </a:solidFill>
          <a:ln/>
        </p:spPr>
      </p:sp>
      <p:sp>
        <p:nvSpPr>
          <p:cNvPr id="25" name="Slide Number Placeholder 0"/>
          <p:cNvSpPr>
            <a:spLocks noGrp="1"/>
          </p:cNvSpPr>
          <p:nvPr>
            <p:ph type="sldNum" sz="quarter" idx="4294967295"/>
          </p:nvPr>
        </p:nvSpPr>
        <p:spPr>
          <a:xfrm>
            <a:off x="11274552" y="6473952"/>
            <a:ext cx="54864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8A93A0"/>
                </a:solidFill>
                <a:latin typeface="Calibri"/>
                <a:ea typeface="Calibri"/>
                <a:cs typeface="Calibri"/>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WS_DARK">
    <p:bg>
      <p:bgPr>
        <a:solidFill>
          <a:srgbClr val="1B2A41"/>
        </a:solidFill>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74552" y="6473952"/>
            <a:ext cx="54864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8A93A0"/>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edge_1"/>
          <p:cNvSpPr/>
          <p:nvPr/>
        </p:nvSpPr>
        <p:spPr>
          <a:xfrm>
            <a:off x="0" y="0"/>
            <a:ext cx="256032" cy="6858000"/>
          </a:xfrm>
          <a:prstGeom prst="rect">
            <a:avLst/>
          </a:prstGeom>
          <a:solidFill>
            <a:srgbClr val="D98E1F"/>
          </a:solidFill>
          <a:ln w="12700">
            <a:solidFill>
              <a:srgbClr val="D98E1F"/>
            </a:solidFill>
            <a:prstDash val="solid"/>
          </a:ln>
        </p:spPr>
      </p:sp>
      <p:sp>
        <p:nvSpPr>
          <p:cNvPr id="3" name="text_2"/>
          <p:cNvSpPr txBox="1"/>
          <p:nvPr/>
        </p:nvSpPr>
        <p:spPr>
          <a:xfrm>
            <a:off x="822960" y="960120"/>
            <a:ext cx="10058400" cy="320040"/>
          </a:xfrm>
          <a:prstGeom prst="rect">
            <a:avLst/>
          </a:prstGeom>
          <a:noFill/>
          <a:ln/>
        </p:spPr>
        <p:txBody>
          <a:bodyPr wrap="square" lIns="635" tIns="635" rIns="635" bIns="635" rtlCol="0" anchor="t"/>
          <a:lstStyle/>
          <a:p>
            <a:pPr algn="l" indent="0" marL="0">
              <a:lnSpc>
                <a:spcPct val="100000"/>
              </a:lnSpc>
              <a:buNone/>
            </a:pPr>
            <a:r>
              <a:rPr lang="en-US" sz="1300" b="1" dirty="0">
                <a:solidFill>
                  <a:srgbClr val="F2C27A"/>
                </a:solidFill>
                <a:latin typeface="Calibri" pitchFamily="34" charset="0"/>
                <a:ea typeface="Calibri" pitchFamily="34" charset="-122"/>
                <a:cs typeface="Calibri" pitchFamily="34" charset="-120"/>
              </a:rPr>
              <a:t>TUTORIAL 5  ·  THURSDAY 12 NOVEMBER</a:t>
            </a:r>
            <a:endParaRPr lang="en-US" sz="1300" dirty="0"/>
          </a:p>
        </p:txBody>
      </p:sp>
      <p:sp>
        <p:nvSpPr>
          <p:cNvPr id="4" name="text_3"/>
          <p:cNvSpPr txBox="1"/>
          <p:nvPr/>
        </p:nvSpPr>
        <p:spPr>
          <a:xfrm>
            <a:off x="822960" y="1417320"/>
            <a:ext cx="10332720" cy="1737360"/>
          </a:xfrm>
          <a:prstGeom prst="rect">
            <a:avLst/>
          </a:prstGeom>
          <a:noFill/>
          <a:ln/>
        </p:spPr>
        <p:txBody>
          <a:bodyPr wrap="square" lIns="635" tIns="635" rIns="635" bIns="635" rtlCol="0" anchor="t"/>
          <a:lstStyle/>
          <a:p>
            <a:pPr algn="l" indent="0" marL="0">
              <a:lnSpc>
                <a:spcPct val="95000"/>
              </a:lnSpc>
              <a:buNone/>
            </a:pPr>
            <a:r>
              <a:rPr lang="en-US" sz="4200" b="1" dirty="0">
                <a:solidFill>
                  <a:srgbClr val="FFFFFF"/>
                </a:solidFill>
                <a:latin typeface="Georgia" pitchFamily="34" charset="0"/>
                <a:ea typeface="Georgia" pitchFamily="34" charset="-122"/>
                <a:cs typeface="Georgia" pitchFamily="34" charset="-120"/>
              </a:rPr>
              <a:t>Make every figure earn its place</a:t>
            </a:r>
            <a:endParaRPr lang="en-US" sz="4200" dirty="0"/>
          </a:p>
        </p:txBody>
      </p:sp>
      <p:sp>
        <p:nvSpPr>
          <p:cNvPr id="5" name="text_4"/>
          <p:cNvSpPr txBox="1"/>
          <p:nvPr/>
        </p:nvSpPr>
        <p:spPr>
          <a:xfrm>
            <a:off x="822960" y="3246120"/>
            <a:ext cx="10058400" cy="822960"/>
          </a:xfrm>
          <a:prstGeom prst="rect">
            <a:avLst/>
          </a:prstGeom>
          <a:noFill/>
          <a:ln/>
        </p:spPr>
        <p:txBody>
          <a:bodyPr wrap="square" lIns="635" tIns="635" rIns="635" bIns="635" rtlCol="0" anchor="t"/>
          <a:lstStyle/>
          <a:p>
            <a:pPr algn="l" indent="0" marL="0">
              <a:lnSpc>
                <a:spcPct val="100000"/>
              </a:lnSpc>
              <a:buNone/>
            </a:pPr>
            <a:r>
              <a:rPr lang="en-US" sz="2000" i="1" dirty="0">
                <a:solidFill>
                  <a:srgbClr val="C9D6E3"/>
                </a:solidFill>
                <a:latin typeface="Calibri" pitchFamily="34" charset="0"/>
                <a:ea typeface="Calibri" pitchFamily="34" charset="-122"/>
                <a:cs typeface="Calibri" pitchFamily="34" charset="-120"/>
              </a:rPr>
              <a:t>Repeatable methods · captions that stand alone · writing about figures</a:t>
            </a:r>
            <a:endParaRPr lang="en-US" sz="2000" dirty="0"/>
          </a:p>
        </p:txBody>
      </p:sp>
      <p:sp>
        <p:nvSpPr>
          <p:cNvPr id="6" name="leave_5"/>
          <p:cNvSpPr/>
          <p:nvPr/>
        </p:nvSpPr>
        <p:spPr>
          <a:xfrm>
            <a:off x="822960" y="4343400"/>
            <a:ext cx="6949440" cy="960120"/>
          </a:xfrm>
          <a:prstGeom prst="roundRect">
            <a:avLst>
              <a:gd name="adj" fmla="val 7619"/>
            </a:avLst>
          </a:prstGeom>
          <a:solidFill>
            <a:srgbClr val="2E4A6B"/>
          </a:solidFill>
          <a:ln w="12700">
            <a:solidFill>
              <a:srgbClr val="2E4A6B"/>
            </a:solidFill>
            <a:prstDash val="solid"/>
          </a:ln>
        </p:spPr>
      </p:sp>
      <p:sp>
        <p:nvSpPr>
          <p:cNvPr id="7" name="text_6"/>
          <p:cNvSpPr txBox="1"/>
          <p:nvPr/>
        </p:nvSpPr>
        <p:spPr>
          <a:xfrm>
            <a:off x="1005840" y="4434840"/>
            <a:ext cx="2743200" cy="274320"/>
          </a:xfrm>
          <a:prstGeom prst="rect">
            <a:avLst/>
          </a:prstGeom>
          <a:noFill/>
          <a:ln/>
        </p:spPr>
        <p:txBody>
          <a:bodyPr wrap="square" lIns="635" tIns="635" rIns="635" bIns="635" rtlCol="0" anchor="t"/>
          <a:lstStyle/>
          <a:p>
            <a:pPr algn="l" indent="0" marL="0">
              <a:lnSpc>
                <a:spcPct val="100000"/>
              </a:lnSpc>
              <a:buNone/>
            </a:pPr>
            <a:r>
              <a:rPr lang="en-US" sz="1050" b="1" dirty="0">
                <a:solidFill>
                  <a:srgbClr val="F2C27A"/>
                </a:solidFill>
                <a:latin typeface="Calibri" pitchFamily="34" charset="0"/>
                <a:ea typeface="Calibri" pitchFamily="34" charset="-122"/>
                <a:cs typeface="Calibri" pitchFamily="34" charset="-120"/>
              </a:rPr>
              <a:t>YOU LEAVE WITH</a:t>
            </a:r>
            <a:endParaRPr lang="en-US" sz="1050" dirty="0"/>
          </a:p>
        </p:txBody>
      </p:sp>
      <p:sp>
        <p:nvSpPr>
          <p:cNvPr id="8" name="text_7"/>
          <p:cNvSpPr txBox="1"/>
          <p:nvPr/>
        </p:nvSpPr>
        <p:spPr>
          <a:xfrm>
            <a:off x="1005840" y="4681728"/>
            <a:ext cx="6583680" cy="594360"/>
          </a:xfrm>
          <a:prstGeom prst="rect">
            <a:avLst/>
          </a:prstGeom>
          <a:noFill/>
          <a:ln/>
        </p:spPr>
        <p:txBody>
          <a:bodyPr wrap="square" lIns="635" tIns="635" rIns="635" bIns="635" rtlCol="0" anchor="t"/>
          <a:lstStyle/>
          <a:p>
            <a:pPr algn="l" indent="0" marL="0">
              <a:lnSpc>
                <a:spcPct val="100000"/>
              </a:lnSpc>
              <a:buNone/>
            </a:pPr>
            <a:r>
              <a:rPr lang="en-US" sz="1500" dirty="0">
                <a:solidFill>
                  <a:srgbClr val="FFFFFF"/>
                </a:solidFill>
                <a:latin typeface="Calibri" pitchFamily="34" charset="0"/>
                <a:ea typeface="Calibri" pitchFamily="34" charset="-122"/>
                <a:cs typeface="Calibri" pitchFamily="34" charset="-120"/>
              </a:rPr>
              <a:t>A peer-checked Methods section, report-ready captions and one result sentence per figure.</a:t>
            </a:r>
            <a:endParaRPr lang="en-US" sz="1500" dirty="0"/>
          </a:p>
        </p:txBody>
      </p:sp>
      <p:sp>
        <p:nvSpPr>
          <p:cNvPr id="9" name="text_8"/>
          <p:cNvSpPr txBox="1"/>
          <p:nvPr/>
        </p:nvSpPr>
        <p:spPr>
          <a:xfrm>
            <a:off x="822960" y="6355080"/>
            <a:ext cx="8229600" cy="274320"/>
          </a:xfrm>
          <a:prstGeom prst="rect">
            <a:avLst/>
          </a:prstGeom>
          <a:noFill/>
          <a:ln/>
        </p:spPr>
        <p:txBody>
          <a:bodyPr wrap="square" lIns="635" tIns="635" rIns="635" bIns="635" rtlCol="0" anchor="t"/>
          <a:lstStyle/>
          <a:p>
            <a:pPr algn="l" indent="0" marL="0">
              <a:lnSpc>
                <a:spcPct val="100000"/>
              </a:lnSpc>
              <a:buNone/>
            </a:pPr>
            <a:r>
              <a:rPr lang="en-US" sz="1000" dirty="0">
                <a:solidFill>
                  <a:srgbClr val="8FA6BF"/>
                </a:solidFill>
                <a:latin typeface="Calibri" pitchFamily="34" charset="0"/>
                <a:ea typeface="Calibri" pitchFamily="34" charset="-122"/>
                <a:cs typeface="Calibri" pitchFamily="34" charset="-120"/>
              </a:rPr>
              <a:t>EART29200  ·  ENSO and cloud cover mini-project  ·  Writing strand</a:t>
            </a:r>
            <a:endParaRPr lang="en-US" sz="1000" dirty="0"/>
          </a:p>
        </p:txBody>
      </p:sp>
      <p:sp>
        <p:nvSpPr>
          <p:cNvPr id="10" name="dot_9"/>
          <p:cNvSpPr/>
          <p:nvPr/>
        </p:nvSpPr>
        <p:spPr>
          <a:xfrm>
            <a:off x="4852264" y="5715000"/>
            <a:ext cx="182880" cy="182880"/>
          </a:xfrm>
          <a:prstGeom prst="ellipse">
            <a:avLst/>
          </a:prstGeom>
          <a:solidFill>
            <a:srgbClr val="6C8EAD"/>
          </a:solidFill>
          <a:ln w="6350">
            <a:solidFill>
              <a:srgbClr val="6C8EAD"/>
            </a:solidFill>
            <a:prstDash val="solid"/>
          </a:ln>
        </p:spPr>
      </p:sp>
      <p:sp>
        <p:nvSpPr>
          <p:cNvPr id="11" name="dot_10"/>
          <p:cNvSpPr/>
          <p:nvPr/>
        </p:nvSpPr>
        <p:spPr>
          <a:xfrm>
            <a:off x="5181448" y="5715000"/>
            <a:ext cx="182880" cy="182880"/>
          </a:xfrm>
          <a:prstGeom prst="ellipse">
            <a:avLst/>
          </a:prstGeom>
          <a:solidFill>
            <a:srgbClr val="6C8EAD"/>
          </a:solidFill>
          <a:ln w="6350">
            <a:solidFill>
              <a:srgbClr val="6C8EAD"/>
            </a:solidFill>
            <a:prstDash val="solid"/>
          </a:ln>
        </p:spPr>
      </p:sp>
      <p:sp>
        <p:nvSpPr>
          <p:cNvPr id="12" name="dot_11"/>
          <p:cNvSpPr/>
          <p:nvPr/>
        </p:nvSpPr>
        <p:spPr>
          <a:xfrm>
            <a:off x="5510632" y="5715000"/>
            <a:ext cx="182880" cy="182880"/>
          </a:xfrm>
          <a:prstGeom prst="ellipse">
            <a:avLst/>
          </a:prstGeom>
          <a:solidFill>
            <a:srgbClr val="6C8EAD"/>
          </a:solidFill>
          <a:ln w="6350">
            <a:solidFill>
              <a:srgbClr val="6C8EAD"/>
            </a:solidFill>
            <a:prstDash val="solid"/>
          </a:ln>
        </p:spPr>
      </p:sp>
      <p:sp>
        <p:nvSpPr>
          <p:cNvPr id="13" name="dot_12"/>
          <p:cNvSpPr/>
          <p:nvPr/>
        </p:nvSpPr>
        <p:spPr>
          <a:xfrm>
            <a:off x="5839816" y="5715000"/>
            <a:ext cx="182880" cy="182880"/>
          </a:xfrm>
          <a:prstGeom prst="ellipse">
            <a:avLst/>
          </a:prstGeom>
          <a:solidFill>
            <a:srgbClr val="6C8EAD"/>
          </a:solidFill>
          <a:ln w="6350">
            <a:solidFill>
              <a:srgbClr val="6C8EAD"/>
            </a:solidFill>
            <a:prstDash val="solid"/>
          </a:ln>
        </p:spPr>
      </p:sp>
      <p:sp>
        <p:nvSpPr>
          <p:cNvPr id="14" name="dot_13"/>
          <p:cNvSpPr/>
          <p:nvPr/>
        </p:nvSpPr>
        <p:spPr>
          <a:xfrm>
            <a:off x="6169000" y="5715000"/>
            <a:ext cx="182880" cy="182880"/>
          </a:xfrm>
          <a:prstGeom prst="ellipse">
            <a:avLst/>
          </a:prstGeom>
          <a:solidFill>
            <a:srgbClr val="D98E1F"/>
          </a:solidFill>
          <a:ln w="6350">
            <a:solidFill>
              <a:srgbClr val="6C8EAD"/>
            </a:solidFill>
            <a:prstDash val="solid"/>
          </a:ln>
        </p:spPr>
      </p:sp>
      <p:sp>
        <p:nvSpPr>
          <p:cNvPr id="15" name="dot_14"/>
          <p:cNvSpPr/>
          <p:nvPr/>
        </p:nvSpPr>
        <p:spPr>
          <a:xfrm>
            <a:off x="6498184" y="5715000"/>
            <a:ext cx="182880" cy="182880"/>
          </a:xfrm>
          <a:prstGeom prst="ellipse">
            <a:avLst/>
          </a:prstGeom>
          <a:solidFill>
            <a:srgbClr val="2E4A6B"/>
          </a:solidFill>
          <a:ln w="6350">
            <a:solidFill>
              <a:srgbClr val="6C8EAD"/>
            </a:solidFill>
            <a:prstDash val="solid"/>
          </a:ln>
        </p:spPr>
      </p:sp>
      <p:sp>
        <p:nvSpPr>
          <p:cNvPr id="16" name="dot_15"/>
          <p:cNvSpPr/>
          <p:nvPr/>
        </p:nvSpPr>
        <p:spPr>
          <a:xfrm>
            <a:off x="6827368" y="5715000"/>
            <a:ext cx="182880" cy="182880"/>
          </a:xfrm>
          <a:prstGeom prst="ellipse">
            <a:avLst/>
          </a:prstGeom>
          <a:solidFill>
            <a:srgbClr val="2E4A6B"/>
          </a:solidFill>
          <a:ln w="6350">
            <a:solidFill>
              <a:srgbClr val="6C8EAD"/>
            </a:solidFill>
            <a:prstDash val="solid"/>
          </a:ln>
        </p:spPr>
      </p:sp>
      <p:sp>
        <p:nvSpPr>
          <p:cNvPr id="17" name="dot_16"/>
          <p:cNvSpPr/>
          <p:nvPr/>
        </p:nvSpPr>
        <p:spPr>
          <a:xfrm>
            <a:off x="7156552" y="5715000"/>
            <a:ext cx="182880" cy="182880"/>
          </a:xfrm>
          <a:prstGeom prst="ellipse">
            <a:avLst/>
          </a:prstGeom>
          <a:solidFill>
            <a:srgbClr val="2E4A6B"/>
          </a:solidFill>
          <a:ln w="6350">
            <a:solidFill>
              <a:srgbClr val="6C8EAD"/>
            </a:solidFill>
            <a:prstDash val="solid"/>
          </a:ln>
        </p:spPr>
      </p:sp>
      <p:sp>
        <p:nvSpPr>
          <p:cNvPr id="18" name="text_17"/>
          <p:cNvSpPr txBox="1"/>
          <p:nvPr/>
        </p:nvSpPr>
        <p:spPr>
          <a:xfrm>
            <a:off x="0" y="5934456"/>
            <a:ext cx="12191695" cy="228600"/>
          </a:xfrm>
          <a:prstGeom prst="rect">
            <a:avLst/>
          </a:prstGeom>
          <a:noFill/>
          <a:ln/>
        </p:spPr>
        <p:txBody>
          <a:bodyPr wrap="square" lIns="635" tIns="635" rIns="635" bIns="635" rtlCol="0" anchor="t"/>
          <a:lstStyle/>
          <a:p>
            <a:pPr algn="ctr" indent="0" marL="0">
              <a:lnSpc>
                <a:spcPct val="100000"/>
              </a:lnSpc>
              <a:buNone/>
            </a:pPr>
            <a:r>
              <a:rPr lang="en-US" sz="950" dirty="0">
                <a:solidFill>
                  <a:srgbClr val="AFC2D6"/>
                </a:solidFill>
                <a:latin typeface="Calibri" pitchFamily="34" charset="0"/>
                <a:ea typeface="Calibri" pitchFamily="34" charset="-122"/>
                <a:cs typeface="Calibri" pitchFamily="34" charset="-120"/>
              </a:rPr>
              <a:t>Tutorial 5 of 8  ·  Semester 1</a:t>
            </a:r>
            <a:endParaRPr lang="en-US" sz="9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_18"/>
          <p:cNvSpPr txBox="1"/>
          <p:nvPr/>
        </p:nvSpPr>
        <p:spPr>
          <a:xfrm>
            <a:off x="548640" y="365760"/>
            <a:ext cx="11064240" cy="640080"/>
          </a:xfrm>
          <a:prstGeom prst="rect">
            <a:avLst/>
          </a:prstGeom>
          <a:noFill/>
          <a:ln/>
        </p:spPr>
        <p:txBody>
          <a:bodyPr wrap="square" lIns="635" tIns="635" rIns="635" bIns="635" rtlCol="0" anchor="b"/>
          <a:lstStyle/>
          <a:p>
            <a:pPr algn="l" indent="0" marL="0">
              <a:lnSpc>
                <a:spcPct val="100000"/>
              </a:lnSpc>
              <a:buNone/>
            </a:pPr>
            <a:r>
              <a:rPr lang="en-US" sz="2800" b="1" dirty="0">
                <a:solidFill>
                  <a:srgbClr val="1B2A41"/>
                </a:solidFill>
                <a:latin typeface="Georgia" pitchFamily="34" charset="0"/>
                <a:ea typeface="Georgia" pitchFamily="34" charset="-122"/>
                <a:cs typeface="Georgia" pitchFamily="34" charset="-120"/>
              </a:rPr>
              <a:t>Today's plan</a:t>
            </a:r>
            <a:endParaRPr lang="en-US" sz="2800" dirty="0"/>
          </a:p>
        </p:txBody>
      </p:sp>
      <p:sp>
        <p:nvSpPr>
          <p:cNvPr id="3" name="text_19"/>
          <p:cNvSpPr txBox="1"/>
          <p:nvPr/>
        </p:nvSpPr>
        <p:spPr>
          <a:xfrm>
            <a:off x="548640" y="1234440"/>
            <a:ext cx="11064240" cy="685800"/>
          </a:xfrm>
          <a:prstGeom prst="rect">
            <a:avLst/>
          </a:prstGeom>
          <a:noFill/>
          <a:ln/>
        </p:spPr>
        <p:txBody>
          <a:bodyPr wrap="square" lIns="635" tIns="635" rIns="635" bIns="635" rtlCol="0" anchor="t"/>
          <a:lstStyle/>
          <a:p>
            <a:pPr algn="l" indent="0" marL="0">
              <a:lnSpc>
                <a:spcPct val="100000"/>
              </a:lnSpc>
              <a:buNone/>
            </a:pPr>
            <a:r>
              <a:rPr lang="en-US" sz="1900" b="1" dirty="0">
                <a:solidFill>
                  <a:srgbClr val="D98E1F"/>
                </a:solidFill>
                <a:latin typeface="Calibri" pitchFamily="34" charset="0"/>
                <a:ea typeface="Calibri" pitchFamily="34" charset="-122"/>
                <a:cs typeface="Calibri" pitchFamily="34" charset="-120"/>
              </a:rPr>
              <a:t>Goal:  </a:t>
            </a:r>
            <a:r>
              <a:rPr lang="en-US" sz="1900" b="1" dirty="0">
                <a:solidFill>
                  <a:srgbClr val="1B2A41"/>
                </a:solidFill>
                <a:latin typeface="Calibri" pitchFamily="34" charset="0"/>
                <a:ea typeface="Calibri" pitchFamily="34" charset="-122"/>
                <a:cs typeface="Calibri" pitchFamily="34" charset="-120"/>
              </a:rPr>
              <a:t>Leave with report-ready captions and a Methods section someone else could repeat.</a:t>
            </a:r>
            <a:endParaRPr lang="en-US" sz="1900" dirty="0"/>
          </a:p>
        </p:txBody>
      </p:sp>
      <p:sp>
        <p:nvSpPr>
          <p:cNvPr id="4" name="num_20"/>
          <p:cNvSpPr/>
          <p:nvPr/>
        </p:nvSpPr>
        <p:spPr>
          <a:xfrm>
            <a:off x="685800" y="2057400"/>
            <a:ext cx="384048" cy="384048"/>
          </a:xfrm>
          <a:prstGeom prst="ellipse">
            <a:avLst/>
          </a:prstGeom>
          <a:solidFill>
            <a:srgbClr val="1B2A41"/>
          </a:solidFill>
          <a:ln w="12700">
            <a:solidFill>
              <a:srgbClr val="1B2A41"/>
            </a:solidFill>
            <a:prstDash val="solid"/>
          </a:ln>
        </p:spPr>
      </p:sp>
      <p:sp>
        <p:nvSpPr>
          <p:cNvPr id="5" name="text_21"/>
          <p:cNvSpPr txBox="1"/>
          <p:nvPr/>
        </p:nvSpPr>
        <p:spPr>
          <a:xfrm>
            <a:off x="685800" y="2057400"/>
            <a:ext cx="384048" cy="384048"/>
          </a:xfrm>
          <a:prstGeom prst="rect">
            <a:avLst/>
          </a:prstGeom>
          <a:noFill/>
          <a:ln/>
        </p:spPr>
        <p:txBody>
          <a:bodyPr wrap="square" lIns="0" tIns="0" rIns="0" bIns="0" rtlCol="0" anchor="ctr"/>
          <a:lstStyle/>
          <a:p>
            <a:pPr algn="ctr" indent="0" marL="0">
              <a:lnSpc>
                <a:spcPct val="100000"/>
              </a:lnSpc>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6" name="text_22"/>
          <p:cNvSpPr txBox="1"/>
          <p:nvPr/>
        </p:nvSpPr>
        <p:spPr>
          <a:xfrm>
            <a:off x="1234440" y="2039112"/>
            <a:ext cx="6400800" cy="566928"/>
          </a:xfrm>
          <a:prstGeom prst="rect">
            <a:avLst/>
          </a:prstGeom>
          <a:noFill/>
          <a:ln/>
        </p:spPr>
        <p:txBody>
          <a:bodyPr wrap="square" lIns="635" tIns="635" rIns="635" bIns="635" rtlCol="0" anchor="ctr"/>
          <a:lstStyle/>
          <a:p>
            <a:pPr algn="l" indent="0" marL="0">
              <a:lnSpc>
                <a:spcPct val="100000"/>
              </a:lnSpc>
              <a:buNone/>
            </a:pPr>
            <a:r>
              <a:rPr lang="en-US" sz="1600" dirty="0">
                <a:solidFill>
                  <a:srgbClr val="222B36"/>
                </a:solidFill>
                <a:latin typeface="Calibri" pitchFamily="34" charset="0"/>
                <a:ea typeface="Calibri" pitchFamily="34" charset="-122"/>
                <a:cs typeface="Calibri" pitchFamily="34" charset="-120"/>
              </a:rPr>
              <a:t>Peer check: could I repeat your Methods?</a:t>
            </a:r>
            <a:endParaRPr lang="en-US" sz="1600" dirty="0"/>
          </a:p>
        </p:txBody>
      </p:sp>
      <p:sp>
        <p:nvSpPr>
          <p:cNvPr id="7" name="num_23"/>
          <p:cNvSpPr/>
          <p:nvPr/>
        </p:nvSpPr>
        <p:spPr>
          <a:xfrm>
            <a:off x="685800" y="2715768"/>
            <a:ext cx="384048" cy="384048"/>
          </a:xfrm>
          <a:prstGeom prst="ellipse">
            <a:avLst/>
          </a:prstGeom>
          <a:solidFill>
            <a:srgbClr val="1B2A41"/>
          </a:solidFill>
          <a:ln w="12700">
            <a:solidFill>
              <a:srgbClr val="1B2A41"/>
            </a:solidFill>
            <a:prstDash val="solid"/>
          </a:ln>
        </p:spPr>
      </p:sp>
      <p:sp>
        <p:nvSpPr>
          <p:cNvPr id="8" name="text_24"/>
          <p:cNvSpPr txBox="1"/>
          <p:nvPr/>
        </p:nvSpPr>
        <p:spPr>
          <a:xfrm>
            <a:off x="685800" y="2715768"/>
            <a:ext cx="384048" cy="384048"/>
          </a:xfrm>
          <a:prstGeom prst="rect">
            <a:avLst/>
          </a:prstGeom>
          <a:noFill/>
          <a:ln/>
        </p:spPr>
        <p:txBody>
          <a:bodyPr wrap="square" lIns="0" tIns="0" rIns="0" bIns="0" rtlCol="0" anchor="ctr"/>
          <a:lstStyle/>
          <a:p>
            <a:pPr algn="ctr" indent="0" marL="0">
              <a:lnSpc>
                <a:spcPct val="100000"/>
              </a:lnSpc>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9" name="text_25"/>
          <p:cNvSpPr txBox="1"/>
          <p:nvPr/>
        </p:nvSpPr>
        <p:spPr>
          <a:xfrm>
            <a:off x="1234440" y="2697480"/>
            <a:ext cx="6400800" cy="566928"/>
          </a:xfrm>
          <a:prstGeom prst="rect">
            <a:avLst/>
          </a:prstGeom>
          <a:noFill/>
          <a:ln/>
        </p:spPr>
        <p:txBody>
          <a:bodyPr wrap="square" lIns="635" tIns="635" rIns="635" bIns="635" rtlCol="0" anchor="ctr"/>
          <a:lstStyle/>
          <a:p>
            <a:pPr algn="l" indent="0" marL="0">
              <a:lnSpc>
                <a:spcPct val="100000"/>
              </a:lnSpc>
              <a:buNone/>
            </a:pPr>
            <a:r>
              <a:rPr lang="en-US" sz="1600" dirty="0">
                <a:solidFill>
                  <a:srgbClr val="222B36"/>
                </a:solidFill>
                <a:latin typeface="Calibri" pitchFamily="34" charset="0"/>
                <a:ea typeface="Calibri" pitchFamily="34" charset="-122"/>
                <a:cs typeface="Calibri" pitchFamily="34" charset="-120"/>
              </a:rPr>
              <a:t>Methods: r isn't enough (coins, n, p, n_eff)</a:t>
            </a:r>
            <a:endParaRPr lang="en-US" sz="1600" dirty="0"/>
          </a:p>
        </p:txBody>
      </p:sp>
      <p:sp>
        <p:nvSpPr>
          <p:cNvPr id="10" name="num_26"/>
          <p:cNvSpPr/>
          <p:nvPr/>
        </p:nvSpPr>
        <p:spPr>
          <a:xfrm>
            <a:off x="685800" y="3374136"/>
            <a:ext cx="384048" cy="384048"/>
          </a:xfrm>
          <a:prstGeom prst="ellipse">
            <a:avLst/>
          </a:prstGeom>
          <a:solidFill>
            <a:srgbClr val="1B2A41"/>
          </a:solidFill>
          <a:ln w="12700">
            <a:solidFill>
              <a:srgbClr val="1B2A41"/>
            </a:solidFill>
            <a:prstDash val="solid"/>
          </a:ln>
        </p:spPr>
      </p:sp>
      <p:sp>
        <p:nvSpPr>
          <p:cNvPr id="11" name="text_27"/>
          <p:cNvSpPr txBox="1"/>
          <p:nvPr/>
        </p:nvSpPr>
        <p:spPr>
          <a:xfrm>
            <a:off x="685800" y="3374136"/>
            <a:ext cx="384048" cy="384048"/>
          </a:xfrm>
          <a:prstGeom prst="rect">
            <a:avLst/>
          </a:prstGeom>
          <a:noFill/>
          <a:ln/>
        </p:spPr>
        <p:txBody>
          <a:bodyPr wrap="square" lIns="0" tIns="0" rIns="0" bIns="0" rtlCol="0" anchor="ctr"/>
          <a:lstStyle/>
          <a:p>
            <a:pPr algn="ctr" indent="0" marL="0">
              <a:lnSpc>
                <a:spcPct val="100000"/>
              </a:lnSpc>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12" name="text_28"/>
          <p:cNvSpPr txBox="1"/>
          <p:nvPr/>
        </p:nvSpPr>
        <p:spPr>
          <a:xfrm>
            <a:off x="1234440" y="3355848"/>
            <a:ext cx="6400800" cy="566928"/>
          </a:xfrm>
          <a:prstGeom prst="rect">
            <a:avLst/>
          </a:prstGeom>
          <a:noFill/>
          <a:ln/>
        </p:spPr>
        <p:txBody>
          <a:bodyPr wrap="square" lIns="635" tIns="635" rIns="635" bIns="635" rtlCol="0" anchor="ctr"/>
          <a:lstStyle/>
          <a:p>
            <a:pPr algn="l" indent="0" marL="0">
              <a:lnSpc>
                <a:spcPct val="100000"/>
              </a:lnSpc>
              <a:buNone/>
            </a:pPr>
            <a:r>
              <a:rPr lang="en-US" sz="1600" dirty="0">
                <a:solidFill>
                  <a:srgbClr val="222B36"/>
                </a:solidFill>
                <a:latin typeface="Calibri" pitchFamily="34" charset="0"/>
                <a:ea typeface="Calibri" pitchFamily="34" charset="-122"/>
                <a:cs typeface="Calibri" pitchFamily="34" charset="-120"/>
              </a:rPr>
              <a:t>Methods: noise maps, year-to-year tests, thresholds</a:t>
            </a:r>
            <a:endParaRPr lang="en-US" sz="1600" dirty="0"/>
          </a:p>
        </p:txBody>
      </p:sp>
      <p:sp>
        <p:nvSpPr>
          <p:cNvPr id="13" name="num_29"/>
          <p:cNvSpPr/>
          <p:nvPr/>
        </p:nvSpPr>
        <p:spPr>
          <a:xfrm>
            <a:off x="685800" y="4032504"/>
            <a:ext cx="384048" cy="384048"/>
          </a:xfrm>
          <a:prstGeom prst="ellipse">
            <a:avLst/>
          </a:prstGeom>
          <a:solidFill>
            <a:srgbClr val="1B2A41"/>
          </a:solidFill>
          <a:ln w="12700">
            <a:solidFill>
              <a:srgbClr val="1B2A41"/>
            </a:solidFill>
            <a:prstDash val="solid"/>
          </a:ln>
        </p:spPr>
      </p:sp>
      <p:sp>
        <p:nvSpPr>
          <p:cNvPr id="14" name="text_30"/>
          <p:cNvSpPr txBox="1"/>
          <p:nvPr/>
        </p:nvSpPr>
        <p:spPr>
          <a:xfrm>
            <a:off x="685800" y="4032504"/>
            <a:ext cx="384048" cy="384048"/>
          </a:xfrm>
          <a:prstGeom prst="rect">
            <a:avLst/>
          </a:prstGeom>
          <a:noFill/>
          <a:ln/>
        </p:spPr>
        <p:txBody>
          <a:bodyPr wrap="square" lIns="0" tIns="0" rIns="0" bIns="0" rtlCol="0" anchor="ctr"/>
          <a:lstStyle/>
          <a:p>
            <a:pPr algn="ctr" indent="0" marL="0">
              <a:lnSpc>
                <a:spcPct val="100000"/>
              </a:lnSpc>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15" name="text_31"/>
          <p:cNvSpPr txBox="1"/>
          <p:nvPr/>
        </p:nvSpPr>
        <p:spPr>
          <a:xfrm>
            <a:off x="1234440" y="4014216"/>
            <a:ext cx="6400800" cy="566928"/>
          </a:xfrm>
          <a:prstGeom prst="rect">
            <a:avLst/>
          </a:prstGeom>
          <a:noFill/>
          <a:ln/>
        </p:spPr>
        <p:txBody>
          <a:bodyPr wrap="square" lIns="635" tIns="635" rIns="635" bIns="635" rtlCol="0" anchor="ctr"/>
          <a:lstStyle/>
          <a:p>
            <a:pPr algn="l" indent="0" marL="0">
              <a:lnSpc>
                <a:spcPct val="100000"/>
              </a:lnSpc>
              <a:buNone/>
            </a:pPr>
            <a:r>
              <a:rPr lang="en-US" sz="1600" dirty="0">
                <a:solidFill>
                  <a:srgbClr val="222B36"/>
                </a:solidFill>
                <a:latin typeface="Calibri" pitchFamily="34" charset="0"/>
                <a:ea typeface="Calibri" pitchFamily="34" charset="-122"/>
                <a:cs typeface="Calibri" pitchFamily="34" charset="-120"/>
              </a:rPr>
              <a:t>Captions, writing about figures, honest colour scales</a:t>
            </a:r>
            <a:endParaRPr lang="en-US" sz="1600" dirty="0"/>
          </a:p>
        </p:txBody>
      </p:sp>
      <p:sp>
        <p:nvSpPr>
          <p:cNvPr id="16" name="card_32"/>
          <p:cNvSpPr/>
          <p:nvPr/>
        </p:nvSpPr>
        <p:spPr>
          <a:xfrm>
            <a:off x="8092440" y="2011680"/>
            <a:ext cx="3520440" cy="3246120"/>
          </a:xfrm>
          <a:prstGeom prst="roundRect">
            <a:avLst>
              <a:gd name="adj" fmla="val 2254"/>
            </a:avLst>
          </a:prstGeom>
          <a:solidFill>
            <a:srgbClr val="FBEBD0"/>
          </a:solidFill>
          <a:ln w="9525">
            <a:solidFill>
              <a:srgbClr val="FBEBD0"/>
            </a:solidFill>
            <a:prstDash val="solid"/>
          </a:ln>
        </p:spPr>
      </p:sp>
      <p:sp>
        <p:nvSpPr>
          <p:cNvPr id="17" name="tag_33"/>
          <p:cNvSpPr/>
          <p:nvPr/>
        </p:nvSpPr>
        <p:spPr>
          <a:xfrm>
            <a:off x="8257032" y="2139696"/>
            <a:ext cx="1545336" cy="256032"/>
          </a:xfrm>
          <a:prstGeom prst="roundRect">
            <a:avLst>
              <a:gd name="adj" fmla="val 21429"/>
            </a:avLst>
          </a:prstGeom>
          <a:solidFill>
            <a:srgbClr val="D98E1F"/>
          </a:solidFill>
          <a:ln w="12700">
            <a:solidFill>
              <a:srgbClr val="D98E1F"/>
            </a:solidFill>
            <a:prstDash val="solid"/>
          </a:ln>
        </p:spPr>
      </p:sp>
      <p:sp>
        <p:nvSpPr>
          <p:cNvPr id="18" name="text_34"/>
          <p:cNvSpPr txBox="1"/>
          <p:nvPr/>
        </p:nvSpPr>
        <p:spPr>
          <a:xfrm>
            <a:off x="8257032" y="2139696"/>
            <a:ext cx="1545336" cy="256032"/>
          </a:xfrm>
          <a:prstGeom prst="rect">
            <a:avLst/>
          </a:prstGeom>
          <a:noFill/>
          <a:ln/>
        </p:spPr>
        <p:txBody>
          <a:bodyPr wrap="square" lIns="0" tIns="0" rIns="0" bIns="0" rtlCol="0" anchor="ctr"/>
          <a:lstStyle/>
          <a:p>
            <a:pPr algn="ctr" indent="0" marL="0">
              <a:lnSpc>
                <a:spcPct val="100000"/>
              </a:lnSpc>
              <a:buNone/>
            </a:pPr>
            <a:r>
              <a:rPr lang="en-US" sz="1050" b="1" dirty="0">
                <a:solidFill>
                  <a:srgbClr val="FFFFFF"/>
                </a:solidFill>
                <a:latin typeface="Calibri" pitchFamily="34" charset="0"/>
                <a:ea typeface="Calibri" pitchFamily="34" charset="-122"/>
                <a:cs typeface="Calibri" pitchFamily="34" charset="-120"/>
              </a:rPr>
              <a:t>BRING / HAVE READY</a:t>
            </a:r>
            <a:endParaRPr lang="en-US" sz="1050" dirty="0"/>
          </a:p>
        </p:txBody>
      </p:sp>
      <p:sp>
        <p:nvSpPr>
          <p:cNvPr id="19" name="cardbody_35"/>
          <p:cNvSpPr txBox="1"/>
          <p:nvPr/>
        </p:nvSpPr>
        <p:spPr>
          <a:xfrm>
            <a:off x="8257032" y="2487168"/>
            <a:ext cx="3191256" cy="2679192"/>
          </a:xfrm>
          <a:prstGeom prst="rect">
            <a:avLst/>
          </a:prstGeom>
          <a:noFill/>
          <a:ln/>
        </p:spPr>
        <p:txBody>
          <a:bodyPr wrap="square" lIns="381" tIns="381" rIns="381" bIns="381" rtlCol="0" anchor="t"/>
          <a:lstStyle/>
          <a:p>
            <a:pPr marL="342900" indent="-342900">
              <a:spcAft>
                <a:spcPts val="600"/>
              </a:spcAft>
              <a:buSzPct val="100000"/>
              <a:buChar char="■"/>
            </a:pPr>
            <a:r>
              <a:rPr lang="en-US" sz="1400" dirty="0">
                <a:solidFill>
                  <a:srgbClr val="222B36"/>
                </a:solidFill>
                <a:latin typeface="Calibri" pitchFamily="34" charset="0"/>
                <a:ea typeface="Calibri" pitchFamily="34" charset="-122"/>
                <a:cs typeface="Calibri" pitchFamily="34" charset="-120"/>
              </a:rPr>
              <a:t>Task 4B Methods draft (printed or on screen)</a:t>
            </a:r>
            <a:endParaRPr lang="en-US" sz="1400" dirty="0"/>
          </a:p>
          <a:p>
            <a:pPr marL="342900" indent="-342900">
              <a:spcAft>
                <a:spcPts val="600"/>
              </a:spcAft>
              <a:buSzPct val="100000"/>
              <a:buChar char="■"/>
            </a:pPr>
            <a:r>
              <a:rPr lang="en-US" sz="1400" dirty="0">
                <a:solidFill>
                  <a:srgbClr val="222B36"/>
                </a:solidFill>
                <a:latin typeface="Calibri" pitchFamily="34" charset="0"/>
                <a:ea typeface="Calibri" pitchFamily="34" charset="-122"/>
                <a:cs typeface="Calibri" pitchFamily="34" charset="-120"/>
              </a:rPr>
              <a:t>Task 4C topic-sentence outline</a:t>
            </a:r>
            <a:endParaRPr lang="en-US" sz="1400" dirty="0"/>
          </a:p>
          <a:p>
            <a:pPr marL="342900" indent="-342900">
              <a:spcAft>
                <a:spcPts val="600"/>
              </a:spcAft>
              <a:buSzPct val="100000"/>
              <a:buChar char="■"/>
            </a:pPr>
            <a:r>
              <a:rPr lang="en-US" sz="1400" dirty="0">
                <a:solidFill>
                  <a:srgbClr val="222B36"/>
                </a:solidFill>
                <a:latin typeface="Calibri" pitchFamily="34" charset="0"/>
                <a:ea typeface="Calibri" pitchFamily="34" charset="-122"/>
                <a:cs typeface="Calibri" pitchFamily="34" charset="-120"/>
              </a:rPr>
              <a:t>Your 3–5 draft figures</a:t>
            </a:r>
            <a:endParaRPr lang="en-US" sz="1400" dirty="0"/>
          </a:p>
        </p:txBody>
      </p:sp>
      <p:sp>
        <p:nvSpPr>
          <p:cNvPr id="20" name="dot_36"/>
          <p:cNvSpPr/>
          <p:nvPr/>
        </p:nvSpPr>
        <p:spPr>
          <a:xfrm>
            <a:off x="4852264" y="5897880"/>
            <a:ext cx="182880" cy="182880"/>
          </a:xfrm>
          <a:prstGeom prst="ellipse">
            <a:avLst/>
          </a:prstGeom>
          <a:solidFill>
            <a:srgbClr val="2E4A6B"/>
          </a:solidFill>
          <a:ln w="6350">
            <a:solidFill>
              <a:srgbClr val="D5DAE1"/>
            </a:solidFill>
            <a:prstDash val="solid"/>
          </a:ln>
        </p:spPr>
      </p:sp>
      <p:sp>
        <p:nvSpPr>
          <p:cNvPr id="21" name="dot_37"/>
          <p:cNvSpPr/>
          <p:nvPr/>
        </p:nvSpPr>
        <p:spPr>
          <a:xfrm>
            <a:off x="5181448" y="5897880"/>
            <a:ext cx="182880" cy="182880"/>
          </a:xfrm>
          <a:prstGeom prst="ellipse">
            <a:avLst/>
          </a:prstGeom>
          <a:solidFill>
            <a:srgbClr val="2E4A6B"/>
          </a:solidFill>
          <a:ln w="6350">
            <a:solidFill>
              <a:srgbClr val="D5DAE1"/>
            </a:solidFill>
            <a:prstDash val="solid"/>
          </a:ln>
        </p:spPr>
      </p:sp>
      <p:sp>
        <p:nvSpPr>
          <p:cNvPr id="22" name="dot_38"/>
          <p:cNvSpPr/>
          <p:nvPr/>
        </p:nvSpPr>
        <p:spPr>
          <a:xfrm>
            <a:off x="5510632" y="5897880"/>
            <a:ext cx="182880" cy="182880"/>
          </a:xfrm>
          <a:prstGeom prst="ellipse">
            <a:avLst/>
          </a:prstGeom>
          <a:solidFill>
            <a:srgbClr val="2E4A6B"/>
          </a:solidFill>
          <a:ln w="6350">
            <a:solidFill>
              <a:srgbClr val="D5DAE1"/>
            </a:solidFill>
            <a:prstDash val="solid"/>
          </a:ln>
        </p:spPr>
      </p:sp>
      <p:sp>
        <p:nvSpPr>
          <p:cNvPr id="23" name="dot_39"/>
          <p:cNvSpPr/>
          <p:nvPr/>
        </p:nvSpPr>
        <p:spPr>
          <a:xfrm>
            <a:off x="5839816" y="5897880"/>
            <a:ext cx="182880" cy="182880"/>
          </a:xfrm>
          <a:prstGeom prst="ellipse">
            <a:avLst/>
          </a:prstGeom>
          <a:solidFill>
            <a:srgbClr val="2E4A6B"/>
          </a:solidFill>
          <a:ln w="6350">
            <a:solidFill>
              <a:srgbClr val="D5DAE1"/>
            </a:solidFill>
            <a:prstDash val="solid"/>
          </a:ln>
        </p:spPr>
      </p:sp>
      <p:sp>
        <p:nvSpPr>
          <p:cNvPr id="24" name="dot_40"/>
          <p:cNvSpPr/>
          <p:nvPr/>
        </p:nvSpPr>
        <p:spPr>
          <a:xfrm>
            <a:off x="6169000" y="5897880"/>
            <a:ext cx="182880" cy="182880"/>
          </a:xfrm>
          <a:prstGeom prst="ellipse">
            <a:avLst/>
          </a:prstGeom>
          <a:solidFill>
            <a:srgbClr val="D98E1F"/>
          </a:solidFill>
          <a:ln w="6350">
            <a:solidFill>
              <a:srgbClr val="D5DAE1"/>
            </a:solidFill>
            <a:prstDash val="solid"/>
          </a:ln>
        </p:spPr>
      </p:sp>
      <p:sp>
        <p:nvSpPr>
          <p:cNvPr id="25" name="dot_41"/>
          <p:cNvSpPr/>
          <p:nvPr/>
        </p:nvSpPr>
        <p:spPr>
          <a:xfrm>
            <a:off x="6498184" y="5897880"/>
            <a:ext cx="182880" cy="182880"/>
          </a:xfrm>
          <a:prstGeom prst="ellipse">
            <a:avLst/>
          </a:prstGeom>
          <a:solidFill>
            <a:srgbClr val="D5DAE1"/>
          </a:solidFill>
          <a:ln w="6350">
            <a:solidFill>
              <a:srgbClr val="D5DAE1"/>
            </a:solidFill>
            <a:prstDash val="solid"/>
          </a:ln>
        </p:spPr>
      </p:sp>
      <p:sp>
        <p:nvSpPr>
          <p:cNvPr id="26" name="dot_42"/>
          <p:cNvSpPr/>
          <p:nvPr/>
        </p:nvSpPr>
        <p:spPr>
          <a:xfrm>
            <a:off x="6827368" y="5897880"/>
            <a:ext cx="182880" cy="182880"/>
          </a:xfrm>
          <a:prstGeom prst="ellipse">
            <a:avLst/>
          </a:prstGeom>
          <a:solidFill>
            <a:srgbClr val="D5DAE1"/>
          </a:solidFill>
          <a:ln w="6350">
            <a:solidFill>
              <a:srgbClr val="D5DAE1"/>
            </a:solidFill>
            <a:prstDash val="solid"/>
          </a:ln>
        </p:spPr>
      </p:sp>
      <p:sp>
        <p:nvSpPr>
          <p:cNvPr id="27" name="dot_43"/>
          <p:cNvSpPr/>
          <p:nvPr/>
        </p:nvSpPr>
        <p:spPr>
          <a:xfrm>
            <a:off x="7156552" y="5897880"/>
            <a:ext cx="182880" cy="182880"/>
          </a:xfrm>
          <a:prstGeom prst="ellipse">
            <a:avLst/>
          </a:prstGeom>
          <a:solidFill>
            <a:srgbClr val="D5DAE1"/>
          </a:solidFill>
          <a:ln w="6350">
            <a:solidFill>
              <a:srgbClr val="D5DAE1"/>
            </a:solidFill>
            <a:prstDash val="solid"/>
          </a:ln>
        </p:spPr>
      </p:sp>
      <p:sp>
        <p:nvSpPr>
          <p:cNvPr id="28" name="text_44"/>
          <p:cNvSpPr txBox="1"/>
          <p:nvPr/>
        </p:nvSpPr>
        <p:spPr>
          <a:xfrm>
            <a:off x="0" y="6117336"/>
            <a:ext cx="12191695" cy="228600"/>
          </a:xfrm>
          <a:prstGeom prst="rect">
            <a:avLst/>
          </a:prstGeom>
          <a:noFill/>
          <a:ln/>
        </p:spPr>
        <p:txBody>
          <a:bodyPr wrap="square" lIns="635" tIns="635" rIns="635" bIns="635" rtlCol="0" anchor="t"/>
          <a:lstStyle/>
          <a:p>
            <a:pPr algn="ctr" indent="0" marL="0">
              <a:lnSpc>
                <a:spcPct val="100000"/>
              </a:lnSpc>
              <a:buNone/>
            </a:pPr>
            <a:r>
              <a:rPr lang="en-US" sz="950" dirty="0">
                <a:solidFill>
                  <a:srgbClr val="8A93A0"/>
                </a:solidFill>
                <a:latin typeface="Calibri" pitchFamily="34" charset="0"/>
                <a:ea typeface="Calibri" pitchFamily="34" charset="-122"/>
                <a:cs typeface="Calibri" pitchFamily="34" charset="-120"/>
              </a:rPr>
              <a:t>Tutorial 5 of 8  ·  Semester 1</a:t>
            </a:r>
            <a:endParaRPr lang="en-US" sz="950" dirty="0"/>
          </a:p>
        </p:txBody>
      </p:sp>
      <p:sp>
        <p:nvSpPr>
          <p:cNvPr id="25" name="Slide Number Placeholder 0"/>
          <p:cNvSpPr>
            <a:spLocks noGrp="1"/>
          </p:cNvSpPr>
          <p:nvPr>
            <p:ph type="sldNum" sz="quarter" idx="4294967295"/>
          </p:nvPr>
        </p:nvSpPr>
        <p:spPr>
          <a:xfrm>
            <a:off x="11274552" y="6473952"/>
            <a:ext cx="54864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8A93A0"/>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actband_45"/>
          <p:cNvSpPr/>
          <p:nvPr/>
        </p:nvSpPr>
        <p:spPr>
          <a:xfrm>
            <a:off x="0" y="237744"/>
            <a:ext cx="12191695" cy="914400"/>
          </a:xfrm>
          <a:prstGeom prst="rect">
            <a:avLst/>
          </a:prstGeom>
          <a:solidFill>
            <a:srgbClr val="FBEBD0"/>
          </a:solidFill>
          <a:ln w="12700">
            <a:solidFill>
              <a:srgbClr val="FBEBD0"/>
            </a:solidFill>
            <a:prstDash val="solid"/>
          </a:ln>
        </p:spPr>
      </p:sp>
      <p:sp>
        <p:nvSpPr>
          <p:cNvPr id="3" name="text_46"/>
          <p:cNvSpPr txBox="1"/>
          <p:nvPr/>
        </p:nvSpPr>
        <p:spPr>
          <a:xfrm>
            <a:off x="548640" y="329184"/>
            <a:ext cx="5486400" cy="274320"/>
          </a:xfrm>
          <a:prstGeom prst="rect">
            <a:avLst/>
          </a:prstGeom>
          <a:noFill/>
          <a:ln/>
        </p:spPr>
        <p:txBody>
          <a:bodyPr wrap="square" lIns="635" tIns="635" rIns="635" bIns="635" rtlCol="0" anchor="t"/>
          <a:lstStyle/>
          <a:p>
            <a:pPr algn="l" indent="0" marL="0">
              <a:lnSpc>
                <a:spcPct val="100000"/>
              </a:lnSpc>
              <a:buNone/>
            </a:pPr>
            <a:r>
              <a:rPr lang="en-US" sz="1100" b="1" dirty="0">
                <a:solidFill>
                  <a:srgbClr val="D98E1F"/>
                </a:solidFill>
                <a:latin typeface="Calibri" pitchFamily="34" charset="0"/>
                <a:ea typeface="Calibri" pitchFamily="34" charset="-122"/>
                <a:cs typeface="Calibri" pitchFamily="34" charset="-120"/>
              </a:rPr>
              <a:t>IN-CLASS ACTIVITY  ·  10 MIN</a:t>
            </a:r>
            <a:endParaRPr lang="en-US" sz="1100" dirty="0"/>
          </a:p>
        </p:txBody>
      </p:sp>
      <p:sp>
        <p:nvSpPr>
          <p:cNvPr id="4" name="text_47"/>
          <p:cNvSpPr txBox="1"/>
          <p:nvPr/>
        </p:nvSpPr>
        <p:spPr>
          <a:xfrm>
            <a:off x="548640" y="548640"/>
            <a:ext cx="11064240" cy="548640"/>
          </a:xfrm>
          <a:prstGeom prst="rect">
            <a:avLst/>
          </a:prstGeom>
          <a:noFill/>
          <a:ln/>
        </p:spPr>
        <p:txBody>
          <a:bodyPr wrap="square" lIns="635" tIns="635" rIns="635" bIns="635" rtlCol="0" anchor="t"/>
          <a:lstStyle/>
          <a:p>
            <a:pPr algn="l" indent="0" marL="0">
              <a:lnSpc>
                <a:spcPct val="100000"/>
              </a:lnSpc>
              <a:buNone/>
            </a:pPr>
            <a:r>
              <a:rPr lang="en-US" sz="2600" b="1" dirty="0">
                <a:solidFill>
                  <a:srgbClr val="1B2A41"/>
                </a:solidFill>
                <a:latin typeface="Georgia" pitchFamily="34" charset="0"/>
                <a:ea typeface="Georgia" pitchFamily="34" charset="-122"/>
                <a:cs typeface="Georgia" pitchFamily="34" charset="-120"/>
              </a:rPr>
              <a:t>Could I repeat your study?</a:t>
            </a:r>
            <a:endParaRPr lang="en-US" sz="2600" dirty="0"/>
          </a:p>
        </p:txBody>
      </p:sp>
      <p:sp>
        <p:nvSpPr>
          <p:cNvPr id="5" name="num_48"/>
          <p:cNvSpPr/>
          <p:nvPr/>
        </p:nvSpPr>
        <p:spPr>
          <a:xfrm>
            <a:off x="594360" y="1435608"/>
            <a:ext cx="365760" cy="365760"/>
          </a:xfrm>
          <a:prstGeom prst="ellipse">
            <a:avLst/>
          </a:prstGeom>
          <a:solidFill>
            <a:srgbClr val="D98E1F"/>
          </a:solidFill>
          <a:ln w="12700">
            <a:solidFill>
              <a:srgbClr val="D98E1F"/>
            </a:solidFill>
            <a:prstDash val="solid"/>
          </a:ln>
        </p:spPr>
      </p:sp>
      <p:sp>
        <p:nvSpPr>
          <p:cNvPr id="6" name="text_49"/>
          <p:cNvSpPr txBox="1"/>
          <p:nvPr/>
        </p:nvSpPr>
        <p:spPr>
          <a:xfrm>
            <a:off x="594360" y="1435608"/>
            <a:ext cx="365760" cy="365760"/>
          </a:xfrm>
          <a:prstGeom prst="rect">
            <a:avLst/>
          </a:prstGeom>
          <a:noFill/>
          <a:ln/>
        </p:spPr>
        <p:txBody>
          <a:bodyPr wrap="square" lIns="0" tIns="0" rIns="0" bIns="0" rtlCol="0" anchor="ctr"/>
          <a:lstStyle/>
          <a:p>
            <a:pPr algn="ctr" indent="0" marL="0">
              <a:lnSpc>
                <a:spcPct val="100000"/>
              </a:lnSpc>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7" name="text_50"/>
          <p:cNvSpPr txBox="1"/>
          <p:nvPr/>
        </p:nvSpPr>
        <p:spPr>
          <a:xfrm>
            <a:off x="1097280" y="1417320"/>
            <a:ext cx="6126480" cy="457200"/>
          </a:xfrm>
          <a:prstGeom prst="rect">
            <a:avLst/>
          </a:prstGeom>
          <a:noFill/>
          <a:ln/>
        </p:spPr>
        <p:txBody>
          <a:bodyPr wrap="square" lIns="635" tIns="635" rIns="635" bIns="635" rtlCol="0" anchor="t"/>
          <a:lstStyle/>
          <a:p>
            <a:pPr algn="l" indent="0" marL="0">
              <a:lnSpc>
                <a:spcPct val="100000"/>
              </a:lnSpc>
              <a:buNone/>
            </a:pPr>
            <a:r>
              <a:rPr lang="en-US" sz="1500" dirty="0">
                <a:solidFill>
                  <a:srgbClr val="222B36"/>
                </a:solidFill>
                <a:latin typeface="Calibri" pitchFamily="34" charset="0"/>
                <a:ea typeface="Calibri" pitchFamily="34" charset="-122"/>
                <a:cs typeface="Calibri" pitchFamily="34" charset="-120"/>
              </a:rPr>
              <a:t>Swap Methods drafts with a partner.</a:t>
            </a:r>
            <a:endParaRPr lang="en-US" sz="1500" dirty="0"/>
          </a:p>
        </p:txBody>
      </p:sp>
      <p:sp>
        <p:nvSpPr>
          <p:cNvPr id="8" name="num_51"/>
          <p:cNvSpPr/>
          <p:nvPr/>
        </p:nvSpPr>
        <p:spPr>
          <a:xfrm>
            <a:off x="594360" y="2020824"/>
            <a:ext cx="365760" cy="365760"/>
          </a:xfrm>
          <a:prstGeom prst="ellipse">
            <a:avLst/>
          </a:prstGeom>
          <a:solidFill>
            <a:srgbClr val="D98E1F"/>
          </a:solidFill>
          <a:ln w="12700">
            <a:solidFill>
              <a:srgbClr val="D98E1F"/>
            </a:solidFill>
            <a:prstDash val="solid"/>
          </a:ln>
        </p:spPr>
      </p:sp>
      <p:sp>
        <p:nvSpPr>
          <p:cNvPr id="9" name="text_52"/>
          <p:cNvSpPr txBox="1"/>
          <p:nvPr/>
        </p:nvSpPr>
        <p:spPr>
          <a:xfrm>
            <a:off x="594360" y="2020824"/>
            <a:ext cx="365760" cy="365760"/>
          </a:xfrm>
          <a:prstGeom prst="rect">
            <a:avLst/>
          </a:prstGeom>
          <a:noFill/>
          <a:ln/>
        </p:spPr>
        <p:txBody>
          <a:bodyPr wrap="square" lIns="0" tIns="0" rIns="0" bIns="0" rtlCol="0" anchor="ctr"/>
          <a:lstStyle/>
          <a:p>
            <a:pPr algn="ctr" indent="0" marL="0">
              <a:lnSpc>
                <a:spcPct val="100000"/>
              </a:lnSpc>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0" name="text_53"/>
          <p:cNvSpPr txBox="1"/>
          <p:nvPr/>
        </p:nvSpPr>
        <p:spPr>
          <a:xfrm>
            <a:off x="1097280" y="2002536"/>
            <a:ext cx="6126480" cy="658368"/>
          </a:xfrm>
          <a:prstGeom prst="rect">
            <a:avLst/>
          </a:prstGeom>
          <a:noFill/>
          <a:ln/>
        </p:spPr>
        <p:txBody>
          <a:bodyPr wrap="square" lIns="635" tIns="635" rIns="635" bIns="635" rtlCol="0" anchor="t"/>
          <a:lstStyle/>
          <a:p>
            <a:pPr algn="l" indent="0" marL="0">
              <a:lnSpc>
                <a:spcPct val="100000"/>
              </a:lnSpc>
              <a:buNone/>
            </a:pPr>
            <a:r>
              <a:rPr lang="en-US" sz="1500" dirty="0">
                <a:solidFill>
                  <a:srgbClr val="222B36"/>
                </a:solidFill>
                <a:latin typeface="Calibri" pitchFamily="34" charset="0"/>
                <a:ea typeface="Calibri" pitchFamily="34" charset="-122"/>
                <a:cs typeface="Calibri" pitchFamily="34" charset="-120"/>
              </a:rPr>
              <a:t>Read as if you had to </a:t>
            </a:r>
            <a:r>
              <a:rPr lang="en-US" sz="1500" b="1" dirty="0">
                <a:solidFill>
                  <a:srgbClr val="222B36"/>
                </a:solidFill>
                <a:latin typeface="Calibri" pitchFamily="34" charset="0"/>
                <a:ea typeface="Calibri" pitchFamily="34" charset="-122"/>
                <a:cs typeface="Calibri" pitchFamily="34" charset="-120"/>
              </a:rPr>
              <a:t>redo the analysis tomorrow</a:t>
            </a:r>
            <a:r>
              <a:rPr lang="en-US" sz="1500" dirty="0">
                <a:solidFill>
                  <a:srgbClr val="222B36"/>
                </a:solidFill>
                <a:latin typeface="Calibri" pitchFamily="34" charset="0"/>
                <a:ea typeface="Calibri" pitchFamily="34" charset="-122"/>
                <a:cs typeface="Calibri" pitchFamily="34" charset="-120"/>
              </a:rPr>
              <a:t> with only this text and the notebook.</a:t>
            </a:r>
            <a:endParaRPr lang="en-US" sz="1500" dirty="0"/>
          </a:p>
        </p:txBody>
      </p:sp>
      <p:sp>
        <p:nvSpPr>
          <p:cNvPr id="11" name="num_54"/>
          <p:cNvSpPr/>
          <p:nvPr/>
        </p:nvSpPr>
        <p:spPr>
          <a:xfrm>
            <a:off x="594360" y="2807208"/>
            <a:ext cx="365760" cy="365760"/>
          </a:xfrm>
          <a:prstGeom prst="ellipse">
            <a:avLst/>
          </a:prstGeom>
          <a:solidFill>
            <a:srgbClr val="D98E1F"/>
          </a:solidFill>
          <a:ln w="12700">
            <a:solidFill>
              <a:srgbClr val="D98E1F"/>
            </a:solidFill>
            <a:prstDash val="solid"/>
          </a:ln>
        </p:spPr>
      </p:sp>
      <p:sp>
        <p:nvSpPr>
          <p:cNvPr id="12" name="text_55"/>
          <p:cNvSpPr txBox="1"/>
          <p:nvPr/>
        </p:nvSpPr>
        <p:spPr>
          <a:xfrm>
            <a:off x="594360" y="2807208"/>
            <a:ext cx="365760" cy="365760"/>
          </a:xfrm>
          <a:prstGeom prst="rect">
            <a:avLst/>
          </a:prstGeom>
          <a:noFill/>
          <a:ln/>
        </p:spPr>
        <p:txBody>
          <a:bodyPr wrap="square" lIns="0" tIns="0" rIns="0" bIns="0" rtlCol="0" anchor="ctr"/>
          <a:lstStyle/>
          <a:p>
            <a:pPr algn="ctr" indent="0" marL="0">
              <a:lnSpc>
                <a:spcPct val="100000"/>
              </a:lnSpc>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13" name="text_56"/>
          <p:cNvSpPr txBox="1"/>
          <p:nvPr/>
        </p:nvSpPr>
        <p:spPr>
          <a:xfrm>
            <a:off x="1097280" y="2788920"/>
            <a:ext cx="6126480" cy="658368"/>
          </a:xfrm>
          <a:prstGeom prst="rect">
            <a:avLst/>
          </a:prstGeom>
          <a:noFill/>
          <a:ln/>
        </p:spPr>
        <p:txBody>
          <a:bodyPr wrap="square" lIns="635" tIns="635" rIns="635" bIns="635" rtlCol="0" anchor="t"/>
          <a:lstStyle/>
          <a:p>
            <a:pPr algn="l" indent="0" marL="0">
              <a:lnSpc>
                <a:spcPct val="100000"/>
              </a:lnSpc>
              <a:buNone/>
            </a:pPr>
            <a:r>
              <a:rPr lang="en-US" sz="1500" dirty="0">
                <a:solidFill>
                  <a:srgbClr val="222B36"/>
                </a:solidFill>
                <a:latin typeface="Calibri" pitchFamily="34" charset="0"/>
                <a:ea typeface="Calibri" pitchFamily="34" charset="-122"/>
                <a:cs typeface="Calibri" pitchFamily="34" charset="-120"/>
              </a:rPr>
              <a:t>List every decision you would have to </a:t>
            </a:r>
            <a:r>
              <a:rPr lang="en-US" sz="1500" b="1" dirty="0">
                <a:solidFill>
                  <a:srgbClr val="222B36"/>
                </a:solidFill>
                <a:latin typeface="Calibri" pitchFamily="34" charset="0"/>
                <a:ea typeface="Calibri" pitchFamily="34" charset="-122"/>
                <a:cs typeface="Calibri" pitchFamily="34" charset="-120"/>
              </a:rPr>
              <a:t>guess</a:t>
            </a:r>
            <a:r>
              <a:rPr lang="en-US" sz="1500" dirty="0">
                <a:solidFill>
                  <a:srgbClr val="222B36"/>
                </a:solidFill>
                <a:latin typeface="Calibri" pitchFamily="34" charset="0"/>
                <a:ea typeface="Calibri" pitchFamily="34" charset="-122"/>
                <a:cs typeface="Calibri" pitchFamily="34" charset="-120"/>
              </a:rPr>
              <a:t>: period? region bounds? ONI threshold? anomaly baseline? weighting? cloud variable? months used?</a:t>
            </a:r>
            <a:endParaRPr lang="en-US" sz="1500" dirty="0"/>
          </a:p>
        </p:txBody>
      </p:sp>
      <p:sp>
        <p:nvSpPr>
          <p:cNvPr id="14" name="num_57"/>
          <p:cNvSpPr/>
          <p:nvPr/>
        </p:nvSpPr>
        <p:spPr>
          <a:xfrm>
            <a:off x="594360" y="3593592"/>
            <a:ext cx="365760" cy="365760"/>
          </a:xfrm>
          <a:prstGeom prst="ellipse">
            <a:avLst/>
          </a:prstGeom>
          <a:solidFill>
            <a:srgbClr val="D98E1F"/>
          </a:solidFill>
          <a:ln w="12700">
            <a:solidFill>
              <a:srgbClr val="D98E1F"/>
            </a:solidFill>
            <a:prstDash val="solid"/>
          </a:ln>
        </p:spPr>
      </p:sp>
      <p:sp>
        <p:nvSpPr>
          <p:cNvPr id="15" name="text_58"/>
          <p:cNvSpPr txBox="1"/>
          <p:nvPr/>
        </p:nvSpPr>
        <p:spPr>
          <a:xfrm>
            <a:off x="594360" y="3593592"/>
            <a:ext cx="365760" cy="365760"/>
          </a:xfrm>
          <a:prstGeom prst="rect">
            <a:avLst/>
          </a:prstGeom>
          <a:noFill/>
          <a:ln/>
        </p:spPr>
        <p:txBody>
          <a:bodyPr wrap="square" lIns="0" tIns="0" rIns="0" bIns="0" rtlCol="0" anchor="ctr"/>
          <a:lstStyle/>
          <a:p>
            <a:pPr algn="ctr" indent="0" marL="0">
              <a:lnSpc>
                <a:spcPct val="100000"/>
              </a:lnSpc>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16" name="text_59"/>
          <p:cNvSpPr txBox="1"/>
          <p:nvPr/>
        </p:nvSpPr>
        <p:spPr>
          <a:xfrm>
            <a:off x="1097280" y="3575304"/>
            <a:ext cx="6126480" cy="658368"/>
          </a:xfrm>
          <a:prstGeom prst="rect">
            <a:avLst/>
          </a:prstGeom>
          <a:noFill/>
          <a:ln/>
        </p:spPr>
        <p:txBody>
          <a:bodyPr wrap="square" lIns="635" tIns="635" rIns="635" bIns="635" rtlCol="0" anchor="t"/>
          <a:lstStyle/>
          <a:p>
            <a:pPr algn="l" indent="0" marL="0">
              <a:lnSpc>
                <a:spcPct val="100000"/>
              </a:lnSpc>
              <a:buNone/>
            </a:pPr>
            <a:r>
              <a:rPr lang="en-US" sz="1500" dirty="0">
                <a:solidFill>
                  <a:srgbClr val="222B36"/>
                </a:solidFill>
                <a:latin typeface="Calibri" pitchFamily="34" charset="0"/>
                <a:ea typeface="Calibri" pitchFamily="34" charset="-122"/>
                <a:cs typeface="Calibri" pitchFamily="34" charset="-120"/>
              </a:rPr>
              <a:t>Also mark anything that is </a:t>
            </a:r>
            <a:r>
              <a:rPr lang="en-US" sz="1500" b="1" dirty="0">
                <a:solidFill>
                  <a:srgbClr val="222B36"/>
                </a:solidFill>
                <a:latin typeface="Calibri" pitchFamily="34" charset="0"/>
                <a:ea typeface="Calibri" pitchFamily="34" charset="-122"/>
                <a:cs typeface="Calibri" pitchFamily="34" charset="-120"/>
              </a:rPr>
              <a:t>code, not science</a:t>
            </a:r>
            <a:r>
              <a:rPr lang="en-US" sz="1500" dirty="0">
                <a:solidFill>
                  <a:srgbClr val="222B36"/>
                </a:solidFill>
                <a:latin typeface="Calibri" pitchFamily="34" charset="0"/>
                <a:ea typeface="Calibri" pitchFamily="34" charset="-122"/>
                <a:cs typeface="Calibri" pitchFamily="34" charset="-120"/>
              </a:rPr>
              <a:t> (cell numbers, function names, ‘I ran…’).</a:t>
            </a:r>
            <a:endParaRPr lang="en-US" sz="1500" dirty="0"/>
          </a:p>
        </p:txBody>
      </p:sp>
      <p:sp>
        <p:nvSpPr>
          <p:cNvPr id="17" name="num_60"/>
          <p:cNvSpPr/>
          <p:nvPr/>
        </p:nvSpPr>
        <p:spPr>
          <a:xfrm>
            <a:off x="594360" y="4379976"/>
            <a:ext cx="365760" cy="365760"/>
          </a:xfrm>
          <a:prstGeom prst="ellipse">
            <a:avLst/>
          </a:prstGeom>
          <a:solidFill>
            <a:srgbClr val="D98E1F"/>
          </a:solidFill>
          <a:ln w="12700">
            <a:solidFill>
              <a:srgbClr val="D98E1F"/>
            </a:solidFill>
            <a:prstDash val="solid"/>
          </a:ln>
        </p:spPr>
      </p:sp>
      <p:sp>
        <p:nvSpPr>
          <p:cNvPr id="18" name="text_61"/>
          <p:cNvSpPr txBox="1"/>
          <p:nvPr/>
        </p:nvSpPr>
        <p:spPr>
          <a:xfrm>
            <a:off x="594360" y="4379976"/>
            <a:ext cx="365760" cy="365760"/>
          </a:xfrm>
          <a:prstGeom prst="rect">
            <a:avLst/>
          </a:prstGeom>
          <a:noFill/>
          <a:ln/>
        </p:spPr>
        <p:txBody>
          <a:bodyPr wrap="square" lIns="0" tIns="0" rIns="0" bIns="0" rtlCol="0" anchor="ctr"/>
          <a:lstStyle/>
          <a:p>
            <a:pPr algn="ctr" indent="0" marL="0">
              <a:lnSpc>
                <a:spcPct val="100000"/>
              </a:lnSpc>
              <a:buNone/>
            </a:pPr>
            <a:r>
              <a:rPr lang="en-US" sz="1200" b="1" dirty="0">
                <a:solidFill>
                  <a:srgbClr val="FFFFFF"/>
                </a:solidFill>
                <a:latin typeface="Calibri" pitchFamily="34" charset="0"/>
                <a:ea typeface="Calibri" pitchFamily="34" charset="-122"/>
                <a:cs typeface="Calibri" pitchFamily="34" charset="-120"/>
              </a:rPr>
              <a:t>5</a:t>
            </a:r>
            <a:endParaRPr lang="en-US" sz="1200" dirty="0"/>
          </a:p>
        </p:txBody>
      </p:sp>
      <p:sp>
        <p:nvSpPr>
          <p:cNvPr id="19" name="text_62"/>
          <p:cNvSpPr txBox="1"/>
          <p:nvPr/>
        </p:nvSpPr>
        <p:spPr>
          <a:xfrm>
            <a:off x="1097280" y="4361688"/>
            <a:ext cx="6126480" cy="457200"/>
          </a:xfrm>
          <a:prstGeom prst="rect">
            <a:avLst/>
          </a:prstGeom>
          <a:noFill/>
          <a:ln/>
        </p:spPr>
        <p:txBody>
          <a:bodyPr wrap="square" lIns="635" tIns="635" rIns="635" bIns="635" rtlCol="0" anchor="t"/>
          <a:lstStyle/>
          <a:p>
            <a:pPr algn="l" indent="0" marL="0">
              <a:lnSpc>
                <a:spcPct val="100000"/>
              </a:lnSpc>
              <a:buNone/>
            </a:pPr>
            <a:r>
              <a:rPr lang="en-US" sz="1500" dirty="0">
                <a:solidFill>
                  <a:srgbClr val="222B36"/>
                </a:solidFill>
                <a:latin typeface="Calibri" pitchFamily="34" charset="0"/>
                <a:ea typeface="Calibri" pitchFamily="34" charset="-122"/>
                <a:cs typeface="Calibri" pitchFamily="34" charset="-120"/>
              </a:rPr>
              <a:t>Return the list. Don't fix it now; that is Task 5A.</a:t>
            </a:r>
            <a:endParaRPr lang="en-US" sz="1500" dirty="0"/>
          </a:p>
        </p:txBody>
      </p:sp>
      <p:sp>
        <p:nvSpPr>
          <p:cNvPr id="20" name="card_63"/>
          <p:cNvSpPr/>
          <p:nvPr/>
        </p:nvSpPr>
        <p:spPr>
          <a:xfrm>
            <a:off x="7680960" y="1417320"/>
            <a:ext cx="3959352" cy="2331720"/>
          </a:xfrm>
          <a:prstGeom prst="roundRect">
            <a:avLst>
              <a:gd name="adj" fmla="val 3137"/>
            </a:avLst>
          </a:prstGeom>
          <a:solidFill>
            <a:srgbClr val="1B2A41"/>
          </a:solidFill>
          <a:ln w="9525">
            <a:solidFill>
              <a:srgbClr val="1B2A41"/>
            </a:solidFill>
            <a:prstDash val="solid"/>
          </a:ln>
        </p:spPr>
      </p:sp>
      <p:sp>
        <p:nvSpPr>
          <p:cNvPr id="21" name="tag_64"/>
          <p:cNvSpPr/>
          <p:nvPr/>
        </p:nvSpPr>
        <p:spPr>
          <a:xfrm>
            <a:off x="7845552" y="1545336"/>
            <a:ext cx="1234440" cy="256032"/>
          </a:xfrm>
          <a:prstGeom prst="roundRect">
            <a:avLst>
              <a:gd name="adj" fmla="val 21429"/>
            </a:avLst>
          </a:prstGeom>
          <a:solidFill>
            <a:srgbClr val="D98E1F"/>
          </a:solidFill>
          <a:ln w="12700">
            <a:solidFill>
              <a:srgbClr val="D98E1F"/>
            </a:solidFill>
            <a:prstDash val="solid"/>
          </a:ln>
        </p:spPr>
      </p:sp>
      <p:sp>
        <p:nvSpPr>
          <p:cNvPr id="22" name="text_65"/>
          <p:cNvSpPr txBox="1"/>
          <p:nvPr/>
        </p:nvSpPr>
        <p:spPr>
          <a:xfrm>
            <a:off x="7845552" y="1545336"/>
            <a:ext cx="1234440" cy="256032"/>
          </a:xfrm>
          <a:prstGeom prst="rect">
            <a:avLst/>
          </a:prstGeom>
          <a:noFill/>
          <a:ln/>
        </p:spPr>
        <p:txBody>
          <a:bodyPr wrap="square" lIns="0" tIns="0" rIns="0" bIns="0" rtlCol="0" anchor="ctr"/>
          <a:lstStyle/>
          <a:p>
            <a:pPr algn="ctr" indent="0" marL="0">
              <a:lnSpc>
                <a:spcPct val="100000"/>
              </a:lnSpc>
              <a:buNone/>
            </a:pPr>
            <a:r>
              <a:rPr lang="en-US" sz="1050" b="1" dirty="0">
                <a:solidFill>
                  <a:srgbClr val="FFFFFF"/>
                </a:solidFill>
                <a:latin typeface="Calibri" pitchFamily="34" charset="0"/>
                <a:ea typeface="Calibri" pitchFamily="34" charset="-122"/>
                <a:cs typeface="Calibri" pitchFamily="34" charset="-120"/>
              </a:rPr>
              <a:t>YOU LEAVE WITH</a:t>
            </a:r>
            <a:endParaRPr lang="en-US" sz="1050" dirty="0"/>
          </a:p>
        </p:txBody>
      </p:sp>
      <p:sp>
        <p:nvSpPr>
          <p:cNvPr id="23" name="cardbody_66"/>
          <p:cNvSpPr txBox="1"/>
          <p:nvPr/>
        </p:nvSpPr>
        <p:spPr>
          <a:xfrm>
            <a:off x="7845552" y="1892808"/>
            <a:ext cx="3630168" cy="1764792"/>
          </a:xfrm>
          <a:prstGeom prst="rect">
            <a:avLst/>
          </a:prstGeom>
          <a:noFill/>
          <a:ln/>
        </p:spPr>
        <p:txBody>
          <a:bodyPr wrap="square" lIns="381" tIns="381" rIns="381" bIns="381" rtlCol="0" anchor="t"/>
          <a:lstStyle/>
          <a:p>
            <a:pPr marL="342900" indent="-342900">
              <a:spcAft>
                <a:spcPts val="500"/>
              </a:spcAft>
              <a:buSzPct val="100000"/>
              <a:buChar char="■"/>
            </a:pPr>
            <a:r>
              <a:rPr lang="en-US" sz="1450" dirty="0">
                <a:solidFill>
                  <a:srgbClr val="FFFFFF"/>
                </a:solidFill>
                <a:latin typeface="Calibri" pitchFamily="34" charset="0"/>
                <a:ea typeface="Calibri" pitchFamily="34" charset="-122"/>
                <a:cs typeface="Calibri" pitchFamily="34" charset="-120"/>
              </a:rPr>
              <a:t>A ‘guess list’ for your own Methods</a:t>
            </a:r>
            <a:endParaRPr lang="en-US" sz="1450" dirty="0"/>
          </a:p>
          <a:p>
            <a:pPr marL="342900" indent="-342900">
              <a:spcAft>
                <a:spcPts val="500"/>
              </a:spcAft>
              <a:buSzPct val="100000"/>
              <a:buChar char="■"/>
            </a:pPr>
            <a:r>
              <a:rPr lang="en-US" sz="1450" dirty="0">
                <a:solidFill>
                  <a:srgbClr val="FFFFFF"/>
                </a:solidFill>
                <a:latin typeface="Calibri" pitchFamily="34" charset="0"/>
                <a:ea typeface="Calibri" pitchFamily="34" charset="-122"/>
                <a:cs typeface="Calibri" pitchFamily="34" charset="-120"/>
              </a:rPr>
              <a:t>A sense of what a complete Methods looks like</a:t>
            </a:r>
            <a:endParaRPr lang="en-US" sz="1450" dirty="0"/>
          </a:p>
        </p:txBody>
      </p:sp>
      <p:sp>
        <p:nvSpPr>
          <p:cNvPr id="24" name="card_67"/>
          <p:cNvSpPr/>
          <p:nvPr/>
        </p:nvSpPr>
        <p:spPr>
          <a:xfrm>
            <a:off x="7680960" y="3931920"/>
            <a:ext cx="3959352" cy="2377440"/>
          </a:xfrm>
          <a:prstGeom prst="roundRect">
            <a:avLst>
              <a:gd name="adj" fmla="val 3077"/>
            </a:avLst>
          </a:prstGeom>
          <a:solidFill>
            <a:srgbClr val="DCE7F2"/>
          </a:solidFill>
          <a:ln w="9525">
            <a:solidFill>
              <a:srgbClr val="DCE7F2"/>
            </a:solidFill>
            <a:prstDash val="solid"/>
          </a:ln>
        </p:spPr>
      </p:sp>
      <p:sp>
        <p:nvSpPr>
          <p:cNvPr id="25" name="tag_68"/>
          <p:cNvSpPr/>
          <p:nvPr/>
        </p:nvSpPr>
        <p:spPr>
          <a:xfrm>
            <a:off x="7845552" y="4059936"/>
            <a:ext cx="1078992" cy="256032"/>
          </a:xfrm>
          <a:prstGeom prst="roundRect">
            <a:avLst>
              <a:gd name="adj" fmla="val 21429"/>
            </a:avLst>
          </a:prstGeom>
          <a:solidFill>
            <a:srgbClr val="2E4A6B"/>
          </a:solidFill>
          <a:ln w="12700">
            <a:solidFill>
              <a:srgbClr val="2E4A6B"/>
            </a:solidFill>
            <a:prstDash val="solid"/>
          </a:ln>
        </p:spPr>
      </p:sp>
      <p:sp>
        <p:nvSpPr>
          <p:cNvPr id="26" name="text_69"/>
          <p:cNvSpPr txBox="1"/>
          <p:nvPr/>
        </p:nvSpPr>
        <p:spPr>
          <a:xfrm>
            <a:off x="7845552" y="4059936"/>
            <a:ext cx="1078992" cy="256032"/>
          </a:xfrm>
          <a:prstGeom prst="rect">
            <a:avLst/>
          </a:prstGeom>
          <a:noFill/>
          <a:ln/>
        </p:spPr>
        <p:txBody>
          <a:bodyPr wrap="square" lIns="0" tIns="0" rIns="0" bIns="0" rtlCol="0" anchor="ctr"/>
          <a:lstStyle/>
          <a:p>
            <a:pPr algn="ctr" indent="0" marL="0">
              <a:lnSpc>
                <a:spcPct val="100000"/>
              </a:lnSpc>
              <a:buNone/>
            </a:pPr>
            <a:r>
              <a:rPr lang="en-US" sz="1050" b="1" dirty="0">
                <a:solidFill>
                  <a:srgbClr val="FFFFFF"/>
                </a:solidFill>
                <a:latin typeface="Calibri" pitchFamily="34" charset="0"/>
                <a:ea typeface="Calibri" pitchFamily="34" charset="-122"/>
                <a:cs typeface="Calibri" pitchFamily="34" charset="-120"/>
              </a:rPr>
              <a:t>THE STANDARD</a:t>
            </a:r>
            <a:endParaRPr lang="en-US" sz="1050" dirty="0"/>
          </a:p>
        </p:txBody>
      </p:sp>
      <p:sp>
        <p:nvSpPr>
          <p:cNvPr id="27" name="cardbody_70"/>
          <p:cNvSpPr txBox="1"/>
          <p:nvPr/>
        </p:nvSpPr>
        <p:spPr>
          <a:xfrm>
            <a:off x="7845552" y="4407408"/>
            <a:ext cx="3630168" cy="1810512"/>
          </a:xfrm>
          <a:prstGeom prst="rect">
            <a:avLst/>
          </a:prstGeom>
          <a:noFill/>
          <a:ln/>
        </p:spPr>
        <p:txBody>
          <a:bodyPr wrap="square" lIns="381" tIns="381" rIns="381" bIns="381" rtlCol="0" anchor="t"/>
          <a:lstStyle/>
          <a:p>
            <a:pPr marL="342900" indent="-342900">
              <a:spcAft>
                <a:spcPts val="500"/>
              </a:spcAft>
              <a:buSzPct val="100000"/>
              <a:buChar char="■"/>
            </a:pPr>
            <a:r>
              <a:rPr lang="en-US" sz="1400" dirty="0">
                <a:solidFill>
                  <a:srgbClr val="222B36"/>
                </a:solidFill>
                <a:latin typeface="Calibri" pitchFamily="34" charset="0"/>
                <a:ea typeface="Calibri" pitchFamily="34" charset="-122"/>
                <a:cs typeface="Calibri" pitchFamily="34" charset="-120"/>
              </a:rPr>
              <a:t>Schultz: a tenet of scientific writing is whether a reader ‘has enough information from the paper to duplicate the study’.</a:t>
            </a:r>
            <a:endParaRPr lang="en-US" sz="1400" dirty="0"/>
          </a:p>
          <a:p>
            <a:pPr marL="342900" indent="-342900">
              <a:spcAft>
                <a:spcPts val="500"/>
              </a:spcAft>
              <a:buSzPct val="100000"/>
              <a:buChar char="■"/>
            </a:pPr>
            <a:r>
              <a:rPr lang="en-US" sz="1400" dirty="0">
                <a:solidFill>
                  <a:srgbClr val="222B36"/>
                </a:solidFill>
                <a:latin typeface="Calibri" pitchFamily="34" charset="0"/>
                <a:ea typeface="Calibri" pitchFamily="34" charset="-122"/>
                <a:cs typeface="Calibri" pitchFamily="34" charset="-120"/>
              </a:rPr>
              <a:t>Interpretation (why the cloud changes) belongs in the </a:t>
            </a:r>
            <a:r>
              <a:rPr lang="en-US" sz="1400" b="1" dirty="0">
                <a:solidFill>
                  <a:srgbClr val="222B36"/>
                </a:solidFill>
                <a:latin typeface="Calibri" pitchFamily="34" charset="0"/>
                <a:ea typeface="Calibri" pitchFamily="34" charset="-122"/>
                <a:cs typeface="Calibri" pitchFamily="34" charset="-120"/>
              </a:rPr>
              <a:t>Discussion</a:t>
            </a:r>
            <a:r>
              <a:rPr lang="en-US" sz="1400" dirty="0">
                <a:solidFill>
                  <a:srgbClr val="222B36"/>
                </a:solidFill>
                <a:latin typeface="Calibri" pitchFamily="34" charset="0"/>
                <a:ea typeface="Calibri" pitchFamily="34" charset="-122"/>
                <a:cs typeface="Calibri" pitchFamily="34" charset="-120"/>
              </a:rPr>
              <a:t>, not the Methods.</a:t>
            </a:r>
            <a:endParaRPr lang="en-US" sz="1400" dirty="0"/>
          </a:p>
        </p:txBody>
      </p:sp>
      <p:sp>
        <p:nvSpPr>
          <p:cNvPr id="28" name="text_71"/>
          <p:cNvSpPr txBox="1"/>
          <p:nvPr/>
        </p:nvSpPr>
        <p:spPr>
          <a:xfrm>
            <a:off x="548640" y="6446520"/>
            <a:ext cx="10424160" cy="256032"/>
          </a:xfrm>
          <a:prstGeom prst="rect">
            <a:avLst/>
          </a:prstGeom>
          <a:noFill/>
          <a:ln/>
        </p:spPr>
        <p:txBody>
          <a:bodyPr wrap="square" lIns="635" tIns="635" rIns="635" bIns="635" rtlCol="0" anchor="t"/>
          <a:lstStyle/>
          <a:p>
            <a:pPr algn="l" indent="0" marL="0">
              <a:lnSpc>
                <a:spcPct val="100000"/>
              </a:lnSpc>
              <a:buNone/>
            </a:pPr>
            <a:r>
              <a:rPr lang="en-US" sz="900" i="1" dirty="0">
                <a:solidFill>
                  <a:srgbClr val="8A93A0"/>
                </a:solidFill>
                <a:latin typeface="Calibri" pitchFamily="34" charset="0"/>
                <a:ea typeface="Calibri" pitchFamily="34" charset="-122"/>
                <a:cs typeface="Calibri" pitchFamily="34" charset="-120"/>
              </a:rPr>
              <a:t>Source: Schultz, D. M. (2009) Eloquent Science, American Meteorological Society, §4.8 Data and methods.</a:t>
            </a:r>
            <a:endParaRPr lang="en-US" sz="900" dirty="0"/>
          </a:p>
        </p:txBody>
      </p:sp>
      <p:sp>
        <p:nvSpPr>
          <p:cNvPr id="25" name="Slide Number Placeholder 0"/>
          <p:cNvSpPr>
            <a:spLocks noGrp="1"/>
          </p:cNvSpPr>
          <p:nvPr>
            <p:ph type="sldNum" sz="quarter" idx="4294967295"/>
          </p:nvPr>
        </p:nvSpPr>
        <p:spPr>
          <a:xfrm>
            <a:off x="11274552" y="6473952"/>
            <a:ext cx="54864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8A93A0"/>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agl_72"/>
          <p:cNvSpPr/>
          <p:nvPr/>
        </p:nvSpPr>
        <p:spPr>
          <a:xfrm>
            <a:off x="548640" y="329184"/>
            <a:ext cx="804672" cy="237744"/>
          </a:xfrm>
          <a:prstGeom prst="roundRect">
            <a:avLst>
              <a:gd name="adj" fmla="val 19231"/>
            </a:avLst>
          </a:prstGeom>
          <a:solidFill>
            <a:srgbClr val="1F7A6E"/>
          </a:solidFill>
          <a:ln w="12700">
            <a:solidFill>
              <a:srgbClr val="1F7A6E"/>
            </a:solidFill>
            <a:prstDash val="solid"/>
          </a:ln>
        </p:spPr>
      </p:sp>
      <p:sp>
        <p:nvSpPr>
          <p:cNvPr id="3" name="text_73"/>
          <p:cNvSpPr txBox="1"/>
          <p:nvPr/>
        </p:nvSpPr>
        <p:spPr>
          <a:xfrm>
            <a:off x="548640" y="329184"/>
            <a:ext cx="804672" cy="237744"/>
          </a:xfrm>
          <a:prstGeom prst="rect">
            <a:avLst/>
          </a:prstGeom>
          <a:noFill/>
          <a:ln/>
        </p:spPr>
        <p:txBody>
          <a:bodyPr wrap="square" lIns="0" tIns="0" rIns="0" bIns="0" rtlCol="0" anchor="ctr"/>
          <a:lstStyle/>
          <a:p>
            <a:pPr algn="ctr" indent="0" marL="0">
              <a:lnSpc>
                <a:spcPct val="100000"/>
              </a:lnSpc>
              <a:buNone/>
            </a:pPr>
            <a:r>
              <a:rPr lang="en-US" sz="1000" b="1" dirty="0">
                <a:solidFill>
                  <a:srgbClr val="FFFFFF"/>
                </a:solidFill>
                <a:latin typeface="Calibri" pitchFamily="34" charset="0"/>
                <a:ea typeface="Calibri" pitchFamily="34" charset="-122"/>
                <a:cs typeface="Calibri" pitchFamily="34" charset="-120"/>
              </a:rPr>
              <a:t>METHODS</a:t>
            </a:r>
            <a:endParaRPr lang="en-US" sz="1000" dirty="0"/>
          </a:p>
        </p:txBody>
      </p:sp>
      <p:sp>
        <p:nvSpPr>
          <p:cNvPr id="4" name="text_74"/>
          <p:cNvSpPr txBox="1"/>
          <p:nvPr/>
        </p:nvSpPr>
        <p:spPr>
          <a:xfrm>
            <a:off x="548640" y="365760"/>
            <a:ext cx="11064240" cy="640080"/>
          </a:xfrm>
          <a:prstGeom prst="rect">
            <a:avLst/>
          </a:prstGeom>
          <a:noFill/>
          <a:ln/>
        </p:spPr>
        <p:txBody>
          <a:bodyPr wrap="square" lIns="635" tIns="635" rIns="635" bIns="635" rtlCol="0" anchor="b"/>
          <a:lstStyle/>
          <a:p>
            <a:pPr algn="l" indent="0" marL="0">
              <a:lnSpc>
                <a:spcPct val="100000"/>
              </a:lnSpc>
              <a:buNone/>
            </a:pPr>
            <a:r>
              <a:rPr lang="en-US" sz="2800" b="1" dirty="0">
                <a:solidFill>
                  <a:srgbClr val="1B2A41"/>
                </a:solidFill>
                <a:latin typeface="Georgia" pitchFamily="34" charset="0"/>
                <a:ea typeface="Georgia" pitchFamily="34" charset="-122"/>
                <a:cs typeface="Georgia" pitchFamily="34" charset="-120"/>
              </a:rPr>
              <a:t>Coins in a bucket: r is not enough, n matters</a:t>
            </a:r>
            <a:endParaRPr lang="en-US" sz="2800" dirty="0"/>
          </a:p>
        </p:txBody>
      </p:sp>
      <p:sp>
        <p:nvSpPr>
          <p:cNvPr id="5" name="coin_75"/>
          <p:cNvSpPr/>
          <p:nvPr/>
        </p:nvSpPr>
        <p:spPr>
          <a:xfrm>
            <a:off x="676656" y="1591056"/>
            <a:ext cx="384048" cy="384048"/>
          </a:xfrm>
          <a:prstGeom prst="ellipse">
            <a:avLst/>
          </a:prstGeom>
          <a:solidFill>
            <a:srgbClr val="C98B5A"/>
          </a:solidFill>
          <a:ln w="12700">
            <a:solidFill>
              <a:srgbClr val="5B6573"/>
            </a:solidFill>
            <a:prstDash val="solid"/>
          </a:ln>
        </p:spPr>
      </p:sp>
      <p:sp>
        <p:nvSpPr>
          <p:cNvPr id="6" name="text_76"/>
          <p:cNvSpPr txBox="1"/>
          <p:nvPr/>
        </p:nvSpPr>
        <p:spPr>
          <a:xfrm>
            <a:off x="676656" y="1591056"/>
            <a:ext cx="384048" cy="384048"/>
          </a:xfrm>
          <a:prstGeom prst="rect">
            <a:avLst/>
          </a:prstGeom>
          <a:noFill/>
          <a:ln/>
        </p:spPr>
        <p:txBody>
          <a:bodyPr wrap="square" lIns="0" tIns="0" rIns="0" bIns="0" rtlCol="0" anchor="ctr"/>
          <a:lstStyle/>
          <a:p>
            <a:pPr algn="ctr" indent="0" marL="0">
              <a:lnSpc>
                <a:spcPct val="100000"/>
              </a:lnSpc>
              <a:buNone/>
            </a:pPr>
            <a:r>
              <a:rPr lang="en-US" sz="1100" b="1" dirty="0">
                <a:solidFill>
                  <a:srgbClr val="1B2A41"/>
                </a:solidFill>
                <a:latin typeface="Calibri" pitchFamily="34" charset="0"/>
                <a:ea typeface="Calibri" pitchFamily="34" charset="-122"/>
                <a:cs typeface="Calibri" pitchFamily="34" charset="-120"/>
              </a:rPr>
              <a:t>1p</a:t>
            </a:r>
            <a:endParaRPr lang="en-US" sz="1100" dirty="0"/>
          </a:p>
        </p:txBody>
      </p:sp>
      <p:sp>
        <p:nvSpPr>
          <p:cNvPr id="7" name="coin_77"/>
          <p:cNvSpPr/>
          <p:nvPr/>
        </p:nvSpPr>
        <p:spPr>
          <a:xfrm>
            <a:off x="1442466" y="1570482"/>
            <a:ext cx="425196" cy="425196"/>
          </a:xfrm>
          <a:prstGeom prst="ellipse">
            <a:avLst/>
          </a:prstGeom>
          <a:solidFill>
            <a:srgbClr val="C98B5A"/>
          </a:solidFill>
          <a:ln w="12700">
            <a:solidFill>
              <a:srgbClr val="5B6573"/>
            </a:solidFill>
            <a:prstDash val="solid"/>
          </a:ln>
        </p:spPr>
      </p:sp>
      <p:sp>
        <p:nvSpPr>
          <p:cNvPr id="8" name="text_78"/>
          <p:cNvSpPr txBox="1"/>
          <p:nvPr/>
        </p:nvSpPr>
        <p:spPr>
          <a:xfrm>
            <a:off x="1442466" y="1570482"/>
            <a:ext cx="425196" cy="425196"/>
          </a:xfrm>
          <a:prstGeom prst="rect">
            <a:avLst/>
          </a:prstGeom>
          <a:noFill/>
          <a:ln/>
        </p:spPr>
        <p:txBody>
          <a:bodyPr wrap="square" lIns="0" tIns="0" rIns="0" bIns="0" rtlCol="0" anchor="ctr"/>
          <a:lstStyle/>
          <a:p>
            <a:pPr algn="ctr" indent="0" marL="0">
              <a:lnSpc>
                <a:spcPct val="100000"/>
              </a:lnSpc>
              <a:buNone/>
            </a:pPr>
            <a:r>
              <a:rPr lang="en-US" sz="1100" b="1" dirty="0">
                <a:solidFill>
                  <a:srgbClr val="1B2A41"/>
                </a:solidFill>
                <a:latin typeface="Calibri" pitchFamily="34" charset="0"/>
                <a:ea typeface="Calibri" pitchFamily="34" charset="-122"/>
                <a:cs typeface="Calibri" pitchFamily="34" charset="-120"/>
              </a:rPr>
              <a:t>2p</a:t>
            </a:r>
            <a:endParaRPr lang="en-US" sz="1100" dirty="0"/>
          </a:p>
        </p:txBody>
      </p:sp>
      <p:sp>
        <p:nvSpPr>
          <p:cNvPr id="9" name="coin_79"/>
          <p:cNvSpPr/>
          <p:nvPr/>
        </p:nvSpPr>
        <p:spPr>
          <a:xfrm>
            <a:off x="2208276" y="1549908"/>
            <a:ext cx="466344" cy="466344"/>
          </a:xfrm>
          <a:prstGeom prst="ellipse">
            <a:avLst/>
          </a:prstGeom>
          <a:solidFill>
            <a:srgbClr val="C9CED6"/>
          </a:solidFill>
          <a:ln w="12700">
            <a:solidFill>
              <a:srgbClr val="5B6573"/>
            </a:solidFill>
            <a:prstDash val="solid"/>
          </a:ln>
        </p:spPr>
      </p:sp>
      <p:sp>
        <p:nvSpPr>
          <p:cNvPr id="10" name="text_80"/>
          <p:cNvSpPr txBox="1"/>
          <p:nvPr/>
        </p:nvSpPr>
        <p:spPr>
          <a:xfrm>
            <a:off x="2208276" y="1549908"/>
            <a:ext cx="466344" cy="466344"/>
          </a:xfrm>
          <a:prstGeom prst="rect">
            <a:avLst/>
          </a:prstGeom>
          <a:noFill/>
          <a:ln/>
        </p:spPr>
        <p:txBody>
          <a:bodyPr wrap="square" lIns="0" tIns="0" rIns="0" bIns="0" rtlCol="0" anchor="ctr"/>
          <a:lstStyle/>
          <a:p>
            <a:pPr algn="ctr" indent="0" marL="0">
              <a:lnSpc>
                <a:spcPct val="100000"/>
              </a:lnSpc>
              <a:buNone/>
            </a:pPr>
            <a:r>
              <a:rPr lang="en-US" sz="1100" b="1" dirty="0">
                <a:solidFill>
                  <a:srgbClr val="1B2A41"/>
                </a:solidFill>
                <a:latin typeface="Calibri" pitchFamily="34" charset="0"/>
                <a:ea typeface="Calibri" pitchFamily="34" charset="-122"/>
                <a:cs typeface="Calibri" pitchFamily="34" charset="-120"/>
              </a:rPr>
              <a:t>5p</a:t>
            </a:r>
            <a:endParaRPr lang="en-US" sz="1100" dirty="0"/>
          </a:p>
        </p:txBody>
      </p:sp>
      <p:sp>
        <p:nvSpPr>
          <p:cNvPr id="11" name="coin_81"/>
          <p:cNvSpPr/>
          <p:nvPr/>
        </p:nvSpPr>
        <p:spPr>
          <a:xfrm>
            <a:off x="2974086" y="1529334"/>
            <a:ext cx="507492" cy="507492"/>
          </a:xfrm>
          <a:prstGeom prst="ellipse">
            <a:avLst/>
          </a:prstGeom>
          <a:solidFill>
            <a:srgbClr val="C9CED6"/>
          </a:solidFill>
          <a:ln w="12700">
            <a:solidFill>
              <a:srgbClr val="5B6573"/>
            </a:solidFill>
            <a:prstDash val="solid"/>
          </a:ln>
        </p:spPr>
      </p:sp>
      <p:sp>
        <p:nvSpPr>
          <p:cNvPr id="12" name="text_82"/>
          <p:cNvSpPr txBox="1"/>
          <p:nvPr/>
        </p:nvSpPr>
        <p:spPr>
          <a:xfrm>
            <a:off x="2974086" y="1529334"/>
            <a:ext cx="507492" cy="507492"/>
          </a:xfrm>
          <a:prstGeom prst="rect">
            <a:avLst/>
          </a:prstGeom>
          <a:noFill/>
          <a:ln/>
        </p:spPr>
        <p:txBody>
          <a:bodyPr wrap="square" lIns="0" tIns="0" rIns="0" bIns="0" rtlCol="0" anchor="ctr"/>
          <a:lstStyle/>
          <a:p>
            <a:pPr algn="ctr" indent="0" marL="0">
              <a:lnSpc>
                <a:spcPct val="100000"/>
              </a:lnSpc>
              <a:buNone/>
            </a:pPr>
            <a:r>
              <a:rPr lang="en-US" sz="1100" b="1" dirty="0">
                <a:solidFill>
                  <a:srgbClr val="1B2A41"/>
                </a:solidFill>
                <a:latin typeface="Calibri" pitchFamily="34" charset="0"/>
                <a:ea typeface="Calibri" pitchFamily="34" charset="-122"/>
                <a:cs typeface="Calibri" pitchFamily="34" charset="-120"/>
              </a:rPr>
              <a:t>10p</a:t>
            </a:r>
            <a:endParaRPr lang="en-US" sz="1100" dirty="0"/>
          </a:p>
        </p:txBody>
      </p:sp>
      <p:sp>
        <p:nvSpPr>
          <p:cNvPr id="13" name="coin_83"/>
          <p:cNvSpPr/>
          <p:nvPr/>
        </p:nvSpPr>
        <p:spPr>
          <a:xfrm>
            <a:off x="3739896" y="1508760"/>
            <a:ext cx="548640" cy="548640"/>
          </a:xfrm>
          <a:prstGeom prst="ellipse">
            <a:avLst/>
          </a:prstGeom>
          <a:solidFill>
            <a:srgbClr val="C9CED6"/>
          </a:solidFill>
          <a:ln w="12700">
            <a:solidFill>
              <a:srgbClr val="5B6573"/>
            </a:solidFill>
            <a:prstDash val="solid"/>
          </a:ln>
        </p:spPr>
      </p:sp>
      <p:sp>
        <p:nvSpPr>
          <p:cNvPr id="14" name="text_84"/>
          <p:cNvSpPr txBox="1"/>
          <p:nvPr/>
        </p:nvSpPr>
        <p:spPr>
          <a:xfrm>
            <a:off x="3739896" y="1508760"/>
            <a:ext cx="548640" cy="548640"/>
          </a:xfrm>
          <a:prstGeom prst="rect">
            <a:avLst/>
          </a:prstGeom>
          <a:noFill/>
          <a:ln/>
        </p:spPr>
        <p:txBody>
          <a:bodyPr wrap="square" lIns="0" tIns="0" rIns="0" bIns="0" rtlCol="0" anchor="ctr"/>
          <a:lstStyle/>
          <a:p>
            <a:pPr algn="ctr" indent="0" marL="0">
              <a:lnSpc>
                <a:spcPct val="100000"/>
              </a:lnSpc>
              <a:buNone/>
            </a:pPr>
            <a:r>
              <a:rPr lang="en-US" sz="1100" b="1" dirty="0">
                <a:solidFill>
                  <a:srgbClr val="1B2A41"/>
                </a:solidFill>
                <a:latin typeface="Calibri" pitchFamily="34" charset="0"/>
                <a:ea typeface="Calibri" pitchFamily="34" charset="-122"/>
                <a:cs typeface="Calibri" pitchFamily="34" charset="-120"/>
              </a:rPr>
              <a:t>20p</a:t>
            </a:r>
            <a:endParaRPr lang="en-US" sz="1100" dirty="0"/>
          </a:p>
        </p:txBody>
      </p:sp>
      <p:sp>
        <p:nvSpPr>
          <p:cNvPr id="15" name="coin_85"/>
          <p:cNvSpPr/>
          <p:nvPr/>
        </p:nvSpPr>
        <p:spPr>
          <a:xfrm>
            <a:off x="4505706" y="1488186"/>
            <a:ext cx="589788" cy="589788"/>
          </a:xfrm>
          <a:prstGeom prst="ellipse">
            <a:avLst/>
          </a:prstGeom>
          <a:solidFill>
            <a:srgbClr val="C9CED6"/>
          </a:solidFill>
          <a:ln w="12700">
            <a:solidFill>
              <a:srgbClr val="5B6573"/>
            </a:solidFill>
            <a:prstDash val="solid"/>
          </a:ln>
        </p:spPr>
      </p:sp>
      <p:sp>
        <p:nvSpPr>
          <p:cNvPr id="16" name="text_86"/>
          <p:cNvSpPr txBox="1"/>
          <p:nvPr/>
        </p:nvSpPr>
        <p:spPr>
          <a:xfrm>
            <a:off x="4505706" y="1488186"/>
            <a:ext cx="589788" cy="589788"/>
          </a:xfrm>
          <a:prstGeom prst="rect">
            <a:avLst/>
          </a:prstGeom>
          <a:noFill/>
          <a:ln/>
        </p:spPr>
        <p:txBody>
          <a:bodyPr wrap="square" lIns="0" tIns="0" rIns="0" bIns="0" rtlCol="0" anchor="ctr"/>
          <a:lstStyle/>
          <a:p>
            <a:pPr algn="ctr" indent="0" marL="0">
              <a:lnSpc>
                <a:spcPct val="100000"/>
              </a:lnSpc>
              <a:buNone/>
            </a:pPr>
            <a:r>
              <a:rPr lang="en-US" sz="1100" b="1" dirty="0">
                <a:solidFill>
                  <a:srgbClr val="1B2A41"/>
                </a:solidFill>
                <a:latin typeface="Calibri" pitchFamily="34" charset="0"/>
                <a:ea typeface="Calibri" pitchFamily="34" charset="-122"/>
                <a:cs typeface="Calibri" pitchFamily="34" charset="-120"/>
              </a:rPr>
              <a:t>50p</a:t>
            </a:r>
            <a:endParaRPr lang="en-US" sz="1100" dirty="0"/>
          </a:p>
        </p:txBody>
      </p:sp>
      <p:sp>
        <p:nvSpPr>
          <p:cNvPr id="17" name="coin_87"/>
          <p:cNvSpPr/>
          <p:nvPr/>
        </p:nvSpPr>
        <p:spPr>
          <a:xfrm>
            <a:off x="5271516" y="1467612"/>
            <a:ext cx="630936" cy="630936"/>
          </a:xfrm>
          <a:prstGeom prst="ellipse">
            <a:avLst/>
          </a:prstGeom>
          <a:solidFill>
            <a:srgbClr val="D9B45A"/>
          </a:solidFill>
          <a:ln w="12700">
            <a:solidFill>
              <a:srgbClr val="5B6573"/>
            </a:solidFill>
            <a:prstDash val="solid"/>
          </a:ln>
        </p:spPr>
      </p:sp>
      <p:sp>
        <p:nvSpPr>
          <p:cNvPr id="18" name="text_88"/>
          <p:cNvSpPr txBox="1"/>
          <p:nvPr/>
        </p:nvSpPr>
        <p:spPr>
          <a:xfrm>
            <a:off x="5271516" y="1467612"/>
            <a:ext cx="630936" cy="630936"/>
          </a:xfrm>
          <a:prstGeom prst="rect">
            <a:avLst/>
          </a:prstGeom>
          <a:noFill/>
          <a:ln/>
        </p:spPr>
        <p:txBody>
          <a:bodyPr wrap="square" lIns="0" tIns="0" rIns="0" bIns="0" rtlCol="0" anchor="ctr"/>
          <a:lstStyle/>
          <a:p>
            <a:pPr algn="ctr" indent="0" marL="0">
              <a:lnSpc>
                <a:spcPct val="100000"/>
              </a:lnSpc>
              <a:buNone/>
            </a:pPr>
            <a:r>
              <a:rPr lang="en-US" sz="1100" b="1" dirty="0">
                <a:solidFill>
                  <a:srgbClr val="1B2A41"/>
                </a:solidFill>
                <a:latin typeface="Calibri" pitchFamily="34" charset="0"/>
                <a:ea typeface="Calibri" pitchFamily="34" charset="-122"/>
                <a:cs typeface="Calibri" pitchFamily="34" charset="-120"/>
              </a:rPr>
              <a:t>£1</a:t>
            </a:r>
            <a:endParaRPr lang="en-US" sz="1100" dirty="0"/>
          </a:p>
        </p:txBody>
      </p:sp>
      <p:sp>
        <p:nvSpPr>
          <p:cNvPr id="19" name="text_89"/>
          <p:cNvSpPr txBox="1"/>
          <p:nvPr/>
        </p:nvSpPr>
        <p:spPr>
          <a:xfrm>
            <a:off x="548640" y="2148840"/>
            <a:ext cx="5852160" cy="594360"/>
          </a:xfrm>
          <a:prstGeom prst="rect">
            <a:avLst/>
          </a:prstGeom>
          <a:noFill/>
          <a:ln/>
        </p:spPr>
        <p:txBody>
          <a:bodyPr wrap="square" lIns="635" tIns="635" rIns="635" bIns="635" rtlCol="0" anchor="t"/>
          <a:lstStyle/>
          <a:p>
            <a:pPr algn="l" indent="0" marL="0">
              <a:lnSpc>
                <a:spcPct val="100000"/>
              </a:lnSpc>
              <a:buNone/>
            </a:pPr>
            <a:r>
              <a:rPr lang="en-US" sz="1500" dirty="0">
                <a:solidFill>
                  <a:srgbClr val="222B36"/>
                </a:solidFill>
                <a:latin typeface="Calibri" pitchFamily="34" charset="0"/>
                <a:ea typeface="Calibri" pitchFamily="34" charset="-122"/>
                <a:cs typeface="Calibri" pitchFamily="34" charset="-120"/>
              </a:rPr>
              <a:t>Pull them out at random. What's the chance they come out in perfect order, so that draw order and value have r = 1?</a:t>
            </a:r>
            <a:endParaRPr lang="en-US" sz="1500" dirty="0"/>
          </a:p>
        </p:txBody>
      </p:sp>
      <p:sp>
        <p:nvSpPr>
          <p:cNvPr id="20" name="row_90"/>
          <p:cNvSpPr/>
          <p:nvPr/>
        </p:nvSpPr>
        <p:spPr>
          <a:xfrm>
            <a:off x="548640" y="2834640"/>
            <a:ext cx="5852160" cy="457200"/>
          </a:xfrm>
          <a:prstGeom prst="rect">
            <a:avLst/>
          </a:prstGeom>
          <a:solidFill>
            <a:srgbClr val="F7F4EE"/>
          </a:solidFill>
          <a:ln w="12700">
            <a:solidFill>
              <a:srgbClr val="F7F4EE"/>
            </a:solidFill>
            <a:prstDash val="solid"/>
          </a:ln>
        </p:spPr>
      </p:sp>
      <p:sp>
        <p:nvSpPr>
          <p:cNvPr id="21" name="text_91"/>
          <p:cNvSpPr txBox="1"/>
          <p:nvPr/>
        </p:nvSpPr>
        <p:spPr>
          <a:xfrm>
            <a:off x="685800" y="2834640"/>
            <a:ext cx="1645920" cy="457200"/>
          </a:xfrm>
          <a:prstGeom prst="rect">
            <a:avLst/>
          </a:prstGeom>
          <a:noFill/>
          <a:ln/>
        </p:spPr>
        <p:txBody>
          <a:bodyPr wrap="square" lIns="635" tIns="635" rIns="635" bIns="635" rtlCol="0" anchor="ctr"/>
          <a:lstStyle/>
          <a:p>
            <a:pPr algn="l" indent="0" marL="0">
              <a:lnSpc>
                <a:spcPct val="100000"/>
              </a:lnSpc>
              <a:buNone/>
            </a:pPr>
            <a:r>
              <a:rPr lang="en-US" sz="1500" b="1" dirty="0">
                <a:solidFill>
                  <a:srgbClr val="1B2A41"/>
                </a:solidFill>
                <a:latin typeface="Calibri" pitchFamily="34" charset="0"/>
                <a:ea typeface="Calibri" pitchFamily="34" charset="-122"/>
                <a:cs typeface="Calibri" pitchFamily="34" charset="-120"/>
              </a:rPr>
              <a:t>3 coins</a:t>
            </a:r>
            <a:endParaRPr lang="en-US" sz="1500" dirty="0"/>
          </a:p>
        </p:txBody>
      </p:sp>
      <p:sp>
        <p:nvSpPr>
          <p:cNvPr id="22" name="text_92"/>
          <p:cNvSpPr txBox="1"/>
          <p:nvPr/>
        </p:nvSpPr>
        <p:spPr>
          <a:xfrm>
            <a:off x="2377440" y="2834640"/>
            <a:ext cx="2011680" cy="457200"/>
          </a:xfrm>
          <a:prstGeom prst="rect">
            <a:avLst/>
          </a:prstGeom>
          <a:noFill/>
          <a:ln/>
        </p:spPr>
        <p:txBody>
          <a:bodyPr wrap="square" lIns="635" tIns="635" rIns="635" bIns="635" rtlCol="0" anchor="ctr"/>
          <a:lstStyle/>
          <a:p>
            <a:pPr algn="l" indent="0" marL="0">
              <a:lnSpc>
                <a:spcPct val="100000"/>
              </a:lnSpc>
              <a:buNone/>
            </a:pPr>
            <a:r>
              <a:rPr lang="en-US" sz="1500" dirty="0">
                <a:solidFill>
                  <a:srgbClr val="222B36"/>
                </a:solidFill>
                <a:latin typeface="Calibri" pitchFamily="34" charset="0"/>
                <a:ea typeface="Calibri" pitchFamily="34" charset="-122"/>
                <a:cs typeface="Calibri" pitchFamily="34" charset="-120"/>
              </a:rPr>
              <a:t>1 in 6</a:t>
            </a:r>
            <a:endParaRPr lang="en-US" sz="1500" dirty="0"/>
          </a:p>
        </p:txBody>
      </p:sp>
      <p:sp>
        <p:nvSpPr>
          <p:cNvPr id="23" name="text_93"/>
          <p:cNvSpPr txBox="1"/>
          <p:nvPr/>
        </p:nvSpPr>
        <p:spPr>
          <a:xfrm>
            <a:off x="4480560" y="2834640"/>
            <a:ext cx="1737360" cy="457200"/>
          </a:xfrm>
          <a:prstGeom prst="rect">
            <a:avLst/>
          </a:prstGeom>
          <a:noFill/>
          <a:ln/>
        </p:spPr>
        <p:txBody>
          <a:bodyPr wrap="square" lIns="635" tIns="635" rIns="635" bIns="635" rtlCol="0" anchor="ctr"/>
          <a:lstStyle/>
          <a:p>
            <a:pPr algn="r" indent="0" marL="0">
              <a:lnSpc>
                <a:spcPct val="100000"/>
              </a:lnSpc>
              <a:buNone/>
            </a:pPr>
            <a:r>
              <a:rPr lang="en-US" sz="1500" b="1" dirty="0">
                <a:solidFill>
                  <a:srgbClr val="D98E1F"/>
                </a:solidFill>
                <a:latin typeface="Calibri" pitchFamily="34" charset="0"/>
                <a:ea typeface="Calibri" pitchFamily="34" charset="-122"/>
                <a:cs typeface="Calibri" pitchFamily="34" charset="-120"/>
              </a:rPr>
              <a:t>17%</a:t>
            </a:r>
            <a:endParaRPr lang="en-US" sz="1500" dirty="0"/>
          </a:p>
        </p:txBody>
      </p:sp>
      <p:sp>
        <p:nvSpPr>
          <p:cNvPr id="24" name="row_94"/>
          <p:cNvSpPr/>
          <p:nvPr/>
        </p:nvSpPr>
        <p:spPr>
          <a:xfrm>
            <a:off x="548640" y="3337560"/>
            <a:ext cx="5852160" cy="457200"/>
          </a:xfrm>
          <a:prstGeom prst="rect">
            <a:avLst/>
          </a:prstGeom>
          <a:solidFill>
            <a:srgbClr val="FFFFFF"/>
          </a:solidFill>
          <a:ln w="12700">
            <a:solidFill>
              <a:srgbClr val="F7F4EE"/>
            </a:solidFill>
            <a:prstDash val="solid"/>
          </a:ln>
        </p:spPr>
      </p:sp>
      <p:sp>
        <p:nvSpPr>
          <p:cNvPr id="25" name="text_95"/>
          <p:cNvSpPr txBox="1"/>
          <p:nvPr/>
        </p:nvSpPr>
        <p:spPr>
          <a:xfrm>
            <a:off x="685800" y="3337560"/>
            <a:ext cx="1645920" cy="457200"/>
          </a:xfrm>
          <a:prstGeom prst="rect">
            <a:avLst/>
          </a:prstGeom>
          <a:noFill/>
          <a:ln/>
        </p:spPr>
        <p:txBody>
          <a:bodyPr wrap="square" lIns="635" tIns="635" rIns="635" bIns="635" rtlCol="0" anchor="ctr"/>
          <a:lstStyle/>
          <a:p>
            <a:pPr algn="l" indent="0" marL="0">
              <a:lnSpc>
                <a:spcPct val="100000"/>
              </a:lnSpc>
              <a:buNone/>
            </a:pPr>
            <a:r>
              <a:rPr lang="en-US" sz="1500" b="1" dirty="0">
                <a:solidFill>
                  <a:srgbClr val="1B2A41"/>
                </a:solidFill>
                <a:latin typeface="Calibri" pitchFamily="34" charset="0"/>
                <a:ea typeface="Calibri" pitchFamily="34" charset="-122"/>
                <a:cs typeface="Calibri" pitchFamily="34" charset="-120"/>
              </a:rPr>
              <a:t>5 coins</a:t>
            </a:r>
            <a:endParaRPr lang="en-US" sz="1500" dirty="0"/>
          </a:p>
        </p:txBody>
      </p:sp>
      <p:sp>
        <p:nvSpPr>
          <p:cNvPr id="26" name="text_96"/>
          <p:cNvSpPr txBox="1"/>
          <p:nvPr/>
        </p:nvSpPr>
        <p:spPr>
          <a:xfrm>
            <a:off x="2377440" y="3337560"/>
            <a:ext cx="2011680" cy="457200"/>
          </a:xfrm>
          <a:prstGeom prst="rect">
            <a:avLst/>
          </a:prstGeom>
          <a:noFill/>
          <a:ln/>
        </p:spPr>
        <p:txBody>
          <a:bodyPr wrap="square" lIns="635" tIns="635" rIns="635" bIns="635" rtlCol="0" anchor="ctr"/>
          <a:lstStyle/>
          <a:p>
            <a:pPr algn="l" indent="0" marL="0">
              <a:lnSpc>
                <a:spcPct val="100000"/>
              </a:lnSpc>
              <a:buNone/>
            </a:pPr>
            <a:r>
              <a:rPr lang="en-US" sz="1500" dirty="0">
                <a:solidFill>
                  <a:srgbClr val="222B36"/>
                </a:solidFill>
                <a:latin typeface="Calibri" pitchFamily="34" charset="0"/>
                <a:ea typeface="Calibri" pitchFamily="34" charset="-122"/>
                <a:cs typeface="Calibri" pitchFamily="34" charset="-120"/>
              </a:rPr>
              <a:t>1 in 120</a:t>
            </a:r>
            <a:endParaRPr lang="en-US" sz="1500" dirty="0"/>
          </a:p>
        </p:txBody>
      </p:sp>
      <p:sp>
        <p:nvSpPr>
          <p:cNvPr id="27" name="text_97"/>
          <p:cNvSpPr txBox="1"/>
          <p:nvPr/>
        </p:nvSpPr>
        <p:spPr>
          <a:xfrm>
            <a:off x="4480560" y="3337560"/>
            <a:ext cx="1737360" cy="457200"/>
          </a:xfrm>
          <a:prstGeom prst="rect">
            <a:avLst/>
          </a:prstGeom>
          <a:noFill/>
          <a:ln/>
        </p:spPr>
        <p:txBody>
          <a:bodyPr wrap="square" lIns="635" tIns="635" rIns="635" bIns="635" rtlCol="0" anchor="ctr"/>
          <a:lstStyle/>
          <a:p>
            <a:pPr algn="r" indent="0" marL="0">
              <a:lnSpc>
                <a:spcPct val="100000"/>
              </a:lnSpc>
              <a:buNone/>
            </a:pPr>
            <a:r>
              <a:rPr lang="en-US" sz="1500" b="1" dirty="0">
                <a:solidFill>
                  <a:srgbClr val="D98E1F"/>
                </a:solidFill>
                <a:latin typeface="Calibri" pitchFamily="34" charset="0"/>
                <a:ea typeface="Calibri" pitchFamily="34" charset="-122"/>
                <a:cs typeface="Calibri" pitchFamily="34" charset="-120"/>
              </a:rPr>
              <a:t>0.8%</a:t>
            </a:r>
            <a:endParaRPr lang="en-US" sz="1500" dirty="0"/>
          </a:p>
        </p:txBody>
      </p:sp>
      <p:sp>
        <p:nvSpPr>
          <p:cNvPr id="28" name="row_98"/>
          <p:cNvSpPr/>
          <p:nvPr/>
        </p:nvSpPr>
        <p:spPr>
          <a:xfrm>
            <a:off x="548640" y="3840480"/>
            <a:ext cx="5852160" cy="457200"/>
          </a:xfrm>
          <a:prstGeom prst="rect">
            <a:avLst/>
          </a:prstGeom>
          <a:solidFill>
            <a:srgbClr val="F7F4EE"/>
          </a:solidFill>
          <a:ln w="12700">
            <a:solidFill>
              <a:srgbClr val="F7F4EE"/>
            </a:solidFill>
            <a:prstDash val="solid"/>
          </a:ln>
        </p:spPr>
      </p:sp>
      <p:sp>
        <p:nvSpPr>
          <p:cNvPr id="29" name="text_99"/>
          <p:cNvSpPr txBox="1"/>
          <p:nvPr/>
        </p:nvSpPr>
        <p:spPr>
          <a:xfrm>
            <a:off x="685800" y="3840480"/>
            <a:ext cx="1645920" cy="457200"/>
          </a:xfrm>
          <a:prstGeom prst="rect">
            <a:avLst/>
          </a:prstGeom>
          <a:noFill/>
          <a:ln/>
        </p:spPr>
        <p:txBody>
          <a:bodyPr wrap="square" lIns="635" tIns="635" rIns="635" bIns="635" rtlCol="0" anchor="ctr"/>
          <a:lstStyle/>
          <a:p>
            <a:pPr algn="l" indent="0" marL="0">
              <a:lnSpc>
                <a:spcPct val="100000"/>
              </a:lnSpc>
              <a:buNone/>
            </a:pPr>
            <a:r>
              <a:rPr lang="en-US" sz="1500" b="1" dirty="0">
                <a:solidFill>
                  <a:srgbClr val="1B2A41"/>
                </a:solidFill>
                <a:latin typeface="Calibri" pitchFamily="34" charset="0"/>
                <a:ea typeface="Calibri" pitchFamily="34" charset="-122"/>
                <a:cs typeface="Calibri" pitchFamily="34" charset="-120"/>
              </a:rPr>
              <a:t>7 coins</a:t>
            </a:r>
            <a:endParaRPr lang="en-US" sz="1500" dirty="0"/>
          </a:p>
        </p:txBody>
      </p:sp>
      <p:sp>
        <p:nvSpPr>
          <p:cNvPr id="30" name="text_100"/>
          <p:cNvSpPr txBox="1"/>
          <p:nvPr/>
        </p:nvSpPr>
        <p:spPr>
          <a:xfrm>
            <a:off x="2377440" y="3840480"/>
            <a:ext cx="2011680" cy="457200"/>
          </a:xfrm>
          <a:prstGeom prst="rect">
            <a:avLst/>
          </a:prstGeom>
          <a:noFill/>
          <a:ln/>
        </p:spPr>
        <p:txBody>
          <a:bodyPr wrap="square" lIns="635" tIns="635" rIns="635" bIns="635" rtlCol="0" anchor="ctr"/>
          <a:lstStyle/>
          <a:p>
            <a:pPr algn="l" indent="0" marL="0">
              <a:lnSpc>
                <a:spcPct val="100000"/>
              </a:lnSpc>
              <a:buNone/>
            </a:pPr>
            <a:r>
              <a:rPr lang="en-US" sz="1500" dirty="0">
                <a:solidFill>
                  <a:srgbClr val="222B36"/>
                </a:solidFill>
                <a:latin typeface="Calibri" pitchFamily="34" charset="0"/>
                <a:ea typeface="Calibri" pitchFamily="34" charset="-122"/>
                <a:cs typeface="Calibri" pitchFamily="34" charset="-120"/>
              </a:rPr>
              <a:t>1 in 5,040</a:t>
            </a:r>
            <a:endParaRPr lang="en-US" sz="1500" dirty="0"/>
          </a:p>
        </p:txBody>
      </p:sp>
      <p:sp>
        <p:nvSpPr>
          <p:cNvPr id="31" name="text_101"/>
          <p:cNvSpPr txBox="1"/>
          <p:nvPr/>
        </p:nvSpPr>
        <p:spPr>
          <a:xfrm>
            <a:off x="4480560" y="3840480"/>
            <a:ext cx="1737360" cy="457200"/>
          </a:xfrm>
          <a:prstGeom prst="rect">
            <a:avLst/>
          </a:prstGeom>
          <a:noFill/>
          <a:ln/>
        </p:spPr>
        <p:txBody>
          <a:bodyPr wrap="square" lIns="635" tIns="635" rIns="635" bIns="635" rtlCol="0" anchor="ctr"/>
          <a:lstStyle/>
          <a:p>
            <a:pPr algn="r" indent="0" marL="0">
              <a:lnSpc>
                <a:spcPct val="100000"/>
              </a:lnSpc>
              <a:buNone/>
            </a:pPr>
            <a:r>
              <a:rPr lang="en-US" sz="1500" b="1" dirty="0">
                <a:solidFill>
                  <a:srgbClr val="D98E1F"/>
                </a:solidFill>
                <a:latin typeface="Calibri" pitchFamily="34" charset="0"/>
                <a:ea typeface="Calibri" pitchFamily="34" charset="-122"/>
                <a:cs typeface="Calibri" pitchFamily="34" charset="-120"/>
              </a:rPr>
              <a:t>0.02%</a:t>
            </a:r>
            <a:endParaRPr lang="en-US" sz="1500" dirty="0"/>
          </a:p>
        </p:txBody>
      </p:sp>
      <p:sp>
        <p:nvSpPr>
          <p:cNvPr id="32" name="card_102"/>
          <p:cNvSpPr/>
          <p:nvPr/>
        </p:nvSpPr>
        <p:spPr>
          <a:xfrm>
            <a:off x="548640" y="4434840"/>
            <a:ext cx="5852160" cy="1828800"/>
          </a:xfrm>
          <a:prstGeom prst="roundRect">
            <a:avLst>
              <a:gd name="adj" fmla="val 4000"/>
            </a:avLst>
          </a:prstGeom>
          <a:solidFill>
            <a:srgbClr val="DCEFEA"/>
          </a:solidFill>
          <a:ln w="9525">
            <a:solidFill>
              <a:srgbClr val="DCEFEA"/>
            </a:solidFill>
            <a:prstDash val="solid"/>
          </a:ln>
        </p:spPr>
      </p:sp>
      <p:sp>
        <p:nvSpPr>
          <p:cNvPr id="33" name="tag_103"/>
          <p:cNvSpPr/>
          <p:nvPr/>
        </p:nvSpPr>
        <p:spPr>
          <a:xfrm>
            <a:off x="713232" y="4562856"/>
            <a:ext cx="845820" cy="256032"/>
          </a:xfrm>
          <a:prstGeom prst="roundRect">
            <a:avLst>
              <a:gd name="adj" fmla="val 21429"/>
            </a:avLst>
          </a:prstGeom>
          <a:solidFill>
            <a:srgbClr val="1F7A6E"/>
          </a:solidFill>
          <a:ln w="12700">
            <a:solidFill>
              <a:srgbClr val="1F7A6E"/>
            </a:solidFill>
            <a:prstDash val="solid"/>
          </a:ln>
        </p:spPr>
      </p:sp>
      <p:sp>
        <p:nvSpPr>
          <p:cNvPr id="34" name="text_104"/>
          <p:cNvSpPr txBox="1"/>
          <p:nvPr/>
        </p:nvSpPr>
        <p:spPr>
          <a:xfrm>
            <a:off x="713232" y="4562856"/>
            <a:ext cx="845820" cy="256032"/>
          </a:xfrm>
          <a:prstGeom prst="rect">
            <a:avLst/>
          </a:prstGeom>
          <a:noFill/>
          <a:ln/>
        </p:spPr>
        <p:txBody>
          <a:bodyPr wrap="square" lIns="0" tIns="0" rIns="0" bIns="0" rtlCol="0" anchor="ctr"/>
          <a:lstStyle/>
          <a:p>
            <a:pPr algn="ctr" indent="0" marL="0">
              <a:lnSpc>
                <a:spcPct val="100000"/>
              </a:lnSpc>
              <a:buNone/>
            </a:pPr>
            <a:r>
              <a:rPr lang="en-US" sz="1050" b="1" dirty="0">
                <a:solidFill>
                  <a:srgbClr val="FFFFFF"/>
                </a:solidFill>
                <a:latin typeface="Calibri" pitchFamily="34" charset="0"/>
                <a:ea typeface="Calibri" pitchFamily="34" charset="-122"/>
                <a:cs typeface="Calibri" pitchFamily="34" charset="-120"/>
              </a:rPr>
              <a:t>THE POINT</a:t>
            </a:r>
            <a:endParaRPr lang="en-US" sz="1050" dirty="0"/>
          </a:p>
        </p:txBody>
      </p:sp>
      <p:sp>
        <p:nvSpPr>
          <p:cNvPr id="35" name="cardbody_105"/>
          <p:cNvSpPr txBox="1"/>
          <p:nvPr/>
        </p:nvSpPr>
        <p:spPr>
          <a:xfrm>
            <a:off x="713232" y="4910328"/>
            <a:ext cx="5522976" cy="1261872"/>
          </a:xfrm>
          <a:prstGeom prst="rect">
            <a:avLst/>
          </a:prstGeom>
          <a:noFill/>
          <a:ln/>
        </p:spPr>
        <p:txBody>
          <a:bodyPr wrap="square" lIns="381" tIns="381" rIns="381" bIns="381" rtlCol="0" anchor="t"/>
          <a:lstStyle/>
          <a:p>
            <a:pPr marL="342900" indent="-342900">
              <a:spcAft>
                <a:spcPts val="400"/>
              </a:spcAft>
              <a:buSzPct val="100000"/>
              <a:buChar char="■"/>
            </a:pPr>
            <a:r>
              <a:rPr lang="en-US" sz="1400" dirty="0">
                <a:solidFill>
                  <a:srgbClr val="222B36"/>
                </a:solidFill>
                <a:latin typeface="Calibri" pitchFamily="34" charset="0"/>
                <a:ea typeface="Calibri" pitchFamily="34" charset="-122"/>
                <a:cs typeface="Calibri" pitchFamily="34" charset="-120"/>
              </a:rPr>
              <a:t>The </a:t>
            </a:r>
            <a:r>
              <a:rPr lang="en-US" sz="1400" b="1" dirty="0">
                <a:solidFill>
                  <a:srgbClr val="222B36"/>
                </a:solidFill>
                <a:latin typeface="Calibri" pitchFamily="34" charset="0"/>
                <a:ea typeface="Calibri" pitchFamily="34" charset="-122"/>
                <a:cs typeface="Calibri" pitchFamily="34" charset="-120"/>
              </a:rPr>
              <a:t>same</a:t>
            </a:r>
            <a:r>
              <a:rPr lang="en-US" sz="1400" dirty="0">
                <a:solidFill>
                  <a:srgbClr val="222B36"/>
                </a:solidFill>
                <a:latin typeface="Calibri" pitchFamily="34" charset="0"/>
                <a:ea typeface="Calibri" pitchFamily="34" charset="-122"/>
                <a:cs typeface="Calibri" pitchFamily="34" charset="-120"/>
              </a:rPr>
              <a:t> perfect r, but a very different chance that it's luck. The p-value combines r </a:t>
            </a:r>
            <a:r>
              <a:rPr lang="en-US" sz="1400" b="1" dirty="0">
                <a:solidFill>
                  <a:srgbClr val="222B36"/>
                </a:solidFill>
                <a:latin typeface="Calibri" pitchFamily="34" charset="0"/>
                <a:ea typeface="Calibri" pitchFamily="34" charset="-122"/>
                <a:cs typeface="Calibri" pitchFamily="34" charset="-120"/>
              </a:rPr>
              <a:t>and</a:t>
            </a:r>
            <a:r>
              <a:rPr lang="en-US" sz="1400" dirty="0">
                <a:solidFill>
                  <a:srgbClr val="222B36"/>
                </a:solidFill>
                <a:latin typeface="Calibri" pitchFamily="34" charset="0"/>
                <a:ea typeface="Calibri" pitchFamily="34" charset="-122"/>
                <a:cs typeface="Calibri" pitchFamily="34" charset="-120"/>
              </a:rPr>
              <a:t> n.</a:t>
            </a:r>
            <a:endParaRPr lang="en-US" sz="1400" dirty="0"/>
          </a:p>
          <a:p>
            <a:pPr marL="342900" indent="-342900">
              <a:spcAft>
                <a:spcPts val="400"/>
              </a:spcAft>
              <a:buSzPct val="100000"/>
              <a:buChar char="■"/>
            </a:pPr>
            <a:r>
              <a:rPr lang="en-US" sz="1400" dirty="0">
                <a:solidFill>
                  <a:srgbClr val="222B36"/>
                </a:solidFill>
                <a:latin typeface="Calibri" pitchFamily="34" charset="0"/>
                <a:ea typeface="Calibri" pitchFamily="34" charset="-122"/>
                <a:cs typeface="Calibri" pitchFamily="34" charset="-120"/>
              </a:rPr>
              <a:t>|r| needed for p &lt; 0.05:  n = 10 → 0.63 · n = 30 → 0.36 · n = 85 → 0.21 · n = 247 → 0.12</a:t>
            </a:r>
            <a:endParaRPr lang="en-US" sz="1400" dirty="0"/>
          </a:p>
        </p:txBody>
      </p:sp>
      <p:pic>
        <p:nvPicPr>
          <p:cNvPr id="36" name="img_106" descr="/home/claude/work/build/figs/chance_r.png">    </p:cNvPr>
          <p:cNvPicPr>
            <a:picLocks noChangeAspect="1"/>
          </p:cNvPicPr>
          <p:nvPr/>
        </p:nvPicPr>
        <p:blipFill>
          <a:blip r:embed="rId1"/>
          <a:stretch>
            <a:fillRect/>
          </a:stretch>
        </p:blipFill>
        <p:spPr>
          <a:xfrm>
            <a:off x="6675120" y="1325880"/>
            <a:ext cx="4965192" cy="3814874"/>
          </a:xfrm>
          <a:prstGeom prst="rect">
            <a:avLst/>
          </a:prstGeom>
        </p:spPr>
      </p:pic>
      <p:sp>
        <p:nvSpPr>
          <p:cNvPr id="25" name="Slide Number Placeholder 0"/>
          <p:cNvSpPr>
            <a:spLocks noGrp="1"/>
          </p:cNvSpPr>
          <p:nvPr>
            <p:ph type="sldNum" sz="quarter" idx="4294967295"/>
          </p:nvPr>
        </p:nvSpPr>
        <p:spPr>
          <a:xfrm>
            <a:off x="11274552" y="6473952"/>
            <a:ext cx="54864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8A93A0"/>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agl_107"/>
          <p:cNvSpPr/>
          <p:nvPr/>
        </p:nvSpPr>
        <p:spPr>
          <a:xfrm>
            <a:off x="548640" y="329184"/>
            <a:ext cx="804672" cy="237744"/>
          </a:xfrm>
          <a:prstGeom prst="roundRect">
            <a:avLst>
              <a:gd name="adj" fmla="val 19231"/>
            </a:avLst>
          </a:prstGeom>
          <a:solidFill>
            <a:srgbClr val="1F7A6E"/>
          </a:solidFill>
          <a:ln w="12700">
            <a:solidFill>
              <a:srgbClr val="1F7A6E"/>
            </a:solidFill>
            <a:prstDash val="solid"/>
          </a:ln>
        </p:spPr>
      </p:sp>
      <p:sp>
        <p:nvSpPr>
          <p:cNvPr id="3" name="text_108"/>
          <p:cNvSpPr txBox="1"/>
          <p:nvPr/>
        </p:nvSpPr>
        <p:spPr>
          <a:xfrm>
            <a:off x="548640" y="329184"/>
            <a:ext cx="804672" cy="237744"/>
          </a:xfrm>
          <a:prstGeom prst="rect">
            <a:avLst/>
          </a:prstGeom>
          <a:noFill/>
          <a:ln/>
        </p:spPr>
        <p:txBody>
          <a:bodyPr wrap="square" lIns="0" tIns="0" rIns="0" bIns="0" rtlCol="0" anchor="ctr"/>
          <a:lstStyle/>
          <a:p>
            <a:pPr algn="ctr" indent="0" marL="0">
              <a:lnSpc>
                <a:spcPct val="100000"/>
              </a:lnSpc>
              <a:buNone/>
            </a:pPr>
            <a:r>
              <a:rPr lang="en-US" sz="1000" b="1" dirty="0">
                <a:solidFill>
                  <a:srgbClr val="FFFFFF"/>
                </a:solidFill>
                <a:latin typeface="Calibri" pitchFamily="34" charset="0"/>
                <a:ea typeface="Calibri" pitchFamily="34" charset="-122"/>
                <a:cs typeface="Calibri" pitchFamily="34" charset="-120"/>
              </a:rPr>
              <a:t>METHODS</a:t>
            </a:r>
            <a:endParaRPr lang="en-US" sz="1000" dirty="0"/>
          </a:p>
        </p:txBody>
      </p:sp>
      <p:sp>
        <p:nvSpPr>
          <p:cNvPr id="4" name="text_109"/>
          <p:cNvSpPr txBox="1"/>
          <p:nvPr/>
        </p:nvSpPr>
        <p:spPr>
          <a:xfrm>
            <a:off x="548640" y="365760"/>
            <a:ext cx="11064240" cy="640080"/>
          </a:xfrm>
          <a:prstGeom prst="rect">
            <a:avLst/>
          </a:prstGeom>
          <a:noFill/>
          <a:ln/>
        </p:spPr>
        <p:txBody>
          <a:bodyPr wrap="square" lIns="635" tIns="635" rIns="635" bIns="635" rtlCol="0" anchor="b"/>
          <a:lstStyle/>
          <a:p>
            <a:pPr algn="l" indent="0" marL="0">
              <a:lnSpc>
                <a:spcPct val="100000"/>
              </a:lnSpc>
              <a:buNone/>
            </a:pPr>
            <a:r>
              <a:rPr lang="en-US" sz="2800" b="1" dirty="0">
                <a:solidFill>
                  <a:srgbClr val="1B2A41"/>
                </a:solidFill>
                <a:latin typeface="Georgia" pitchFamily="34" charset="0"/>
                <a:ea typeface="Georgia" pitchFamily="34" charset="-122"/>
                <a:cs typeface="Georgia" pitchFamily="34" charset="-120"/>
              </a:rPr>
              <a:t>Are 247 months independent? Effective n</a:t>
            </a:r>
            <a:endParaRPr lang="en-US" sz="2800" dirty="0"/>
          </a:p>
        </p:txBody>
      </p:sp>
      <p:sp>
        <p:nvSpPr>
          <p:cNvPr id="5" name="mbul_110"/>
          <p:cNvSpPr txBox="1"/>
          <p:nvPr/>
        </p:nvSpPr>
        <p:spPr>
          <a:xfrm>
            <a:off x="548640" y="1280160"/>
            <a:ext cx="5943600" cy="3840480"/>
          </a:xfrm>
          <a:prstGeom prst="rect">
            <a:avLst/>
          </a:prstGeom>
          <a:noFill/>
          <a:ln/>
        </p:spPr>
        <p:txBody>
          <a:bodyPr wrap="square" lIns="635" tIns="635" rIns="635" bIns="635" rtlCol="0" anchor="t"/>
          <a:lstStyle/>
          <a:p>
            <a:pPr marL="342900" indent="-342900">
              <a:spcAft>
                <a:spcPts val="700"/>
              </a:spcAft>
              <a:buSzPct val="100000"/>
              <a:buChar char="■"/>
            </a:pPr>
            <a:r>
              <a:rPr lang="en-US" sz="1500" dirty="0">
                <a:solidFill>
                  <a:srgbClr val="222B36"/>
                </a:solidFill>
                <a:latin typeface="Calibri" pitchFamily="34" charset="0"/>
                <a:ea typeface="Calibri" pitchFamily="34" charset="-122"/>
                <a:cs typeface="Calibri" pitchFamily="34" charset="-120"/>
              </a:rPr>
              <a:t>A p-value assumes </a:t>
            </a:r>
            <a:r>
              <a:rPr lang="en-US" sz="1500" b="1" dirty="0">
                <a:solidFill>
                  <a:srgbClr val="222B36"/>
                </a:solidFill>
                <a:latin typeface="Calibri" pitchFamily="34" charset="0"/>
                <a:ea typeface="Calibri" pitchFamily="34" charset="-122"/>
                <a:cs typeface="Calibri" pitchFamily="34" charset="-120"/>
              </a:rPr>
              <a:t>independent</a:t>
            </a:r>
            <a:r>
              <a:rPr lang="en-US" sz="1500" dirty="0">
                <a:solidFill>
                  <a:srgbClr val="222B36"/>
                </a:solidFill>
                <a:latin typeface="Calibri" pitchFamily="34" charset="0"/>
                <a:ea typeface="Calibri" pitchFamily="34" charset="-122"/>
                <a:cs typeface="Calibri" pitchFamily="34" charset="-120"/>
              </a:rPr>
              <a:t> samples. Monthly ENSO data aren't: the ONI's lag-1 autocorrelation is </a:t>
            </a:r>
            <a:r>
              <a:rPr lang="en-US" sz="1500" b="1" dirty="0">
                <a:solidFill>
                  <a:srgbClr val="222B36"/>
                </a:solidFill>
                <a:latin typeface="Calibri" pitchFamily="34" charset="0"/>
                <a:ea typeface="Calibri" pitchFamily="34" charset="-122"/>
                <a:cs typeface="Calibri" pitchFamily="34" charset="-120"/>
              </a:rPr>
              <a:t>0.97</a:t>
            </a:r>
            <a:r>
              <a:rPr lang="en-US" sz="1500" dirty="0">
                <a:solidFill>
                  <a:srgbClr val="222B36"/>
                </a:solidFill>
                <a:latin typeface="Calibri" pitchFamily="34" charset="0"/>
                <a:ea typeface="Calibri" pitchFamily="34" charset="-122"/>
                <a:cs typeface="Calibri" pitchFamily="34" charset="-120"/>
              </a:rPr>
              <a:t>.</a:t>
            </a:r>
            <a:endParaRPr lang="en-US" sz="1500" dirty="0"/>
          </a:p>
          <a:p>
            <a:pPr marL="342900" indent="-342900">
              <a:spcAft>
                <a:spcPts val="700"/>
              </a:spcAft>
              <a:buSzPct val="100000"/>
              <a:buChar char="■"/>
            </a:pPr>
            <a:r>
              <a:rPr lang="en-US" sz="1500" b="1" dirty="0">
                <a:solidFill>
                  <a:srgbClr val="1B2A41"/>
                </a:solidFill>
                <a:latin typeface="Calibri" pitchFamily="34" charset="0"/>
                <a:ea typeface="Calibri" pitchFamily="34" charset="-122"/>
                <a:cs typeface="Calibri" pitchFamily="34" charset="-120"/>
              </a:rPr>
              <a:t>Effective sample size: </a:t>
            </a:r>
            <a:r>
              <a:rPr lang="en-US" sz="1500" dirty="0">
                <a:solidFill>
                  <a:srgbClr val="222B36"/>
                </a:solidFill>
                <a:latin typeface="Calibri" pitchFamily="34" charset="0"/>
                <a:ea typeface="Calibri" pitchFamily="34" charset="-122"/>
                <a:cs typeface="Calibri" pitchFamily="34" charset="-120"/>
              </a:rPr>
              <a:t>n_eff = n (1 − r₁ₓ r₁ᵧ) / (1 + r₁ₓ r₁ᵧ), where r₁ is each series' lag-1 autocorrelation.</a:t>
            </a:r>
            <a:endParaRPr lang="en-US" sz="1500" dirty="0"/>
          </a:p>
          <a:p>
            <a:pPr marL="342900" indent="-342900">
              <a:spcAft>
                <a:spcPts val="700"/>
              </a:spcAft>
              <a:buSzPct val="100000"/>
              <a:buChar char="■"/>
            </a:pPr>
            <a:r>
              <a:rPr lang="en-US" sz="1500" dirty="0">
                <a:solidFill>
                  <a:srgbClr val="222B36"/>
                </a:solidFill>
                <a:latin typeface="Calibri" pitchFamily="34" charset="0"/>
                <a:ea typeface="Calibri" pitchFamily="34" charset="-122"/>
                <a:cs typeface="Calibri" pitchFamily="34" charset="-120"/>
              </a:rPr>
              <a:t>With n = 247 months, n_eff ≈ </a:t>
            </a:r>
            <a:r>
              <a:rPr lang="en-US" sz="1500" b="1" dirty="0">
                <a:solidFill>
                  <a:srgbClr val="222B36"/>
                </a:solidFill>
                <a:latin typeface="Calibri" pitchFamily="34" charset="0"/>
                <a:ea typeface="Calibri" pitchFamily="34" charset="-122"/>
                <a:cs typeface="Calibri" pitchFamily="34" charset="-120"/>
              </a:rPr>
              <a:t>135, 85 or 31</a:t>
            </a:r>
            <a:r>
              <a:rPr lang="en-US" sz="1500" dirty="0">
                <a:solidFill>
                  <a:srgbClr val="222B36"/>
                </a:solidFill>
                <a:latin typeface="Calibri" pitchFamily="34" charset="0"/>
                <a:ea typeface="Calibri" pitchFamily="34" charset="-122"/>
                <a:cs typeface="Calibri" pitchFamily="34" charset="-120"/>
              </a:rPr>
              <a:t> if the cloud anomaly's r₁ is 0.3, 0.5 or 0.8.</a:t>
            </a:r>
            <a:endParaRPr lang="en-US" sz="1500" dirty="0"/>
          </a:p>
          <a:p>
            <a:pPr marL="342900" indent="-342900">
              <a:spcAft>
                <a:spcPts val="700"/>
              </a:spcAft>
              <a:buSzPct val="100000"/>
              <a:buChar char="■"/>
            </a:pPr>
            <a:r>
              <a:rPr lang="en-US" sz="1500" dirty="0">
                <a:solidFill>
                  <a:srgbClr val="222B36"/>
                </a:solidFill>
                <a:latin typeface="Calibri" pitchFamily="34" charset="0"/>
                <a:ea typeface="Calibri" pitchFamily="34" charset="-122"/>
                <a:cs typeface="Calibri" pitchFamily="34" charset="-120"/>
              </a:rPr>
              <a:t>Notebook §6 now prints </a:t>
            </a:r>
            <a:r>
              <a:rPr lang="en-US" sz="1500" b="1" dirty="0">
                <a:solidFill>
                  <a:srgbClr val="222B36"/>
                </a:solidFill>
                <a:latin typeface="Calibri" pitchFamily="34" charset="0"/>
                <a:ea typeface="Calibri" pitchFamily="34" charset="-122"/>
                <a:cs typeface="Calibri" pitchFamily="34" charset="-120"/>
              </a:rPr>
              <a:t>n and n_eff</a:t>
            </a:r>
            <a:r>
              <a:rPr lang="en-US" sz="1500" dirty="0">
                <a:solidFill>
                  <a:srgbClr val="222B36"/>
                </a:solidFill>
                <a:latin typeface="Calibri" pitchFamily="34" charset="0"/>
                <a:ea typeface="Calibri" pitchFamily="34" charset="-122"/>
                <a:cs typeface="Calibri" pitchFamily="34" charset="-120"/>
              </a:rPr>
              <a:t>; its p_adj and 95% range use n_eff. Report those.</a:t>
            </a:r>
            <a:endParaRPr lang="en-US" sz="1500" dirty="0"/>
          </a:p>
        </p:txBody>
      </p:sp>
      <p:sp>
        <p:nvSpPr>
          <p:cNvPr id="6" name="sent_111"/>
          <p:cNvSpPr/>
          <p:nvPr/>
        </p:nvSpPr>
        <p:spPr>
          <a:xfrm>
            <a:off x="548640" y="5257800"/>
            <a:ext cx="5943600" cy="1051560"/>
          </a:xfrm>
          <a:prstGeom prst="roundRect">
            <a:avLst>
              <a:gd name="adj" fmla="val 5217"/>
            </a:avLst>
          </a:prstGeom>
          <a:solidFill>
            <a:srgbClr val="DCEFEA"/>
          </a:solidFill>
          <a:ln w="12700">
            <a:solidFill>
              <a:srgbClr val="1F7A6E"/>
            </a:solidFill>
            <a:prstDash val="solid"/>
          </a:ln>
        </p:spPr>
      </p:sp>
      <p:sp>
        <p:nvSpPr>
          <p:cNvPr id="7" name="text_112"/>
          <p:cNvSpPr txBox="1"/>
          <p:nvPr/>
        </p:nvSpPr>
        <p:spPr>
          <a:xfrm>
            <a:off x="685800" y="5330952"/>
            <a:ext cx="5669280" cy="237744"/>
          </a:xfrm>
          <a:prstGeom prst="rect">
            <a:avLst/>
          </a:prstGeom>
          <a:noFill/>
          <a:ln/>
        </p:spPr>
        <p:txBody>
          <a:bodyPr wrap="square" lIns="635" tIns="635" rIns="635" bIns="635" rtlCol="0" anchor="t"/>
          <a:lstStyle/>
          <a:p>
            <a:pPr algn="l" indent="0" marL="0">
              <a:lnSpc>
                <a:spcPct val="100000"/>
              </a:lnSpc>
              <a:buNone/>
            </a:pPr>
            <a:r>
              <a:rPr lang="en-US" sz="1000" b="1" dirty="0">
                <a:solidFill>
                  <a:srgbClr val="1F7A6E"/>
                </a:solidFill>
                <a:latin typeface="Calibri" pitchFamily="34" charset="0"/>
                <a:ea typeface="Calibri" pitchFamily="34" charset="-122"/>
                <a:cs typeface="Calibri" pitchFamily="34" charset="-120"/>
              </a:rPr>
              <a:t>CALCULATE IT YOURSELF</a:t>
            </a:r>
            <a:endParaRPr lang="en-US" sz="1000" dirty="0"/>
          </a:p>
        </p:txBody>
      </p:sp>
      <p:sp>
        <p:nvSpPr>
          <p:cNvPr id="8" name="text_113"/>
          <p:cNvSpPr txBox="1"/>
          <p:nvPr/>
        </p:nvSpPr>
        <p:spPr>
          <a:xfrm>
            <a:off x="685800" y="5568696"/>
            <a:ext cx="5669280" cy="685800"/>
          </a:xfrm>
          <a:prstGeom prst="rect">
            <a:avLst/>
          </a:prstGeom>
          <a:noFill/>
          <a:ln/>
        </p:spPr>
        <p:txBody>
          <a:bodyPr wrap="square" lIns="635" tIns="635" rIns="635" bIns="635" rtlCol="0" anchor="t"/>
          <a:lstStyle/>
          <a:p>
            <a:pPr algn="l" indent="0" marL="0">
              <a:lnSpc>
                <a:spcPct val="100000"/>
              </a:lnSpc>
              <a:buNone/>
            </a:pPr>
            <a:r>
              <a:rPr lang="en-US" sz="1350" i="1" dirty="0">
                <a:solidFill>
                  <a:srgbClr val="222B36"/>
                </a:solidFill>
                <a:latin typeface="Georgia" pitchFamily="34" charset="0"/>
                <a:ea typeface="Georgia" pitchFamily="34" charset="-122"/>
                <a:cs typeface="Georgia" pitchFamily="34" charset="-120"/>
              </a:rPr>
              <a:t>t = r √(n − 2) / √(1 − r²), with n − 2 degrees of freedom.  Task 5D: compute p with n, then with n_eff.</a:t>
            </a:r>
            <a:endParaRPr lang="en-US" sz="1350" dirty="0"/>
          </a:p>
        </p:txBody>
      </p:sp>
      <p:pic>
        <p:nvPicPr>
          <p:cNvPr id="9" name="img_114" descr="/home/claude/work/build/figs/autocorrelation.png">    </p:cNvPr>
          <p:cNvPicPr>
            <a:picLocks noChangeAspect="1"/>
          </p:cNvPicPr>
          <p:nvPr/>
        </p:nvPicPr>
        <p:blipFill>
          <a:blip r:embed="rId1"/>
          <a:stretch>
            <a:fillRect/>
          </a:stretch>
        </p:blipFill>
        <p:spPr>
          <a:xfrm>
            <a:off x="6766560" y="1280160"/>
            <a:ext cx="4876495" cy="3668631"/>
          </a:xfrm>
          <a:prstGeom prst="rect">
            <a:avLst/>
          </a:prstGeom>
        </p:spPr>
      </p:pic>
      <p:sp>
        <p:nvSpPr>
          <p:cNvPr id="25" name="Slide Number Placeholder 0"/>
          <p:cNvSpPr>
            <a:spLocks noGrp="1"/>
          </p:cNvSpPr>
          <p:nvPr>
            <p:ph type="sldNum" sz="quarter" idx="4294967295"/>
          </p:nvPr>
        </p:nvSpPr>
        <p:spPr>
          <a:xfrm>
            <a:off x="11274552" y="6473952"/>
            <a:ext cx="54864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8A93A0"/>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agl_115"/>
          <p:cNvSpPr/>
          <p:nvPr/>
        </p:nvSpPr>
        <p:spPr>
          <a:xfrm>
            <a:off x="548640" y="329184"/>
            <a:ext cx="804672" cy="237744"/>
          </a:xfrm>
          <a:prstGeom prst="roundRect">
            <a:avLst>
              <a:gd name="adj" fmla="val 19231"/>
            </a:avLst>
          </a:prstGeom>
          <a:solidFill>
            <a:srgbClr val="1F7A6E"/>
          </a:solidFill>
          <a:ln w="12700">
            <a:solidFill>
              <a:srgbClr val="1F7A6E"/>
            </a:solidFill>
            <a:prstDash val="solid"/>
          </a:ln>
        </p:spPr>
      </p:sp>
      <p:sp>
        <p:nvSpPr>
          <p:cNvPr id="3" name="text_116"/>
          <p:cNvSpPr txBox="1"/>
          <p:nvPr/>
        </p:nvSpPr>
        <p:spPr>
          <a:xfrm>
            <a:off x="548640" y="329184"/>
            <a:ext cx="804672" cy="237744"/>
          </a:xfrm>
          <a:prstGeom prst="rect">
            <a:avLst/>
          </a:prstGeom>
          <a:noFill/>
          <a:ln/>
        </p:spPr>
        <p:txBody>
          <a:bodyPr wrap="square" lIns="0" tIns="0" rIns="0" bIns="0" rtlCol="0" anchor="ctr"/>
          <a:lstStyle/>
          <a:p>
            <a:pPr algn="ctr" indent="0" marL="0">
              <a:lnSpc>
                <a:spcPct val="100000"/>
              </a:lnSpc>
              <a:buNone/>
            </a:pPr>
            <a:r>
              <a:rPr lang="en-US" sz="1000" b="1" dirty="0">
                <a:solidFill>
                  <a:srgbClr val="FFFFFF"/>
                </a:solidFill>
                <a:latin typeface="Calibri" pitchFamily="34" charset="0"/>
                <a:ea typeface="Calibri" pitchFamily="34" charset="-122"/>
                <a:cs typeface="Calibri" pitchFamily="34" charset="-120"/>
              </a:rPr>
              <a:t>METHODS</a:t>
            </a:r>
            <a:endParaRPr lang="en-US" sz="1000" dirty="0"/>
          </a:p>
        </p:txBody>
      </p:sp>
      <p:sp>
        <p:nvSpPr>
          <p:cNvPr id="4" name="text_117"/>
          <p:cNvSpPr txBox="1"/>
          <p:nvPr/>
        </p:nvSpPr>
        <p:spPr>
          <a:xfrm>
            <a:off x="548640" y="365760"/>
            <a:ext cx="11064240" cy="640080"/>
          </a:xfrm>
          <a:prstGeom prst="rect">
            <a:avLst/>
          </a:prstGeom>
          <a:noFill/>
          <a:ln/>
        </p:spPr>
        <p:txBody>
          <a:bodyPr wrap="square" lIns="635" tIns="635" rIns="635" bIns="635" rtlCol="0" anchor="b"/>
          <a:lstStyle/>
          <a:p>
            <a:pPr algn="l" indent="0" marL="0">
              <a:lnSpc>
                <a:spcPct val="100000"/>
              </a:lnSpc>
              <a:buNone/>
            </a:pPr>
            <a:r>
              <a:rPr lang="en-US" sz="2800" b="1" dirty="0">
                <a:solidFill>
                  <a:srgbClr val="1B2A41"/>
                </a:solidFill>
                <a:latin typeface="Georgia" pitchFamily="34" charset="0"/>
                <a:ea typeface="Georgia" pitchFamily="34" charset="-122"/>
                <a:cs typeface="Georgia" pitchFamily="34" charset="-120"/>
              </a:rPr>
              <a:t>Pure noise can draw convincing maps</a:t>
            </a:r>
            <a:endParaRPr lang="en-US" sz="2800" dirty="0"/>
          </a:p>
        </p:txBody>
      </p:sp>
      <p:pic>
        <p:nvPicPr>
          <p:cNvPr id="5" name="img_118" descr="/home/claude/work/build/figs/real_vs_noise.png">    </p:cNvPr>
          <p:cNvPicPr>
            <a:picLocks noChangeAspect="1"/>
          </p:cNvPicPr>
          <p:nvPr/>
        </p:nvPicPr>
        <p:blipFill>
          <a:blip r:embed="rId1"/>
          <a:stretch>
            <a:fillRect/>
          </a:stretch>
        </p:blipFill>
        <p:spPr>
          <a:xfrm>
            <a:off x="548640" y="1234440"/>
            <a:ext cx="11091672" cy="3329770"/>
          </a:xfrm>
          <a:prstGeom prst="rect">
            <a:avLst/>
          </a:prstGeom>
        </p:spPr>
      </p:pic>
      <p:sp>
        <p:nvSpPr>
          <p:cNvPr id="6" name="mwbul_119"/>
          <p:cNvSpPr txBox="1"/>
          <p:nvPr/>
        </p:nvSpPr>
        <p:spPr>
          <a:xfrm>
            <a:off x="548640" y="4701370"/>
            <a:ext cx="11091672" cy="1653710"/>
          </a:xfrm>
          <a:prstGeom prst="rect">
            <a:avLst/>
          </a:prstGeom>
          <a:noFill/>
          <a:ln/>
        </p:spPr>
        <p:txBody>
          <a:bodyPr wrap="square" lIns="635" tIns="635" rIns="635" bIns="635" rtlCol="0" anchor="t"/>
          <a:lstStyle/>
          <a:p>
            <a:pPr marL="342900" indent="-342900">
              <a:spcAft>
                <a:spcPts val="400"/>
              </a:spcAft>
              <a:buSzPct val="100000"/>
              <a:buChar char="■"/>
            </a:pPr>
            <a:r>
              <a:rPr lang="en-US" sz="1400" dirty="0">
                <a:solidFill>
                  <a:srgbClr val="222B36"/>
                </a:solidFill>
                <a:latin typeface="Calibri" pitchFamily="34" charset="0"/>
                <a:ea typeface="Calibri" pitchFamily="34" charset="-122"/>
                <a:cs typeface="Calibri" pitchFamily="34" charset="-120"/>
              </a:rPr>
              <a:t>Left: the </a:t>
            </a:r>
            <a:r>
              <a:rPr lang="en-US" sz="1400" b="1" dirty="0">
                <a:solidFill>
                  <a:srgbClr val="222B36"/>
                </a:solidFill>
                <a:latin typeface="Calibri" pitchFamily="34" charset="0"/>
                <a:ea typeface="Calibri" pitchFamily="34" charset="-122"/>
                <a:cs typeface="Calibri" pitchFamily="34" charset="-120"/>
              </a:rPr>
              <a:t>real ONI</a:t>
            </a:r>
            <a:r>
              <a:rPr lang="en-US" sz="1400" dirty="0">
                <a:solidFill>
                  <a:srgbClr val="222B36"/>
                </a:solidFill>
                <a:latin typeface="Calibri" pitchFamily="34" charset="0"/>
                <a:ea typeface="Calibri" pitchFamily="34" charset="-122"/>
                <a:cs typeface="Calibri" pitchFamily="34" charset="-120"/>
              </a:rPr>
              <a:t> correlated with </a:t>
            </a:r>
            <a:r>
              <a:rPr lang="en-US" sz="1400" b="1" dirty="0">
                <a:solidFill>
                  <a:srgbClr val="222B36"/>
                </a:solidFill>
                <a:latin typeface="Calibri" pitchFamily="34" charset="0"/>
                <a:ea typeface="Calibri" pitchFamily="34" charset="-122"/>
                <a:cs typeface="Calibri" pitchFamily="34" charset="-120"/>
              </a:rPr>
              <a:t>pure noise</a:t>
            </a:r>
            <a:r>
              <a:rPr lang="en-US" sz="1400" dirty="0">
                <a:solidFill>
                  <a:srgbClr val="222B36"/>
                </a:solidFill>
                <a:latin typeface="Calibri" pitchFamily="34" charset="0"/>
                <a:ea typeface="Calibri" pitchFamily="34" charset="-122"/>
                <a:cs typeface="Calibri" pitchFamily="34" charset="-120"/>
              </a:rPr>
              <a:t> that has realistic memory and blobs. </a:t>
            </a:r>
            <a:r>
              <a:rPr lang="en-US" sz="1400" b="1" dirty="0">
                <a:solidFill>
                  <a:srgbClr val="222B36"/>
                </a:solidFill>
                <a:latin typeface="Calibri" pitchFamily="34" charset="0"/>
                <a:ea typeface="Calibri" pitchFamily="34" charset="-122"/>
                <a:cs typeface="Calibri" pitchFamily="34" charset="-120"/>
              </a:rPr>
              <a:t>32%</a:t>
            </a:r>
            <a:r>
              <a:rPr lang="en-US" sz="1400" dirty="0">
                <a:solidFill>
                  <a:srgbClr val="222B36"/>
                </a:solidFill>
                <a:latin typeface="Calibri" pitchFamily="34" charset="0"/>
                <a:ea typeface="Calibri" pitchFamily="34" charset="-122"/>
                <a:cs typeface="Calibri" pitchFamily="34" charset="-120"/>
              </a:rPr>
              <a:t> of grid points pass a naive 5% test.</a:t>
            </a:r>
            <a:endParaRPr lang="en-US" sz="1400" dirty="0"/>
          </a:p>
          <a:p>
            <a:pPr marL="342900" indent="-342900">
              <a:spcAft>
                <a:spcPts val="400"/>
              </a:spcAft>
              <a:buSzPct val="100000"/>
              <a:buChar char="■"/>
            </a:pPr>
            <a:r>
              <a:rPr lang="en-US" sz="1400" dirty="0">
                <a:solidFill>
                  <a:srgbClr val="222B36"/>
                </a:solidFill>
                <a:latin typeface="Calibri" pitchFamily="34" charset="0"/>
                <a:ea typeface="Calibri" pitchFamily="34" charset="-122"/>
                <a:cs typeface="Calibri" pitchFamily="34" charset="-120"/>
              </a:rPr>
              <a:t>Even with no memory at all, 5% pass by chance. A map has thousands of points, so that's </a:t>
            </a:r>
            <a:r>
              <a:rPr lang="en-US" sz="1400" b="1" dirty="0">
                <a:solidFill>
                  <a:srgbClr val="222B36"/>
                </a:solidFill>
                <a:latin typeface="Calibri" pitchFamily="34" charset="0"/>
                <a:ea typeface="Calibri" pitchFamily="34" charset="-122"/>
                <a:cs typeface="Calibri" pitchFamily="34" charset="-120"/>
              </a:rPr>
              <a:t>hundreds</a:t>
            </a:r>
            <a:r>
              <a:rPr lang="en-US" sz="1400" dirty="0">
                <a:solidFill>
                  <a:srgbClr val="222B36"/>
                </a:solidFill>
                <a:latin typeface="Calibri" pitchFamily="34" charset="0"/>
                <a:ea typeface="Calibri" pitchFamily="34" charset="-122"/>
                <a:cs typeface="Calibri" pitchFamily="34" charset="-120"/>
              </a:rPr>
              <a:t> of false ‘signals’ (Wilks 2016).</a:t>
            </a:r>
            <a:endParaRPr lang="en-US" sz="1400" dirty="0"/>
          </a:p>
          <a:p>
            <a:pPr marL="342900" indent="-342900">
              <a:spcAft>
                <a:spcPts val="400"/>
              </a:spcAft>
              <a:buSzPct val="100000"/>
              <a:buChar char="■"/>
            </a:pPr>
            <a:r>
              <a:rPr lang="en-US" sz="1400" dirty="0">
                <a:solidFill>
                  <a:srgbClr val="222B36"/>
                </a:solidFill>
                <a:latin typeface="Calibri" pitchFamily="34" charset="0"/>
                <a:ea typeface="Calibri" pitchFamily="34" charset="-122"/>
                <a:cs typeface="Calibri" pitchFamily="34" charset="-120"/>
              </a:rPr>
              <a:t>Right: the real signal is far stronger and sits where the physics says it should. Choose regions for a </a:t>
            </a:r>
            <a:r>
              <a:rPr lang="en-US" sz="1400" b="1" dirty="0">
                <a:solidFill>
                  <a:srgbClr val="222B36"/>
                </a:solidFill>
                <a:latin typeface="Calibri" pitchFamily="34" charset="0"/>
                <a:ea typeface="Calibri" pitchFamily="34" charset="-122"/>
                <a:cs typeface="Calibri" pitchFamily="34" charset="-120"/>
              </a:rPr>
              <a:t>physical</a:t>
            </a:r>
            <a:r>
              <a:rPr lang="en-US" sz="1400" dirty="0">
                <a:solidFill>
                  <a:srgbClr val="222B36"/>
                </a:solidFill>
                <a:latin typeface="Calibri" pitchFamily="34" charset="0"/>
                <a:ea typeface="Calibri" pitchFamily="34" charset="-122"/>
                <a:cs typeface="Calibri" pitchFamily="34" charset="-120"/>
              </a:rPr>
              <a:t> reason, then test them properly.  Try it: methods_demos.ipynb §6.</a:t>
            </a:r>
            <a:endParaRPr lang="en-US" sz="1400" dirty="0"/>
          </a:p>
        </p:txBody>
      </p:sp>
      <p:sp>
        <p:nvSpPr>
          <p:cNvPr id="25" name="Slide Number Placeholder 0"/>
          <p:cNvSpPr>
            <a:spLocks noGrp="1"/>
          </p:cNvSpPr>
          <p:nvPr>
            <p:ph type="sldNum" sz="quarter" idx="4294967295"/>
          </p:nvPr>
        </p:nvSpPr>
        <p:spPr>
          <a:xfrm>
            <a:off x="11274552" y="6473952"/>
            <a:ext cx="54864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8A93A0"/>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agl_120"/>
          <p:cNvSpPr/>
          <p:nvPr/>
        </p:nvSpPr>
        <p:spPr>
          <a:xfrm>
            <a:off x="548640" y="329184"/>
            <a:ext cx="804672" cy="237744"/>
          </a:xfrm>
          <a:prstGeom prst="roundRect">
            <a:avLst>
              <a:gd name="adj" fmla="val 19231"/>
            </a:avLst>
          </a:prstGeom>
          <a:solidFill>
            <a:srgbClr val="1F7A6E"/>
          </a:solidFill>
          <a:ln w="12700">
            <a:solidFill>
              <a:srgbClr val="1F7A6E"/>
            </a:solidFill>
            <a:prstDash val="solid"/>
          </a:ln>
        </p:spPr>
      </p:sp>
      <p:sp>
        <p:nvSpPr>
          <p:cNvPr id="3" name="text_121"/>
          <p:cNvSpPr txBox="1"/>
          <p:nvPr/>
        </p:nvSpPr>
        <p:spPr>
          <a:xfrm>
            <a:off x="548640" y="329184"/>
            <a:ext cx="804672" cy="237744"/>
          </a:xfrm>
          <a:prstGeom prst="rect">
            <a:avLst/>
          </a:prstGeom>
          <a:noFill/>
          <a:ln/>
        </p:spPr>
        <p:txBody>
          <a:bodyPr wrap="square" lIns="0" tIns="0" rIns="0" bIns="0" rtlCol="0" anchor="ctr"/>
          <a:lstStyle/>
          <a:p>
            <a:pPr algn="ctr" indent="0" marL="0">
              <a:lnSpc>
                <a:spcPct val="100000"/>
              </a:lnSpc>
              <a:buNone/>
            </a:pPr>
            <a:r>
              <a:rPr lang="en-US" sz="1000" b="1" dirty="0">
                <a:solidFill>
                  <a:srgbClr val="FFFFFF"/>
                </a:solidFill>
                <a:latin typeface="Calibri" pitchFamily="34" charset="0"/>
                <a:ea typeface="Calibri" pitchFamily="34" charset="-122"/>
                <a:cs typeface="Calibri" pitchFamily="34" charset="-120"/>
              </a:rPr>
              <a:t>METHODS</a:t>
            </a:r>
            <a:endParaRPr lang="en-US" sz="1000" dirty="0"/>
          </a:p>
        </p:txBody>
      </p:sp>
      <p:sp>
        <p:nvSpPr>
          <p:cNvPr id="4" name="text_122"/>
          <p:cNvSpPr txBox="1"/>
          <p:nvPr/>
        </p:nvSpPr>
        <p:spPr>
          <a:xfrm>
            <a:off x="548640" y="365760"/>
            <a:ext cx="11064240" cy="640080"/>
          </a:xfrm>
          <a:prstGeom prst="rect">
            <a:avLst/>
          </a:prstGeom>
          <a:noFill/>
          <a:ln/>
        </p:spPr>
        <p:txBody>
          <a:bodyPr wrap="square" lIns="635" tIns="635" rIns="635" bIns="635" rtlCol="0" anchor="b"/>
          <a:lstStyle/>
          <a:p>
            <a:pPr algn="l" indent="0" marL="0">
              <a:lnSpc>
                <a:spcPct val="100000"/>
              </a:lnSpc>
              <a:buNone/>
            </a:pPr>
            <a:r>
              <a:rPr lang="en-US" sz="2800" b="1" dirty="0">
                <a:solidFill>
                  <a:srgbClr val="1B2A41"/>
                </a:solidFill>
                <a:latin typeface="Georgia" pitchFamily="34" charset="0"/>
                <a:ea typeface="Georgia" pitchFamily="34" charset="-122"/>
                <a:cs typeface="Georgia" pitchFamily="34" charset="-120"/>
              </a:rPr>
              <a:t>Is one year's cloud different from another's?</a:t>
            </a:r>
            <a:endParaRPr lang="en-US" sz="2800" dirty="0"/>
          </a:p>
        </p:txBody>
      </p:sp>
      <p:pic>
        <p:nvPicPr>
          <p:cNvPr id="5" name="img_123" descr="/home/claude/work/build/figs/real_global_years.png">    </p:cNvPr>
          <p:cNvPicPr>
            <a:picLocks noChangeAspect="1"/>
          </p:cNvPicPr>
          <p:nvPr/>
        </p:nvPicPr>
        <p:blipFill>
          <a:blip r:embed="rId1"/>
          <a:stretch>
            <a:fillRect/>
          </a:stretch>
        </p:blipFill>
        <p:spPr>
          <a:xfrm>
            <a:off x="2981938" y="1234440"/>
            <a:ext cx="6225077" cy="2971800"/>
          </a:xfrm>
          <a:prstGeom prst="rect">
            <a:avLst/>
          </a:prstGeom>
        </p:spPr>
      </p:pic>
      <p:sp>
        <p:nvSpPr>
          <p:cNvPr id="6" name="mwbul_124"/>
          <p:cNvSpPr txBox="1"/>
          <p:nvPr/>
        </p:nvSpPr>
        <p:spPr>
          <a:xfrm>
            <a:off x="548640" y="4343400"/>
            <a:ext cx="6949440" cy="2011680"/>
          </a:xfrm>
          <a:prstGeom prst="rect">
            <a:avLst/>
          </a:prstGeom>
          <a:noFill/>
          <a:ln/>
        </p:spPr>
        <p:txBody>
          <a:bodyPr wrap="square" lIns="635" tIns="635" rIns="635" bIns="635" rtlCol="0" anchor="t"/>
          <a:lstStyle/>
          <a:p>
            <a:pPr marL="342900" indent="-342900">
              <a:spcAft>
                <a:spcPts val="400"/>
              </a:spcAft>
              <a:buSzPct val="100000"/>
              <a:buChar char="■"/>
            </a:pPr>
            <a:r>
              <a:rPr lang="en-US" sz="1400" dirty="0">
                <a:solidFill>
                  <a:srgbClr val="222B36"/>
                </a:solidFill>
                <a:latin typeface="Calibri" pitchFamily="34" charset="0"/>
                <a:ea typeface="Calibri" pitchFamily="34" charset="-122"/>
                <a:cs typeface="Calibri" pitchFamily="34" charset="-120"/>
              </a:rPr>
              <a:t>Compare two years' 12 monthly anomalies with a </a:t>
            </a:r>
            <a:r>
              <a:rPr lang="en-US" sz="1400" b="1" dirty="0">
                <a:solidFill>
                  <a:srgbClr val="222B36"/>
                </a:solidFill>
                <a:latin typeface="Calibri" pitchFamily="34" charset="0"/>
                <a:ea typeface="Calibri" pitchFamily="34" charset="-122"/>
                <a:cs typeface="Calibri" pitchFamily="34" charset="-120"/>
              </a:rPr>
              <a:t>t-test</a:t>
            </a:r>
            <a:r>
              <a:rPr lang="en-US" sz="1400" dirty="0">
                <a:solidFill>
                  <a:srgbClr val="222B36"/>
                </a:solidFill>
                <a:latin typeface="Calibri" pitchFamily="34" charset="0"/>
                <a:ea typeface="Calibri" pitchFamily="34" charset="-122"/>
                <a:cs typeface="Calibri" pitchFamily="34" charset="-120"/>
              </a:rPr>
              <a:t> → p. New notebook section </a:t>
            </a:r>
            <a:r>
              <a:rPr lang="en-US" sz="1400" b="1" dirty="0">
                <a:solidFill>
                  <a:srgbClr val="222B36"/>
                </a:solidFill>
                <a:latin typeface="Calibri" pitchFamily="34" charset="0"/>
                <a:ea typeface="Calibri" pitchFamily="34" charset="-122"/>
                <a:cs typeface="Calibri" pitchFamily="34" charset="-120"/>
              </a:rPr>
              <a:t>3b</a:t>
            </a:r>
            <a:r>
              <a:rPr lang="en-US" sz="1400" dirty="0">
                <a:solidFill>
                  <a:srgbClr val="222B36"/>
                </a:solidFill>
                <a:latin typeface="Calibri" pitchFamily="34" charset="0"/>
                <a:ea typeface="Calibri" pitchFamily="34" charset="-122"/>
                <a:cs typeface="Calibri" pitchFamily="34" charset="-120"/>
              </a:rPr>
              <a:t> does it for any two years.</a:t>
            </a:r>
            <a:endParaRPr lang="en-US" sz="1400" dirty="0"/>
          </a:p>
          <a:p>
            <a:pPr marL="342900" indent="-342900">
              <a:spcAft>
                <a:spcPts val="400"/>
              </a:spcAft>
              <a:buSzPct val="100000"/>
              <a:buChar char="■"/>
            </a:pPr>
            <a:r>
              <a:rPr lang="en-US" sz="1400" dirty="0">
                <a:solidFill>
                  <a:srgbClr val="222B36"/>
                </a:solidFill>
                <a:latin typeface="Calibri" pitchFamily="34" charset="0"/>
                <a:ea typeface="Calibri" pitchFamily="34" charset="-122"/>
                <a:cs typeface="Calibri" pitchFamily="34" charset="-120"/>
              </a:rPr>
              <a:t>Global cloud anomalies have r₁ = 0.54, so 12 months ≈ </a:t>
            </a:r>
            <a:r>
              <a:rPr lang="en-US" sz="1400" b="1" dirty="0">
                <a:solidFill>
                  <a:srgbClr val="222B36"/>
                </a:solidFill>
                <a:latin typeface="Calibri" pitchFamily="34" charset="0"/>
                <a:ea typeface="Calibri" pitchFamily="34" charset="-122"/>
                <a:cs typeface="Calibri" pitchFamily="34" charset="-120"/>
              </a:rPr>
              <a:t>3.6</a:t>
            </a:r>
            <a:r>
              <a:rPr lang="en-US" sz="1400" dirty="0">
                <a:solidFill>
                  <a:srgbClr val="222B36"/>
                </a:solidFill>
                <a:latin typeface="Calibri" pitchFamily="34" charset="0"/>
                <a:ea typeface="Calibri" pitchFamily="34" charset="-122"/>
                <a:cs typeface="Calibri" pitchFamily="34" charset="-120"/>
              </a:rPr>
              <a:t> independent months. </a:t>
            </a:r>
            <a:r>
              <a:rPr lang="en-US" sz="1400" b="1" dirty="0">
                <a:solidFill>
                  <a:srgbClr val="222B36"/>
                </a:solidFill>
                <a:latin typeface="Calibri" pitchFamily="34" charset="0"/>
                <a:ea typeface="Calibri" pitchFamily="34" charset="-122"/>
                <a:cs typeface="Calibri" pitchFamily="34" charset="-120"/>
              </a:rPr>
              <a:t>2010 vs 2011:</a:t>
            </a:r>
            <a:r>
              <a:rPr lang="en-US" sz="1400" dirty="0">
                <a:solidFill>
                  <a:srgbClr val="222B36"/>
                </a:solidFill>
                <a:latin typeface="Calibri" pitchFamily="34" charset="0"/>
                <a:ea typeface="Calibri" pitchFamily="34" charset="-122"/>
                <a:cs typeface="Calibri" pitchFamily="34" charset="-120"/>
              </a:rPr>
              <a:t> naive p = 0.02, adjusted p = 0.24.</a:t>
            </a:r>
            <a:endParaRPr lang="en-US" sz="1400" dirty="0"/>
          </a:p>
          <a:p>
            <a:pPr marL="342900" indent="-342900">
              <a:spcAft>
                <a:spcPts val="400"/>
              </a:spcAft>
              <a:buSzPct val="100000"/>
              <a:buChar char="■"/>
            </a:pPr>
            <a:r>
              <a:rPr lang="en-US" sz="1400" b="1" dirty="0">
                <a:solidFill>
                  <a:srgbClr val="222B36"/>
                </a:solidFill>
                <a:latin typeface="Calibri" pitchFamily="34" charset="0"/>
                <a:ea typeface="Calibri" pitchFamily="34" charset="-122"/>
                <a:cs typeface="Calibri" pitchFamily="34" charset="-120"/>
              </a:rPr>
              <a:t>190 pairs</a:t>
            </a:r>
            <a:r>
              <a:rPr lang="en-US" sz="1400" dirty="0">
                <a:solidFill>
                  <a:srgbClr val="222B36"/>
                </a:solidFill>
                <a:latin typeface="Calibri" pitchFamily="34" charset="0"/>
                <a:ea typeface="Calibri" pitchFamily="34" charset="-122"/>
                <a:cs typeface="Calibri" pitchFamily="34" charset="-120"/>
              </a:rPr>
              <a:t> of complete years → ~10 ‘significant’ by chance. Choose years </a:t>
            </a:r>
            <a:r>
              <a:rPr lang="en-US" sz="1400" b="1" dirty="0">
                <a:solidFill>
                  <a:srgbClr val="222B36"/>
                </a:solidFill>
                <a:latin typeface="Calibri" pitchFamily="34" charset="0"/>
                <a:ea typeface="Calibri" pitchFamily="34" charset="-122"/>
                <a:cs typeface="Calibri" pitchFamily="34" charset="-120"/>
              </a:rPr>
              <a:t>before</a:t>
            </a:r>
            <a:r>
              <a:rPr lang="en-US" sz="1400" dirty="0">
                <a:solidFill>
                  <a:srgbClr val="222B36"/>
                </a:solidFill>
                <a:latin typeface="Calibri" pitchFamily="34" charset="0"/>
                <a:ea typeface="Calibri" pitchFamily="34" charset="-122"/>
                <a:cs typeface="Calibri" pitchFamily="34" charset="-120"/>
              </a:rPr>
              <a:t> looking, for a reason.</a:t>
            </a:r>
            <a:endParaRPr lang="en-US" sz="1400" dirty="0"/>
          </a:p>
          <a:p>
            <a:pPr marL="342900" indent="-342900">
              <a:spcAft>
                <a:spcPts val="400"/>
              </a:spcAft>
              <a:buSzPct val="100000"/>
              <a:buChar char="■"/>
            </a:pPr>
            <a:r>
              <a:rPr lang="en-US" sz="1400" dirty="0">
                <a:solidFill>
                  <a:srgbClr val="222B36"/>
                </a:solidFill>
                <a:latin typeface="Calibri" pitchFamily="34" charset="0"/>
                <a:ea typeface="Calibri" pitchFamily="34" charset="-122"/>
                <a:cs typeface="Calibri" pitchFamily="34" charset="-120"/>
              </a:rPr>
              <a:t>Global cloud falls by about </a:t>
            </a:r>
            <a:r>
              <a:rPr lang="en-US" sz="1400" b="1" dirty="0">
                <a:solidFill>
                  <a:srgbClr val="222B36"/>
                </a:solidFill>
                <a:latin typeface="Calibri" pitchFamily="34" charset="0"/>
                <a:ea typeface="Calibri" pitchFamily="34" charset="-122"/>
                <a:cs typeface="Calibri" pitchFamily="34" charset="-120"/>
              </a:rPr>
              <a:t>0.4 pp per decade</a:t>
            </a:r>
            <a:r>
              <a:rPr lang="en-US" sz="1400" dirty="0">
                <a:solidFill>
                  <a:srgbClr val="222B36"/>
                </a:solidFill>
                <a:latin typeface="Calibri" pitchFamily="34" charset="0"/>
                <a:ea typeface="Calibri" pitchFamily="34" charset="-122"/>
                <a:cs typeface="Calibri" pitchFamily="34" charset="-120"/>
              </a:rPr>
              <a:t> here. Is that real, or a reanalysis artefact? (Cf. record-low albedo in 2023: Goessling et al. 2024.) Trends can masquerade as ENSO signals. Try DETREND = True.</a:t>
            </a:r>
            <a:endParaRPr lang="en-US" sz="1400" dirty="0"/>
          </a:p>
        </p:txBody>
      </p:sp>
      <p:sp>
        <p:nvSpPr>
          <p:cNvPr id="7" name="sent_125"/>
          <p:cNvSpPr/>
          <p:nvPr/>
        </p:nvSpPr>
        <p:spPr>
          <a:xfrm>
            <a:off x="7726680" y="4389120"/>
            <a:ext cx="3913632" cy="1737360"/>
          </a:xfrm>
          <a:prstGeom prst="roundRect">
            <a:avLst>
              <a:gd name="adj" fmla="val 3158"/>
            </a:avLst>
          </a:prstGeom>
          <a:solidFill>
            <a:srgbClr val="DCEFEA"/>
          </a:solidFill>
          <a:ln w="12700">
            <a:solidFill>
              <a:srgbClr val="1F7A6E"/>
            </a:solidFill>
            <a:prstDash val="solid"/>
          </a:ln>
        </p:spPr>
      </p:sp>
      <p:sp>
        <p:nvSpPr>
          <p:cNvPr id="8" name="text_126"/>
          <p:cNvSpPr txBox="1"/>
          <p:nvPr/>
        </p:nvSpPr>
        <p:spPr>
          <a:xfrm>
            <a:off x="7863840" y="4462272"/>
            <a:ext cx="3639312" cy="237744"/>
          </a:xfrm>
          <a:prstGeom prst="rect">
            <a:avLst/>
          </a:prstGeom>
          <a:noFill/>
          <a:ln/>
        </p:spPr>
        <p:txBody>
          <a:bodyPr wrap="square" lIns="635" tIns="635" rIns="635" bIns="635" rtlCol="0" anchor="t"/>
          <a:lstStyle/>
          <a:p>
            <a:pPr algn="l" indent="0" marL="0">
              <a:lnSpc>
                <a:spcPct val="100000"/>
              </a:lnSpc>
              <a:buNone/>
            </a:pPr>
            <a:r>
              <a:rPr lang="en-US" sz="1000" b="1" dirty="0">
                <a:solidFill>
                  <a:srgbClr val="1F7A6E"/>
                </a:solidFill>
                <a:latin typeface="Calibri" pitchFamily="34" charset="0"/>
                <a:ea typeface="Calibri" pitchFamily="34" charset="-122"/>
                <a:cs typeface="Calibri" pitchFamily="34" charset="-120"/>
              </a:rPr>
              <a:t>IN YOUR RESULTS, THIS BECOMES</a:t>
            </a:r>
            <a:endParaRPr lang="en-US" sz="1000" dirty="0"/>
          </a:p>
        </p:txBody>
      </p:sp>
      <p:sp>
        <p:nvSpPr>
          <p:cNvPr id="9" name="text_127"/>
          <p:cNvSpPr txBox="1"/>
          <p:nvPr/>
        </p:nvSpPr>
        <p:spPr>
          <a:xfrm>
            <a:off x="7863840" y="4700016"/>
            <a:ext cx="3639312" cy="1371600"/>
          </a:xfrm>
          <a:prstGeom prst="rect">
            <a:avLst/>
          </a:prstGeom>
          <a:noFill/>
          <a:ln/>
        </p:spPr>
        <p:txBody>
          <a:bodyPr wrap="square" lIns="635" tIns="635" rIns="635" bIns="635" rtlCol="0" anchor="t"/>
          <a:lstStyle/>
          <a:p>
            <a:pPr algn="l" indent="0" marL="0">
              <a:lnSpc>
                <a:spcPct val="100000"/>
              </a:lnSpc>
              <a:buNone/>
            </a:pPr>
            <a:r>
              <a:rPr lang="en-US" sz="1350" i="1" dirty="0">
                <a:solidFill>
                  <a:srgbClr val="222B36"/>
                </a:solidFill>
                <a:latin typeface="Georgia" pitchFamily="34" charset="0"/>
                <a:ea typeface="Georgia" pitchFamily="34" charset="-122"/>
                <a:cs typeface="Georgia" pitchFamily="34" charset="-120"/>
              </a:rPr>
              <a:t>“Global-mean TCC was 0.51 pp higher in 2010 than in 2011, but the difference is not significant once autocorrelation is allowed for (p = 0.24).”</a:t>
            </a:r>
            <a:endParaRPr lang="en-US" sz="1350" dirty="0"/>
          </a:p>
        </p:txBody>
      </p:sp>
      <p:sp>
        <p:nvSpPr>
          <p:cNvPr id="25" name="Slide Number Placeholder 0"/>
          <p:cNvSpPr>
            <a:spLocks noGrp="1"/>
          </p:cNvSpPr>
          <p:nvPr>
            <p:ph type="sldNum" sz="quarter" idx="4294967295"/>
          </p:nvPr>
        </p:nvSpPr>
        <p:spPr>
          <a:xfrm>
            <a:off x="11274552" y="6473952"/>
            <a:ext cx="54864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8A93A0"/>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agl_128"/>
          <p:cNvSpPr/>
          <p:nvPr/>
        </p:nvSpPr>
        <p:spPr>
          <a:xfrm>
            <a:off x="548640" y="329184"/>
            <a:ext cx="804672" cy="237744"/>
          </a:xfrm>
          <a:prstGeom prst="roundRect">
            <a:avLst>
              <a:gd name="adj" fmla="val 19231"/>
            </a:avLst>
          </a:prstGeom>
          <a:solidFill>
            <a:srgbClr val="1F7A6E"/>
          </a:solidFill>
          <a:ln w="12700">
            <a:solidFill>
              <a:srgbClr val="1F7A6E"/>
            </a:solidFill>
            <a:prstDash val="solid"/>
          </a:ln>
        </p:spPr>
      </p:sp>
      <p:sp>
        <p:nvSpPr>
          <p:cNvPr id="3" name="text_129"/>
          <p:cNvSpPr txBox="1"/>
          <p:nvPr/>
        </p:nvSpPr>
        <p:spPr>
          <a:xfrm>
            <a:off x="548640" y="329184"/>
            <a:ext cx="804672" cy="237744"/>
          </a:xfrm>
          <a:prstGeom prst="rect">
            <a:avLst/>
          </a:prstGeom>
          <a:noFill/>
          <a:ln/>
        </p:spPr>
        <p:txBody>
          <a:bodyPr wrap="square" lIns="0" tIns="0" rIns="0" bIns="0" rtlCol="0" anchor="ctr"/>
          <a:lstStyle/>
          <a:p>
            <a:pPr algn="ctr" indent="0" marL="0">
              <a:lnSpc>
                <a:spcPct val="100000"/>
              </a:lnSpc>
              <a:buNone/>
            </a:pPr>
            <a:r>
              <a:rPr lang="en-US" sz="1000" b="1" dirty="0">
                <a:solidFill>
                  <a:srgbClr val="FFFFFF"/>
                </a:solidFill>
                <a:latin typeface="Calibri" pitchFamily="34" charset="0"/>
                <a:ea typeface="Calibri" pitchFamily="34" charset="-122"/>
                <a:cs typeface="Calibri" pitchFamily="34" charset="-120"/>
              </a:rPr>
              <a:t>METHODS</a:t>
            </a:r>
            <a:endParaRPr lang="en-US" sz="1000" dirty="0"/>
          </a:p>
        </p:txBody>
      </p:sp>
      <p:sp>
        <p:nvSpPr>
          <p:cNvPr id="4" name="text_130"/>
          <p:cNvSpPr txBox="1"/>
          <p:nvPr/>
        </p:nvSpPr>
        <p:spPr>
          <a:xfrm>
            <a:off x="548640" y="365760"/>
            <a:ext cx="11064240" cy="640080"/>
          </a:xfrm>
          <a:prstGeom prst="rect">
            <a:avLst/>
          </a:prstGeom>
          <a:noFill/>
          <a:ln/>
        </p:spPr>
        <p:txBody>
          <a:bodyPr wrap="square" lIns="635" tIns="635" rIns="635" bIns="635" rtlCol="0" anchor="b"/>
          <a:lstStyle/>
          <a:p>
            <a:pPr algn="l" indent="0" marL="0">
              <a:lnSpc>
                <a:spcPct val="100000"/>
              </a:lnSpc>
              <a:buNone/>
            </a:pPr>
            <a:r>
              <a:rPr lang="en-US" sz="2800" b="1" dirty="0">
                <a:solidFill>
                  <a:srgbClr val="1B2A41"/>
                </a:solidFill>
                <a:latin typeface="Georgia" pitchFamily="34" charset="0"/>
                <a:ea typeface="Georgia" pitchFamily="34" charset="-122"/>
                <a:cs typeface="Georgia" pitchFamily="34" charset="-120"/>
              </a:rPr>
              <a:t>Defend your threshold, and test it</a:t>
            </a:r>
            <a:endParaRPr lang="en-US" sz="2800" dirty="0"/>
          </a:p>
        </p:txBody>
      </p:sp>
      <p:sp>
        <p:nvSpPr>
          <p:cNvPr id="5" name="mbul_131"/>
          <p:cNvSpPr txBox="1"/>
          <p:nvPr/>
        </p:nvSpPr>
        <p:spPr>
          <a:xfrm>
            <a:off x="548640" y="1280160"/>
            <a:ext cx="6035040" cy="3840480"/>
          </a:xfrm>
          <a:prstGeom prst="rect">
            <a:avLst/>
          </a:prstGeom>
          <a:noFill/>
          <a:ln/>
        </p:spPr>
        <p:txBody>
          <a:bodyPr wrap="square" lIns="635" tIns="635" rIns="635" bIns="635" rtlCol="0" anchor="t"/>
          <a:lstStyle/>
          <a:p>
            <a:pPr marL="342900" indent="-342900">
              <a:spcAft>
                <a:spcPts val="700"/>
              </a:spcAft>
              <a:buSzPct val="100000"/>
              <a:buChar char="■"/>
            </a:pPr>
            <a:r>
              <a:rPr lang="en-US" sz="1500" b="1" dirty="0">
                <a:solidFill>
                  <a:srgbClr val="1B2A41"/>
                </a:solidFill>
                <a:latin typeface="Calibri" pitchFamily="34" charset="0"/>
                <a:ea typeface="Calibri" pitchFamily="34" charset="-122"/>
                <a:cs typeface="Calibri" pitchFamily="34" charset="-120"/>
              </a:rPr>
              <a:t>Schultz: </a:t>
            </a:r>
            <a:r>
              <a:rPr lang="en-US" sz="1500" dirty="0">
                <a:solidFill>
                  <a:srgbClr val="222B36"/>
                </a:solidFill>
                <a:latin typeface="Calibri" pitchFamily="34" charset="0"/>
                <a:ea typeface="Calibri" pitchFamily="34" charset="-122"/>
                <a:cs typeface="Calibri" pitchFamily="34" charset="-120"/>
              </a:rPr>
              <a:t>reviewers will question your thresholds. Defend them by </a:t>
            </a:r>
            <a:r>
              <a:rPr lang="en-US" sz="1500" b="1" dirty="0">
                <a:solidFill>
                  <a:srgbClr val="222B36"/>
                </a:solidFill>
                <a:latin typeface="Calibri" pitchFamily="34" charset="0"/>
                <a:ea typeface="Calibri" pitchFamily="34" charset="-122"/>
                <a:cs typeface="Calibri" pitchFamily="34" charset="-120"/>
              </a:rPr>
              <a:t>convention or physics</a:t>
            </a:r>
            <a:r>
              <a:rPr lang="en-US" sz="1500" dirty="0">
                <a:solidFill>
                  <a:srgbClr val="222B36"/>
                </a:solidFill>
                <a:latin typeface="Calibri" pitchFamily="34" charset="0"/>
                <a:ea typeface="Calibri" pitchFamily="34" charset="-122"/>
                <a:cs typeface="Calibri" pitchFamily="34" charset="-120"/>
              </a:rPr>
              <a:t> (NOAA's ±0.5 °C) or by the </a:t>
            </a:r>
            <a:r>
              <a:rPr lang="en-US" sz="1500" b="1" dirty="0">
                <a:solidFill>
                  <a:srgbClr val="222B36"/>
                </a:solidFill>
                <a:latin typeface="Calibri" pitchFamily="34" charset="0"/>
                <a:ea typeface="Calibri" pitchFamily="34" charset="-122"/>
                <a:cs typeface="Calibri" pitchFamily="34" charset="-120"/>
              </a:rPr>
              <a:t>data</a:t>
            </a:r>
            <a:r>
              <a:rPr lang="en-US" sz="1500" dirty="0">
                <a:solidFill>
                  <a:srgbClr val="222B36"/>
                </a:solidFill>
                <a:latin typeface="Calibri" pitchFamily="34" charset="0"/>
                <a:ea typeface="Calibri" pitchFamily="34" charset="-122"/>
                <a:cs typeface="Calibri" pitchFamily="34" charset="-120"/>
              </a:rPr>
              <a:t> (e.g. top and bottom 25% of ONI months).</a:t>
            </a:r>
            <a:endParaRPr lang="en-US" sz="1500" dirty="0"/>
          </a:p>
          <a:p>
            <a:pPr marL="342900" indent="-342900">
              <a:spcAft>
                <a:spcPts val="700"/>
              </a:spcAft>
              <a:buSzPct val="100000"/>
              <a:buChar char="■"/>
            </a:pPr>
            <a:r>
              <a:rPr lang="en-US" sz="1500" dirty="0">
                <a:solidFill>
                  <a:srgbClr val="222B36"/>
                </a:solidFill>
                <a:latin typeface="Calibri" pitchFamily="34" charset="0"/>
                <a:ea typeface="Calibri" pitchFamily="34" charset="-122"/>
                <a:cs typeface="Calibri" pitchFamily="34" charset="-120"/>
              </a:rPr>
              <a:t>Raising the threshold to ±1.0 °C cuts El Niño months from </a:t>
            </a:r>
            <a:r>
              <a:rPr lang="en-US" sz="1500" b="1" dirty="0">
                <a:solidFill>
                  <a:srgbClr val="222B36"/>
                </a:solidFill>
                <a:latin typeface="Calibri" pitchFamily="34" charset="0"/>
                <a:ea typeface="Calibri" pitchFamily="34" charset="-122"/>
                <a:cs typeface="Calibri" pitchFamily="34" charset="-120"/>
              </a:rPr>
              <a:t>54 to 24</a:t>
            </a:r>
            <a:r>
              <a:rPr lang="en-US" sz="1500" dirty="0">
                <a:solidFill>
                  <a:srgbClr val="222B36"/>
                </a:solidFill>
                <a:latin typeface="Calibri" pitchFamily="34" charset="0"/>
                <a:ea typeface="Calibri" pitchFamily="34" charset="-122"/>
                <a:cs typeface="Calibri" pitchFamily="34" charset="-120"/>
              </a:rPr>
              <a:t> and La Niña from </a:t>
            </a:r>
            <a:r>
              <a:rPr lang="en-US" sz="1500" b="1" dirty="0">
                <a:solidFill>
                  <a:srgbClr val="222B36"/>
                </a:solidFill>
                <a:latin typeface="Calibri" pitchFamily="34" charset="0"/>
                <a:ea typeface="Calibri" pitchFamily="34" charset="-122"/>
                <a:cs typeface="Calibri" pitchFamily="34" charset="-120"/>
              </a:rPr>
              <a:t>82 to 25</a:t>
            </a:r>
            <a:r>
              <a:rPr lang="en-US" sz="1500" dirty="0">
                <a:solidFill>
                  <a:srgbClr val="222B36"/>
                </a:solidFill>
                <a:latin typeface="Calibri" pitchFamily="34" charset="0"/>
                <a:ea typeface="Calibri" pitchFamily="34" charset="-122"/>
                <a:cs typeface="Calibri" pitchFamily="34" charset="-120"/>
              </a:rPr>
              <a:t>: stronger events, fewer samples.</a:t>
            </a:r>
            <a:endParaRPr lang="en-US" sz="1500" dirty="0"/>
          </a:p>
          <a:p>
            <a:pPr marL="342900" indent="-342900">
              <a:spcAft>
                <a:spcPts val="700"/>
              </a:spcAft>
              <a:buSzPct val="100000"/>
              <a:buChar char="■"/>
            </a:pPr>
            <a:r>
              <a:rPr lang="en-US" sz="1500" b="1" dirty="0">
                <a:solidFill>
                  <a:srgbClr val="1B2A41"/>
                </a:solidFill>
                <a:latin typeface="Calibri" pitchFamily="34" charset="0"/>
                <a:ea typeface="Calibri" pitchFamily="34" charset="-122"/>
                <a:cs typeface="Calibri" pitchFamily="34" charset="-120"/>
              </a:rPr>
              <a:t>Sensitivity test: </a:t>
            </a:r>
            <a:r>
              <a:rPr lang="en-US" sz="1500" dirty="0">
                <a:solidFill>
                  <a:srgbClr val="222B36"/>
                </a:solidFill>
                <a:latin typeface="Calibri" pitchFamily="34" charset="0"/>
                <a:ea typeface="Calibri" pitchFamily="34" charset="-122"/>
                <a:cs typeface="Calibri" pitchFamily="34" charset="-120"/>
              </a:rPr>
              <a:t>does your answer survive ±1.0 °C, or leaving out 2015–16? One sentence in Results is the ‘careful treatment of a subtlety’ in the 80%+ band.</a:t>
            </a:r>
            <a:endParaRPr lang="en-US" sz="1500" dirty="0"/>
          </a:p>
          <a:p>
            <a:pPr marL="342900" indent="-342900">
              <a:spcAft>
                <a:spcPts val="700"/>
              </a:spcAft>
              <a:buSzPct val="100000"/>
              <a:buChar char="■"/>
            </a:pPr>
            <a:r>
              <a:rPr lang="en-US" sz="1500" b="1" dirty="0">
                <a:solidFill>
                  <a:srgbClr val="1B2A41"/>
                </a:solidFill>
                <a:latin typeface="Calibri" pitchFamily="34" charset="0"/>
                <a:ea typeface="Calibri" pitchFamily="34" charset="-122"/>
                <a:cs typeface="Calibri" pitchFamily="34" charset="-120"/>
              </a:rPr>
              <a:t>Composites: </a:t>
            </a:r>
            <a:r>
              <a:rPr lang="en-US" sz="1500" dirty="0">
                <a:solidFill>
                  <a:srgbClr val="222B36"/>
                </a:solidFill>
                <a:latin typeface="Calibri" pitchFamily="34" charset="0"/>
                <a:ea typeface="Calibri" pitchFamily="34" charset="-122"/>
                <a:cs typeface="Calibri" pitchFamily="34" charset="-120"/>
              </a:rPr>
              <a:t>check that most members show the feature, not just one big event (§18.4.4).</a:t>
            </a:r>
            <a:endParaRPr lang="en-US" sz="1500" dirty="0"/>
          </a:p>
        </p:txBody>
      </p:sp>
      <p:sp>
        <p:nvSpPr>
          <p:cNvPr id="6" name="sent_132"/>
          <p:cNvSpPr/>
          <p:nvPr/>
        </p:nvSpPr>
        <p:spPr>
          <a:xfrm>
            <a:off x="548640" y="5257800"/>
            <a:ext cx="6035040" cy="1051560"/>
          </a:xfrm>
          <a:prstGeom prst="roundRect">
            <a:avLst>
              <a:gd name="adj" fmla="val 5217"/>
            </a:avLst>
          </a:prstGeom>
          <a:solidFill>
            <a:srgbClr val="DCEFEA"/>
          </a:solidFill>
          <a:ln w="12700">
            <a:solidFill>
              <a:srgbClr val="1F7A6E"/>
            </a:solidFill>
            <a:prstDash val="solid"/>
          </a:ln>
        </p:spPr>
      </p:sp>
      <p:sp>
        <p:nvSpPr>
          <p:cNvPr id="7" name="text_133"/>
          <p:cNvSpPr txBox="1"/>
          <p:nvPr/>
        </p:nvSpPr>
        <p:spPr>
          <a:xfrm>
            <a:off x="685800" y="5330952"/>
            <a:ext cx="5760720" cy="237744"/>
          </a:xfrm>
          <a:prstGeom prst="rect">
            <a:avLst/>
          </a:prstGeom>
          <a:noFill/>
          <a:ln/>
        </p:spPr>
        <p:txBody>
          <a:bodyPr wrap="square" lIns="635" tIns="635" rIns="635" bIns="635" rtlCol="0" anchor="t"/>
          <a:lstStyle/>
          <a:p>
            <a:pPr algn="l" indent="0" marL="0">
              <a:lnSpc>
                <a:spcPct val="100000"/>
              </a:lnSpc>
              <a:buNone/>
            </a:pPr>
            <a:r>
              <a:rPr lang="en-US" sz="1000" b="1" dirty="0">
                <a:solidFill>
                  <a:srgbClr val="1F7A6E"/>
                </a:solidFill>
                <a:latin typeface="Calibri" pitchFamily="34" charset="0"/>
                <a:ea typeface="Calibri" pitchFamily="34" charset="-122"/>
                <a:cs typeface="Calibri" pitchFamily="34" charset="-120"/>
              </a:rPr>
              <a:t>ONE SENTENCE IN YOUR RESULTS</a:t>
            </a:r>
            <a:endParaRPr lang="en-US" sz="1000" dirty="0"/>
          </a:p>
        </p:txBody>
      </p:sp>
      <p:sp>
        <p:nvSpPr>
          <p:cNvPr id="8" name="text_134"/>
          <p:cNvSpPr txBox="1"/>
          <p:nvPr/>
        </p:nvSpPr>
        <p:spPr>
          <a:xfrm>
            <a:off x="685800" y="5568696"/>
            <a:ext cx="5760720" cy="685800"/>
          </a:xfrm>
          <a:prstGeom prst="rect">
            <a:avLst/>
          </a:prstGeom>
          <a:noFill/>
          <a:ln/>
        </p:spPr>
        <p:txBody>
          <a:bodyPr wrap="square" lIns="635" tIns="635" rIns="635" bIns="635" rtlCol="0" anchor="t"/>
          <a:lstStyle/>
          <a:p>
            <a:pPr algn="l" indent="0" marL="0">
              <a:lnSpc>
                <a:spcPct val="100000"/>
              </a:lnSpc>
              <a:buNone/>
            </a:pPr>
            <a:r>
              <a:rPr lang="en-US" sz="1350" i="1" dirty="0">
                <a:solidFill>
                  <a:srgbClr val="222B36"/>
                </a:solidFill>
                <a:latin typeface="Georgia" pitchFamily="34" charset="0"/>
                <a:ea typeface="Georgia" pitchFamily="34" charset="-122"/>
                <a:cs typeface="Georgia" pitchFamily="34" charset="-120"/>
              </a:rPr>
              <a:t>“The sign of the composite is unchanged with a ±1.0 °C threshold (24 El Niño, 25 La Niña months).”</a:t>
            </a:r>
            <a:endParaRPr lang="en-US" sz="1350" dirty="0"/>
          </a:p>
        </p:txBody>
      </p:sp>
      <p:pic>
        <p:nvPicPr>
          <p:cNvPr id="9" name="img_135" descr="/home/claude/work/build/figs/threshold_sensitivity.png">    </p:cNvPr>
          <p:cNvPicPr>
            <a:picLocks noChangeAspect="1"/>
          </p:cNvPicPr>
          <p:nvPr/>
        </p:nvPicPr>
        <p:blipFill>
          <a:blip r:embed="rId1"/>
          <a:stretch>
            <a:fillRect/>
          </a:stretch>
        </p:blipFill>
        <p:spPr>
          <a:xfrm>
            <a:off x="6858000" y="1280160"/>
            <a:ext cx="4785055" cy="4124886"/>
          </a:xfrm>
          <a:prstGeom prst="rect">
            <a:avLst/>
          </a:prstGeom>
        </p:spPr>
      </p:pic>
      <p:sp>
        <p:nvSpPr>
          <p:cNvPr id="10" name="text_136"/>
          <p:cNvSpPr txBox="1"/>
          <p:nvPr/>
        </p:nvSpPr>
        <p:spPr>
          <a:xfrm>
            <a:off x="548640" y="6446520"/>
            <a:ext cx="10424160" cy="256032"/>
          </a:xfrm>
          <a:prstGeom prst="rect">
            <a:avLst/>
          </a:prstGeom>
          <a:noFill/>
          <a:ln/>
        </p:spPr>
        <p:txBody>
          <a:bodyPr wrap="square" lIns="635" tIns="635" rIns="635" bIns="635" rtlCol="0" anchor="t"/>
          <a:lstStyle/>
          <a:p>
            <a:pPr algn="l" indent="0" marL="0">
              <a:lnSpc>
                <a:spcPct val="100000"/>
              </a:lnSpc>
              <a:buNone/>
            </a:pPr>
            <a:r>
              <a:rPr lang="en-US" sz="900" i="1" dirty="0">
                <a:solidFill>
                  <a:srgbClr val="8A93A0"/>
                </a:solidFill>
                <a:latin typeface="Calibri" pitchFamily="34" charset="0"/>
                <a:ea typeface="Calibri" pitchFamily="34" charset="-122"/>
                <a:cs typeface="Calibri" pitchFamily="34" charset="-120"/>
              </a:rPr>
              <a:t>Source: Schultz, D. M. (2009) Eloquent Science, AMS, §18.3 Picking thresholds; §18.4.4 composites.</a:t>
            </a:r>
            <a:endParaRPr lang="en-US" sz="900" dirty="0"/>
          </a:p>
        </p:txBody>
      </p:sp>
      <p:sp>
        <p:nvSpPr>
          <p:cNvPr id="25" name="Slide Number Placeholder 0"/>
          <p:cNvSpPr>
            <a:spLocks noGrp="1"/>
          </p:cNvSpPr>
          <p:nvPr>
            <p:ph type="sldNum" sz="quarter" idx="4294967295"/>
          </p:nvPr>
        </p:nvSpPr>
        <p:spPr>
          <a:xfrm>
            <a:off x="11274552" y="6473952"/>
            <a:ext cx="54864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8A93A0"/>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_137"/>
          <p:cNvSpPr txBox="1"/>
          <p:nvPr/>
        </p:nvSpPr>
        <p:spPr>
          <a:xfrm>
            <a:off x="548640" y="365760"/>
            <a:ext cx="11064240" cy="640080"/>
          </a:xfrm>
          <a:prstGeom prst="rect">
            <a:avLst/>
          </a:prstGeom>
          <a:noFill/>
          <a:ln/>
        </p:spPr>
        <p:txBody>
          <a:bodyPr wrap="square" lIns="635" tIns="635" rIns="635" bIns="635" rtlCol="0" anchor="b"/>
          <a:lstStyle/>
          <a:p>
            <a:pPr algn="l" indent="0" marL="0">
              <a:lnSpc>
                <a:spcPct val="100000"/>
              </a:lnSpc>
              <a:buNone/>
            </a:pPr>
            <a:r>
              <a:rPr lang="en-US" sz="2800" b="1" dirty="0">
                <a:solidFill>
                  <a:srgbClr val="1B2A41"/>
                </a:solidFill>
                <a:latin typeface="Georgia" pitchFamily="34" charset="0"/>
                <a:ea typeface="Georgia" pitchFamily="34" charset="-122"/>
                <a:cs typeface="Georgia" pitchFamily="34" charset="-120"/>
              </a:rPr>
              <a:t>A caption that stands alone</a:t>
            </a:r>
            <a:endParaRPr lang="en-US" sz="2800" dirty="0"/>
          </a:p>
        </p:txBody>
      </p:sp>
      <p:sp>
        <p:nvSpPr>
          <p:cNvPr id="3" name="card_138"/>
          <p:cNvSpPr/>
          <p:nvPr/>
        </p:nvSpPr>
        <p:spPr>
          <a:xfrm>
            <a:off x="548640" y="1325880"/>
            <a:ext cx="5440680" cy="2880360"/>
          </a:xfrm>
          <a:prstGeom prst="roundRect">
            <a:avLst>
              <a:gd name="adj" fmla="val 2540"/>
            </a:avLst>
          </a:prstGeom>
          <a:solidFill>
            <a:srgbClr val="F5E0DA"/>
          </a:solidFill>
          <a:ln w="9525">
            <a:solidFill>
              <a:srgbClr val="F5E0DA"/>
            </a:solidFill>
            <a:prstDash val="solid"/>
          </a:ln>
        </p:spPr>
      </p:sp>
      <p:sp>
        <p:nvSpPr>
          <p:cNvPr id="4" name="tag_139"/>
          <p:cNvSpPr/>
          <p:nvPr/>
        </p:nvSpPr>
        <p:spPr>
          <a:xfrm>
            <a:off x="713232" y="1453896"/>
            <a:ext cx="457200" cy="256032"/>
          </a:xfrm>
          <a:prstGeom prst="roundRect">
            <a:avLst>
              <a:gd name="adj" fmla="val 21429"/>
            </a:avLst>
          </a:prstGeom>
          <a:solidFill>
            <a:srgbClr val="B04A35"/>
          </a:solidFill>
          <a:ln w="12700">
            <a:solidFill>
              <a:srgbClr val="B04A35"/>
            </a:solidFill>
            <a:prstDash val="solid"/>
          </a:ln>
        </p:spPr>
      </p:sp>
      <p:sp>
        <p:nvSpPr>
          <p:cNvPr id="5" name="text_140"/>
          <p:cNvSpPr txBox="1"/>
          <p:nvPr/>
        </p:nvSpPr>
        <p:spPr>
          <a:xfrm>
            <a:off x="713232" y="1453896"/>
            <a:ext cx="457200" cy="256032"/>
          </a:xfrm>
          <a:prstGeom prst="rect">
            <a:avLst/>
          </a:prstGeom>
          <a:noFill/>
          <a:ln/>
        </p:spPr>
        <p:txBody>
          <a:bodyPr wrap="square" lIns="0" tIns="0" rIns="0" bIns="0" rtlCol="0" anchor="ctr"/>
          <a:lstStyle/>
          <a:p>
            <a:pPr algn="ctr" indent="0" marL="0">
              <a:lnSpc>
                <a:spcPct val="100000"/>
              </a:lnSpc>
              <a:buNone/>
            </a:pPr>
            <a:r>
              <a:rPr lang="en-US" sz="1050" b="1" dirty="0">
                <a:solidFill>
                  <a:srgbClr val="FFFFFF"/>
                </a:solidFill>
                <a:latin typeface="Calibri" pitchFamily="34" charset="0"/>
                <a:ea typeface="Calibri" pitchFamily="34" charset="-122"/>
                <a:cs typeface="Calibri" pitchFamily="34" charset="-120"/>
              </a:rPr>
              <a:t>WEAK</a:t>
            </a:r>
            <a:endParaRPr lang="en-US" sz="1050" dirty="0"/>
          </a:p>
        </p:txBody>
      </p:sp>
      <p:sp>
        <p:nvSpPr>
          <p:cNvPr id="6" name="text_141"/>
          <p:cNvSpPr txBox="1"/>
          <p:nvPr/>
        </p:nvSpPr>
        <p:spPr>
          <a:xfrm>
            <a:off x="713232" y="1801368"/>
            <a:ext cx="5111496" cy="2313432"/>
          </a:xfrm>
          <a:prstGeom prst="rect">
            <a:avLst/>
          </a:prstGeom>
          <a:noFill/>
          <a:ln/>
        </p:spPr>
        <p:txBody>
          <a:bodyPr wrap="square" lIns="635" tIns="635" rIns="635" bIns="635" rtlCol="0" anchor="t"/>
          <a:lstStyle/>
          <a:p>
            <a:pPr algn="l" indent="0" marL="0">
              <a:lnSpc>
                <a:spcPct val="100000"/>
              </a:lnSpc>
              <a:buNone/>
            </a:pPr>
            <a:r>
              <a:rPr lang="en-US" sz="1500" i="1" dirty="0">
                <a:solidFill>
                  <a:srgbClr val="222B36"/>
                </a:solidFill>
                <a:latin typeface="Georgia" pitchFamily="34" charset="0"/>
                <a:ea typeface="Georgia" pitchFamily="34" charset="-122"/>
                <a:cs typeface="Georgia" pitchFamily="34" charset="-120"/>
              </a:rPr>
              <a:t>“Figure 2. Correlation map.”</a:t>
            </a:r>
            <a:endParaRPr lang="en-US" sz="1500" dirty="0"/>
          </a:p>
        </p:txBody>
      </p:sp>
      <p:sp>
        <p:nvSpPr>
          <p:cNvPr id="7" name="card_142"/>
          <p:cNvSpPr/>
          <p:nvPr/>
        </p:nvSpPr>
        <p:spPr>
          <a:xfrm>
            <a:off x="6199632" y="1325880"/>
            <a:ext cx="5440680" cy="2880360"/>
          </a:xfrm>
          <a:prstGeom prst="roundRect">
            <a:avLst>
              <a:gd name="adj" fmla="val 2540"/>
            </a:avLst>
          </a:prstGeom>
          <a:solidFill>
            <a:srgbClr val="DCEFEA"/>
          </a:solidFill>
          <a:ln w="9525">
            <a:solidFill>
              <a:srgbClr val="DCEFEA"/>
            </a:solidFill>
            <a:prstDash val="solid"/>
          </a:ln>
        </p:spPr>
      </p:sp>
      <p:sp>
        <p:nvSpPr>
          <p:cNvPr id="8" name="tag_143"/>
          <p:cNvSpPr/>
          <p:nvPr/>
        </p:nvSpPr>
        <p:spPr>
          <a:xfrm>
            <a:off x="6364224" y="1453896"/>
            <a:ext cx="612648" cy="256032"/>
          </a:xfrm>
          <a:prstGeom prst="roundRect">
            <a:avLst>
              <a:gd name="adj" fmla="val 21429"/>
            </a:avLst>
          </a:prstGeom>
          <a:solidFill>
            <a:srgbClr val="1F7A6E"/>
          </a:solidFill>
          <a:ln w="12700">
            <a:solidFill>
              <a:srgbClr val="1F7A6E"/>
            </a:solidFill>
            <a:prstDash val="solid"/>
          </a:ln>
        </p:spPr>
      </p:sp>
      <p:sp>
        <p:nvSpPr>
          <p:cNvPr id="9" name="text_144"/>
          <p:cNvSpPr txBox="1"/>
          <p:nvPr/>
        </p:nvSpPr>
        <p:spPr>
          <a:xfrm>
            <a:off x="6364224" y="1453896"/>
            <a:ext cx="612648" cy="256032"/>
          </a:xfrm>
          <a:prstGeom prst="rect">
            <a:avLst/>
          </a:prstGeom>
          <a:noFill/>
          <a:ln/>
        </p:spPr>
        <p:txBody>
          <a:bodyPr wrap="square" lIns="0" tIns="0" rIns="0" bIns="0" rtlCol="0" anchor="ctr"/>
          <a:lstStyle/>
          <a:p>
            <a:pPr algn="ctr" indent="0" marL="0">
              <a:lnSpc>
                <a:spcPct val="100000"/>
              </a:lnSpc>
              <a:buNone/>
            </a:pPr>
            <a:r>
              <a:rPr lang="en-US" sz="1050" b="1" dirty="0">
                <a:solidFill>
                  <a:srgbClr val="FFFFFF"/>
                </a:solidFill>
                <a:latin typeface="Calibri" pitchFamily="34" charset="0"/>
                <a:ea typeface="Calibri" pitchFamily="34" charset="-122"/>
                <a:cs typeface="Calibri" pitchFamily="34" charset="-120"/>
              </a:rPr>
              <a:t>STRONG</a:t>
            </a:r>
            <a:endParaRPr lang="en-US" sz="1050" dirty="0"/>
          </a:p>
        </p:txBody>
      </p:sp>
      <p:sp>
        <p:nvSpPr>
          <p:cNvPr id="10" name="text_145"/>
          <p:cNvSpPr txBox="1"/>
          <p:nvPr/>
        </p:nvSpPr>
        <p:spPr>
          <a:xfrm>
            <a:off x="6364224" y="1801368"/>
            <a:ext cx="5111496" cy="2313432"/>
          </a:xfrm>
          <a:prstGeom prst="rect">
            <a:avLst/>
          </a:prstGeom>
          <a:noFill/>
          <a:ln/>
        </p:spPr>
        <p:txBody>
          <a:bodyPr wrap="square" lIns="635" tIns="635" rIns="635" bIns="635" rtlCol="0" anchor="t"/>
          <a:lstStyle/>
          <a:p>
            <a:pPr algn="l" indent="0" marL="0">
              <a:lnSpc>
                <a:spcPct val="100000"/>
              </a:lnSpc>
              <a:buNone/>
            </a:pPr>
            <a:r>
              <a:rPr lang="en-US" sz="1500" i="1" dirty="0">
                <a:solidFill>
                  <a:srgbClr val="222B36"/>
                </a:solidFill>
                <a:latin typeface="Georgia" pitchFamily="34" charset="0"/>
                <a:ea typeface="Georgia" pitchFamily="34" charset="-122"/>
                <a:cs typeface="Georgia" pitchFamily="34" charset="-120"/>
              </a:rPr>
              <a:t>“Figure 2. Correlation between monthly high-cloud-cover anomaly and the ONI at each grid point, January 2005 – July 2025 (n = 247 months). Boxes mark the central Pacific (CP) and Maritime Continent (MC) regions analysed in Figs 3–4. Figure produced by the author using ERA5 (ECMWF / Copernicus Climate Change Service) and ONI (NOAA Climate Prediction Center) data.”</a:t>
            </a:r>
            <a:endParaRPr lang="en-US" sz="1500" dirty="0"/>
          </a:p>
        </p:txBody>
      </p:sp>
      <p:sp>
        <p:nvSpPr>
          <p:cNvPr id="11" name="text_146"/>
          <p:cNvSpPr txBox="1"/>
          <p:nvPr/>
        </p:nvSpPr>
        <p:spPr>
          <a:xfrm>
            <a:off x="548640" y="4389120"/>
            <a:ext cx="2743200" cy="274320"/>
          </a:xfrm>
          <a:prstGeom prst="rect">
            <a:avLst/>
          </a:prstGeom>
          <a:noFill/>
          <a:ln/>
        </p:spPr>
        <p:txBody>
          <a:bodyPr wrap="square" lIns="635" tIns="635" rIns="635" bIns="635" rtlCol="0" anchor="t"/>
          <a:lstStyle/>
          <a:p>
            <a:pPr algn="l" indent="0" marL="0">
              <a:lnSpc>
                <a:spcPct val="100000"/>
              </a:lnSpc>
              <a:buNone/>
            </a:pPr>
            <a:r>
              <a:rPr lang="en-US" sz="1100" b="1" dirty="0">
                <a:solidFill>
                  <a:srgbClr val="D98E1F"/>
                </a:solidFill>
                <a:latin typeface="Calibri" pitchFamily="34" charset="0"/>
                <a:ea typeface="Calibri" pitchFamily="34" charset="-122"/>
                <a:cs typeface="Calibri" pitchFamily="34" charset="-120"/>
              </a:rPr>
              <a:t>WHAT CHANGED</a:t>
            </a:r>
            <a:endParaRPr lang="en-US" sz="1100" dirty="0"/>
          </a:p>
        </p:txBody>
      </p:sp>
      <p:sp>
        <p:nvSpPr>
          <p:cNvPr id="12" name="changed_147"/>
          <p:cNvSpPr txBox="1"/>
          <p:nvPr/>
        </p:nvSpPr>
        <p:spPr>
          <a:xfrm>
            <a:off x="548640" y="4663440"/>
            <a:ext cx="11064240" cy="1691640"/>
          </a:xfrm>
          <a:prstGeom prst="rect">
            <a:avLst/>
          </a:prstGeom>
          <a:noFill/>
          <a:ln/>
        </p:spPr>
        <p:txBody>
          <a:bodyPr wrap="square" lIns="635" tIns="635" rIns="635" bIns="635" rtlCol="0" anchor="t"/>
          <a:lstStyle/>
          <a:p>
            <a:pPr marL="342900" indent="-342900">
              <a:spcAft>
                <a:spcPts val="300"/>
              </a:spcAft>
              <a:buSzPct val="100000"/>
              <a:buChar char="■"/>
            </a:pPr>
            <a:r>
              <a:rPr lang="en-US" sz="1450" b="1" dirty="0">
                <a:solidFill>
                  <a:srgbClr val="222B36"/>
                </a:solidFill>
                <a:latin typeface="Calibri" pitchFamily="34" charset="0"/>
                <a:ea typeface="Calibri" pitchFamily="34" charset="-122"/>
                <a:cs typeface="Calibri" pitchFamily="34" charset="-120"/>
              </a:rPr>
              <a:t>Essence first</a:t>
            </a:r>
            <a:r>
              <a:rPr lang="en-US" sz="1450" dirty="0">
                <a:solidFill>
                  <a:srgbClr val="222B36"/>
                </a:solidFill>
                <a:latin typeface="Calibri" pitchFamily="34" charset="0"/>
                <a:ea typeface="Calibri" pitchFamily="34" charset="-122"/>
                <a:cs typeface="Calibri" pitchFamily="34" charset="-120"/>
              </a:rPr>
              <a:t> (‘Correlation between … and the ONI’), then the period, the regions and links to later figures.</a:t>
            </a:r>
            <a:endParaRPr lang="en-US" sz="1450" dirty="0"/>
          </a:p>
          <a:p>
            <a:pPr marL="342900" indent="-342900">
              <a:spcAft>
                <a:spcPts val="300"/>
              </a:spcAft>
              <a:buSzPct val="100000"/>
              <a:buChar char="■"/>
            </a:pPr>
            <a:r>
              <a:rPr lang="en-US" sz="1450" dirty="0">
                <a:solidFill>
                  <a:srgbClr val="222B36"/>
                </a:solidFill>
                <a:latin typeface="Calibri" pitchFamily="34" charset="0"/>
                <a:ea typeface="Calibri" pitchFamily="34" charset="-122"/>
                <a:cs typeface="Calibri" pitchFamily="34" charset="-120"/>
              </a:rPr>
              <a:t>Defines what a </a:t>
            </a:r>
            <a:r>
              <a:rPr lang="en-US" sz="1450" b="1" dirty="0">
                <a:solidFill>
                  <a:srgbClr val="222B36"/>
                </a:solidFill>
                <a:latin typeface="Calibri" pitchFamily="34" charset="0"/>
                <a:ea typeface="Calibri" pitchFamily="34" charset="-122"/>
                <a:cs typeface="Calibri" pitchFamily="34" charset="-120"/>
              </a:rPr>
              <a:t>positive value</a:t>
            </a:r>
            <a:r>
              <a:rPr lang="en-US" sz="1450" dirty="0">
                <a:solidFill>
                  <a:srgbClr val="222B36"/>
                </a:solidFill>
                <a:latin typeface="Calibri" pitchFamily="34" charset="0"/>
                <a:ea typeface="Calibri" pitchFamily="34" charset="-122"/>
                <a:cs typeface="Calibri" pitchFamily="34" charset="-120"/>
              </a:rPr>
              <a:t> means implicitly: higher cloud anomaly when ONI is higher.</a:t>
            </a:r>
            <a:endParaRPr lang="en-US" sz="1450" dirty="0"/>
          </a:p>
          <a:p>
            <a:pPr marL="342900" indent="-342900">
              <a:spcAft>
                <a:spcPts val="300"/>
              </a:spcAft>
              <a:buSzPct val="100000"/>
              <a:buChar char="■"/>
            </a:pPr>
            <a:r>
              <a:rPr lang="en-US" sz="1450" dirty="0">
                <a:solidFill>
                  <a:srgbClr val="222B36"/>
                </a:solidFill>
                <a:latin typeface="Calibri" pitchFamily="34" charset="0"/>
                <a:ea typeface="Calibri" pitchFamily="34" charset="-122"/>
                <a:cs typeface="Calibri" pitchFamily="34" charset="-120"/>
              </a:rPr>
              <a:t>Attribution: </a:t>
            </a:r>
            <a:r>
              <a:rPr lang="en-US" sz="1450" b="1" dirty="0">
                <a:solidFill>
                  <a:srgbClr val="222B36"/>
                </a:solidFill>
                <a:latin typeface="Calibri" pitchFamily="34" charset="0"/>
                <a:ea typeface="Calibri" pitchFamily="34" charset="-122"/>
                <a:cs typeface="Calibri" pitchFamily="34" charset="-120"/>
              </a:rPr>
              <a:t>your</a:t>
            </a:r>
            <a:r>
              <a:rPr lang="en-US" sz="1450" dirty="0">
                <a:solidFill>
                  <a:srgbClr val="222B36"/>
                </a:solidFill>
                <a:latin typeface="Calibri" pitchFamily="34" charset="0"/>
                <a:ea typeface="Calibri" pitchFamily="34" charset="-122"/>
                <a:cs typeface="Calibri" pitchFamily="34" charset="-120"/>
              </a:rPr>
              <a:t> figure, </a:t>
            </a:r>
            <a:r>
              <a:rPr lang="en-US" sz="1450" b="1" dirty="0">
                <a:solidFill>
                  <a:srgbClr val="222B36"/>
                </a:solidFill>
                <a:latin typeface="Calibri" pitchFamily="34" charset="0"/>
                <a:ea typeface="Calibri" pitchFamily="34" charset="-122"/>
                <a:cs typeface="Calibri" pitchFamily="34" charset="-120"/>
              </a:rPr>
              <a:t>their</a:t>
            </a:r>
            <a:r>
              <a:rPr lang="en-US" sz="1450" dirty="0">
                <a:solidFill>
                  <a:srgbClr val="222B36"/>
                </a:solidFill>
                <a:latin typeface="Calibri" pitchFamily="34" charset="0"/>
                <a:ea typeface="Calibri" pitchFamily="34" charset="-122"/>
                <a:cs typeface="Calibri" pitchFamily="34" charset="-120"/>
              </a:rPr>
              <a:t> data. Longer, but every word is doing a job.</a:t>
            </a:r>
            <a:endParaRPr lang="en-US" sz="1450" dirty="0"/>
          </a:p>
        </p:txBody>
      </p:sp>
      <p:sp>
        <p:nvSpPr>
          <p:cNvPr id="13" name="text_148"/>
          <p:cNvSpPr txBox="1"/>
          <p:nvPr/>
        </p:nvSpPr>
        <p:spPr>
          <a:xfrm>
            <a:off x="548640" y="6446520"/>
            <a:ext cx="10424160" cy="256032"/>
          </a:xfrm>
          <a:prstGeom prst="rect">
            <a:avLst/>
          </a:prstGeom>
          <a:noFill/>
          <a:ln/>
        </p:spPr>
        <p:txBody>
          <a:bodyPr wrap="square" lIns="635" tIns="635" rIns="635" bIns="635" rtlCol="0" anchor="t"/>
          <a:lstStyle/>
          <a:p>
            <a:pPr algn="l" indent="0" marL="0">
              <a:lnSpc>
                <a:spcPct val="100000"/>
              </a:lnSpc>
              <a:buNone/>
            </a:pPr>
            <a:r>
              <a:rPr lang="en-US" sz="900" i="1" dirty="0">
                <a:solidFill>
                  <a:srgbClr val="8A93A0"/>
                </a:solidFill>
                <a:latin typeface="Calibri" pitchFamily="34" charset="0"/>
                <a:ea typeface="Calibri" pitchFamily="34" charset="-122"/>
                <a:cs typeface="Calibri" pitchFamily="34" charset="-120"/>
              </a:rPr>
              <a:t>Source: Schultz, D. M. (2009) Eloquent Science, American Meteorological Society, §11.10; attribution wording from the Student Guide §6.</a:t>
            </a:r>
            <a:endParaRPr lang="en-US" sz="900" dirty="0"/>
          </a:p>
        </p:txBody>
      </p:sp>
      <p:sp>
        <p:nvSpPr>
          <p:cNvPr id="25" name="Slide Number Placeholder 0"/>
          <p:cNvSpPr>
            <a:spLocks noGrp="1"/>
          </p:cNvSpPr>
          <p:nvPr>
            <p:ph type="sldNum" sz="quarter" idx="4294967295"/>
          </p:nvPr>
        </p:nvSpPr>
        <p:spPr>
          <a:xfrm>
            <a:off x="11274552" y="6473952"/>
            <a:ext cx="54864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8A93A0"/>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_149"/>
          <p:cNvSpPr txBox="1"/>
          <p:nvPr/>
        </p:nvSpPr>
        <p:spPr>
          <a:xfrm>
            <a:off x="548640" y="365760"/>
            <a:ext cx="11064240" cy="640080"/>
          </a:xfrm>
          <a:prstGeom prst="rect">
            <a:avLst/>
          </a:prstGeom>
          <a:noFill/>
          <a:ln/>
        </p:spPr>
        <p:txBody>
          <a:bodyPr wrap="square" lIns="635" tIns="635" rIns="635" bIns="635" rtlCol="0" anchor="b"/>
          <a:lstStyle/>
          <a:p>
            <a:pPr algn="l" indent="0" marL="0">
              <a:lnSpc>
                <a:spcPct val="100000"/>
              </a:lnSpc>
              <a:buNone/>
            </a:pPr>
            <a:r>
              <a:rPr lang="en-US" sz="2800" b="1" dirty="0">
                <a:solidFill>
                  <a:srgbClr val="1B2A41"/>
                </a:solidFill>
                <a:latin typeface="Georgia" pitchFamily="34" charset="0"/>
                <a:ea typeface="Georgia" pitchFamily="34" charset="-122"/>
                <a:cs typeface="Georgia" pitchFamily="34" charset="-120"/>
              </a:rPr>
              <a:t>Describe the science, not the plot</a:t>
            </a:r>
            <a:endParaRPr lang="en-US" sz="2800" dirty="0"/>
          </a:p>
        </p:txBody>
      </p:sp>
      <p:sp>
        <p:nvSpPr>
          <p:cNvPr id="3" name="text_150"/>
          <p:cNvSpPr txBox="1"/>
          <p:nvPr/>
        </p:nvSpPr>
        <p:spPr>
          <a:xfrm>
            <a:off x="548640" y="1188720"/>
            <a:ext cx="11064240" cy="411480"/>
          </a:xfrm>
          <a:prstGeom prst="rect">
            <a:avLst/>
          </a:prstGeom>
          <a:noFill/>
          <a:ln/>
        </p:spPr>
        <p:txBody>
          <a:bodyPr wrap="square" lIns="635" tIns="635" rIns="635" bIns="635" rtlCol="0" anchor="t"/>
          <a:lstStyle/>
          <a:p>
            <a:pPr algn="l" indent="0" marL="0">
              <a:lnSpc>
                <a:spcPct val="100000"/>
              </a:lnSpc>
              <a:buNone/>
            </a:pPr>
            <a:r>
              <a:rPr lang="en-US" sz="1500" i="1" dirty="0">
                <a:solidFill>
                  <a:srgbClr val="5B6573"/>
                </a:solidFill>
                <a:latin typeface="Calibri" pitchFamily="34" charset="0"/>
                <a:ea typeface="Calibri" pitchFamily="34" charset="-122"/>
                <a:cs typeface="Calibri" pitchFamily="34" charset="-120"/>
              </a:rPr>
              <a:t>Schultz's example: “Figure 5 shows plots of surface temperature… showing that…”  →  “The elimination of sea ice… resulted in warmer arctic temperatures (Fig. 5).”</a:t>
            </a:r>
            <a:endParaRPr lang="en-US" sz="1500" dirty="0"/>
          </a:p>
        </p:txBody>
      </p:sp>
      <p:sp>
        <p:nvSpPr>
          <p:cNvPr id="4" name="card_151"/>
          <p:cNvSpPr/>
          <p:nvPr/>
        </p:nvSpPr>
        <p:spPr>
          <a:xfrm>
            <a:off x="548640" y="1691640"/>
            <a:ext cx="5440680" cy="2377440"/>
          </a:xfrm>
          <a:prstGeom prst="roundRect">
            <a:avLst>
              <a:gd name="adj" fmla="val 3077"/>
            </a:avLst>
          </a:prstGeom>
          <a:solidFill>
            <a:srgbClr val="F5E0DA"/>
          </a:solidFill>
          <a:ln w="9525">
            <a:solidFill>
              <a:srgbClr val="F5E0DA"/>
            </a:solidFill>
            <a:prstDash val="solid"/>
          </a:ln>
        </p:spPr>
      </p:sp>
      <p:sp>
        <p:nvSpPr>
          <p:cNvPr id="5" name="tag_152"/>
          <p:cNvSpPr/>
          <p:nvPr/>
        </p:nvSpPr>
        <p:spPr>
          <a:xfrm>
            <a:off x="713232" y="1819656"/>
            <a:ext cx="457200" cy="256032"/>
          </a:xfrm>
          <a:prstGeom prst="roundRect">
            <a:avLst>
              <a:gd name="adj" fmla="val 21429"/>
            </a:avLst>
          </a:prstGeom>
          <a:solidFill>
            <a:srgbClr val="B04A35"/>
          </a:solidFill>
          <a:ln w="12700">
            <a:solidFill>
              <a:srgbClr val="B04A35"/>
            </a:solidFill>
            <a:prstDash val="solid"/>
          </a:ln>
        </p:spPr>
      </p:sp>
      <p:sp>
        <p:nvSpPr>
          <p:cNvPr id="6" name="text_153"/>
          <p:cNvSpPr txBox="1"/>
          <p:nvPr/>
        </p:nvSpPr>
        <p:spPr>
          <a:xfrm>
            <a:off x="713232" y="1819656"/>
            <a:ext cx="457200" cy="256032"/>
          </a:xfrm>
          <a:prstGeom prst="rect">
            <a:avLst/>
          </a:prstGeom>
          <a:noFill/>
          <a:ln/>
        </p:spPr>
        <p:txBody>
          <a:bodyPr wrap="square" lIns="0" tIns="0" rIns="0" bIns="0" rtlCol="0" anchor="ctr"/>
          <a:lstStyle/>
          <a:p>
            <a:pPr algn="ctr" indent="0" marL="0">
              <a:lnSpc>
                <a:spcPct val="100000"/>
              </a:lnSpc>
              <a:buNone/>
            </a:pPr>
            <a:r>
              <a:rPr lang="en-US" sz="1050" b="1" dirty="0">
                <a:solidFill>
                  <a:srgbClr val="FFFFFF"/>
                </a:solidFill>
                <a:latin typeface="Calibri" pitchFamily="34" charset="0"/>
                <a:ea typeface="Calibri" pitchFamily="34" charset="-122"/>
                <a:cs typeface="Calibri" pitchFamily="34" charset="-120"/>
              </a:rPr>
              <a:t>WEAK</a:t>
            </a:r>
            <a:endParaRPr lang="en-US" sz="1050" dirty="0"/>
          </a:p>
        </p:txBody>
      </p:sp>
      <p:sp>
        <p:nvSpPr>
          <p:cNvPr id="7" name="text_154"/>
          <p:cNvSpPr txBox="1"/>
          <p:nvPr/>
        </p:nvSpPr>
        <p:spPr>
          <a:xfrm>
            <a:off x="713232" y="2167128"/>
            <a:ext cx="5111496" cy="1810512"/>
          </a:xfrm>
          <a:prstGeom prst="rect">
            <a:avLst/>
          </a:prstGeom>
          <a:noFill/>
          <a:ln/>
        </p:spPr>
        <p:txBody>
          <a:bodyPr wrap="square" lIns="635" tIns="635" rIns="635" bIns="635" rtlCol="0" anchor="t"/>
          <a:lstStyle/>
          <a:p>
            <a:pPr algn="l" indent="0" marL="0">
              <a:lnSpc>
                <a:spcPct val="100000"/>
              </a:lnSpc>
              <a:buNone/>
            </a:pPr>
            <a:r>
              <a:rPr lang="en-US" sz="1500" i="1" dirty="0">
                <a:solidFill>
                  <a:srgbClr val="222B36"/>
                </a:solidFill>
                <a:latin typeface="Georgia" pitchFamily="34" charset="0"/>
                <a:ea typeface="Georgia" pitchFamily="34" charset="-122"/>
                <a:cs typeface="Georgia" pitchFamily="34" charset="-120"/>
              </a:rPr>
              <a:t>“Figure 3 shows the time series of low-cloud anomaly and ONI. It can be seen from Figure 3 that there is a relationship between them.”</a:t>
            </a:r>
            <a:endParaRPr lang="en-US" sz="1500" dirty="0"/>
          </a:p>
        </p:txBody>
      </p:sp>
      <p:sp>
        <p:nvSpPr>
          <p:cNvPr id="8" name="card_155"/>
          <p:cNvSpPr/>
          <p:nvPr/>
        </p:nvSpPr>
        <p:spPr>
          <a:xfrm>
            <a:off x="6199632" y="1691640"/>
            <a:ext cx="5440680" cy="2377440"/>
          </a:xfrm>
          <a:prstGeom prst="roundRect">
            <a:avLst>
              <a:gd name="adj" fmla="val 3077"/>
            </a:avLst>
          </a:prstGeom>
          <a:solidFill>
            <a:srgbClr val="DCEFEA"/>
          </a:solidFill>
          <a:ln w="9525">
            <a:solidFill>
              <a:srgbClr val="DCEFEA"/>
            </a:solidFill>
            <a:prstDash val="solid"/>
          </a:ln>
        </p:spPr>
      </p:sp>
      <p:sp>
        <p:nvSpPr>
          <p:cNvPr id="9" name="tag_156"/>
          <p:cNvSpPr/>
          <p:nvPr/>
        </p:nvSpPr>
        <p:spPr>
          <a:xfrm>
            <a:off x="6364224" y="1819656"/>
            <a:ext cx="612648" cy="256032"/>
          </a:xfrm>
          <a:prstGeom prst="roundRect">
            <a:avLst>
              <a:gd name="adj" fmla="val 21429"/>
            </a:avLst>
          </a:prstGeom>
          <a:solidFill>
            <a:srgbClr val="1F7A6E"/>
          </a:solidFill>
          <a:ln w="12700">
            <a:solidFill>
              <a:srgbClr val="1F7A6E"/>
            </a:solidFill>
            <a:prstDash val="solid"/>
          </a:ln>
        </p:spPr>
      </p:sp>
      <p:sp>
        <p:nvSpPr>
          <p:cNvPr id="10" name="text_157"/>
          <p:cNvSpPr txBox="1"/>
          <p:nvPr/>
        </p:nvSpPr>
        <p:spPr>
          <a:xfrm>
            <a:off x="6364224" y="1819656"/>
            <a:ext cx="612648" cy="256032"/>
          </a:xfrm>
          <a:prstGeom prst="rect">
            <a:avLst/>
          </a:prstGeom>
          <a:noFill/>
          <a:ln/>
        </p:spPr>
        <p:txBody>
          <a:bodyPr wrap="square" lIns="0" tIns="0" rIns="0" bIns="0" rtlCol="0" anchor="ctr"/>
          <a:lstStyle/>
          <a:p>
            <a:pPr algn="ctr" indent="0" marL="0">
              <a:lnSpc>
                <a:spcPct val="100000"/>
              </a:lnSpc>
              <a:buNone/>
            </a:pPr>
            <a:r>
              <a:rPr lang="en-US" sz="1050" b="1" dirty="0">
                <a:solidFill>
                  <a:srgbClr val="FFFFFF"/>
                </a:solidFill>
                <a:latin typeface="Calibri" pitchFamily="34" charset="0"/>
                <a:ea typeface="Calibri" pitchFamily="34" charset="-122"/>
                <a:cs typeface="Calibri" pitchFamily="34" charset="-120"/>
              </a:rPr>
              <a:t>STRONG</a:t>
            </a:r>
            <a:endParaRPr lang="en-US" sz="1050" dirty="0"/>
          </a:p>
        </p:txBody>
      </p:sp>
      <p:sp>
        <p:nvSpPr>
          <p:cNvPr id="11" name="text_158"/>
          <p:cNvSpPr txBox="1"/>
          <p:nvPr/>
        </p:nvSpPr>
        <p:spPr>
          <a:xfrm>
            <a:off x="6364224" y="2167128"/>
            <a:ext cx="5111496" cy="1810512"/>
          </a:xfrm>
          <a:prstGeom prst="rect">
            <a:avLst/>
          </a:prstGeom>
          <a:noFill/>
          <a:ln/>
        </p:spPr>
        <p:txBody>
          <a:bodyPr wrap="square" lIns="635" tIns="635" rIns="635" bIns="635" rtlCol="0" anchor="t"/>
          <a:lstStyle/>
          <a:p>
            <a:pPr algn="l" indent="0" marL="0">
              <a:lnSpc>
                <a:spcPct val="100000"/>
              </a:lnSpc>
              <a:buNone/>
            </a:pPr>
            <a:r>
              <a:rPr lang="en-US" sz="1500" i="1" dirty="0">
                <a:solidFill>
                  <a:srgbClr val="222B36"/>
                </a:solidFill>
                <a:latin typeface="Georgia" pitchFamily="34" charset="0"/>
                <a:ea typeface="Georgia" pitchFamily="34" charset="-122"/>
                <a:cs typeface="Georgia" pitchFamily="34" charset="-120"/>
              </a:rPr>
              <a:t>“High-cloud cover over CP is higher than usual during El Niño and lower during La Niña (Fig. 3); the largest positive anomaly, [ ] percentage points, coincides with the 2015–16 El Niño.” (illustrative)</a:t>
            </a:r>
            <a:endParaRPr lang="en-US" sz="1500" dirty="0"/>
          </a:p>
        </p:txBody>
      </p:sp>
      <p:sp>
        <p:nvSpPr>
          <p:cNvPr id="12" name="text_159"/>
          <p:cNvSpPr txBox="1"/>
          <p:nvPr/>
        </p:nvSpPr>
        <p:spPr>
          <a:xfrm>
            <a:off x="548640" y="4251960"/>
            <a:ext cx="2743200" cy="274320"/>
          </a:xfrm>
          <a:prstGeom prst="rect">
            <a:avLst/>
          </a:prstGeom>
          <a:noFill/>
          <a:ln/>
        </p:spPr>
        <p:txBody>
          <a:bodyPr wrap="square" lIns="635" tIns="635" rIns="635" bIns="635" rtlCol="0" anchor="t"/>
          <a:lstStyle/>
          <a:p>
            <a:pPr algn="l" indent="0" marL="0">
              <a:lnSpc>
                <a:spcPct val="100000"/>
              </a:lnSpc>
              <a:buNone/>
            </a:pPr>
            <a:r>
              <a:rPr lang="en-US" sz="1100" b="1" dirty="0">
                <a:solidFill>
                  <a:srgbClr val="D98E1F"/>
                </a:solidFill>
                <a:latin typeface="Calibri" pitchFamily="34" charset="0"/>
                <a:ea typeface="Calibri" pitchFamily="34" charset="-122"/>
                <a:cs typeface="Calibri" pitchFamily="34" charset="-120"/>
              </a:rPr>
              <a:t>WHAT CHANGED</a:t>
            </a:r>
            <a:endParaRPr lang="en-US" sz="1100" dirty="0"/>
          </a:p>
        </p:txBody>
      </p:sp>
      <p:sp>
        <p:nvSpPr>
          <p:cNvPr id="13" name="changed_160"/>
          <p:cNvSpPr txBox="1"/>
          <p:nvPr/>
        </p:nvSpPr>
        <p:spPr>
          <a:xfrm>
            <a:off x="548640" y="4526280"/>
            <a:ext cx="11064240" cy="1828800"/>
          </a:xfrm>
          <a:prstGeom prst="rect">
            <a:avLst/>
          </a:prstGeom>
          <a:noFill/>
          <a:ln/>
        </p:spPr>
        <p:txBody>
          <a:bodyPr wrap="square" lIns="635" tIns="635" rIns="635" bIns="635" rtlCol="0" anchor="t"/>
          <a:lstStyle/>
          <a:p>
            <a:pPr marL="342900" indent="-342900">
              <a:spcAft>
                <a:spcPts val="300"/>
              </a:spcAft>
              <a:buSzPct val="100000"/>
              <a:buChar char="■"/>
            </a:pPr>
            <a:r>
              <a:rPr lang="en-US" sz="1450" dirty="0">
                <a:solidFill>
                  <a:srgbClr val="222B36"/>
                </a:solidFill>
                <a:latin typeface="Calibri" pitchFamily="34" charset="0"/>
                <a:ea typeface="Calibri" pitchFamily="34" charset="-122"/>
                <a:cs typeface="Calibri" pitchFamily="34" charset="-120"/>
              </a:rPr>
              <a:t>The </a:t>
            </a:r>
            <a:r>
              <a:rPr lang="en-US" sz="1450" b="1" dirty="0">
                <a:solidFill>
                  <a:srgbClr val="222B36"/>
                </a:solidFill>
                <a:latin typeface="Calibri" pitchFamily="34" charset="0"/>
                <a:ea typeface="Calibri" pitchFamily="34" charset="-122"/>
                <a:cs typeface="Calibri" pitchFamily="34" charset="-120"/>
              </a:rPr>
              <a:t>science</a:t>
            </a:r>
            <a:r>
              <a:rPr lang="en-US" sz="1450" dirty="0">
                <a:solidFill>
                  <a:srgbClr val="222B36"/>
                </a:solidFill>
                <a:latin typeface="Calibri" pitchFamily="34" charset="0"/>
                <a:ea typeface="Calibri" pitchFamily="34" charset="-122"/>
                <a:cs typeface="Calibri" pitchFamily="34" charset="-120"/>
              </a:rPr>
              <a:t> is the subject of the sentence; the figure is cited </a:t>
            </a:r>
            <a:r>
              <a:rPr lang="en-US" sz="1450" b="1" dirty="0">
                <a:solidFill>
                  <a:srgbClr val="222B36"/>
                </a:solidFill>
                <a:latin typeface="Calibri" pitchFamily="34" charset="0"/>
                <a:ea typeface="Calibri" pitchFamily="34" charset="-122"/>
                <a:cs typeface="Calibri" pitchFamily="34" charset="-120"/>
              </a:rPr>
              <a:t>indirectly</a:t>
            </a:r>
            <a:r>
              <a:rPr lang="en-US" sz="1450" dirty="0">
                <a:solidFill>
                  <a:srgbClr val="222B36"/>
                </a:solidFill>
                <a:latin typeface="Calibri" pitchFamily="34" charset="0"/>
                <a:ea typeface="Calibri" pitchFamily="34" charset="-122"/>
                <a:cs typeface="Calibri" pitchFamily="34" charset="-120"/>
              </a:rPr>
              <a:t>, in brackets, at the end.</a:t>
            </a:r>
            <a:endParaRPr lang="en-US" sz="1450" dirty="0"/>
          </a:p>
          <a:p>
            <a:pPr marL="342900" indent="-342900">
              <a:spcAft>
                <a:spcPts val="300"/>
              </a:spcAft>
              <a:buSzPct val="100000"/>
              <a:buChar char="■"/>
            </a:pPr>
            <a:r>
              <a:rPr lang="en-US" sz="1450" dirty="0">
                <a:solidFill>
                  <a:srgbClr val="222B36"/>
                </a:solidFill>
                <a:latin typeface="Calibri" pitchFamily="34" charset="0"/>
                <a:ea typeface="Calibri" pitchFamily="34" charset="-122"/>
                <a:cs typeface="Calibri" pitchFamily="34" charset="-120"/>
              </a:rPr>
              <a:t>Note the </a:t>
            </a:r>
            <a:r>
              <a:rPr lang="en-US" sz="1450" b="1" dirty="0">
                <a:solidFill>
                  <a:srgbClr val="222B36"/>
                </a:solidFill>
                <a:latin typeface="Calibri" pitchFamily="34" charset="0"/>
                <a:ea typeface="Calibri" pitchFamily="34" charset="-122"/>
                <a:cs typeface="Calibri" pitchFamily="34" charset="-120"/>
              </a:rPr>
              <a:t>obvious first</a:t>
            </a:r>
            <a:r>
              <a:rPr lang="en-US" sz="1450" dirty="0">
                <a:solidFill>
                  <a:srgbClr val="222B36"/>
                </a:solidFill>
                <a:latin typeface="Calibri" pitchFamily="34" charset="0"/>
                <a:ea typeface="Calibri" pitchFamily="34" charset="-122"/>
                <a:cs typeface="Calibri" pitchFamily="34" charset="-120"/>
              </a:rPr>
              <a:t>, then the finer point or exception (Schultz §11.11). Don't explain how to read the plot: the caption does that.</a:t>
            </a:r>
            <a:endParaRPr lang="en-US" sz="1450" dirty="0"/>
          </a:p>
          <a:p>
            <a:pPr marL="342900" indent="-342900">
              <a:spcAft>
                <a:spcPts val="300"/>
              </a:spcAft>
              <a:buSzPct val="100000"/>
              <a:buChar char="■"/>
            </a:pPr>
            <a:r>
              <a:rPr lang="en-US" sz="1450" dirty="0">
                <a:solidFill>
                  <a:srgbClr val="222B36"/>
                </a:solidFill>
                <a:latin typeface="Calibri" pitchFamily="34" charset="0"/>
                <a:ea typeface="Calibri" pitchFamily="34" charset="-122"/>
                <a:cs typeface="Calibri" pitchFamily="34" charset="-120"/>
              </a:rPr>
              <a:t>Every figure is cited in the text, </a:t>
            </a:r>
            <a:r>
              <a:rPr lang="en-US" sz="1450" b="1" dirty="0">
                <a:solidFill>
                  <a:srgbClr val="222B36"/>
                </a:solidFill>
                <a:latin typeface="Calibri" pitchFamily="34" charset="0"/>
                <a:ea typeface="Calibri" pitchFamily="34" charset="-122"/>
                <a:cs typeface="Calibri" pitchFamily="34" charset="-120"/>
              </a:rPr>
              <a:t>in numerical order</a:t>
            </a:r>
            <a:r>
              <a:rPr lang="en-US" sz="1450" dirty="0">
                <a:solidFill>
                  <a:srgbClr val="222B36"/>
                </a:solidFill>
                <a:latin typeface="Calibri" pitchFamily="34" charset="0"/>
                <a:ea typeface="Calibri" pitchFamily="34" charset="-122"/>
                <a:cs typeface="Calibri" pitchFamily="34" charset="-120"/>
              </a:rPr>
              <a:t>. The text should make sense even without the figures.</a:t>
            </a:r>
            <a:endParaRPr lang="en-US" sz="1450" dirty="0"/>
          </a:p>
        </p:txBody>
      </p:sp>
      <p:sp>
        <p:nvSpPr>
          <p:cNvPr id="14" name="text_161"/>
          <p:cNvSpPr txBox="1"/>
          <p:nvPr/>
        </p:nvSpPr>
        <p:spPr>
          <a:xfrm>
            <a:off x="548640" y="6446520"/>
            <a:ext cx="10424160" cy="256032"/>
          </a:xfrm>
          <a:prstGeom prst="rect">
            <a:avLst/>
          </a:prstGeom>
          <a:noFill/>
          <a:ln/>
        </p:spPr>
        <p:txBody>
          <a:bodyPr wrap="square" lIns="635" tIns="635" rIns="635" bIns="635" rtlCol="0" anchor="t"/>
          <a:lstStyle/>
          <a:p>
            <a:pPr algn="l" indent="0" marL="0">
              <a:lnSpc>
                <a:spcPct val="100000"/>
              </a:lnSpc>
              <a:buNone/>
            </a:pPr>
            <a:r>
              <a:rPr lang="en-US" sz="900" i="1" dirty="0">
                <a:solidFill>
                  <a:srgbClr val="8A93A0"/>
                </a:solidFill>
                <a:latin typeface="Calibri" pitchFamily="34" charset="0"/>
                <a:ea typeface="Calibri" pitchFamily="34" charset="-122"/>
                <a:cs typeface="Calibri" pitchFamily="34" charset="-120"/>
              </a:rPr>
              <a:t>Source: Schultz, D. M. (2009) Eloquent Science, American Meteorological Society, §10.1 (Fig. 5 example), §11.11, §11.13–11.14.</a:t>
            </a:r>
            <a:endParaRPr lang="en-US" sz="900" dirty="0"/>
          </a:p>
        </p:txBody>
      </p:sp>
      <p:sp>
        <p:nvSpPr>
          <p:cNvPr id="25" name="Slide Number Placeholder 0"/>
          <p:cNvSpPr>
            <a:spLocks noGrp="1"/>
          </p:cNvSpPr>
          <p:nvPr>
            <p:ph type="sldNum" sz="quarter" idx="4294967295"/>
          </p:nvPr>
        </p:nvSpPr>
        <p:spPr>
          <a:xfrm>
            <a:off x="11274552" y="6473952"/>
            <a:ext cx="54864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8A93A0"/>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agl_162"/>
          <p:cNvSpPr/>
          <p:nvPr/>
        </p:nvSpPr>
        <p:spPr>
          <a:xfrm>
            <a:off x="548640" y="329184"/>
            <a:ext cx="804672" cy="237744"/>
          </a:xfrm>
          <a:prstGeom prst="roundRect">
            <a:avLst>
              <a:gd name="adj" fmla="val 19231"/>
            </a:avLst>
          </a:prstGeom>
          <a:solidFill>
            <a:srgbClr val="1F7A6E"/>
          </a:solidFill>
          <a:ln w="12700">
            <a:solidFill>
              <a:srgbClr val="1F7A6E"/>
            </a:solidFill>
            <a:prstDash val="solid"/>
          </a:ln>
        </p:spPr>
      </p:sp>
      <p:sp>
        <p:nvSpPr>
          <p:cNvPr id="3" name="text_163"/>
          <p:cNvSpPr txBox="1"/>
          <p:nvPr/>
        </p:nvSpPr>
        <p:spPr>
          <a:xfrm>
            <a:off x="548640" y="329184"/>
            <a:ext cx="804672" cy="237744"/>
          </a:xfrm>
          <a:prstGeom prst="rect">
            <a:avLst/>
          </a:prstGeom>
          <a:noFill/>
          <a:ln/>
        </p:spPr>
        <p:txBody>
          <a:bodyPr wrap="square" lIns="0" tIns="0" rIns="0" bIns="0" rtlCol="0" anchor="ctr"/>
          <a:lstStyle/>
          <a:p>
            <a:pPr algn="ctr" indent="0" marL="0">
              <a:lnSpc>
                <a:spcPct val="100000"/>
              </a:lnSpc>
              <a:buNone/>
            </a:pPr>
            <a:r>
              <a:rPr lang="en-US" sz="1000" b="1" dirty="0">
                <a:solidFill>
                  <a:srgbClr val="FFFFFF"/>
                </a:solidFill>
                <a:latin typeface="Calibri" pitchFamily="34" charset="0"/>
                <a:ea typeface="Calibri" pitchFamily="34" charset="-122"/>
                <a:cs typeface="Calibri" pitchFamily="34" charset="-120"/>
              </a:rPr>
              <a:t>METHODS</a:t>
            </a:r>
            <a:endParaRPr lang="en-US" sz="1000" dirty="0"/>
          </a:p>
        </p:txBody>
      </p:sp>
      <p:sp>
        <p:nvSpPr>
          <p:cNvPr id="4" name="text_164"/>
          <p:cNvSpPr txBox="1"/>
          <p:nvPr/>
        </p:nvSpPr>
        <p:spPr>
          <a:xfrm>
            <a:off x="548640" y="365760"/>
            <a:ext cx="11064240" cy="640080"/>
          </a:xfrm>
          <a:prstGeom prst="rect">
            <a:avLst/>
          </a:prstGeom>
          <a:noFill/>
          <a:ln/>
        </p:spPr>
        <p:txBody>
          <a:bodyPr wrap="square" lIns="635" tIns="635" rIns="635" bIns="635" rtlCol="0" anchor="b"/>
          <a:lstStyle/>
          <a:p>
            <a:pPr algn="l" indent="0" marL="0">
              <a:lnSpc>
                <a:spcPct val="100000"/>
              </a:lnSpc>
              <a:buNone/>
            </a:pPr>
            <a:r>
              <a:rPr lang="en-US" sz="2800" b="1" dirty="0">
                <a:solidFill>
                  <a:srgbClr val="1B2A41"/>
                </a:solidFill>
                <a:latin typeface="Georgia" pitchFamily="34" charset="0"/>
                <a:ea typeface="Georgia" pitchFamily="34" charset="-122"/>
                <a:cs typeface="Georgia" pitchFamily="34" charset="-120"/>
              </a:rPr>
              <a:t>Honest colour scales</a:t>
            </a:r>
            <a:endParaRPr lang="en-US" sz="2800" dirty="0"/>
          </a:p>
        </p:txBody>
      </p:sp>
      <p:sp>
        <p:nvSpPr>
          <p:cNvPr id="5" name="mbul_165"/>
          <p:cNvSpPr txBox="1"/>
          <p:nvPr/>
        </p:nvSpPr>
        <p:spPr>
          <a:xfrm>
            <a:off x="548640" y="1280160"/>
            <a:ext cx="6035040" cy="5029200"/>
          </a:xfrm>
          <a:prstGeom prst="rect">
            <a:avLst/>
          </a:prstGeom>
          <a:noFill/>
          <a:ln/>
        </p:spPr>
        <p:txBody>
          <a:bodyPr wrap="square" lIns="635" tIns="635" rIns="635" bIns="635" rtlCol="0" anchor="t"/>
          <a:lstStyle/>
          <a:p>
            <a:pPr marL="342900" indent="-342900">
              <a:spcAft>
                <a:spcPts val="700"/>
              </a:spcAft>
              <a:buSzPct val="100000"/>
              <a:buChar char="■"/>
            </a:pPr>
            <a:r>
              <a:rPr lang="en-US" sz="1550" b="1" dirty="0">
                <a:solidFill>
                  <a:srgbClr val="1B2A41"/>
                </a:solidFill>
                <a:latin typeface="Calibri" pitchFamily="34" charset="0"/>
                <a:ea typeface="Calibri" pitchFamily="34" charset="-122"/>
                <a:cs typeface="Calibri" pitchFamily="34" charset="-120"/>
              </a:rPr>
              <a:t>Anomalies, differences and correlations: </a:t>
            </a:r>
            <a:r>
              <a:rPr lang="en-US" sz="1550" dirty="0">
                <a:solidFill>
                  <a:srgbClr val="222B36"/>
                </a:solidFill>
                <a:latin typeface="Calibri" pitchFamily="34" charset="0"/>
                <a:ea typeface="Calibri" pitchFamily="34" charset="-122"/>
                <a:cs typeface="Calibri" pitchFamily="34" charset="-120"/>
              </a:rPr>
              <a:t>use a </a:t>
            </a:r>
            <a:r>
              <a:rPr lang="en-US" sz="1550" b="1" dirty="0">
                <a:solidFill>
                  <a:srgbClr val="222B36"/>
                </a:solidFill>
                <a:latin typeface="Calibri" pitchFamily="34" charset="0"/>
                <a:ea typeface="Calibri" pitchFamily="34" charset="-122"/>
                <a:cs typeface="Calibri" pitchFamily="34" charset="-120"/>
              </a:rPr>
              <a:t>diverging</a:t>
            </a:r>
            <a:r>
              <a:rPr lang="en-US" sz="1550" dirty="0">
                <a:solidFill>
                  <a:srgbClr val="222B36"/>
                </a:solidFill>
                <a:latin typeface="Calibri" pitchFamily="34" charset="0"/>
                <a:ea typeface="Calibri" pitchFamily="34" charset="-122"/>
                <a:cs typeface="Calibri" pitchFamily="34" charset="-120"/>
              </a:rPr>
              <a:t> colour map (blue–white–red) </a:t>
            </a:r>
            <a:r>
              <a:rPr lang="en-US" sz="1550" b="1" dirty="0">
                <a:solidFill>
                  <a:srgbClr val="222B36"/>
                </a:solidFill>
                <a:latin typeface="Calibri" pitchFamily="34" charset="0"/>
                <a:ea typeface="Calibri" pitchFamily="34" charset="-122"/>
                <a:cs typeface="Calibri" pitchFamily="34" charset="-120"/>
              </a:rPr>
              <a:t>centred on zero</a:t>
            </a:r>
            <a:r>
              <a:rPr lang="en-US" sz="1550" dirty="0">
                <a:solidFill>
                  <a:srgbClr val="222B36"/>
                </a:solidFill>
                <a:latin typeface="Calibri" pitchFamily="34" charset="0"/>
                <a:ea typeface="Calibri" pitchFamily="34" charset="-122"/>
                <a:cs typeface="Calibri" pitchFamily="34" charset="-120"/>
              </a:rPr>
              <a:t>, with symmetric limits (e.g. −0.8 to +0.8).</a:t>
            </a:r>
            <a:endParaRPr lang="en-US" sz="1550" dirty="0"/>
          </a:p>
          <a:p>
            <a:pPr marL="342900" indent="-342900">
              <a:spcAft>
                <a:spcPts val="700"/>
              </a:spcAft>
              <a:buSzPct val="100000"/>
              <a:buChar char="■"/>
            </a:pPr>
            <a:r>
              <a:rPr lang="en-US" sz="1550" dirty="0">
                <a:solidFill>
                  <a:srgbClr val="222B36"/>
                </a:solidFill>
                <a:latin typeface="Calibri" pitchFamily="34" charset="0"/>
                <a:ea typeface="Calibri" pitchFamily="34" charset="-122"/>
                <a:cs typeface="Calibri" pitchFamily="34" charset="-120"/>
              </a:rPr>
              <a:t>Panels you compare must share the </a:t>
            </a:r>
            <a:r>
              <a:rPr lang="en-US" sz="1550" b="1" dirty="0">
                <a:solidFill>
                  <a:srgbClr val="222B36"/>
                </a:solidFill>
                <a:latin typeface="Calibri" pitchFamily="34" charset="0"/>
                <a:ea typeface="Calibri" pitchFamily="34" charset="-122"/>
                <a:cs typeface="Calibri" pitchFamily="34" charset="-120"/>
              </a:rPr>
              <a:t>same</a:t>
            </a:r>
            <a:r>
              <a:rPr lang="en-US" sz="1550" dirty="0">
                <a:solidFill>
                  <a:srgbClr val="222B36"/>
                </a:solidFill>
                <a:latin typeface="Calibri" pitchFamily="34" charset="0"/>
                <a:ea typeface="Calibri" pitchFamily="34" charset="-122"/>
                <a:cs typeface="Calibri" pitchFamily="34" charset="-120"/>
              </a:rPr>
              <a:t> limits, or the eye compares colours that mean different things.</a:t>
            </a:r>
            <a:endParaRPr lang="en-US" sz="1550" dirty="0"/>
          </a:p>
          <a:p>
            <a:pPr marL="342900" indent="-342900">
              <a:spcAft>
                <a:spcPts val="700"/>
              </a:spcAft>
              <a:buSzPct val="100000"/>
              <a:buChar char="■"/>
            </a:pPr>
            <a:r>
              <a:rPr lang="en-US" sz="1550" dirty="0">
                <a:solidFill>
                  <a:srgbClr val="222B36"/>
                </a:solidFill>
                <a:latin typeface="Calibri" pitchFamily="34" charset="0"/>
                <a:ea typeface="Calibri" pitchFamily="34" charset="-122"/>
                <a:cs typeface="Calibri" pitchFamily="34" charset="-120"/>
              </a:rPr>
              <a:t>Avoid rainbow (‘jet’) maps: they invent sharp boundaries and fail for colour-blind readers.</a:t>
            </a:r>
            <a:endParaRPr lang="en-US" sz="1550" dirty="0"/>
          </a:p>
          <a:p>
            <a:pPr marL="342900" indent="-342900">
              <a:spcAft>
                <a:spcPts val="700"/>
              </a:spcAft>
              <a:buSzPct val="100000"/>
              <a:buChar char="■"/>
            </a:pPr>
            <a:r>
              <a:rPr lang="en-US" sz="1550" dirty="0">
                <a:solidFill>
                  <a:srgbClr val="222B36"/>
                </a:solidFill>
                <a:latin typeface="Calibri" pitchFamily="34" charset="0"/>
                <a:ea typeface="Calibri" pitchFamily="34" charset="-122"/>
                <a:cs typeface="Calibri" pitchFamily="34" charset="-120"/>
              </a:rPr>
              <a:t>Label the colour bar with the </a:t>
            </a:r>
            <a:r>
              <a:rPr lang="en-US" sz="1550" b="1" dirty="0">
                <a:solidFill>
                  <a:srgbClr val="222B36"/>
                </a:solidFill>
                <a:latin typeface="Calibri" pitchFamily="34" charset="0"/>
                <a:ea typeface="Calibri" pitchFamily="34" charset="-122"/>
                <a:cs typeface="Calibri" pitchFamily="34" charset="-120"/>
              </a:rPr>
              <a:t>variable and units</a:t>
            </a:r>
            <a:r>
              <a:rPr lang="en-US" sz="1550" dirty="0">
                <a:solidFill>
                  <a:srgbClr val="222B36"/>
                </a:solidFill>
                <a:latin typeface="Calibri" pitchFamily="34" charset="0"/>
                <a:ea typeface="Calibri" pitchFamily="34" charset="-122"/>
                <a:cs typeface="Calibri" pitchFamily="34" charset="-120"/>
              </a:rPr>
              <a:t>.</a:t>
            </a:r>
            <a:endParaRPr lang="en-US" sz="1550" dirty="0"/>
          </a:p>
        </p:txBody>
      </p:sp>
      <p:sp>
        <p:nvSpPr>
          <p:cNvPr id="6" name="text_166"/>
          <p:cNvSpPr txBox="1"/>
          <p:nvPr/>
        </p:nvSpPr>
        <p:spPr>
          <a:xfrm>
            <a:off x="6858000" y="1463040"/>
            <a:ext cx="4785055" cy="274320"/>
          </a:xfrm>
          <a:prstGeom prst="rect">
            <a:avLst/>
          </a:prstGeom>
          <a:noFill/>
          <a:ln/>
        </p:spPr>
        <p:txBody>
          <a:bodyPr wrap="square" lIns="635" tIns="635" rIns="635" bIns="635" rtlCol="0" anchor="t"/>
          <a:lstStyle/>
          <a:p>
            <a:pPr algn="l" indent="0" marL="0">
              <a:lnSpc>
                <a:spcPct val="100000"/>
              </a:lnSpc>
              <a:buNone/>
            </a:pPr>
            <a:r>
              <a:rPr lang="en-US" sz="1200" b="1" dirty="0">
                <a:solidFill>
                  <a:srgbClr val="1F7A6E"/>
                </a:solidFill>
                <a:latin typeface="Calibri" pitchFamily="34" charset="0"/>
                <a:ea typeface="Calibri" pitchFamily="34" charset="-122"/>
                <a:cs typeface="Calibri" pitchFamily="34" charset="-120"/>
              </a:rPr>
              <a:t>✓  DIVERGING, CENTRED ON ZERO</a:t>
            </a:r>
            <a:endParaRPr lang="en-US" sz="1200" dirty="0"/>
          </a:p>
        </p:txBody>
      </p:sp>
      <p:sp>
        <p:nvSpPr>
          <p:cNvPr id="7" name="d_167"/>
          <p:cNvSpPr/>
          <p:nvPr/>
        </p:nvSpPr>
        <p:spPr>
          <a:xfrm>
            <a:off x="6858000" y="1783080"/>
            <a:ext cx="683579" cy="502920"/>
          </a:xfrm>
          <a:prstGeom prst="rect">
            <a:avLst/>
          </a:prstGeom>
          <a:solidFill>
            <a:srgbClr val="2E6DA4"/>
          </a:solidFill>
          <a:ln w="12700">
            <a:solidFill>
              <a:srgbClr val="2E6DA4"/>
            </a:solidFill>
            <a:prstDash val="solid"/>
          </a:ln>
        </p:spPr>
      </p:sp>
      <p:sp>
        <p:nvSpPr>
          <p:cNvPr id="8" name="d_168"/>
          <p:cNvSpPr/>
          <p:nvPr/>
        </p:nvSpPr>
        <p:spPr>
          <a:xfrm>
            <a:off x="7541579" y="1783080"/>
            <a:ext cx="683579" cy="502920"/>
          </a:xfrm>
          <a:prstGeom prst="rect">
            <a:avLst/>
          </a:prstGeom>
          <a:solidFill>
            <a:srgbClr val="6C9ACB"/>
          </a:solidFill>
          <a:ln w="12700">
            <a:solidFill>
              <a:srgbClr val="6C9ACB"/>
            </a:solidFill>
            <a:prstDash val="solid"/>
          </a:ln>
        </p:spPr>
      </p:sp>
      <p:sp>
        <p:nvSpPr>
          <p:cNvPr id="9" name="d_169"/>
          <p:cNvSpPr/>
          <p:nvPr/>
        </p:nvSpPr>
        <p:spPr>
          <a:xfrm>
            <a:off x="8225159" y="1783080"/>
            <a:ext cx="683579" cy="502920"/>
          </a:xfrm>
          <a:prstGeom prst="rect">
            <a:avLst/>
          </a:prstGeom>
          <a:solidFill>
            <a:srgbClr val="AFC8E3"/>
          </a:solidFill>
          <a:ln w="12700">
            <a:solidFill>
              <a:srgbClr val="AFC8E3"/>
            </a:solidFill>
            <a:prstDash val="solid"/>
          </a:ln>
        </p:spPr>
      </p:sp>
      <p:sp>
        <p:nvSpPr>
          <p:cNvPr id="10" name="d_170"/>
          <p:cNvSpPr/>
          <p:nvPr/>
        </p:nvSpPr>
        <p:spPr>
          <a:xfrm>
            <a:off x="8908738" y="1783080"/>
            <a:ext cx="683579" cy="502920"/>
          </a:xfrm>
          <a:prstGeom prst="rect">
            <a:avLst/>
          </a:prstGeom>
          <a:solidFill>
            <a:srgbClr val="F7F7F7"/>
          </a:solidFill>
          <a:ln w="12700">
            <a:solidFill>
              <a:srgbClr val="F7F7F7"/>
            </a:solidFill>
            <a:prstDash val="solid"/>
          </a:ln>
        </p:spPr>
      </p:sp>
      <p:sp>
        <p:nvSpPr>
          <p:cNvPr id="11" name="d_171"/>
          <p:cNvSpPr/>
          <p:nvPr/>
        </p:nvSpPr>
        <p:spPr>
          <a:xfrm>
            <a:off x="9592317" y="1783080"/>
            <a:ext cx="683579" cy="502920"/>
          </a:xfrm>
          <a:prstGeom prst="rect">
            <a:avLst/>
          </a:prstGeom>
          <a:solidFill>
            <a:srgbClr val="F2B8AE"/>
          </a:solidFill>
          <a:ln w="12700">
            <a:solidFill>
              <a:srgbClr val="F2B8AE"/>
            </a:solidFill>
            <a:prstDash val="solid"/>
          </a:ln>
        </p:spPr>
      </p:sp>
      <p:sp>
        <p:nvSpPr>
          <p:cNvPr id="12" name="d_172"/>
          <p:cNvSpPr/>
          <p:nvPr/>
        </p:nvSpPr>
        <p:spPr>
          <a:xfrm>
            <a:off x="10275897" y="1783080"/>
            <a:ext cx="683579" cy="502920"/>
          </a:xfrm>
          <a:prstGeom prst="rect">
            <a:avLst/>
          </a:prstGeom>
          <a:solidFill>
            <a:srgbClr val="D9705F"/>
          </a:solidFill>
          <a:ln w="12700">
            <a:solidFill>
              <a:srgbClr val="D9705F"/>
            </a:solidFill>
            <a:prstDash val="solid"/>
          </a:ln>
        </p:spPr>
      </p:sp>
      <p:sp>
        <p:nvSpPr>
          <p:cNvPr id="13" name="d_173"/>
          <p:cNvSpPr/>
          <p:nvPr/>
        </p:nvSpPr>
        <p:spPr>
          <a:xfrm>
            <a:off x="10959476" y="1783080"/>
            <a:ext cx="683579" cy="502920"/>
          </a:xfrm>
          <a:prstGeom prst="rect">
            <a:avLst/>
          </a:prstGeom>
          <a:solidFill>
            <a:srgbClr val="B04A35"/>
          </a:solidFill>
          <a:ln w="12700">
            <a:solidFill>
              <a:srgbClr val="B04A35"/>
            </a:solidFill>
            <a:prstDash val="solid"/>
          </a:ln>
        </p:spPr>
      </p:sp>
      <p:sp>
        <p:nvSpPr>
          <p:cNvPr id="14" name="text_174"/>
          <p:cNvSpPr txBox="1"/>
          <p:nvPr/>
        </p:nvSpPr>
        <p:spPr>
          <a:xfrm>
            <a:off x="6858000" y="2304288"/>
            <a:ext cx="731520" cy="274320"/>
          </a:xfrm>
          <a:prstGeom prst="rect">
            <a:avLst/>
          </a:prstGeom>
          <a:noFill/>
          <a:ln/>
        </p:spPr>
        <p:txBody>
          <a:bodyPr wrap="square" lIns="635" tIns="635" rIns="635" bIns="635" rtlCol="0" anchor="t"/>
          <a:lstStyle/>
          <a:p>
            <a:pPr algn="l" indent="0" marL="0">
              <a:lnSpc>
                <a:spcPct val="100000"/>
              </a:lnSpc>
              <a:buNone/>
            </a:pPr>
            <a:r>
              <a:rPr lang="en-US" sz="1100" dirty="0">
                <a:solidFill>
                  <a:srgbClr val="5B6573"/>
                </a:solidFill>
                <a:latin typeface="Calibri" pitchFamily="34" charset="0"/>
                <a:ea typeface="Calibri" pitchFamily="34" charset="-122"/>
                <a:cs typeface="Calibri" pitchFamily="34" charset="-120"/>
              </a:rPr>
              <a:t>−0.8</a:t>
            </a:r>
            <a:endParaRPr lang="en-US" sz="1100" dirty="0"/>
          </a:p>
        </p:txBody>
      </p:sp>
      <p:sp>
        <p:nvSpPr>
          <p:cNvPr id="15" name="text_175"/>
          <p:cNvSpPr txBox="1"/>
          <p:nvPr/>
        </p:nvSpPr>
        <p:spPr>
          <a:xfrm>
            <a:off x="9067648" y="2304288"/>
            <a:ext cx="365760" cy="274320"/>
          </a:xfrm>
          <a:prstGeom prst="rect">
            <a:avLst/>
          </a:prstGeom>
          <a:noFill/>
          <a:ln/>
        </p:spPr>
        <p:txBody>
          <a:bodyPr wrap="square" lIns="635" tIns="635" rIns="635" bIns="635" rtlCol="0" anchor="t"/>
          <a:lstStyle/>
          <a:p>
            <a:pPr algn="ctr" indent="0" marL="0">
              <a:lnSpc>
                <a:spcPct val="100000"/>
              </a:lnSpc>
              <a:buNone/>
            </a:pPr>
            <a:r>
              <a:rPr lang="en-US" sz="1100" dirty="0">
                <a:solidFill>
                  <a:srgbClr val="5B6573"/>
                </a:solidFill>
                <a:latin typeface="Calibri" pitchFamily="34" charset="0"/>
                <a:ea typeface="Calibri" pitchFamily="34" charset="-122"/>
                <a:cs typeface="Calibri" pitchFamily="34" charset="-120"/>
              </a:rPr>
              <a:t>0</a:t>
            </a:r>
            <a:endParaRPr lang="en-US" sz="1100" dirty="0"/>
          </a:p>
        </p:txBody>
      </p:sp>
      <p:sp>
        <p:nvSpPr>
          <p:cNvPr id="16" name="text_176"/>
          <p:cNvSpPr txBox="1"/>
          <p:nvPr/>
        </p:nvSpPr>
        <p:spPr>
          <a:xfrm>
            <a:off x="10911535" y="2304288"/>
            <a:ext cx="731520" cy="274320"/>
          </a:xfrm>
          <a:prstGeom prst="rect">
            <a:avLst/>
          </a:prstGeom>
          <a:noFill/>
          <a:ln/>
        </p:spPr>
        <p:txBody>
          <a:bodyPr wrap="square" lIns="635" tIns="635" rIns="635" bIns="635" rtlCol="0" anchor="t"/>
          <a:lstStyle/>
          <a:p>
            <a:pPr algn="r" indent="0" marL="0">
              <a:lnSpc>
                <a:spcPct val="100000"/>
              </a:lnSpc>
              <a:buNone/>
            </a:pPr>
            <a:r>
              <a:rPr lang="en-US" sz="1100" dirty="0">
                <a:solidFill>
                  <a:srgbClr val="5B6573"/>
                </a:solidFill>
                <a:latin typeface="Calibri" pitchFamily="34" charset="0"/>
                <a:ea typeface="Calibri" pitchFamily="34" charset="-122"/>
                <a:cs typeface="Calibri" pitchFamily="34" charset="-120"/>
              </a:rPr>
              <a:t>+0.8</a:t>
            </a:r>
            <a:endParaRPr lang="en-US" sz="1100" dirty="0"/>
          </a:p>
        </p:txBody>
      </p:sp>
      <p:sp>
        <p:nvSpPr>
          <p:cNvPr id="17" name="text_177"/>
          <p:cNvSpPr txBox="1"/>
          <p:nvPr/>
        </p:nvSpPr>
        <p:spPr>
          <a:xfrm>
            <a:off x="6858000" y="2926080"/>
            <a:ext cx="4785055" cy="274320"/>
          </a:xfrm>
          <a:prstGeom prst="rect">
            <a:avLst/>
          </a:prstGeom>
          <a:noFill/>
          <a:ln/>
        </p:spPr>
        <p:txBody>
          <a:bodyPr wrap="square" lIns="635" tIns="635" rIns="635" bIns="635" rtlCol="0" anchor="t"/>
          <a:lstStyle/>
          <a:p>
            <a:pPr algn="l" indent="0" marL="0">
              <a:lnSpc>
                <a:spcPct val="100000"/>
              </a:lnSpc>
              <a:buNone/>
            </a:pPr>
            <a:r>
              <a:rPr lang="en-US" sz="1200" b="1" dirty="0">
                <a:solidFill>
                  <a:srgbClr val="B04A35"/>
                </a:solidFill>
                <a:latin typeface="Calibri" pitchFamily="34" charset="0"/>
                <a:ea typeface="Calibri" pitchFamily="34" charset="-122"/>
                <a:cs typeface="Calibri" pitchFamily="34" charset="-120"/>
              </a:rPr>
              <a:t>✗  RAINBOW: FALSE BOUNDARIES</a:t>
            </a:r>
            <a:endParaRPr lang="en-US" sz="1200" dirty="0"/>
          </a:p>
        </p:txBody>
      </p:sp>
      <p:sp>
        <p:nvSpPr>
          <p:cNvPr id="18" name="j_178"/>
          <p:cNvSpPr/>
          <p:nvPr/>
        </p:nvSpPr>
        <p:spPr>
          <a:xfrm>
            <a:off x="6858000" y="3246120"/>
            <a:ext cx="531673" cy="502920"/>
          </a:xfrm>
          <a:prstGeom prst="rect">
            <a:avLst/>
          </a:prstGeom>
          <a:solidFill>
            <a:srgbClr val="00007F"/>
          </a:solidFill>
          <a:ln w="12700">
            <a:solidFill>
              <a:srgbClr val="00007F"/>
            </a:solidFill>
            <a:prstDash val="solid"/>
          </a:ln>
        </p:spPr>
      </p:sp>
      <p:sp>
        <p:nvSpPr>
          <p:cNvPr id="19" name="j_179"/>
          <p:cNvSpPr/>
          <p:nvPr/>
        </p:nvSpPr>
        <p:spPr>
          <a:xfrm>
            <a:off x="7389673" y="3246120"/>
            <a:ext cx="531673" cy="502920"/>
          </a:xfrm>
          <a:prstGeom prst="rect">
            <a:avLst/>
          </a:prstGeom>
          <a:solidFill>
            <a:srgbClr val="0000FF"/>
          </a:solidFill>
          <a:ln w="12700">
            <a:solidFill>
              <a:srgbClr val="0000FF"/>
            </a:solidFill>
            <a:prstDash val="solid"/>
          </a:ln>
        </p:spPr>
      </p:sp>
      <p:sp>
        <p:nvSpPr>
          <p:cNvPr id="20" name="j_180"/>
          <p:cNvSpPr/>
          <p:nvPr/>
        </p:nvSpPr>
        <p:spPr>
          <a:xfrm>
            <a:off x="7921346" y="3246120"/>
            <a:ext cx="531673" cy="502920"/>
          </a:xfrm>
          <a:prstGeom prst="rect">
            <a:avLst/>
          </a:prstGeom>
          <a:solidFill>
            <a:srgbClr val="007FFF"/>
          </a:solidFill>
          <a:ln w="12700">
            <a:solidFill>
              <a:srgbClr val="007FFF"/>
            </a:solidFill>
            <a:prstDash val="solid"/>
          </a:ln>
        </p:spPr>
      </p:sp>
      <p:sp>
        <p:nvSpPr>
          <p:cNvPr id="21" name="j_181"/>
          <p:cNvSpPr/>
          <p:nvPr/>
        </p:nvSpPr>
        <p:spPr>
          <a:xfrm>
            <a:off x="8453018" y="3246120"/>
            <a:ext cx="531673" cy="502920"/>
          </a:xfrm>
          <a:prstGeom prst="rect">
            <a:avLst/>
          </a:prstGeom>
          <a:solidFill>
            <a:srgbClr val="00FFFF"/>
          </a:solidFill>
          <a:ln w="12700">
            <a:solidFill>
              <a:srgbClr val="00FFFF"/>
            </a:solidFill>
            <a:prstDash val="solid"/>
          </a:ln>
        </p:spPr>
      </p:sp>
      <p:sp>
        <p:nvSpPr>
          <p:cNvPr id="22" name="j_182"/>
          <p:cNvSpPr/>
          <p:nvPr/>
        </p:nvSpPr>
        <p:spPr>
          <a:xfrm>
            <a:off x="8984691" y="3246120"/>
            <a:ext cx="531673" cy="502920"/>
          </a:xfrm>
          <a:prstGeom prst="rect">
            <a:avLst/>
          </a:prstGeom>
          <a:solidFill>
            <a:srgbClr val="7FFF7F"/>
          </a:solidFill>
          <a:ln w="12700">
            <a:solidFill>
              <a:srgbClr val="7FFF7F"/>
            </a:solidFill>
            <a:prstDash val="solid"/>
          </a:ln>
        </p:spPr>
      </p:sp>
      <p:sp>
        <p:nvSpPr>
          <p:cNvPr id="23" name="j_183"/>
          <p:cNvSpPr/>
          <p:nvPr/>
        </p:nvSpPr>
        <p:spPr>
          <a:xfrm>
            <a:off x="9516364" y="3246120"/>
            <a:ext cx="531673" cy="502920"/>
          </a:xfrm>
          <a:prstGeom prst="rect">
            <a:avLst/>
          </a:prstGeom>
          <a:solidFill>
            <a:srgbClr val="FFFF00"/>
          </a:solidFill>
          <a:ln w="12700">
            <a:solidFill>
              <a:srgbClr val="FFFF00"/>
            </a:solidFill>
            <a:prstDash val="solid"/>
          </a:ln>
        </p:spPr>
      </p:sp>
      <p:sp>
        <p:nvSpPr>
          <p:cNvPr id="24" name="j_184"/>
          <p:cNvSpPr/>
          <p:nvPr/>
        </p:nvSpPr>
        <p:spPr>
          <a:xfrm>
            <a:off x="10048037" y="3246120"/>
            <a:ext cx="531673" cy="502920"/>
          </a:xfrm>
          <a:prstGeom prst="rect">
            <a:avLst/>
          </a:prstGeom>
          <a:solidFill>
            <a:srgbClr val="FF7F00"/>
          </a:solidFill>
          <a:ln w="12700">
            <a:solidFill>
              <a:srgbClr val="FF7F00"/>
            </a:solidFill>
            <a:prstDash val="solid"/>
          </a:ln>
        </p:spPr>
      </p:sp>
      <p:sp>
        <p:nvSpPr>
          <p:cNvPr id="25" name="j_185"/>
          <p:cNvSpPr/>
          <p:nvPr/>
        </p:nvSpPr>
        <p:spPr>
          <a:xfrm>
            <a:off x="10579710" y="3246120"/>
            <a:ext cx="531673" cy="502920"/>
          </a:xfrm>
          <a:prstGeom prst="rect">
            <a:avLst/>
          </a:prstGeom>
          <a:solidFill>
            <a:srgbClr val="FF0000"/>
          </a:solidFill>
          <a:ln w="12700">
            <a:solidFill>
              <a:srgbClr val="FF0000"/>
            </a:solidFill>
            <a:prstDash val="solid"/>
          </a:ln>
        </p:spPr>
      </p:sp>
      <p:sp>
        <p:nvSpPr>
          <p:cNvPr id="26" name="j_186"/>
          <p:cNvSpPr/>
          <p:nvPr/>
        </p:nvSpPr>
        <p:spPr>
          <a:xfrm>
            <a:off x="11111382" y="3246120"/>
            <a:ext cx="531673" cy="502920"/>
          </a:xfrm>
          <a:prstGeom prst="rect">
            <a:avLst/>
          </a:prstGeom>
          <a:solidFill>
            <a:srgbClr val="7F0000"/>
          </a:solidFill>
          <a:ln w="12700">
            <a:solidFill>
              <a:srgbClr val="7F0000"/>
            </a:solidFill>
            <a:prstDash val="solid"/>
          </a:ln>
        </p:spPr>
      </p:sp>
      <p:sp>
        <p:nvSpPr>
          <p:cNvPr id="27" name="text_187"/>
          <p:cNvSpPr txBox="1"/>
          <p:nvPr/>
        </p:nvSpPr>
        <p:spPr>
          <a:xfrm>
            <a:off x="6858000" y="4206240"/>
            <a:ext cx="4785055" cy="274320"/>
          </a:xfrm>
          <a:prstGeom prst="rect">
            <a:avLst/>
          </a:prstGeom>
          <a:noFill/>
          <a:ln/>
        </p:spPr>
        <p:txBody>
          <a:bodyPr wrap="square" lIns="635" tIns="635" rIns="635" bIns="635" rtlCol="0" anchor="t"/>
          <a:lstStyle/>
          <a:p>
            <a:pPr algn="l" indent="0" marL="0">
              <a:lnSpc>
                <a:spcPct val="100000"/>
              </a:lnSpc>
              <a:buNone/>
            </a:pPr>
            <a:r>
              <a:rPr lang="en-US" sz="1200" b="1" dirty="0">
                <a:solidFill>
                  <a:srgbClr val="B04A35"/>
                </a:solidFill>
                <a:latin typeface="Calibri" pitchFamily="34" charset="0"/>
                <a:ea typeface="Calibri" pitchFamily="34" charset="-122"/>
                <a:cs typeface="Calibri" pitchFamily="34" charset="-120"/>
              </a:rPr>
              <a:t>✗  NOT CENTRED: zero looks ‘positive’</a:t>
            </a:r>
            <a:endParaRPr lang="en-US" sz="1200" dirty="0"/>
          </a:p>
        </p:txBody>
      </p:sp>
      <p:sp>
        <p:nvSpPr>
          <p:cNvPr id="28" name="o_188"/>
          <p:cNvSpPr/>
          <p:nvPr/>
        </p:nvSpPr>
        <p:spPr>
          <a:xfrm>
            <a:off x="6858000" y="4526280"/>
            <a:ext cx="683579" cy="502920"/>
          </a:xfrm>
          <a:prstGeom prst="rect">
            <a:avLst/>
          </a:prstGeom>
          <a:solidFill>
            <a:srgbClr val="AFC8E3"/>
          </a:solidFill>
          <a:ln w="12700">
            <a:solidFill>
              <a:srgbClr val="AFC8E3"/>
            </a:solidFill>
            <a:prstDash val="solid"/>
          </a:ln>
        </p:spPr>
      </p:sp>
      <p:sp>
        <p:nvSpPr>
          <p:cNvPr id="29" name="o_189"/>
          <p:cNvSpPr/>
          <p:nvPr/>
        </p:nvSpPr>
        <p:spPr>
          <a:xfrm>
            <a:off x="7541579" y="4526280"/>
            <a:ext cx="683579" cy="502920"/>
          </a:xfrm>
          <a:prstGeom prst="rect">
            <a:avLst/>
          </a:prstGeom>
          <a:solidFill>
            <a:srgbClr val="F7F7F7"/>
          </a:solidFill>
          <a:ln w="12700">
            <a:solidFill>
              <a:srgbClr val="F7F7F7"/>
            </a:solidFill>
            <a:prstDash val="solid"/>
          </a:ln>
        </p:spPr>
      </p:sp>
      <p:sp>
        <p:nvSpPr>
          <p:cNvPr id="30" name="o_190"/>
          <p:cNvSpPr/>
          <p:nvPr/>
        </p:nvSpPr>
        <p:spPr>
          <a:xfrm>
            <a:off x="8225159" y="4526280"/>
            <a:ext cx="683579" cy="502920"/>
          </a:xfrm>
          <a:prstGeom prst="rect">
            <a:avLst/>
          </a:prstGeom>
          <a:solidFill>
            <a:srgbClr val="F2B8AE"/>
          </a:solidFill>
          <a:ln w="12700">
            <a:solidFill>
              <a:srgbClr val="F2B8AE"/>
            </a:solidFill>
            <a:prstDash val="solid"/>
          </a:ln>
        </p:spPr>
      </p:sp>
      <p:sp>
        <p:nvSpPr>
          <p:cNvPr id="31" name="o_191"/>
          <p:cNvSpPr/>
          <p:nvPr/>
        </p:nvSpPr>
        <p:spPr>
          <a:xfrm>
            <a:off x="8908738" y="4526280"/>
            <a:ext cx="683579" cy="502920"/>
          </a:xfrm>
          <a:prstGeom prst="rect">
            <a:avLst/>
          </a:prstGeom>
          <a:solidFill>
            <a:srgbClr val="E89585"/>
          </a:solidFill>
          <a:ln w="12700">
            <a:solidFill>
              <a:srgbClr val="E89585"/>
            </a:solidFill>
            <a:prstDash val="solid"/>
          </a:ln>
        </p:spPr>
      </p:sp>
      <p:sp>
        <p:nvSpPr>
          <p:cNvPr id="32" name="o_192"/>
          <p:cNvSpPr/>
          <p:nvPr/>
        </p:nvSpPr>
        <p:spPr>
          <a:xfrm>
            <a:off x="9592317" y="4526280"/>
            <a:ext cx="683579" cy="502920"/>
          </a:xfrm>
          <a:prstGeom prst="rect">
            <a:avLst/>
          </a:prstGeom>
          <a:solidFill>
            <a:srgbClr val="D9705F"/>
          </a:solidFill>
          <a:ln w="12700">
            <a:solidFill>
              <a:srgbClr val="D9705F"/>
            </a:solidFill>
            <a:prstDash val="solid"/>
          </a:ln>
        </p:spPr>
      </p:sp>
      <p:sp>
        <p:nvSpPr>
          <p:cNvPr id="33" name="o_193"/>
          <p:cNvSpPr/>
          <p:nvPr/>
        </p:nvSpPr>
        <p:spPr>
          <a:xfrm>
            <a:off x="10275897" y="4526280"/>
            <a:ext cx="683579" cy="502920"/>
          </a:xfrm>
          <a:prstGeom prst="rect">
            <a:avLst/>
          </a:prstGeom>
          <a:solidFill>
            <a:srgbClr val="C55A47"/>
          </a:solidFill>
          <a:ln w="12700">
            <a:solidFill>
              <a:srgbClr val="C55A47"/>
            </a:solidFill>
            <a:prstDash val="solid"/>
          </a:ln>
        </p:spPr>
      </p:sp>
      <p:sp>
        <p:nvSpPr>
          <p:cNvPr id="34" name="o_194"/>
          <p:cNvSpPr/>
          <p:nvPr/>
        </p:nvSpPr>
        <p:spPr>
          <a:xfrm>
            <a:off x="10959476" y="4526280"/>
            <a:ext cx="683579" cy="502920"/>
          </a:xfrm>
          <a:prstGeom prst="rect">
            <a:avLst/>
          </a:prstGeom>
          <a:solidFill>
            <a:srgbClr val="B04A35"/>
          </a:solidFill>
          <a:ln w="12700">
            <a:solidFill>
              <a:srgbClr val="B04A35"/>
            </a:solidFill>
            <a:prstDash val="solid"/>
          </a:ln>
        </p:spPr>
      </p:sp>
      <p:sp>
        <p:nvSpPr>
          <p:cNvPr id="35" name="text_195"/>
          <p:cNvSpPr txBox="1"/>
          <p:nvPr/>
        </p:nvSpPr>
        <p:spPr>
          <a:xfrm>
            <a:off x="6858000" y="5047488"/>
            <a:ext cx="731520" cy="274320"/>
          </a:xfrm>
          <a:prstGeom prst="rect">
            <a:avLst/>
          </a:prstGeom>
          <a:noFill/>
          <a:ln/>
        </p:spPr>
        <p:txBody>
          <a:bodyPr wrap="square" lIns="635" tIns="635" rIns="635" bIns="635" rtlCol="0" anchor="t"/>
          <a:lstStyle/>
          <a:p>
            <a:pPr algn="l" indent="0" marL="0">
              <a:lnSpc>
                <a:spcPct val="100000"/>
              </a:lnSpc>
              <a:buNone/>
            </a:pPr>
            <a:r>
              <a:rPr lang="en-US" sz="1100" dirty="0">
                <a:solidFill>
                  <a:srgbClr val="5B6573"/>
                </a:solidFill>
                <a:latin typeface="Calibri" pitchFamily="34" charset="0"/>
                <a:ea typeface="Calibri" pitchFamily="34" charset="-122"/>
                <a:cs typeface="Calibri" pitchFamily="34" charset="-120"/>
              </a:rPr>
              <a:t>−0.2</a:t>
            </a:r>
            <a:endParaRPr lang="en-US" sz="1100" dirty="0"/>
          </a:p>
        </p:txBody>
      </p:sp>
      <p:sp>
        <p:nvSpPr>
          <p:cNvPr id="36" name="text_196"/>
          <p:cNvSpPr txBox="1"/>
          <p:nvPr/>
        </p:nvSpPr>
        <p:spPr>
          <a:xfrm>
            <a:off x="10911535" y="5047488"/>
            <a:ext cx="731520" cy="274320"/>
          </a:xfrm>
          <a:prstGeom prst="rect">
            <a:avLst/>
          </a:prstGeom>
          <a:noFill/>
          <a:ln/>
        </p:spPr>
        <p:txBody>
          <a:bodyPr wrap="square" lIns="635" tIns="635" rIns="635" bIns="635" rtlCol="0" anchor="t"/>
          <a:lstStyle/>
          <a:p>
            <a:pPr algn="r" indent="0" marL="0">
              <a:lnSpc>
                <a:spcPct val="100000"/>
              </a:lnSpc>
              <a:buNone/>
            </a:pPr>
            <a:r>
              <a:rPr lang="en-US" sz="1100" dirty="0">
                <a:solidFill>
                  <a:srgbClr val="5B6573"/>
                </a:solidFill>
                <a:latin typeface="Calibri" pitchFamily="34" charset="0"/>
                <a:ea typeface="Calibri" pitchFamily="34" charset="-122"/>
                <a:cs typeface="Calibri" pitchFamily="34" charset="-120"/>
              </a:rPr>
              <a:t>+0.8</a:t>
            </a:r>
            <a:endParaRPr lang="en-US" sz="1100" dirty="0"/>
          </a:p>
        </p:txBody>
      </p:sp>
      <p:sp>
        <p:nvSpPr>
          <p:cNvPr id="25" name="Slide Number Placeholder 0"/>
          <p:cNvSpPr>
            <a:spLocks noGrp="1"/>
          </p:cNvSpPr>
          <p:nvPr>
            <p:ph type="sldNum" sz="quarter" idx="4294967295"/>
          </p:nvPr>
        </p:nvSpPr>
        <p:spPr>
          <a:xfrm>
            <a:off x="11274552" y="6473952"/>
            <a:ext cx="54864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8A93A0"/>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actband_197"/>
          <p:cNvSpPr/>
          <p:nvPr/>
        </p:nvSpPr>
        <p:spPr>
          <a:xfrm>
            <a:off x="0" y="237744"/>
            <a:ext cx="12191695" cy="914400"/>
          </a:xfrm>
          <a:prstGeom prst="rect">
            <a:avLst/>
          </a:prstGeom>
          <a:solidFill>
            <a:srgbClr val="FBEBD0"/>
          </a:solidFill>
          <a:ln w="12700">
            <a:solidFill>
              <a:srgbClr val="FBEBD0"/>
            </a:solidFill>
            <a:prstDash val="solid"/>
          </a:ln>
        </p:spPr>
      </p:sp>
      <p:sp>
        <p:nvSpPr>
          <p:cNvPr id="3" name="text_198"/>
          <p:cNvSpPr txBox="1"/>
          <p:nvPr/>
        </p:nvSpPr>
        <p:spPr>
          <a:xfrm>
            <a:off x="548640" y="329184"/>
            <a:ext cx="5486400" cy="274320"/>
          </a:xfrm>
          <a:prstGeom prst="rect">
            <a:avLst/>
          </a:prstGeom>
          <a:noFill/>
          <a:ln/>
        </p:spPr>
        <p:txBody>
          <a:bodyPr wrap="square" lIns="635" tIns="635" rIns="635" bIns="635" rtlCol="0" anchor="t"/>
          <a:lstStyle/>
          <a:p>
            <a:pPr algn="l" indent="0" marL="0">
              <a:lnSpc>
                <a:spcPct val="100000"/>
              </a:lnSpc>
              <a:buNone/>
            </a:pPr>
            <a:r>
              <a:rPr lang="en-US" sz="1100" b="1" dirty="0">
                <a:solidFill>
                  <a:srgbClr val="D98E1F"/>
                </a:solidFill>
                <a:latin typeface="Calibri" pitchFamily="34" charset="0"/>
                <a:ea typeface="Calibri" pitchFamily="34" charset="-122"/>
                <a:cs typeface="Calibri" pitchFamily="34" charset="-120"/>
              </a:rPr>
              <a:t>IN-CLASS ACTIVITY  ·  10 MIN</a:t>
            </a:r>
            <a:endParaRPr lang="en-US" sz="1100" dirty="0"/>
          </a:p>
        </p:txBody>
      </p:sp>
      <p:sp>
        <p:nvSpPr>
          <p:cNvPr id="4" name="text_199"/>
          <p:cNvSpPr txBox="1"/>
          <p:nvPr/>
        </p:nvSpPr>
        <p:spPr>
          <a:xfrm>
            <a:off x="548640" y="548640"/>
            <a:ext cx="11064240" cy="548640"/>
          </a:xfrm>
          <a:prstGeom prst="rect">
            <a:avLst/>
          </a:prstGeom>
          <a:noFill/>
          <a:ln/>
        </p:spPr>
        <p:txBody>
          <a:bodyPr wrap="square" lIns="635" tIns="635" rIns="635" bIns="635" rtlCol="0" anchor="t"/>
          <a:lstStyle/>
          <a:p>
            <a:pPr algn="l" indent="0" marL="0">
              <a:lnSpc>
                <a:spcPct val="100000"/>
              </a:lnSpc>
              <a:buNone/>
            </a:pPr>
            <a:r>
              <a:rPr lang="en-US" sz="2600" b="1" dirty="0">
                <a:solidFill>
                  <a:srgbClr val="1B2A41"/>
                </a:solidFill>
                <a:latin typeface="Georgia" pitchFamily="34" charset="0"/>
                <a:ea typeface="Georgia" pitchFamily="34" charset="-122"/>
                <a:cs typeface="Georgia" pitchFamily="34" charset="-120"/>
              </a:rPr>
              <a:t>Caption clinic</a:t>
            </a:r>
            <a:endParaRPr lang="en-US" sz="2600" dirty="0"/>
          </a:p>
        </p:txBody>
      </p:sp>
      <p:sp>
        <p:nvSpPr>
          <p:cNvPr id="5" name="num_200"/>
          <p:cNvSpPr/>
          <p:nvPr/>
        </p:nvSpPr>
        <p:spPr>
          <a:xfrm>
            <a:off x="594360" y="1435608"/>
            <a:ext cx="365760" cy="365760"/>
          </a:xfrm>
          <a:prstGeom prst="ellipse">
            <a:avLst/>
          </a:prstGeom>
          <a:solidFill>
            <a:srgbClr val="D98E1F"/>
          </a:solidFill>
          <a:ln w="12700">
            <a:solidFill>
              <a:srgbClr val="D98E1F"/>
            </a:solidFill>
            <a:prstDash val="solid"/>
          </a:ln>
        </p:spPr>
      </p:sp>
      <p:sp>
        <p:nvSpPr>
          <p:cNvPr id="6" name="text_201"/>
          <p:cNvSpPr txBox="1"/>
          <p:nvPr/>
        </p:nvSpPr>
        <p:spPr>
          <a:xfrm>
            <a:off x="594360" y="1435608"/>
            <a:ext cx="365760" cy="365760"/>
          </a:xfrm>
          <a:prstGeom prst="rect">
            <a:avLst/>
          </a:prstGeom>
          <a:noFill/>
          <a:ln/>
        </p:spPr>
        <p:txBody>
          <a:bodyPr wrap="square" lIns="0" tIns="0" rIns="0" bIns="0" rtlCol="0" anchor="ctr"/>
          <a:lstStyle/>
          <a:p>
            <a:pPr algn="ctr" indent="0" marL="0">
              <a:lnSpc>
                <a:spcPct val="100000"/>
              </a:lnSpc>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7" name="text_202"/>
          <p:cNvSpPr txBox="1"/>
          <p:nvPr/>
        </p:nvSpPr>
        <p:spPr>
          <a:xfrm>
            <a:off x="1097280" y="1417320"/>
            <a:ext cx="6126480" cy="932688"/>
          </a:xfrm>
          <a:prstGeom prst="rect">
            <a:avLst/>
          </a:prstGeom>
          <a:noFill/>
          <a:ln/>
        </p:spPr>
        <p:txBody>
          <a:bodyPr wrap="square" lIns="635" tIns="635" rIns="635" bIns="635" rtlCol="0" anchor="t"/>
          <a:lstStyle/>
          <a:p>
            <a:pPr algn="l" indent="0" marL="0">
              <a:lnSpc>
                <a:spcPct val="100000"/>
              </a:lnSpc>
              <a:buNone/>
            </a:pPr>
            <a:r>
              <a:rPr lang="en-US" sz="1500" dirty="0">
                <a:solidFill>
                  <a:srgbClr val="222B36"/>
                </a:solidFill>
                <a:latin typeface="Calibri" pitchFamily="34" charset="0"/>
                <a:ea typeface="Calibri" pitchFamily="34" charset="-122"/>
                <a:cs typeface="Calibri" pitchFamily="34" charset="-120"/>
              </a:rPr>
              <a:t>Write a </a:t>
            </a:r>
            <a:r>
              <a:rPr lang="en-US" sz="1500" b="1" dirty="0">
                <a:solidFill>
                  <a:srgbClr val="222B36"/>
                </a:solidFill>
                <a:latin typeface="Calibri" pitchFamily="34" charset="0"/>
                <a:ea typeface="Calibri" pitchFamily="34" charset="-122"/>
                <a:cs typeface="Calibri" pitchFamily="34" charset="-120"/>
              </a:rPr>
              <a:t>full caption</a:t>
            </a:r>
            <a:r>
              <a:rPr lang="en-US" sz="1500" dirty="0">
                <a:solidFill>
                  <a:srgbClr val="222B36"/>
                </a:solidFill>
                <a:latin typeface="Calibri" pitchFamily="34" charset="0"/>
                <a:ea typeface="Calibri" pitchFamily="34" charset="-122"/>
                <a:cs typeface="Calibri" pitchFamily="34" charset="-120"/>
              </a:rPr>
              <a:t> for each figure: what is plotted · units · period/region · threshold/definition · data source. Begin with the </a:t>
            </a:r>
            <a:r>
              <a:rPr lang="en-US" sz="1500" b="1" dirty="0">
                <a:solidFill>
                  <a:srgbClr val="222B36"/>
                </a:solidFill>
                <a:latin typeface="Calibri" pitchFamily="34" charset="0"/>
                <a:ea typeface="Calibri" pitchFamily="34" charset="-122"/>
                <a:cs typeface="Calibri" pitchFamily="34" charset="-120"/>
              </a:rPr>
              <a:t>essence</a:t>
            </a:r>
            <a:r>
              <a:rPr lang="en-US" sz="1500" dirty="0">
                <a:solidFill>
                  <a:srgbClr val="222B36"/>
                </a:solidFill>
                <a:latin typeface="Calibri" pitchFamily="34" charset="0"/>
                <a:ea typeface="Calibri" pitchFamily="34" charset="-122"/>
                <a:cs typeface="Calibri" pitchFamily="34" charset="-120"/>
              </a:rPr>
              <a:t> phrase.</a:t>
            </a:r>
            <a:endParaRPr lang="en-US" sz="1500" dirty="0"/>
          </a:p>
        </p:txBody>
      </p:sp>
      <p:sp>
        <p:nvSpPr>
          <p:cNvPr id="8" name="num_203"/>
          <p:cNvSpPr/>
          <p:nvPr/>
        </p:nvSpPr>
        <p:spPr>
          <a:xfrm>
            <a:off x="594360" y="2496312"/>
            <a:ext cx="365760" cy="365760"/>
          </a:xfrm>
          <a:prstGeom prst="ellipse">
            <a:avLst/>
          </a:prstGeom>
          <a:solidFill>
            <a:srgbClr val="D98E1F"/>
          </a:solidFill>
          <a:ln w="12700">
            <a:solidFill>
              <a:srgbClr val="D98E1F"/>
            </a:solidFill>
            <a:prstDash val="solid"/>
          </a:ln>
        </p:spPr>
      </p:sp>
      <p:sp>
        <p:nvSpPr>
          <p:cNvPr id="9" name="text_204"/>
          <p:cNvSpPr txBox="1"/>
          <p:nvPr/>
        </p:nvSpPr>
        <p:spPr>
          <a:xfrm>
            <a:off x="594360" y="2496312"/>
            <a:ext cx="365760" cy="365760"/>
          </a:xfrm>
          <a:prstGeom prst="rect">
            <a:avLst/>
          </a:prstGeom>
          <a:noFill/>
          <a:ln/>
        </p:spPr>
        <p:txBody>
          <a:bodyPr wrap="square" lIns="0" tIns="0" rIns="0" bIns="0" rtlCol="0" anchor="ctr"/>
          <a:lstStyle/>
          <a:p>
            <a:pPr algn="ctr" indent="0" marL="0">
              <a:lnSpc>
                <a:spcPct val="100000"/>
              </a:lnSpc>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0" name="text_205"/>
          <p:cNvSpPr txBox="1"/>
          <p:nvPr/>
        </p:nvSpPr>
        <p:spPr>
          <a:xfrm>
            <a:off x="1097280" y="2478024"/>
            <a:ext cx="6126480" cy="658368"/>
          </a:xfrm>
          <a:prstGeom prst="rect">
            <a:avLst/>
          </a:prstGeom>
          <a:noFill/>
          <a:ln/>
        </p:spPr>
        <p:txBody>
          <a:bodyPr wrap="square" lIns="635" tIns="635" rIns="635" bIns="635" rtlCol="0" anchor="t"/>
          <a:lstStyle/>
          <a:p>
            <a:pPr algn="l" indent="0" marL="0">
              <a:lnSpc>
                <a:spcPct val="100000"/>
              </a:lnSpc>
              <a:buNone/>
            </a:pPr>
            <a:r>
              <a:rPr lang="en-US" sz="1500" dirty="0">
                <a:solidFill>
                  <a:srgbClr val="222B36"/>
                </a:solidFill>
                <a:latin typeface="Calibri" pitchFamily="34" charset="0"/>
                <a:ea typeface="Calibri" pitchFamily="34" charset="-122"/>
                <a:cs typeface="Calibri" pitchFamily="34" charset="-120"/>
              </a:rPr>
              <a:t>Under each caption, write the </a:t>
            </a:r>
            <a:r>
              <a:rPr lang="en-US" sz="1500" b="1" dirty="0">
                <a:solidFill>
                  <a:srgbClr val="222B36"/>
                </a:solidFill>
                <a:latin typeface="Calibri" pitchFamily="34" charset="0"/>
                <a:ea typeface="Calibri" pitchFamily="34" charset="-122"/>
                <a:cs typeface="Calibri" pitchFamily="34" charset="-120"/>
              </a:rPr>
              <a:t>one result sentence</a:t>
            </a:r>
            <a:r>
              <a:rPr lang="en-US" sz="1500" dirty="0">
                <a:solidFill>
                  <a:srgbClr val="222B36"/>
                </a:solidFill>
                <a:latin typeface="Calibri" pitchFamily="34" charset="0"/>
                <a:ea typeface="Calibri" pitchFamily="34" charset="-122"/>
                <a:cs typeface="Calibri" pitchFamily="34" charset="-120"/>
              </a:rPr>
              <a:t> that will cite it indirectly: science first, “(Fig. n)” last.</a:t>
            </a:r>
            <a:endParaRPr lang="en-US" sz="1500" dirty="0"/>
          </a:p>
        </p:txBody>
      </p:sp>
      <p:sp>
        <p:nvSpPr>
          <p:cNvPr id="11" name="num_206"/>
          <p:cNvSpPr/>
          <p:nvPr/>
        </p:nvSpPr>
        <p:spPr>
          <a:xfrm>
            <a:off x="594360" y="3282696"/>
            <a:ext cx="365760" cy="365760"/>
          </a:xfrm>
          <a:prstGeom prst="ellipse">
            <a:avLst/>
          </a:prstGeom>
          <a:solidFill>
            <a:srgbClr val="D98E1F"/>
          </a:solidFill>
          <a:ln w="12700">
            <a:solidFill>
              <a:srgbClr val="D98E1F"/>
            </a:solidFill>
            <a:prstDash val="solid"/>
          </a:ln>
        </p:spPr>
      </p:sp>
      <p:sp>
        <p:nvSpPr>
          <p:cNvPr id="12" name="text_207"/>
          <p:cNvSpPr txBox="1"/>
          <p:nvPr/>
        </p:nvSpPr>
        <p:spPr>
          <a:xfrm>
            <a:off x="594360" y="3282696"/>
            <a:ext cx="365760" cy="365760"/>
          </a:xfrm>
          <a:prstGeom prst="rect">
            <a:avLst/>
          </a:prstGeom>
          <a:noFill/>
          <a:ln/>
        </p:spPr>
        <p:txBody>
          <a:bodyPr wrap="square" lIns="0" tIns="0" rIns="0" bIns="0" rtlCol="0" anchor="ctr"/>
          <a:lstStyle/>
          <a:p>
            <a:pPr algn="ctr" indent="0" marL="0">
              <a:lnSpc>
                <a:spcPct val="100000"/>
              </a:lnSpc>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13" name="text_208"/>
          <p:cNvSpPr txBox="1"/>
          <p:nvPr/>
        </p:nvSpPr>
        <p:spPr>
          <a:xfrm>
            <a:off x="1097280" y="3264408"/>
            <a:ext cx="6126480" cy="457200"/>
          </a:xfrm>
          <a:prstGeom prst="rect">
            <a:avLst/>
          </a:prstGeom>
          <a:noFill/>
          <a:ln/>
        </p:spPr>
        <p:txBody>
          <a:bodyPr wrap="square" lIns="635" tIns="635" rIns="635" bIns="635" rtlCol="0" anchor="t"/>
          <a:lstStyle/>
          <a:p>
            <a:pPr algn="l" indent="0" marL="0">
              <a:lnSpc>
                <a:spcPct val="100000"/>
              </a:lnSpc>
              <a:buNone/>
            </a:pPr>
            <a:r>
              <a:rPr lang="en-US" sz="1500" dirty="0">
                <a:solidFill>
                  <a:srgbClr val="222B36"/>
                </a:solidFill>
                <a:latin typeface="Calibri" pitchFamily="34" charset="0"/>
                <a:ea typeface="Calibri" pitchFamily="34" charset="-122"/>
                <a:cs typeface="Calibri" pitchFamily="34" charset="-120"/>
              </a:rPr>
              <a:t>Swap </a:t>
            </a:r>
            <a:r>
              <a:rPr lang="en-US" sz="1500" b="1" dirty="0">
                <a:solidFill>
                  <a:srgbClr val="222B36"/>
                </a:solidFill>
                <a:latin typeface="Calibri" pitchFamily="34" charset="0"/>
                <a:ea typeface="Calibri" pitchFamily="34" charset="-122"/>
                <a:cs typeface="Calibri" pitchFamily="34" charset="-120"/>
              </a:rPr>
              <a:t>captions only</a:t>
            </a:r>
            <a:r>
              <a:rPr lang="en-US" sz="1500" dirty="0">
                <a:solidFill>
                  <a:srgbClr val="222B36"/>
                </a:solidFill>
                <a:latin typeface="Calibri" pitchFamily="34" charset="0"/>
                <a:ea typeface="Calibri" pitchFamily="34" charset="-122"/>
                <a:cs typeface="Calibri" pitchFamily="34" charset="-120"/>
              </a:rPr>
              <a:t> (no figures!) with a partner.</a:t>
            </a:r>
            <a:endParaRPr lang="en-US" sz="1500" dirty="0"/>
          </a:p>
        </p:txBody>
      </p:sp>
      <p:sp>
        <p:nvSpPr>
          <p:cNvPr id="14" name="num_209"/>
          <p:cNvSpPr/>
          <p:nvPr/>
        </p:nvSpPr>
        <p:spPr>
          <a:xfrm>
            <a:off x="594360" y="3867912"/>
            <a:ext cx="365760" cy="365760"/>
          </a:xfrm>
          <a:prstGeom prst="ellipse">
            <a:avLst/>
          </a:prstGeom>
          <a:solidFill>
            <a:srgbClr val="D98E1F"/>
          </a:solidFill>
          <a:ln w="12700">
            <a:solidFill>
              <a:srgbClr val="D98E1F"/>
            </a:solidFill>
            <a:prstDash val="solid"/>
          </a:ln>
        </p:spPr>
      </p:sp>
      <p:sp>
        <p:nvSpPr>
          <p:cNvPr id="15" name="text_210"/>
          <p:cNvSpPr txBox="1"/>
          <p:nvPr/>
        </p:nvSpPr>
        <p:spPr>
          <a:xfrm>
            <a:off x="594360" y="3867912"/>
            <a:ext cx="365760" cy="365760"/>
          </a:xfrm>
          <a:prstGeom prst="rect">
            <a:avLst/>
          </a:prstGeom>
          <a:noFill/>
          <a:ln/>
        </p:spPr>
        <p:txBody>
          <a:bodyPr wrap="square" lIns="0" tIns="0" rIns="0" bIns="0" rtlCol="0" anchor="ctr"/>
          <a:lstStyle/>
          <a:p>
            <a:pPr algn="ctr" indent="0" marL="0">
              <a:lnSpc>
                <a:spcPct val="100000"/>
              </a:lnSpc>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16" name="text_211"/>
          <p:cNvSpPr txBox="1"/>
          <p:nvPr/>
        </p:nvSpPr>
        <p:spPr>
          <a:xfrm>
            <a:off x="1097280" y="3849624"/>
            <a:ext cx="6126480" cy="658368"/>
          </a:xfrm>
          <a:prstGeom prst="rect">
            <a:avLst/>
          </a:prstGeom>
          <a:noFill/>
          <a:ln/>
        </p:spPr>
        <p:txBody>
          <a:bodyPr wrap="square" lIns="635" tIns="635" rIns="635" bIns="635" rtlCol="0" anchor="t"/>
          <a:lstStyle/>
          <a:p>
            <a:pPr algn="l" indent="0" marL="0">
              <a:lnSpc>
                <a:spcPct val="100000"/>
              </a:lnSpc>
              <a:buNone/>
            </a:pPr>
            <a:r>
              <a:rPr lang="en-US" sz="1500" dirty="0">
                <a:solidFill>
                  <a:srgbClr val="222B36"/>
                </a:solidFill>
                <a:latin typeface="Calibri" pitchFamily="34" charset="0"/>
                <a:ea typeface="Calibri" pitchFamily="34" charset="-122"/>
                <a:cs typeface="Calibri" pitchFamily="34" charset="-120"/>
              </a:rPr>
              <a:t>Partner </a:t>
            </a:r>
            <a:r>
              <a:rPr lang="en-US" sz="1500" b="1" dirty="0">
                <a:solidFill>
                  <a:srgbClr val="222B36"/>
                </a:solidFill>
                <a:latin typeface="Calibri" pitchFamily="34" charset="0"/>
                <a:ea typeface="Calibri" pitchFamily="34" charset="-122"/>
                <a:cs typeface="Calibri" pitchFamily="34" charset="-120"/>
              </a:rPr>
              <a:t>sketches</a:t>
            </a:r>
            <a:r>
              <a:rPr lang="en-US" sz="1500" dirty="0">
                <a:solidFill>
                  <a:srgbClr val="222B36"/>
                </a:solidFill>
                <a:latin typeface="Calibri" pitchFamily="34" charset="0"/>
                <a:ea typeface="Calibri" pitchFamily="34" charset="-122"/>
                <a:cs typeface="Calibri" pitchFamily="34" charset="-120"/>
              </a:rPr>
              <a:t> what they think each figure looks like: axes, map, colours, panels.</a:t>
            </a:r>
            <a:endParaRPr lang="en-US" sz="1500" dirty="0"/>
          </a:p>
        </p:txBody>
      </p:sp>
      <p:sp>
        <p:nvSpPr>
          <p:cNvPr id="17" name="num_212"/>
          <p:cNvSpPr/>
          <p:nvPr/>
        </p:nvSpPr>
        <p:spPr>
          <a:xfrm>
            <a:off x="594360" y="4654296"/>
            <a:ext cx="365760" cy="365760"/>
          </a:xfrm>
          <a:prstGeom prst="ellipse">
            <a:avLst/>
          </a:prstGeom>
          <a:solidFill>
            <a:srgbClr val="D98E1F"/>
          </a:solidFill>
          <a:ln w="12700">
            <a:solidFill>
              <a:srgbClr val="D98E1F"/>
            </a:solidFill>
            <a:prstDash val="solid"/>
          </a:ln>
        </p:spPr>
      </p:sp>
      <p:sp>
        <p:nvSpPr>
          <p:cNvPr id="18" name="text_213"/>
          <p:cNvSpPr txBox="1"/>
          <p:nvPr/>
        </p:nvSpPr>
        <p:spPr>
          <a:xfrm>
            <a:off x="594360" y="4654296"/>
            <a:ext cx="365760" cy="365760"/>
          </a:xfrm>
          <a:prstGeom prst="rect">
            <a:avLst/>
          </a:prstGeom>
          <a:noFill/>
          <a:ln/>
        </p:spPr>
        <p:txBody>
          <a:bodyPr wrap="square" lIns="0" tIns="0" rIns="0" bIns="0" rtlCol="0" anchor="ctr"/>
          <a:lstStyle/>
          <a:p>
            <a:pPr algn="ctr" indent="0" marL="0">
              <a:lnSpc>
                <a:spcPct val="100000"/>
              </a:lnSpc>
              <a:buNone/>
            </a:pPr>
            <a:r>
              <a:rPr lang="en-US" sz="1200" b="1" dirty="0">
                <a:solidFill>
                  <a:srgbClr val="FFFFFF"/>
                </a:solidFill>
                <a:latin typeface="Calibri" pitchFamily="34" charset="0"/>
                <a:ea typeface="Calibri" pitchFamily="34" charset="-122"/>
                <a:cs typeface="Calibri" pitchFamily="34" charset="-120"/>
              </a:rPr>
              <a:t>5</a:t>
            </a:r>
            <a:endParaRPr lang="en-US" sz="1200" dirty="0"/>
          </a:p>
        </p:txBody>
      </p:sp>
      <p:sp>
        <p:nvSpPr>
          <p:cNvPr id="19" name="text_214"/>
          <p:cNvSpPr txBox="1"/>
          <p:nvPr/>
        </p:nvSpPr>
        <p:spPr>
          <a:xfrm>
            <a:off x="1097280" y="4636008"/>
            <a:ext cx="6126480" cy="658368"/>
          </a:xfrm>
          <a:prstGeom prst="rect">
            <a:avLst/>
          </a:prstGeom>
          <a:noFill/>
          <a:ln/>
        </p:spPr>
        <p:txBody>
          <a:bodyPr wrap="square" lIns="635" tIns="635" rIns="635" bIns="635" rtlCol="0" anchor="t"/>
          <a:lstStyle/>
          <a:p>
            <a:pPr algn="l" indent="0" marL="0">
              <a:lnSpc>
                <a:spcPct val="100000"/>
              </a:lnSpc>
              <a:buNone/>
            </a:pPr>
            <a:r>
              <a:rPr lang="en-US" sz="1500" dirty="0">
                <a:solidFill>
                  <a:srgbClr val="222B36"/>
                </a:solidFill>
                <a:latin typeface="Calibri" pitchFamily="34" charset="0"/>
                <a:ea typeface="Calibri" pitchFamily="34" charset="-122"/>
                <a:cs typeface="Calibri" pitchFamily="34" charset="-120"/>
              </a:rPr>
              <a:t>Compare the sketch with the real figure. Where they differ, the caption is incomplete.</a:t>
            </a:r>
            <a:endParaRPr lang="en-US" sz="1500" dirty="0"/>
          </a:p>
        </p:txBody>
      </p:sp>
      <p:sp>
        <p:nvSpPr>
          <p:cNvPr id="20" name="card_215"/>
          <p:cNvSpPr/>
          <p:nvPr/>
        </p:nvSpPr>
        <p:spPr>
          <a:xfrm>
            <a:off x="7680960" y="1417320"/>
            <a:ext cx="3959352" cy="2331720"/>
          </a:xfrm>
          <a:prstGeom prst="roundRect">
            <a:avLst>
              <a:gd name="adj" fmla="val 3137"/>
            </a:avLst>
          </a:prstGeom>
          <a:solidFill>
            <a:srgbClr val="1B2A41"/>
          </a:solidFill>
          <a:ln w="9525">
            <a:solidFill>
              <a:srgbClr val="1B2A41"/>
            </a:solidFill>
            <a:prstDash val="solid"/>
          </a:ln>
        </p:spPr>
      </p:sp>
      <p:sp>
        <p:nvSpPr>
          <p:cNvPr id="21" name="tag_216"/>
          <p:cNvSpPr/>
          <p:nvPr/>
        </p:nvSpPr>
        <p:spPr>
          <a:xfrm>
            <a:off x="7845552" y="1545336"/>
            <a:ext cx="1234440" cy="256032"/>
          </a:xfrm>
          <a:prstGeom prst="roundRect">
            <a:avLst>
              <a:gd name="adj" fmla="val 21429"/>
            </a:avLst>
          </a:prstGeom>
          <a:solidFill>
            <a:srgbClr val="D98E1F"/>
          </a:solidFill>
          <a:ln w="12700">
            <a:solidFill>
              <a:srgbClr val="D98E1F"/>
            </a:solidFill>
            <a:prstDash val="solid"/>
          </a:ln>
        </p:spPr>
      </p:sp>
      <p:sp>
        <p:nvSpPr>
          <p:cNvPr id="22" name="text_217"/>
          <p:cNvSpPr txBox="1"/>
          <p:nvPr/>
        </p:nvSpPr>
        <p:spPr>
          <a:xfrm>
            <a:off x="7845552" y="1545336"/>
            <a:ext cx="1234440" cy="256032"/>
          </a:xfrm>
          <a:prstGeom prst="rect">
            <a:avLst/>
          </a:prstGeom>
          <a:noFill/>
          <a:ln/>
        </p:spPr>
        <p:txBody>
          <a:bodyPr wrap="square" lIns="0" tIns="0" rIns="0" bIns="0" rtlCol="0" anchor="ctr"/>
          <a:lstStyle/>
          <a:p>
            <a:pPr algn="ctr" indent="0" marL="0">
              <a:lnSpc>
                <a:spcPct val="100000"/>
              </a:lnSpc>
              <a:buNone/>
            </a:pPr>
            <a:r>
              <a:rPr lang="en-US" sz="1050" b="1" dirty="0">
                <a:solidFill>
                  <a:srgbClr val="FFFFFF"/>
                </a:solidFill>
                <a:latin typeface="Calibri" pitchFamily="34" charset="0"/>
                <a:ea typeface="Calibri" pitchFamily="34" charset="-122"/>
                <a:cs typeface="Calibri" pitchFamily="34" charset="-120"/>
              </a:rPr>
              <a:t>YOU LEAVE WITH</a:t>
            </a:r>
            <a:endParaRPr lang="en-US" sz="1050" dirty="0"/>
          </a:p>
        </p:txBody>
      </p:sp>
      <p:sp>
        <p:nvSpPr>
          <p:cNvPr id="23" name="cardbody_218"/>
          <p:cNvSpPr txBox="1"/>
          <p:nvPr/>
        </p:nvSpPr>
        <p:spPr>
          <a:xfrm>
            <a:off x="7845552" y="1892808"/>
            <a:ext cx="3630168" cy="1764792"/>
          </a:xfrm>
          <a:prstGeom prst="rect">
            <a:avLst/>
          </a:prstGeom>
          <a:noFill/>
          <a:ln/>
        </p:spPr>
        <p:txBody>
          <a:bodyPr wrap="square" lIns="381" tIns="381" rIns="381" bIns="381" rtlCol="0" anchor="t"/>
          <a:lstStyle/>
          <a:p>
            <a:pPr marL="342900" indent="-342900">
              <a:spcAft>
                <a:spcPts val="500"/>
              </a:spcAft>
              <a:buSzPct val="100000"/>
              <a:buChar char="■"/>
            </a:pPr>
            <a:r>
              <a:rPr lang="en-US" sz="1450" dirty="0">
                <a:solidFill>
                  <a:srgbClr val="FFFFFF"/>
                </a:solidFill>
                <a:latin typeface="Calibri" pitchFamily="34" charset="0"/>
                <a:ea typeface="Calibri" pitchFamily="34" charset="-122"/>
                <a:cs typeface="Calibri" pitchFamily="34" charset="-120"/>
              </a:rPr>
              <a:t>Report-ready captions for all figures (Task 5C)</a:t>
            </a:r>
            <a:endParaRPr lang="en-US" sz="1450" dirty="0"/>
          </a:p>
          <a:p>
            <a:pPr marL="342900" indent="-342900">
              <a:spcAft>
                <a:spcPts val="500"/>
              </a:spcAft>
              <a:buSzPct val="100000"/>
              <a:buChar char="■"/>
            </a:pPr>
            <a:r>
              <a:rPr lang="en-US" sz="1450" dirty="0">
                <a:solidFill>
                  <a:srgbClr val="FFFFFF"/>
                </a:solidFill>
                <a:latin typeface="Calibri" pitchFamily="34" charset="0"/>
                <a:ea typeface="Calibri" pitchFamily="34" charset="-122"/>
                <a:cs typeface="Calibri" pitchFamily="34" charset="-120"/>
              </a:rPr>
              <a:t>One result sentence per figure: the seeds of your Results</a:t>
            </a:r>
            <a:endParaRPr lang="en-US" sz="1450" dirty="0"/>
          </a:p>
        </p:txBody>
      </p:sp>
      <p:sp>
        <p:nvSpPr>
          <p:cNvPr id="24" name="card_219"/>
          <p:cNvSpPr/>
          <p:nvPr/>
        </p:nvSpPr>
        <p:spPr>
          <a:xfrm>
            <a:off x="7680960" y="3931920"/>
            <a:ext cx="3959352" cy="2377440"/>
          </a:xfrm>
          <a:prstGeom prst="roundRect">
            <a:avLst>
              <a:gd name="adj" fmla="val 3077"/>
            </a:avLst>
          </a:prstGeom>
          <a:solidFill>
            <a:srgbClr val="DCE7F2"/>
          </a:solidFill>
          <a:ln w="9525">
            <a:solidFill>
              <a:srgbClr val="DCE7F2"/>
            </a:solidFill>
            <a:prstDash val="solid"/>
          </a:ln>
        </p:spPr>
      </p:sp>
      <p:sp>
        <p:nvSpPr>
          <p:cNvPr id="25" name="tag_220"/>
          <p:cNvSpPr/>
          <p:nvPr/>
        </p:nvSpPr>
        <p:spPr>
          <a:xfrm>
            <a:off x="7845552" y="4059936"/>
            <a:ext cx="923544" cy="256032"/>
          </a:xfrm>
          <a:prstGeom prst="roundRect">
            <a:avLst>
              <a:gd name="adj" fmla="val 21429"/>
            </a:avLst>
          </a:prstGeom>
          <a:solidFill>
            <a:srgbClr val="2E4A6B"/>
          </a:solidFill>
          <a:ln w="12700">
            <a:solidFill>
              <a:srgbClr val="2E4A6B"/>
            </a:solidFill>
            <a:prstDash val="solid"/>
          </a:ln>
        </p:spPr>
      </p:sp>
      <p:sp>
        <p:nvSpPr>
          <p:cNvPr id="26" name="text_221"/>
          <p:cNvSpPr txBox="1"/>
          <p:nvPr/>
        </p:nvSpPr>
        <p:spPr>
          <a:xfrm>
            <a:off x="7845552" y="4059936"/>
            <a:ext cx="923544" cy="256032"/>
          </a:xfrm>
          <a:prstGeom prst="rect">
            <a:avLst/>
          </a:prstGeom>
          <a:noFill/>
          <a:ln/>
        </p:spPr>
        <p:txBody>
          <a:bodyPr wrap="square" lIns="0" tIns="0" rIns="0" bIns="0" rtlCol="0" anchor="ctr"/>
          <a:lstStyle/>
          <a:p>
            <a:pPr algn="ctr" indent="0" marL="0">
              <a:lnSpc>
                <a:spcPct val="100000"/>
              </a:lnSpc>
              <a:buNone/>
            </a:pPr>
            <a:r>
              <a:rPr lang="en-US" sz="1050" b="1" dirty="0">
                <a:solidFill>
                  <a:srgbClr val="FFFFFF"/>
                </a:solidFill>
                <a:latin typeface="Calibri" pitchFamily="34" charset="0"/>
                <a:ea typeface="Calibri" pitchFamily="34" charset="-122"/>
                <a:cs typeface="Calibri" pitchFamily="34" charset="-120"/>
              </a:rPr>
              <a:t>PAIR CHECK</a:t>
            </a:r>
            <a:endParaRPr lang="en-US" sz="1050" dirty="0"/>
          </a:p>
        </p:txBody>
      </p:sp>
      <p:sp>
        <p:nvSpPr>
          <p:cNvPr id="27" name="cardbody_222"/>
          <p:cNvSpPr txBox="1"/>
          <p:nvPr/>
        </p:nvSpPr>
        <p:spPr>
          <a:xfrm>
            <a:off x="7845552" y="4407408"/>
            <a:ext cx="3630168" cy="1810512"/>
          </a:xfrm>
          <a:prstGeom prst="rect">
            <a:avLst/>
          </a:prstGeom>
          <a:noFill/>
          <a:ln/>
        </p:spPr>
        <p:txBody>
          <a:bodyPr wrap="square" lIns="381" tIns="381" rIns="381" bIns="381" rtlCol="0" anchor="t"/>
          <a:lstStyle/>
          <a:p>
            <a:pPr marL="342900" indent="-342900">
              <a:spcAft>
                <a:spcPts val="500"/>
              </a:spcAft>
              <a:buSzPct val="100000"/>
              <a:buChar char="■"/>
            </a:pPr>
            <a:r>
              <a:rPr lang="en-US" sz="1400" dirty="0">
                <a:solidFill>
                  <a:srgbClr val="222B36"/>
                </a:solidFill>
                <a:latin typeface="Calibri" pitchFamily="34" charset="0"/>
                <a:ea typeface="Calibri" pitchFamily="34" charset="-122"/>
                <a:cs typeface="Calibri" pitchFamily="34" charset="-120"/>
              </a:rPr>
              <a:t>Is each figure's </a:t>
            </a:r>
            <a:r>
              <a:rPr lang="en-US" sz="1400" b="1" dirty="0">
                <a:solidFill>
                  <a:srgbClr val="222B36"/>
                </a:solidFill>
                <a:latin typeface="Calibri" pitchFamily="34" charset="0"/>
                <a:ea typeface="Calibri" pitchFamily="34" charset="-122"/>
                <a:cs typeface="Calibri" pitchFamily="34" charset="-120"/>
              </a:rPr>
              <a:t>essence phrase</a:t>
            </a:r>
            <a:r>
              <a:rPr lang="en-US" sz="1400" dirty="0">
                <a:solidFill>
                  <a:srgbClr val="222B36"/>
                </a:solidFill>
                <a:latin typeface="Calibri" pitchFamily="34" charset="0"/>
                <a:ea typeface="Calibri" pitchFamily="34" charset="-122"/>
                <a:cs typeface="Calibri" pitchFamily="34" charset="-120"/>
              </a:rPr>
              <a:t> different from the others?</a:t>
            </a:r>
            <a:endParaRPr lang="en-US" sz="1400" dirty="0"/>
          </a:p>
          <a:p>
            <a:pPr marL="342900" indent="-342900">
              <a:spcAft>
                <a:spcPts val="500"/>
              </a:spcAft>
              <a:buSzPct val="100000"/>
              <a:buChar char="■"/>
            </a:pPr>
            <a:r>
              <a:rPr lang="en-US" sz="1400" dirty="0">
                <a:solidFill>
                  <a:srgbClr val="222B36"/>
                </a:solidFill>
                <a:latin typeface="Calibri" pitchFamily="34" charset="0"/>
                <a:ea typeface="Calibri" pitchFamily="34" charset="-122"/>
                <a:cs typeface="Calibri" pitchFamily="34" charset="-120"/>
              </a:rPr>
              <a:t>Is the </a:t>
            </a:r>
            <a:r>
              <a:rPr lang="en-US" sz="1400" b="1" dirty="0">
                <a:solidFill>
                  <a:srgbClr val="222B36"/>
                </a:solidFill>
                <a:latin typeface="Calibri" pitchFamily="34" charset="0"/>
                <a:ea typeface="Calibri" pitchFamily="34" charset="-122"/>
                <a:cs typeface="Calibri" pitchFamily="34" charset="-120"/>
              </a:rPr>
              <a:t>sign convention</a:t>
            </a:r>
            <a:r>
              <a:rPr lang="en-US" sz="1400" dirty="0">
                <a:solidFill>
                  <a:srgbClr val="222B36"/>
                </a:solidFill>
                <a:latin typeface="Calibri" pitchFamily="34" charset="0"/>
                <a:ea typeface="Calibri" pitchFamily="34" charset="-122"/>
                <a:cs typeface="Calibri" pitchFamily="34" charset="-120"/>
              </a:rPr>
              <a:t> clear (what does positive mean)?</a:t>
            </a:r>
            <a:endParaRPr lang="en-US" sz="1400" dirty="0"/>
          </a:p>
          <a:p>
            <a:pPr marL="342900" indent="-342900">
              <a:spcAft>
                <a:spcPts val="500"/>
              </a:spcAft>
              <a:buSzPct val="100000"/>
              <a:buChar char="■"/>
            </a:pPr>
            <a:r>
              <a:rPr lang="en-US" sz="1400" dirty="0">
                <a:solidFill>
                  <a:srgbClr val="222B36"/>
                </a:solidFill>
                <a:latin typeface="Calibri" pitchFamily="34" charset="0"/>
                <a:ea typeface="Calibri" pitchFamily="34" charset="-122"/>
                <a:cs typeface="Calibri" pitchFamily="34" charset="-120"/>
              </a:rPr>
              <a:t>Is the </a:t>
            </a:r>
            <a:r>
              <a:rPr lang="en-US" sz="1400" b="1" dirty="0">
                <a:solidFill>
                  <a:srgbClr val="222B36"/>
                </a:solidFill>
                <a:latin typeface="Calibri" pitchFamily="34" charset="0"/>
                <a:ea typeface="Calibri" pitchFamily="34" charset="-122"/>
                <a:cs typeface="Calibri" pitchFamily="34" charset="-120"/>
              </a:rPr>
              <a:t>attribution</a:t>
            </a:r>
            <a:r>
              <a:rPr lang="en-US" sz="1400" dirty="0">
                <a:solidFill>
                  <a:srgbClr val="222B36"/>
                </a:solidFill>
                <a:latin typeface="Calibri" pitchFamily="34" charset="0"/>
                <a:ea typeface="Calibri" pitchFamily="34" charset="-122"/>
                <a:cs typeface="Calibri" pitchFamily="34" charset="-120"/>
              </a:rPr>
              <a:t> line there?</a:t>
            </a:r>
            <a:endParaRPr lang="en-US" sz="1400" dirty="0"/>
          </a:p>
        </p:txBody>
      </p:sp>
      <p:sp>
        <p:nvSpPr>
          <p:cNvPr id="25" name="Slide Number Placeholder 0"/>
          <p:cNvSpPr>
            <a:spLocks noGrp="1"/>
          </p:cNvSpPr>
          <p:nvPr>
            <p:ph type="sldNum" sz="quarter" idx="4294967295"/>
          </p:nvPr>
        </p:nvSpPr>
        <p:spPr>
          <a:xfrm>
            <a:off x="11274552" y="6473952"/>
            <a:ext cx="54864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8A93A0"/>
                </a:solidFill>
                <a:latin typeface="Calibri"/>
                <a:ea typeface="Calibri"/>
                <a:cs typeface="Calibri"/>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_223"/>
          <p:cNvSpPr txBox="1"/>
          <p:nvPr/>
        </p:nvSpPr>
        <p:spPr>
          <a:xfrm>
            <a:off x="548640" y="365760"/>
            <a:ext cx="11064240" cy="640080"/>
          </a:xfrm>
          <a:prstGeom prst="rect">
            <a:avLst/>
          </a:prstGeom>
          <a:noFill/>
          <a:ln/>
        </p:spPr>
        <p:txBody>
          <a:bodyPr wrap="square" lIns="635" tIns="635" rIns="635" bIns="635" rtlCol="0" anchor="b"/>
          <a:lstStyle/>
          <a:p>
            <a:pPr algn="l" indent="0" marL="0">
              <a:lnSpc>
                <a:spcPct val="100000"/>
              </a:lnSpc>
              <a:buNone/>
            </a:pPr>
            <a:r>
              <a:rPr lang="en-US" sz="2800" b="1" dirty="0">
                <a:solidFill>
                  <a:srgbClr val="1B2A41"/>
                </a:solidFill>
                <a:latin typeface="Georgia" pitchFamily="34" charset="0"/>
                <a:ea typeface="Georgia" pitchFamily="34" charset="-122"/>
                <a:cs typeface="Georgia" pitchFamily="34" charset="-120"/>
              </a:rPr>
              <a:t>Before Tutorial 6  ·  Thu 19 Nov</a:t>
            </a:r>
            <a:endParaRPr lang="en-US" sz="2800" dirty="0"/>
          </a:p>
        </p:txBody>
      </p:sp>
      <p:sp>
        <p:nvSpPr>
          <p:cNvPr id="3" name="text_224"/>
          <p:cNvSpPr txBox="1"/>
          <p:nvPr/>
        </p:nvSpPr>
        <p:spPr>
          <a:xfrm>
            <a:off x="548640" y="1188720"/>
            <a:ext cx="11064240" cy="411480"/>
          </a:xfrm>
          <a:prstGeom prst="rect">
            <a:avLst/>
          </a:prstGeom>
          <a:noFill/>
          <a:ln/>
        </p:spPr>
        <p:txBody>
          <a:bodyPr wrap="square" lIns="635" tIns="635" rIns="635" bIns="635" rtlCol="0" anchor="t"/>
          <a:lstStyle/>
          <a:p>
            <a:pPr algn="l" indent="0" marL="0">
              <a:lnSpc>
                <a:spcPct val="100000"/>
              </a:lnSpc>
              <a:buNone/>
            </a:pPr>
            <a:r>
              <a:rPr lang="en-US" sz="1500" i="1" dirty="0">
                <a:solidFill>
                  <a:srgbClr val="5B6573"/>
                </a:solidFill>
                <a:latin typeface="Calibri" pitchFamily="34" charset="0"/>
                <a:ea typeface="Calibri" pitchFamily="34" charset="-122"/>
                <a:cs typeface="Calibri" pitchFamily="34" charset="-120"/>
              </a:rPr>
              <a:t>One week. About 2½ hours. This is the week your Results section appears.</a:t>
            </a:r>
            <a:endParaRPr lang="en-US" sz="1500" dirty="0"/>
          </a:p>
        </p:txBody>
      </p:sp>
      <p:sp>
        <p:nvSpPr>
          <p:cNvPr id="4" name="card_225"/>
          <p:cNvSpPr/>
          <p:nvPr/>
        </p:nvSpPr>
        <p:spPr>
          <a:xfrm>
            <a:off x="548640" y="1691640"/>
            <a:ext cx="2622042" cy="2971800"/>
          </a:xfrm>
          <a:prstGeom prst="roundRect">
            <a:avLst>
              <a:gd name="adj" fmla="val 2790"/>
            </a:avLst>
          </a:prstGeom>
          <a:solidFill>
            <a:srgbClr val="F7F4EE"/>
          </a:solidFill>
          <a:ln w="9525">
            <a:solidFill>
              <a:srgbClr val="D5DAE1"/>
            </a:solidFill>
            <a:prstDash val="solid"/>
          </a:ln>
        </p:spPr>
      </p:sp>
      <p:sp>
        <p:nvSpPr>
          <p:cNvPr id="5" name="tag_226"/>
          <p:cNvSpPr/>
          <p:nvPr/>
        </p:nvSpPr>
        <p:spPr>
          <a:xfrm>
            <a:off x="713232" y="1819656"/>
            <a:ext cx="1156716" cy="256032"/>
          </a:xfrm>
          <a:prstGeom prst="roundRect">
            <a:avLst>
              <a:gd name="adj" fmla="val 21429"/>
            </a:avLst>
          </a:prstGeom>
          <a:solidFill>
            <a:srgbClr val="1B2A41"/>
          </a:solidFill>
          <a:ln w="12700">
            <a:solidFill>
              <a:srgbClr val="1B2A41"/>
            </a:solidFill>
            <a:prstDash val="solid"/>
          </a:ln>
        </p:spPr>
      </p:sp>
      <p:sp>
        <p:nvSpPr>
          <p:cNvPr id="6" name="text_227"/>
          <p:cNvSpPr txBox="1"/>
          <p:nvPr/>
        </p:nvSpPr>
        <p:spPr>
          <a:xfrm>
            <a:off x="713232" y="1819656"/>
            <a:ext cx="1156716" cy="256032"/>
          </a:xfrm>
          <a:prstGeom prst="rect">
            <a:avLst/>
          </a:prstGeom>
          <a:noFill/>
          <a:ln/>
        </p:spPr>
        <p:txBody>
          <a:bodyPr wrap="square" lIns="0" tIns="0" rIns="0" bIns="0" rtlCol="0" anchor="ctr"/>
          <a:lstStyle/>
          <a:p>
            <a:pPr algn="ctr" indent="0" marL="0">
              <a:lnSpc>
                <a:spcPct val="100000"/>
              </a:lnSpc>
              <a:buNone/>
            </a:pPr>
            <a:r>
              <a:rPr lang="en-US" sz="1050" b="1" dirty="0">
                <a:solidFill>
                  <a:srgbClr val="FFFFFF"/>
                </a:solidFill>
                <a:latin typeface="Calibri" pitchFamily="34" charset="0"/>
                <a:ea typeface="Calibri" pitchFamily="34" charset="-122"/>
                <a:cs typeface="Calibri" pitchFamily="34" charset="-120"/>
              </a:rPr>
              <a:t>5A  ·  30 min</a:t>
            </a:r>
            <a:endParaRPr lang="en-US" sz="1050" dirty="0"/>
          </a:p>
        </p:txBody>
      </p:sp>
      <p:sp>
        <p:nvSpPr>
          <p:cNvPr id="7" name="text_228"/>
          <p:cNvSpPr txBox="1"/>
          <p:nvPr/>
        </p:nvSpPr>
        <p:spPr>
          <a:xfrm>
            <a:off x="713232" y="2167128"/>
            <a:ext cx="2292858" cy="640080"/>
          </a:xfrm>
          <a:prstGeom prst="rect">
            <a:avLst/>
          </a:prstGeom>
          <a:noFill/>
          <a:ln/>
        </p:spPr>
        <p:txBody>
          <a:bodyPr wrap="square" lIns="635" tIns="635" rIns="635" bIns="635" rtlCol="0" anchor="t"/>
          <a:lstStyle/>
          <a:p>
            <a:pPr algn="l" indent="0" marL="0">
              <a:lnSpc>
                <a:spcPct val="100000"/>
              </a:lnSpc>
              <a:buNone/>
            </a:pPr>
            <a:r>
              <a:rPr lang="en-US" sz="1600" b="1" dirty="0">
                <a:solidFill>
                  <a:srgbClr val="1B2A41"/>
                </a:solidFill>
                <a:latin typeface="Calibri" pitchFamily="34" charset="0"/>
                <a:ea typeface="Calibri" pitchFamily="34" charset="-122"/>
                <a:cs typeface="Calibri" pitchFamily="34" charset="-120"/>
              </a:rPr>
              <a:t>Revise Methods</a:t>
            </a:r>
            <a:endParaRPr lang="en-US" sz="1600" dirty="0"/>
          </a:p>
        </p:txBody>
      </p:sp>
      <p:sp>
        <p:nvSpPr>
          <p:cNvPr id="8" name="cardbody_229"/>
          <p:cNvSpPr txBox="1"/>
          <p:nvPr/>
        </p:nvSpPr>
        <p:spPr>
          <a:xfrm>
            <a:off x="713232" y="2807208"/>
            <a:ext cx="2292858" cy="1764792"/>
          </a:xfrm>
          <a:prstGeom prst="rect">
            <a:avLst/>
          </a:prstGeom>
          <a:noFill/>
          <a:ln/>
        </p:spPr>
        <p:txBody>
          <a:bodyPr wrap="square" lIns="381" tIns="381" rIns="381" bIns="381" rtlCol="0" anchor="t"/>
          <a:lstStyle/>
          <a:p>
            <a:pPr marL="342900" indent="-342900">
              <a:spcAft>
                <a:spcPts val="500"/>
              </a:spcAft>
              <a:buSzPct val="100000"/>
              <a:buChar char="■"/>
            </a:pPr>
            <a:r>
              <a:rPr lang="en-US" sz="1350" dirty="0">
                <a:solidFill>
                  <a:srgbClr val="222B36"/>
                </a:solidFill>
                <a:latin typeface="Calibri" pitchFamily="34" charset="0"/>
                <a:ea typeface="Calibri" pitchFamily="34" charset="-122"/>
                <a:cs typeface="Calibri" pitchFamily="34" charset="-120"/>
              </a:rPr>
              <a:t>Fix every item on your partner's guess list</a:t>
            </a:r>
            <a:endParaRPr lang="en-US" sz="1350" dirty="0"/>
          </a:p>
          <a:p>
            <a:pPr marL="342900" indent="-342900">
              <a:spcAft>
                <a:spcPts val="500"/>
              </a:spcAft>
              <a:buSzPct val="100000"/>
              <a:buChar char="■"/>
            </a:pPr>
            <a:r>
              <a:rPr lang="en-US" sz="1350" dirty="0">
                <a:solidFill>
                  <a:srgbClr val="222B36"/>
                </a:solidFill>
                <a:latin typeface="Calibri" pitchFamily="34" charset="0"/>
                <a:ea typeface="Calibri" pitchFamily="34" charset="-122"/>
                <a:cs typeface="Calibri" pitchFamily="34" charset="-120"/>
              </a:rPr>
              <a:t>Remove any code or interpretation</a:t>
            </a:r>
            <a:endParaRPr lang="en-US" sz="1350" dirty="0"/>
          </a:p>
          <a:p>
            <a:pPr marL="342900" indent="-342900">
              <a:spcAft>
                <a:spcPts val="500"/>
              </a:spcAft>
              <a:buSzPct val="100000"/>
              <a:buChar char="■"/>
            </a:pPr>
            <a:r>
              <a:rPr lang="en-US" sz="1350" dirty="0">
                <a:solidFill>
                  <a:srgbClr val="222B36"/>
                </a:solidFill>
                <a:latin typeface="Calibri" pitchFamily="34" charset="0"/>
                <a:ea typeface="Calibri" pitchFamily="34" charset="-122"/>
                <a:cs typeface="Calibri" pitchFamily="34" charset="-120"/>
              </a:rPr>
              <a:t>Stay within ~300 words</a:t>
            </a:r>
            <a:endParaRPr lang="en-US" sz="1350" dirty="0"/>
          </a:p>
        </p:txBody>
      </p:sp>
      <p:sp>
        <p:nvSpPr>
          <p:cNvPr id="9" name="card_230"/>
          <p:cNvSpPr/>
          <p:nvPr/>
        </p:nvSpPr>
        <p:spPr>
          <a:xfrm>
            <a:off x="3371850" y="1691640"/>
            <a:ext cx="2622042" cy="2971800"/>
          </a:xfrm>
          <a:prstGeom prst="roundRect">
            <a:avLst>
              <a:gd name="adj" fmla="val 2790"/>
            </a:avLst>
          </a:prstGeom>
          <a:solidFill>
            <a:srgbClr val="F7F4EE"/>
          </a:solidFill>
          <a:ln w="9525">
            <a:solidFill>
              <a:srgbClr val="D5DAE1"/>
            </a:solidFill>
            <a:prstDash val="solid"/>
          </a:ln>
        </p:spPr>
      </p:sp>
      <p:sp>
        <p:nvSpPr>
          <p:cNvPr id="10" name="tag_231"/>
          <p:cNvSpPr/>
          <p:nvPr/>
        </p:nvSpPr>
        <p:spPr>
          <a:xfrm>
            <a:off x="3536442" y="1819656"/>
            <a:ext cx="1156716" cy="256032"/>
          </a:xfrm>
          <a:prstGeom prst="roundRect">
            <a:avLst>
              <a:gd name="adj" fmla="val 21429"/>
            </a:avLst>
          </a:prstGeom>
          <a:solidFill>
            <a:srgbClr val="1B2A41"/>
          </a:solidFill>
          <a:ln w="12700">
            <a:solidFill>
              <a:srgbClr val="1B2A41"/>
            </a:solidFill>
            <a:prstDash val="solid"/>
          </a:ln>
        </p:spPr>
      </p:sp>
      <p:sp>
        <p:nvSpPr>
          <p:cNvPr id="11" name="text_232"/>
          <p:cNvSpPr txBox="1"/>
          <p:nvPr/>
        </p:nvSpPr>
        <p:spPr>
          <a:xfrm>
            <a:off x="3536442" y="1819656"/>
            <a:ext cx="1156716" cy="256032"/>
          </a:xfrm>
          <a:prstGeom prst="rect">
            <a:avLst/>
          </a:prstGeom>
          <a:noFill/>
          <a:ln/>
        </p:spPr>
        <p:txBody>
          <a:bodyPr wrap="square" lIns="0" tIns="0" rIns="0" bIns="0" rtlCol="0" anchor="ctr"/>
          <a:lstStyle/>
          <a:p>
            <a:pPr algn="ctr" indent="0" marL="0">
              <a:lnSpc>
                <a:spcPct val="100000"/>
              </a:lnSpc>
              <a:buNone/>
            </a:pPr>
            <a:r>
              <a:rPr lang="en-US" sz="1050" b="1" dirty="0">
                <a:solidFill>
                  <a:srgbClr val="FFFFFF"/>
                </a:solidFill>
                <a:latin typeface="Calibri" pitchFamily="34" charset="0"/>
                <a:ea typeface="Calibri" pitchFamily="34" charset="-122"/>
                <a:cs typeface="Calibri" pitchFamily="34" charset="-120"/>
              </a:rPr>
              <a:t>5B  ·  90 min</a:t>
            </a:r>
            <a:endParaRPr lang="en-US" sz="1050" dirty="0"/>
          </a:p>
        </p:txBody>
      </p:sp>
      <p:sp>
        <p:nvSpPr>
          <p:cNvPr id="12" name="text_233"/>
          <p:cNvSpPr txBox="1"/>
          <p:nvPr/>
        </p:nvSpPr>
        <p:spPr>
          <a:xfrm>
            <a:off x="3536442" y="2167128"/>
            <a:ext cx="2292858" cy="640080"/>
          </a:xfrm>
          <a:prstGeom prst="rect">
            <a:avLst/>
          </a:prstGeom>
          <a:noFill/>
          <a:ln/>
        </p:spPr>
        <p:txBody>
          <a:bodyPr wrap="square" lIns="635" tIns="635" rIns="635" bIns="635" rtlCol="0" anchor="t"/>
          <a:lstStyle/>
          <a:p>
            <a:pPr algn="l" indent="0" marL="0">
              <a:lnSpc>
                <a:spcPct val="100000"/>
              </a:lnSpc>
              <a:buNone/>
            </a:pPr>
            <a:r>
              <a:rPr lang="en-US" sz="1600" b="1" dirty="0">
                <a:solidFill>
                  <a:srgbClr val="1B2A41"/>
                </a:solidFill>
                <a:latin typeface="Calibri" pitchFamily="34" charset="0"/>
                <a:ea typeface="Calibri" pitchFamily="34" charset="-122"/>
                <a:cs typeface="Calibri" pitchFamily="34" charset="-120"/>
              </a:rPr>
              <a:t>Results draft, ~550–650 words</a:t>
            </a:r>
            <a:endParaRPr lang="en-US" sz="1600" dirty="0"/>
          </a:p>
        </p:txBody>
      </p:sp>
      <p:sp>
        <p:nvSpPr>
          <p:cNvPr id="13" name="cardbody_234"/>
          <p:cNvSpPr txBox="1"/>
          <p:nvPr/>
        </p:nvSpPr>
        <p:spPr>
          <a:xfrm>
            <a:off x="3536442" y="2807208"/>
            <a:ext cx="2292858" cy="1764792"/>
          </a:xfrm>
          <a:prstGeom prst="rect">
            <a:avLst/>
          </a:prstGeom>
          <a:noFill/>
          <a:ln/>
        </p:spPr>
        <p:txBody>
          <a:bodyPr wrap="square" lIns="381" tIns="381" rIns="381" bIns="381" rtlCol="0" anchor="t"/>
          <a:lstStyle/>
          <a:p>
            <a:pPr marL="342900" indent="-342900">
              <a:spcAft>
                <a:spcPts val="500"/>
              </a:spcAft>
              <a:buSzPct val="100000"/>
              <a:buChar char="■"/>
            </a:pPr>
            <a:r>
              <a:rPr lang="en-US" sz="1350" b="1" dirty="0">
                <a:solidFill>
                  <a:srgbClr val="222B36"/>
                </a:solidFill>
                <a:latin typeface="Calibri" pitchFamily="34" charset="0"/>
                <a:ea typeface="Calibri" pitchFamily="34" charset="-122"/>
                <a:cs typeface="Calibri" pitchFamily="34" charset="-120"/>
              </a:rPr>
              <a:t>One paragraph per claim</a:t>
            </a:r>
            <a:r>
              <a:rPr lang="en-US" sz="1350" dirty="0">
                <a:solidFill>
                  <a:srgbClr val="222B36"/>
                </a:solidFill>
                <a:latin typeface="Calibri" pitchFamily="34" charset="0"/>
                <a:ea typeface="Calibri" pitchFamily="34" charset="-122"/>
                <a:cs typeface="Calibri" pitchFamily="34" charset="-120"/>
              </a:rPr>
              <a:t> from your storyboard</a:t>
            </a:r>
            <a:endParaRPr lang="en-US" sz="1350" dirty="0"/>
          </a:p>
          <a:p>
            <a:pPr marL="342900" indent="-342900">
              <a:spcAft>
                <a:spcPts val="500"/>
              </a:spcAft>
              <a:buSzPct val="100000"/>
              <a:buChar char="■"/>
            </a:pPr>
            <a:r>
              <a:rPr lang="en-US" sz="1350" dirty="0">
                <a:solidFill>
                  <a:srgbClr val="222B36"/>
                </a:solidFill>
                <a:latin typeface="Calibri" pitchFamily="34" charset="0"/>
                <a:ea typeface="Calibri" pitchFamily="34" charset="-122"/>
                <a:cs typeface="Calibri" pitchFamily="34" charset="-120"/>
              </a:rPr>
              <a:t>Topic sentence = the finding; then quantified evidence</a:t>
            </a:r>
            <a:endParaRPr lang="en-US" sz="1350" dirty="0"/>
          </a:p>
          <a:p>
            <a:pPr marL="342900" indent="-342900">
              <a:spcAft>
                <a:spcPts val="500"/>
              </a:spcAft>
              <a:buSzPct val="100000"/>
              <a:buChar char="■"/>
            </a:pPr>
            <a:r>
              <a:rPr lang="en-US" sz="1350" dirty="0">
                <a:solidFill>
                  <a:srgbClr val="222B36"/>
                </a:solidFill>
                <a:latin typeface="Calibri" pitchFamily="34" charset="0"/>
                <a:ea typeface="Calibri" pitchFamily="34" charset="-122"/>
                <a:cs typeface="Calibri" pitchFamily="34" charset="-120"/>
              </a:rPr>
              <a:t>Numbers with </a:t>
            </a:r>
            <a:r>
              <a:rPr lang="en-US" sz="1350" b="1" dirty="0">
                <a:solidFill>
                  <a:srgbClr val="222B36"/>
                </a:solidFill>
                <a:latin typeface="Calibri" pitchFamily="34" charset="0"/>
                <a:ea typeface="Calibri" pitchFamily="34" charset="-122"/>
                <a:cs typeface="Calibri" pitchFamily="34" charset="-120"/>
              </a:rPr>
              <a:t>units, baseline and sample size</a:t>
            </a:r>
            <a:endParaRPr lang="en-US" sz="1350" dirty="0"/>
          </a:p>
        </p:txBody>
      </p:sp>
      <p:sp>
        <p:nvSpPr>
          <p:cNvPr id="14" name="card_235"/>
          <p:cNvSpPr/>
          <p:nvPr/>
        </p:nvSpPr>
        <p:spPr>
          <a:xfrm>
            <a:off x="6195060" y="1691640"/>
            <a:ext cx="2622042" cy="2971800"/>
          </a:xfrm>
          <a:prstGeom prst="roundRect">
            <a:avLst>
              <a:gd name="adj" fmla="val 2790"/>
            </a:avLst>
          </a:prstGeom>
          <a:solidFill>
            <a:srgbClr val="F7F4EE"/>
          </a:solidFill>
          <a:ln w="9525">
            <a:solidFill>
              <a:srgbClr val="D5DAE1"/>
            </a:solidFill>
            <a:prstDash val="solid"/>
          </a:ln>
        </p:spPr>
      </p:sp>
      <p:sp>
        <p:nvSpPr>
          <p:cNvPr id="15" name="tag_236"/>
          <p:cNvSpPr/>
          <p:nvPr/>
        </p:nvSpPr>
        <p:spPr>
          <a:xfrm>
            <a:off x="6359652" y="1819656"/>
            <a:ext cx="1156716" cy="256032"/>
          </a:xfrm>
          <a:prstGeom prst="roundRect">
            <a:avLst>
              <a:gd name="adj" fmla="val 21429"/>
            </a:avLst>
          </a:prstGeom>
          <a:solidFill>
            <a:srgbClr val="1B2A41"/>
          </a:solidFill>
          <a:ln w="12700">
            <a:solidFill>
              <a:srgbClr val="1B2A41"/>
            </a:solidFill>
            <a:prstDash val="solid"/>
          </a:ln>
        </p:spPr>
      </p:sp>
      <p:sp>
        <p:nvSpPr>
          <p:cNvPr id="16" name="text_237"/>
          <p:cNvSpPr txBox="1"/>
          <p:nvPr/>
        </p:nvSpPr>
        <p:spPr>
          <a:xfrm>
            <a:off x="6359652" y="1819656"/>
            <a:ext cx="1156716" cy="256032"/>
          </a:xfrm>
          <a:prstGeom prst="rect">
            <a:avLst/>
          </a:prstGeom>
          <a:noFill/>
          <a:ln/>
        </p:spPr>
        <p:txBody>
          <a:bodyPr wrap="square" lIns="0" tIns="0" rIns="0" bIns="0" rtlCol="0" anchor="ctr"/>
          <a:lstStyle/>
          <a:p>
            <a:pPr algn="ctr" indent="0" marL="0">
              <a:lnSpc>
                <a:spcPct val="100000"/>
              </a:lnSpc>
              <a:buNone/>
            </a:pPr>
            <a:r>
              <a:rPr lang="en-US" sz="1050" b="1" dirty="0">
                <a:solidFill>
                  <a:srgbClr val="FFFFFF"/>
                </a:solidFill>
                <a:latin typeface="Calibri" pitchFamily="34" charset="0"/>
                <a:ea typeface="Calibri" pitchFamily="34" charset="-122"/>
                <a:cs typeface="Calibri" pitchFamily="34" charset="-120"/>
              </a:rPr>
              <a:t>5C  ·  20 min</a:t>
            </a:r>
            <a:endParaRPr lang="en-US" sz="1050" dirty="0"/>
          </a:p>
        </p:txBody>
      </p:sp>
      <p:sp>
        <p:nvSpPr>
          <p:cNvPr id="17" name="text_238"/>
          <p:cNvSpPr txBox="1"/>
          <p:nvPr/>
        </p:nvSpPr>
        <p:spPr>
          <a:xfrm>
            <a:off x="6359652" y="2167128"/>
            <a:ext cx="2292858" cy="640080"/>
          </a:xfrm>
          <a:prstGeom prst="rect">
            <a:avLst/>
          </a:prstGeom>
          <a:noFill/>
          <a:ln/>
        </p:spPr>
        <p:txBody>
          <a:bodyPr wrap="square" lIns="635" tIns="635" rIns="635" bIns="635" rtlCol="0" anchor="t"/>
          <a:lstStyle/>
          <a:p>
            <a:pPr algn="l" indent="0" marL="0">
              <a:lnSpc>
                <a:spcPct val="100000"/>
              </a:lnSpc>
              <a:buNone/>
            </a:pPr>
            <a:r>
              <a:rPr lang="en-US" sz="1600" b="1" dirty="0">
                <a:solidFill>
                  <a:srgbClr val="1B2A41"/>
                </a:solidFill>
                <a:latin typeface="Calibri" pitchFamily="34" charset="0"/>
                <a:ea typeface="Calibri" pitchFamily="34" charset="-122"/>
                <a:cs typeface="Calibri" pitchFamily="34" charset="-120"/>
              </a:rPr>
              <a:t>Final captions</a:t>
            </a:r>
            <a:endParaRPr lang="en-US" sz="1600" dirty="0"/>
          </a:p>
        </p:txBody>
      </p:sp>
      <p:sp>
        <p:nvSpPr>
          <p:cNvPr id="18" name="cardbody_239"/>
          <p:cNvSpPr txBox="1"/>
          <p:nvPr/>
        </p:nvSpPr>
        <p:spPr>
          <a:xfrm>
            <a:off x="6359652" y="2807208"/>
            <a:ext cx="2292858" cy="1764792"/>
          </a:xfrm>
          <a:prstGeom prst="rect">
            <a:avLst/>
          </a:prstGeom>
          <a:noFill/>
          <a:ln/>
        </p:spPr>
        <p:txBody>
          <a:bodyPr wrap="square" lIns="381" tIns="381" rIns="381" bIns="381" rtlCol="0" anchor="t"/>
          <a:lstStyle/>
          <a:p>
            <a:pPr marL="342900" indent="-342900">
              <a:spcAft>
                <a:spcPts val="500"/>
              </a:spcAft>
              <a:buSzPct val="100000"/>
              <a:buChar char="■"/>
            </a:pPr>
            <a:r>
              <a:rPr lang="en-US" sz="1350" dirty="0">
                <a:solidFill>
                  <a:srgbClr val="222B36"/>
                </a:solidFill>
                <a:latin typeface="Calibri" pitchFamily="34" charset="0"/>
                <a:ea typeface="Calibri" pitchFamily="34" charset="-122"/>
                <a:cs typeface="Calibri" pitchFamily="34" charset="-120"/>
              </a:rPr>
              <a:t>All 3–5 figures, one consistent format</a:t>
            </a:r>
            <a:endParaRPr lang="en-US" sz="1350" dirty="0"/>
          </a:p>
          <a:p>
            <a:pPr marL="342900" indent="-342900">
              <a:spcAft>
                <a:spcPts val="500"/>
              </a:spcAft>
              <a:buSzPct val="100000"/>
              <a:buChar char="■"/>
            </a:pPr>
            <a:r>
              <a:rPr lang="en-US" sz="1350" dirty="0">
                <a:solidFill>
                  <a:srgbClr val="222B36"/>
                </a:solidFill>
                <a:latin typeface="Calibri" pitchFamily="34" charset="0"/>
                <a:ea typeface="Calibri" pitchFamily="34" charset="-122"/>
                <a:cs typeface="Calibri" pitchFamily="34" charset="-120"/>
              </a:rPr>
              <a:t>Five-point check + attribution</a:t>
            </a:r>
            <a:endParaRPr lang="en-US" sz="1350" dirty="0"/>
          </a:p>
          <a:p>
            <a:pPr marL="342900" indent="-342900">
              <a:spcAft>
                <a:spcPts val="500"/>
              </a:spcAft>
              <a:buSzPct val="100000"/>
              <a:buChar char="■"/>
            </a:pPr>
            <a:r>
              <a:rPr lang="en-US" sz="1350" dirty="0">
                <a:solidFill>
                  <a:srgbClr val="222B36"/>
                </a:solidFill>
                <a:latin typeface="Calibri" pitchFamily="34" charset="0"/>
                <a:ea typeface="Calibri" pitchFamily="34" charset="-122"/>
                <a:cs typeface="Calibri" pitchFamily="34" charset="-120"/>
              </a:rPr>
              <a:t>Numbered in the order you cite them</a:t>
            </a:r>
            <a:endParaRPr lang="en-US" sz="1350" dirty="0"/>
          </a:p>
        </p:txBody>
      </p:sp>
      <p:sp>
        <p:nvSpPr>
          <p:cNvPr id="19" name="card_240"/>
          <p:cNvSpPr/>
          <p:nvPr/>
        </p:nvSpPr>
        <p:spPr>
          <a:xfrm>
            <a:off x="9018270" y="1691640"/>
            <a:ext cx="2622042" cy="2971800"/>
          </a:xfrm>
          <a:prstGeom prst="roundRect">
            <a:avLst>
              <a:gd name="adj" fmla="val 2790"/>
            </a:avLst>
          </a:prstGeom>
          <a:solidFill>
            <a:srgbClr val="F7F4EE"/>
          </a:solidFill>
          <a:ln w="9525">
            <a:solidFill>
              <a:srgbClr val="D5DAE1"/>
            </a:solidFill>
            <a:prstDash val="solid"/>
          </a:ln>
        </p:spPr>
      </p:sp>
      <p:sp>
        <p:nvSpPr>
          <p:cNvPr id="20" name="tag_241"/>
          <p:cNvSpPr/>
          <p:nvPr/>
        </p:nvSpPr>
        <p:spPr>
          <a:xfrm>
            <a:off x="9182862" y="1819656"/>
            <a:ext cx="1156716" cy="256032"/>
          </a:xfrm>
          <a:prstGeom prst="roundRect">
            <a:avLst>
              <a:gd name="adj" fmla="val 21429"/>
            </a:avLst>
          </a:prstGeom>
          <a:solidFill>
            <a:srgbClr val="1B2A41"/>
          </a:solidFill>
          <a:ln w="12700">
            <a:solidFill>
              <a:srgbClr val="1B2A41"/>
            </a:solidFill>
            <a:prstDash val="solid"/>
          </a:ln>
        </p:spPr>
      </p:sp>
      <p:sp>
        <p:nvSpPr>
          <p:cNvPr id="21" name="text_242"/>
          <p:cNvSpPr txBox="1"/>
          <p:nvPr/>
        </p:nvSpPr>
        <p:spPr>
          <a:xfrm>
            <a:off x="9182862" y="1819656"/>
            <a:ext cx="1156716" cy="256032"/>
          </a:xfrm>
          <a:prstGeom prst="rect">
            <a:avLst/>
          </a:prstGeom>
          <a:noFill/>
          <a:ln/>
        </p:spPr>
        <p:txBody>
          <a:bodyPr wrap="square" lIns="0" tIns="0" rIns="0" bIns="0" rtlCol="0" anchor="ctr"/>
          <a:lstStyle/>
          <a:p>
            <a:pPr algn="ctr" indent="0" marL="0">
              <a:lnSpc>
                <a:spcPct val="100000"/>
              </a:lnSpc>
              <a:buNone/>
            </a:pPr>
            <a:r>
              <a:rPr lang="en-US" sz="1050" b="1" dirty="0">
                <a:solidFill>
                  <a:srgbClr val="FFFFFF"/>
                </a:solidFill>
                <a:latin typeface="Calibri" pitchFamily="34" charset="0"/>
                <a:ea typeface="Calibri" pitchFamily="34" charset="-122"/>
                <a:cs typeface="Calibri" pitchFamily="34" charset="-120"/>
              </a:rPr>
              <a:t>5D  ·  20 min</a:t>
            </a:r>
            <a:endParaRPr lang="en-US" sz="1050" dirty="0"/>
          </a:p>
        </p:txBody>
      </p:sp>
      <p:sp>
        <p:nvSpPr>
          <p:cNvPr id="22" name="text_243"/>
          <p:cNvSpPr txBox="1"/>
          <p:nvPr/>
        </p:nvSpPr>
        <p:spPr>
          <a:xfrm>
            <a:off x="9182862" y="2167128"/>
            <a:ext cx="2292858" cy="640080"/>
          </a:xfrm>
          <a:prstGeom prst="rect">
            <a:avLst/>
          </a:prstGeom>
          <a:noFill/>
          <a:ln/>
        </p:spPr>
        <p:txBody>
          <a:bodyPr wrap="square" lIns="635" tIns="635" rIns="635" bIns="635" rtlCol="0" anchor="t"/>
          <a:lstStyle/>
          <a:p>
            <a:pPr algn="l" indent="0" marL="0">
              <a:lnSpc>
                <a:spcPct val="100000"/>
              </a:lnSpc>
              <a:buNone/>
            </a:pPr>
            <a:r>
              <a:rPr lang="en-US" sz="1600" b="1" dirty="0">
                <a:solidFill>
                  <a:srgbClr val="1B2A41"/>
                </a:solidFill>
                <a:latin typeface="Calibri" pitchFamily="34" charset="0"/>
                <a:ea typeface="Calibri" pitchFamily="34" charset="-122"/>
                <a:cs typeface="Calibri" pitchFamily="34" charset="-120"/>
              </a:rPr>
              <a:t>Calculate a p-value</a:t>
            </a:r>
            <a:endParaRPr lang="en-US" sz="1600" dirty="0"/>
          </a:p>
        </p:txBody>
      </p:sp>
      <p:sp>
        <p:nvSpPr>
          <p:cNvPr id="23" name="cardbody_244"/>
          <p:cNvSpPr txBox="1"/>
          <p:nvPr/>
        </p:nvSpPr>
        <p:spPr>
          <a:xfrm>
            <a:off x="9182862" y="2807208"/>
            <a:ext cx="2292858" cy="1764792"/>
          </a:xfrm>
          <a:prstGeom prst="rect">
            <a:avLst/>
          </a:prstGeom>
          <a:noFill/>
          <a:ln/>
        </p:spPr>
        <p:txBody>
          <a:bodyPr wrap="square" lIns="381" tIns="381" rIns="381" bIns="381" rtlCol="0" anchor="t"/>
          <a:lstStyle/>
          <a:p>
            <a:pPr marL="342900" indent="-342900">
              <a:spcAft>
                <a:spcPts val="500"/>
              </a:spcAft>
              <a:buSzPct val="100000"/>
              <a:buChar char="■"/>
            </a:pPr>
            <a:r>
              <a:rPr lang="en-US" sz="1350" dirty="0">
                <a:solidFill>
                  <a:srgbClr val="222B36"/>
                </a:solidFill>
                <a:latin typeface="Calibri" pitchFamily="34" charset="0"/>
                <a:ea typeface="Calibri" pitchFamily="34" charset="-122"/>
                <a:cs typeface="Calibri" pitchFamily="34" charset="-120"/>
              </a:rPr>
              <a:t>Take </a:t>
            </a:r>
            <a:r>
              <a:rPr lang="en-US" sz="1350" b="1" dirty="0">
                <a:solidFill>
                  <a:srgbClr val="222B36"/>
                </a:solidFill>
                <a:latin typeface="Calibri" pitchFamily="34" charset="0"/>
                <a:ea typeface="Calibri" pitchFamily="34" charset="-122"/>
                <a:cs typeface="Calibri" pitchFamily="34" charset="-120"/>
              </a:rPr>
              <a:t>r and n</a:t>
            </a:r>
            <a:r>
              <a:rPr lang="en-US" sz="1350" dirty="0">
                <a:solidFill>
                  <a:srgbClr val="222B36"/>
                </a:solidFill>
                <a:latin typeface="Calibri" pitchFamily="34" charset="0"/>
                <a:ea typeface="Calibri" pitchFamily="34" charset="-122"/>
                <a:cs typeface="Calibri" pitchFamily="34" charset="-120"/>
              </a:rPr>
              <a:t> for your region from the §5 panel</a:t>
            </a:r>
            <a:endParaRPr lang="en-US" sz="1350" dirty="0"/>
          </a:p>
          <a:p>
            <a:pPr marL="342900" indent="-342900">
              <a:spcAft>
                <a:spcPts val="500"/>
              </a:spcAft>
              <a:buSzPct val="100000"/>
              <a:buChar char="■"/>
            </a:pPr>
            <a:r>
              <a:rPr lang="en-US" sz="1350" dirty="0">
                <a:solidFill>
                  <a:srgbClr val="222B36"/>
                </a:solidFill>
                <a:latin typeface="Calibri" pitchFamily="34" charset="0"/>
                <a:ea typeface="Calibri" pitchFamily="34" charset="-122"/>
                <a:cs typeface="Calibri" pitchFamily="34" charset="-120"/>
              </a:rPr>
              <a:t>Compute t and p (workbook / methods_demos §4)</a:t>
            </a:r>
            <a:endParaRPr lang="en-US" sz="1350" dirty="0"/>
          </a:p>
          <a:p>
            <a:pPr marL="342900" indent="-342900">
              <a:spcAft>
                <a:spcPts val="500"/>
              </a:spcAft>
              <a:buSzPct val="100000"/>
              <a:buChar char="■"/>
            </a:pPr>
            <a:r>
              <a:rPr lang="en-US" sz="1350" dirty="0">
                <a:solidFill>
                  <a:srgbClr val="222B36"/>
                </a:solidFill>
                <a:latin typeface="Calibri" pitchFamily="34" charset="0"/>
                <a:ea typeface="Calibri" pitchFamily="34" charset="-122"/>
                <a:cs typeface="Calibri" pitchFamily="34" charset="-120"/>
              </a:rPr>
              <a:t>Repeat with </a:t>
            </a:r>
            <a:r>
              <a:rPr lang="en-US" sz="1350" b="1" dirty="0">
                <a:solidFill>
                  <a:srgbClr val="222B36"/>
                </a:solidFill>
                <a:latin typeface="Calibri" pitchFamily="34" charset="0"/>
                <a:ea typeface="Calibri" pitchFamily="34" charset="-122"/>
                <a:cs typeface="Calibri" pitchFamily="34" charset="-120"/>
              </a:rPr>
              <a:t>n_eff</a:t>
            </a:r>
            <a:r>
              <a:rPr lang="en-US" sz="1350" dirty="0">
                <a:solidFill>
                  <a:srgbClr val="222B36"/>
                </a:solidFill>
                <a:latin typeface="Calibri" pitchFamily="34" charset="0"/>
                <a:ea typeface="Calibri" pitchFamily="34" charset="-122"/>
                <a:cs typeface="Calibri" pitchFamily="34" charset="-120"/>
              </a:rPr>
              <a:t> from §6. Which do you report?</a:t>
            </a:r>
            <a:endParaRPr lang="en-US" sz="1350" dirty="0"/>
          </a:p>
        </p:txBody>
      </p:sp>
      <p:sp>
        <p:nvSpPr>
          <p:cNvPr id="24" name="card_245"/>
          <p:cNvSpPr/>
          <p:nvPr/>
        </p:nvSpPr>
        <p:spPr>
          <a:xfrm>
            <a:off x="548640" y="4846320"/>
            <a:ext cx="5440680" cy="1463040"/>
          </a:xfrm>
          <a:prstGeom prst="roundRect">
            <a:avLst>
              <a:gd name="adj" fmla="val 5000"/>
            </a:avLst>
          </a:prstGeom>
          <a:solidFill>
            <a:srgbClr val="DCE7F2"/>
          </a:solidFill>
          <a:ln w="9525">
            <a:solidFill>
              <a:srgbClr val="DCE7F2"/>
            </a:solidFill>
            <a:prstDash val="solid"/>
          </a:ln>
        </p:spPr>
      </p:sp>
      <p:sp>
        <p:nvSpPr>
          <p:cNvPr id="25" name="tag_246"/>
          <p:cNvSpPr/>
          <p:nvPr/>
        </p:nvSpPr>
        <p:spPr>
          <a:xfrm>
            <a:off x="713232" y="4974336"/>
            <a:ext cx="1312164" cy="256032"/>
          </a:xfrm>
          <a:prstGeom prst="roundRect">
            <a:avLst>
              <a:gd name="adj" fmla="val 21429"/>
            </a:avLst>
          </a:prstGeom>
          <a:solidFill>
            <a:srgbClr val="2E4A6B"/>
          </a:solidFill>
          <a:ln w="12700">
            <a:solidFill>
              <a:srgbClr val="2E4A6B"/>
            </a:solidFill>
            <a:prstDash val="solid"/>
          </a:ln>
        </p:spPr>
      </p:sp>
      <p:sp>
        <p:nvSpPr>
          <p:cNvPr id="26" name="text_247"/>
          <p:cNvSpPr txBox="1"/>
          <p:nvPr/>
        </p:nvSpPr>
        <p:spPr>
          <a:xfrm>
            <a:off x="713232" y="4974336"/>
            <a:ext cx="1312164" cy="256032"/>
          </a:xfrm>
          <a:prstGeom prst="rect">
            <a:avLst/>
          </a:prstGeom>
          <a:noFill/>
          <a:ln/>
        </p:spPr>
        <p:txBody>
          <a:bodyPr wrap="square" lIns="0" tIns="0" rIns="0" bIns="0" rtlCol="0" anchor="ctr"/>
          <a:lstStyle/>
          <a:p>
            <a:pPr algn="ctr" indent="0" marL="0">
              <a:lnSpc>
                <a:spcPct val="100000"/>
              </a:lnSpc>
              <a:buNone/>
            </a:pPr>
            <a:r>
              <a:rPr lang="en-US" sz="1050" b="1" dirty="0">
                <a:solidFill>
                  <a:srgbClr val="FFFFFF"/>
                </a:solidFill>
                <a:latin typeface="Calibri" pitchFamily="34" charset="0"/>
                <a:ea typeface="Calibri" pitchFamily="34" charset="-122"/>
                <a:cs typeface="Calibri" pitchFamily="34" charset="-120"/>
              </a:rPr>
              <a:t>NOTEBOOK STRAND</a:t>
            </a:r>
            <a:endParaRPr lang="en-US" sz="1050" dirty="0"/>
          </a:p>
        </p:txBody>
      </p:sp>
      <p:sp>
        <p:nvSpPr>
          <p:cNvPr id="27" name="cardbody_248"/>
          <p:cNvSpPr txBox="1"/>
          <p:nvPr/>
        </p:nvSpPr>
        <p:spPr>
          <a:xfrm>
            <a:off x="713232" y="5321808"/>
            <a:ext cx="5111496" cy="896112"/>
          </a:xfrm>
          <a:prstGeom prst="rect">
            <a:avLst/>
          </a:prstGeom>
          <a:noFill/>
          <a:ln/>
        </p:spPr>
        <p:txBody>
          <a:bodyPr wrap="square" lIns="381" tIns="381" rIns="381" bIns="381" rtlCol="0" anchor="t"/>
          <a:lstStyle/>
          <a:p>
            <a:pPr marL="342900" indent="-342900">
              <a:spcAft>
                <a:spcPts val="500"/>
              </a:spcAft>
              <a:buSzPct val="100000"/>
              <a:buChar char="■"/>
            </a:pPr>
            <a:r>
              <a:rPr lang="en-US" sz="1350" dirty="0">
                <a:solidFill>
                  <a:srgbClr val="222B36"/>
                </a:solidFill>
                <a:latin typeface="Calibri" pitchFamily="34" charset="0"/>
                <a:ea typeface="Calibri" pitchFamily="34" charset="-122"/>
                <a:cs typeface="Calibri" pitchFamily="34" charset="-120"/>
              </a:rPr>
              <a:t>Finalise 3–5 figures (labels, units, centred colour scales); </a:t>
            </a:r>
            <a:r>
              <a:rPr lang="en-US" sz="1350" b="1" dirty="0">
                <a:solidFill>
                  <a:srgbClr val="222B36"/>
                </a:solidFill>
                <a:latin typeface="Calibri" pitchFamily="34" charset="0"/>
                <a:ea typeface="Calibri" pitchFamily="34" charset="-122"/>
                <a:cs typeface="Calibri" pitchFamily="34" charset="-120"/>
              </a:rPr>
              <a:t>save them outside Binder</a:t>
            </a:r>
            <a:r>
              <a:rPr lang="en-US" sz="1350" dirty="0">
                <a:solidFill>
                  <a:srgbClr val="222B36"/>
                </a:solidFill>
                <a:latin typeface="Calibri" pitchFamily="34" charset="0"/>
                <a:ea typeface="Calibri" pitchFamily="34" charset="-122"/>
                <a:cs typeface="Calibri" pitchFamily="34" charset="-120"/>
              </a:rPr>
              <a:t>. Optional: a ±1.0 °C sensitivity test.</a:t>
            </a:r>
            <a:endParaRPr lang="en-US" sz="1350" dirty="0"/>
          </a:p>
          <a:p>
            <a:pPr marL="342900" indent="-342900">
              <a:spcAft>
                <a:spcPts val="500"/>
              </a:spcAft>
              <a:buSzPct val="100000"/>
              <a:buChar char="■"/>
            </a:pPr>
            <a:r>
              <a:rPr lang="en-US" sz="1350" b="1" dirty="0">
                <a:solidFill>
                  <a:srgbClr val="222B36"/>
                </a:solidFill>
                <a:latin typeface="Calibri" pitchFamily="34" charset="0"/>
                <a:ea typeface="Calibri" pitchFamily="34" charset="-122"/>
                <a:cs typeface="Calibri" pitchFamily="34" charset="-120"/>
              </a:rPr>
              <a:t>methods_demos.ipynb §3–6</a:t>
            </a:r>
            <a:r>
              <a:rPr lang="en-US" sz="1350" dirty="0">
                <a:solidFill>
                  <a:srgbClr val="222B36"/>
                </a:solidFill>
                <a:latin typeface="Calibri" pitchFamily="34" charset="0"/>
                <a:ea typeface="Calibri" pitchFamily="34" charset="-122"/>
                <a:cs typeface="Calibri" pitchFamily="34" charset="-120"/>
              </a:rPr>
              <a:t>; the shift test (§7) for your region; new </a:t>
            </a:r>
            <a:r>
              <a:rPr lang="en-US" sz="1350" b="1" dirty="0">
                <a:solidFill>
                  <a:srgbClr val="222B36"/>
                </a:solidFill>
                <a:latin typeface="Calibri" pitchFamily="34" charset="0"/>
                <a:ea typeface="Calibri" pitchFamily="34" charset="-122"/>
                <a:cs typeface="Calibri" pitchFamily="34" charset="-120"/>
              </a:rPr>
              <a:t>§3b</a:t>
            </a:r>
            <a:r>
              <a:rPr lang="en-US" sz="1350" dirty="0">
                <a:solidFill>
                  <a:srgbClr val="222B36"/>
                </a:solidFill>
                <a:latin typeface="Calibri" pitchFamily="34" charset="0"/>
                <a:ea typeface="Calibri" pitchFamily="34" charset="-122"/>
                <a:cs typeface="Calibri" pitchFamily="34" charset="-120"/>
              </a:rPr>
              <a:t> if you compare years.</a:t>
            </a:r>
            <a:endParaRPr lang="en-US" sz="1350" dirty="0"/>
          </a:p>
        </p:txBody>
      </p:sp>
      <p:sp>
        <p:nvSpPr>
          <p:cNvPr id="28" name="card_249"/>
          <p:cNvSpPr/>
          <p:nvPr/>
        </p:nvSpPr>
        <p:spPr>
          <a:xfrm>
            <a:off x="6199632" y="4846320"/>
            <a:ext cx="5440680" cy="1463040"/>
          </a:xfrm>
          <a:prstGeom prst="roundRect">
            <a:avLst>
              <a:gd name="adj" fmla="val 5000"/>
            </a:avLst>
          </a:prstGeom>
          <a:solidFill>
            <a:srgbClr val="FBEBD0"/>
          </a:solidFill>
          <a:ln w="9525">
            <a:solidFill>
              <a:srgbClr val="FBEBD0"/>
            </a:solidFill>
            <a:prstDash val="solid"/>
          </a:ln>
        </p:spPr>
      </p:sp>
      <p:sp>
        <p:nvSpPr>
          <p:cNvPr id="29" name="tag_250"/>
          <p:cNvSpPr/>
          <p:nvPr/>
        </p:nvSpPr>
        <p:spPr>
          <a:xfrm>
            <a:off x="6364224" y="4974336"/>
            <a:ext cx="3255264" cy="256032"/>
          </a:xfrm>
          <a:prstGeom prst="roundRect">
            <a:avLst>
              <a:gd name="adj" fmla="val 21429"/>
            </a:avLst>
          </a:prstGeom>
          <a:solidFill>
            <a:srgbClr val="D98E1F"/>
          </a:solidFill>
          <a:ln w="12700">
            <a:solidFill>
              <a:srgbClr val="D98E1F"/>
            </a:solidFill>
            <a:prstDash val="solid"/>
          </a:ln>
        </p:spPr>
      </p:sp>
      <p:sp>
        <p:nvSpPr>
          <p:cNvPr id="30" name="text_251"/>
          <p:cNvSpPr txBox="1"/>
          <p:nvPr/>
        </p:nvSpPr>
        <p:spPr>
          <a:xfrm>
            <a:off x="6364224" y="4974336"/>
            <a:ext cx="3255264" cy="256032"/>
          </a:xfrm>
          <a:prstGeom prst="rect">
            <a:avLst/>
          </a:prstGeom>
          <a:noFill/>
          <a:ln/>
        </p:spPr>
        <p:txBody>
          <a:bodyPr wrap="square" lIns="0" tIns="0" rIns="0" bIns="0" rtlCol="0" anchor="ctr"/>
          <a:lstStyle/>
          <a:p>
            <a:pPr algn="ctr" indent="0" marL="0">
              <a:lnSpc>
                <a:spcPct val="100000"/>
              </a:lnSpc>
              <a:buNone/>
            </a:pPr>
            <a:r>
              <a:rPr lang="en-US" sz="1050" b="1" dirty="0">
                <a:solidFill>
                  <a:srgbClr val="FFFFFF"/>
                </a:solidFill>
                <a:latin typeface="Calibri" pitchFamily="34" charset="0"/>
                <a:ea typeface="Calibri" pitchFamily="34" charset="-122"/>
                <a:cs typeface="Calibri" pitchFamily="34" charset="-120"/>
              </a:rPr>
              <a:t>READ  ·  SCHULTZ (2009) ELOQUENT SCIENCE</a:t>
            </a:r>
            <a:endParaRPr lang="en-US" sz="1050" dirty="0"/>
          </a:p>
        </p:txBody>
      </p:sp>
      <p:sp>
        <p:nvSpPr>
          <p:cNvPr id="31" name="cardbody_252"/>
          <p:cNvSpPr txBox="1"/>
          <p:nvPr/>
        </p:nvSpPr>
        <p:spPr>
          <a:xfrm>
            <a:off x="6364224" y="5321808"/>
            <a:ext cx="5111496" cy="896112"/>
          </a:xfrm>
          <a:prstGeom prst="rect">
            <a:avLst/>
          </a:prstGeom>
          <a:noFill/>
          <a:ln/>
        </p:spPr>
        <p:txBody>
          <a:bodyPr wrap="square" lIns="381" tIns="381" rIns="381" bIns="381" rtlCol="0" anchor="t"/>
          <a:lstStyle/>
          <a:p>
            <a:pPr marL="342900" indent="-342900">
              <a:spcAft>
                <a:spcPts val="500"/>
              </a:spcAft>
              <a:buSzPct val="100000"/>
              <a:buChar char="■"/>
            </a:pPr>
            <a:r>
              <a:rPr lang="en-US" sz="1350" b="1" dirty="0">
                <a:solidFill>
                  <a:srgbClr val="222B36"/>
                </a:solidFill>
                <a:latin typeface="Calibri" pitchFamily="34" charset="0"/>
                <a:ea typeface="Calibri" pitchFamily="34" charset="-122"/>
                <a:cs typeface="Calibri" pitchFamily="34" charset="-120"/>
              </a:rPr>
              <a:t>§11.10–11.14</a:t>
            </a:r>
            <a:r>
              <a:rPr lang="en-US" sz="1350" dirty="0">
                <a:solidFill>
                  <a:srgbClr val="222B36"/>
                </a:solidFill>
                <a:latin typeface="Calibri" pitchFamily="34" charset="0"/>
                <a:ea typeface="Calibri" pitchFamily="34" charset="-122"/>
                <a:cs typeface="Calibri" pitchFamily="34" charset="-120"/>
              </a:rPr>
              <a:t> Captions; discussing and citing figures</a:t>
            </a:r>
            <a:endParaRPr lang="en-US" sz="1350" dirty="0"/>
          </a:p>
          <a:p>
            <a:pPr marL="342900" indent="-342900">
              <a:spcAft>
                <a:spcPts val="500"/>
              </a:spcAft>
              <a:buSzPct val="100000"/>
              <a:buChar char="■"/>
            </a:pPr>
            <a:r>
              <a:rPr lang="en-US" sz="1350" b="1" dirty="0">
                <a:solidFill>
                  <a:srgbClr val="222B36"/>
                </a:solidFill>
                <a:latin typeface="Calibri" pitchFamily="34" charset="0"/>
                <a:ea typeface="Calibri" pitchFamily="34" charset="-122"/>
                <a:cs typeface="Calibri" pitchFamily="34" charset="-120"/>
              </a:rPr>
              <a:t>§10.1</a:t>
            </a:r>
            <a:r>
              <a:rPr lang="en-US" sz="1350" dirty="0">
                <a:solidFill>
                  <a:srgbClr val="222B36"/>
                </a:solidFill>
                <a:latin typeface="Calibri" pitchFamily="34" charset="0"/>
                <a:ea typeface="Calibri" pitchFamily="34" charset="-122"/>
                <a:cs typeface="Calibri" pitchFamily="34" charset="-120"/>
              </a:rPr>
              <a:t> Concision (and Table 10.2)</a:t>
            </a:r>
            <a:endParaRPr lang="en-US" sz="1350" dirty="0"/>
          </a:p>
        </p:txBody>
      </p:sp>
      <p:sp>
        <p:nvSpPr>
          <p:cNvPr id="25" name="Slide Number Placeholder 0"/>
          <p:cNvSpPr>
            <a:spLocks noGrp="1"/>
          </p:cNvSpPr>
          <p:nvPr>
            <p:ph type="sldNum" sz="quarter" idx="4294967295"/>
          </p:nvPr>
        </p:nvSpPr>
        <p:spPr>
          <a:xfrm>
            <a:off x="11274552" y="6473952"/>
            <a:ext cx="54864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8A93A0"/>
                </a:solidFill>
                <a:latin typeface="Calibri"/>
                <a:ea typeface="Calibri"/>
                <a:cs typeface="Calibri"/>
              </a:defRPr>
            </a:lvl1pPr>
          </a:lstStyle>
          <a:p>
            <a:pPr algn="r"/>
            <a:fld id="{F7021451-1387-4CA6-816F-3879F97B5CBC}" type="slidenum">
              <a:rPr b="0" lang="en-US"/>
              <a:t>13</a:t>
            </a:fld>
            <a:endParaRPr lang="en-US"/>
          </a:p>
        </p:txBody>
      </p:sp>
    </p:spTree>
  </p:cSld>
  <p:clrMapOvr>
    <a:masterClrMapping/>
  </p:clrMapOvr>
</p:sld>
</file>

<file path=ppt/theme/theme1.xml><?xml version="1.0" encoding="utf-8"?>
<a:theme xmlns:a="http://schemas.openxmlformats.org/drawingml/2006/main" name="EART29200 Writing Strand">
  <a:themeElements>
    <a:clrScheme name="EART29200 Writing Strand">
      <a:dk1>
        <a:srgbClr val="222B36"/>
      </a:dk1>
      <a:lt1>
        <a:srgbClr val="FFFFFF"/>
      </a:lt1>
      <a:dk2>
        <a:srgbClr val="1B2A41"/>
      </a:dk2>
      <a:lt2>
        <a:srgbClr val="F7F4EE"/>
      </a:lt2>
      <a:accent1>
        <a:srgbClr val="2E4A6B"/>
      </a:accent1>
      <a:accent2>
        <a:srgbClr val="D98E1F"/>
      </a:accent2>
      <a:accent3>
        <a:srgbClr val="1F7A6E"/>
      </a:accent3>
      <a:accent4>
        <a:srgbClr val="B04A35"/>
      </a:accent4>
      <a:accent5>
        <a:srgbClr val="6C8EAD"/>
      </a:accent5>
      <a:accent6>
        <a:srgbClr val="9AA5B1"/>
      </a:accent6>
      <a:hlink>
        <a:srgbClr val="2E4A6B"/>
      </a:hlink>
      <a:folHlink>
        <a:srgbClr val="5B6573"/>
      </a:folHlink>
    </a:clrScheme>
    <a:fontScheme name="EART29200 Writing Strand">
      <a:majorFont>
        <a:latin typeface="Georg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Tutorial 5 — Make every figure earn its place</dc:title>
  <dc:subject>ENSO and cloud cover mini-project — writing strand</dc:subject>
  <dc:creator>EART29200 course team</dc:creator>
  <cp:lastModifiedBy>EART29200 course team</cp:lastModifiedBy>
  <cp:revision>1</cp:revision>
  <dcterms:created xsi:type="dcterms:W3CDTF">2026-10-03T17:21:44Z</dcterms:created>
  <dcterms:modified xsi:type="dcterms:W3CDTF">2026-10-03T17:21:44Z</dcterms:modified>
</cp:coreProperties>
</file>