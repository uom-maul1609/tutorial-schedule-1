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Put seven coins in a bucket and pull them out at random. The chance they come out in perfect order is one in 7 factorial, one in 5,040, so that would be astonishing. With three coins it's one in six, so it happens all the time. Both give a perfect correlation between draw order and value (r = 1); what differs is how likely that is by chance. That's what a p-value measures: if there were really no relationship, how often would random data give a correlation at least this strong? It depends on both r and n. The histogram shows correlations between pairs of pure random numbers: with 3 points, |r| above 0.8 happens 41% of the time; with 30 points, almost 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The usual p-value formula assumes each data point is independent new information. Monthly ENSO data aren't: if the ONI is high this month, it's almost certainly high next month (lag-1 autocorrelation 0.97). Twelve months of one El Niño are not twelve independent experiments. The effective sample size estimates how many independent pieces of information you really have: n_eff = n(1 − r1x r1y)/(1 + r1x r1y), using each series' month-to-month autocorrelation. With our 247 months, n_eff can be as low as about 30. Compute the p-value with n_eff instead of n, using t = r√(n−2)/√(1−r²) with n−2 degrees of freedom. The notebook's section 6 table does this for you; Task 5D asks you to do it once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The left map correlates the real ONI with completely random numbers that have realistic memory in time and blobs in space, like weather. About a third of the map passes a naive 5% significance test. Even with no memory at all, about 1 in 20 grid points would pass by chance, and a map has thousands of points, so that's hundreds of false 'signals'. The right map, from real data, is much stronger and sits where the physics predicts. Lesson: choose your region for a physical reason, then test it properly (with n_eff or the shift test), rather than picking the most impressive blob.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To compare two years, take each year's 12 monthly anomalies and run a t-test: is the difference in means big compared with the month-to-month scatter? Neighbouring months are correlated (r1 = 0.54 for global cloud), so 12 months behave like about 3.6 independent months, which widens the error bars (coloured bars versus grey). Example: 2010 minus 2011 is 0.51 percentage points, with naive p = 0.02 but adjusted p = 0.24, so it's not significant. Two warnings. With 20 complete years there are 190 possible pairs, so about 10 will look significant by chance; choose your years for a reason before looking. And global cloud falls by about 0.4 percentage points per decade in this record, so years far apart differ partly because of that trend. Notebook section 3b has a DETREND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Every threshold is a choice someone can question, so give a reason for yours: convention (NOAA uses ±0.5 °C), physics, or the data's own distribution (such as the top and bottom quarter of ONI months). Then test it. At ±1.0 °C the El Niño months drop from 54 to 24 and the La Niña months from 82 to 25: stronger events, fewer samples. If the sign and rough size of your answer survive, say so in one sentence. That's the 'careful treatment of a subtlety' the top marking band describes.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For anything that can be positive or negative (anomalies, differences, correlations), use a two-sided colour scale with white at zero and the same limits on both sides. Otherwise zero looks like a colour, and readers see a signal that isn't there. Panels you're comparing must share the same limits. Avoid rainbow colour maps: they create sharp-looking boundaries where the data change smoothly, and many colour-blind readers can't read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5  ·  Thu 12 Nov</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5  ·  THURSDAY 12 NOVEMBER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Make every figure earn its place</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Repeatable methods · captions that stand alone · writing about figures</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peer-checked Methods section, report-ready captions and one result sentence per figure.</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6C8EAD"/>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6C8EAD"/>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6C8EAD"/>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D98E1F"/>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2E4A6B"/>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5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Leave with report-ready captions and a Methods section someone else could repeat.</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Peer check: could I repeat your Methods?</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r isn't enough (coins, n, p, n_eff)</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noise maps, year-to-year tests, thresholds</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Captions, writing about figures, honest colour scales</a:t>
            </a:r>
            <a:endParaRPr lang="en-US" sz="1600" dirty="0"/>
          </a:p>
        </p:txBody>
      </p:sp>
      <p:sp>
        <p:nvSpPr>
          <p:cNvPr id="16" name="card_32"/>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17" name="tag_33"/>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18" name="text_34"/>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19" name="cardbody_35"/>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4B Methods draft (printed or on screen)</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4C topic-sentence outline</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3–5 draft figures</a:t>
            </a:r>
            <a:endParaRPr lang="en-US" sz="1400" dirty="0"/>
          </a:p>
        </p:txBody>
      </p:sp>
      <p:sp>
        <p:nvSpPr>
          <p:cNvPr id="20" name="dot_36"/>
          <p:cNvSpPr/>
          <p:nvPr/>
        </p:nvSpPr>
        <p:spPr>
          <a:xfrm>
            <a:off x="4852264" y="5897880"/>
            <a:ext cx="182880" cy="182880"/>
          </a:xfrm>
          <a:prstGeom prst="ellipse">
            <a:avLst/>
          </a:prstGeom>
          <a:solidFill>
            <a:srgbClr val="2E4A6B"/>
          </a:solidFill>
          <a:ln w="6350">
            <a:solidFill>
              <a:srgbClr val="D5DAE1"/>
            </a:solidFill>
            <a:prstDash val="solid"/>
          </a:ln>
        </p:spPr>
      </p:sp>
      <p:sp>
        <p:nvSpPr>
          <p:cNvPr id="21" name="dot_37"/>
          <p:cNvSpPr/>
          <p:nvPr/>
        </p:nvSpPr>
        <p:spPr>
          <a:xfrm>
            <a:off x="5181448" y="5897880"/>
            <a:ext cx="182880" cy="182880"/>
          </a:xfrm>
          <a:prstGeom prst="ellipse">
            <a:avLst/>
          </a:prstGeom>
          <a:solidFill>
            <a:srgbClr val="2E4A6B"/>
          </a:solidFill>
          <a:ln w="6350">
            <a:solidFill>
              <a:srgbClr val="D5DAE1"/>
            </a:solidFill>
            <a:prstDash val="solid"/>
          </a:ln>
        </p:spPr>
      </p:sp>
      <p:sp>
        <p:nvSpPr>
          <p:cNvPr id="22" name="dot_38"/>
          <p:cNvSpPr/>
          <p:nvPr/>
        </p:nvSpPr>
        <p:spPr>
          <a:xfrm>
            <a:off x="5510632" y="5897880"/>
            <a:ext cx="182880" cy="182880"/>
          </a:xfrm>
          <a:prstGeom prst="ellipse">
            <a:avLst/>
          </a:prstGeom>
          <a:solidFill>
            <a:srgbClr val="2E4A6B"/>
          </a:solidFill>
          <a:ln w="6350">
            <a:solidFill>
              <a:srgbClr val="D5DAE1"/>
            </a:solidFill>
            <a:prstDash val="solid"/>
          </a:ln>
        </p:spPr>
      </p:sp>
      <p:sp>
        <p:nvSpPr>
          <p:cNvPr id="23" name="dot_39"/>
          <p:cNvSpPr/>
          <p:nvPr/>
        </p:nvSpPr>
        <p:spPr>
          <a:xfrm>
            <a:off x="5839816" y="5897880"/>
            <a:ext cx="182880" cy="182880"/>
          </a:xfrm>
          <a:prstGeom prst="ellipse">
            <a:avLst/>
          </a:prstGeom>
          <a:solidFill>
            <a:srgbClr val="2E4A6B"/>
          </a:solidFill>
          <a:ln w="6350">
            <a:solidFill>
              <a:srgbClr val="D5DAE1"/>
            </a:solidFill>
            <a:prstDash val="solid"/>
          </a:ln>
        </p:spPr>
      </p:sp>
      <p:sp>
        <p:nvSpPr>
          <p:cNvPr id="24" name="dot_40"/>
          <p:cNvSpPr/>
          <p:nvPr/>
        </p:nvSpPr>
        <p:spPr>
          <a:xfrm>
            <a:off x="6169000" y="5897880"/>
            <a:ext cx="182880" cy="182880"/>
          </a:xfrm>
          <a:prstGeom prst="ellipse">
            <a:avLst/>
          </a:prstGeom>
          <a:solidFill>
            <a:srgbClr val="D98E1F"/>
          </a:solidFill>
          <a:ln w="6350">
            <a:solidFill>
              <a:srgbClr val="D5DAE1"/>
            </a:solidFill>
            <a:prstDash val="solid"/>
          </a:ln>
        </p:spPr>
      </p:sp>
      <p:sp>
        <p:nvSpPr>
          <p:cNvPr id="25" name="dot_41"/>
          <p:cNvSpPr/>
          <p:nvPr/>
        </p:nvSpPr>
        <p:spPr>
          <a:xfrm>
            <a:off x="6498184" y="5897880"/>
            <a:ext cx="182880" cy="182880"/>
          </a:xfrm>
          <a:prstGeom prst="ellipse">
            <a:avLst/>
          </a:prstGeom>
          <a:solidFill>
            <a:srgbClr val="D5DAE1"/>
          </a:solidFill>
          <a:ln w="6350">
            <a:solidFill>
              <a:srgbClr val="D5DAE1"/>
            </a:solidFill>
            <a:prstDash val="solid"/>
          </a:ln>
        </p:spPr>
      </p:sp>
      <p:sp>
        <p:nvSpPr>
          <p:cNvPr id="26" name="dot_42"/>
          <p:cNvSpPr/>
          <p:nvPr/>
        </p:nvSpPr>
        <p:spPr>
          <a:xfrm>
            <a:off x="6827368" y="5897880"/>
            <a:ext cx="182880" cy="182880"/>
          </a:xfrm>
          <a:prstGeom prst="ellipse">
            <a:avLst/>
          </a:prstGeom>
          <a:solidFill>
            <a:srgbClr val="D5DAE1"/>
          </a:solidFill>
          <a:ln w="6350">
            <a:solidFill>
              <a:srgbClr val="D5DAE1"/>
            </a:solidFill>
            <a:prstDash val="solid"/>
          </a:ln>
        </p:spPr>
      </p:sp>
      <p:sp>
        <p:nvSpPr>
          <p:cNvPr id="27" name="dot_43"/>
          <p:cNvSpPr/>
          <p:nvPr/>
        </p:nvSpPr>
        <p:spPr>
          <a:xfrm>
            <a:off x="7156552" y="5897880"/>
            <a:ext cx="182880" cy="182880"/>
          </a:xfrm>
          <a:prstGeom prst="ellipse">
            <a:avLst/>
          </a:prstGeom>
          <a:solidFill>
            <a:srgbClr val="D5DAE1"/>
          </a:solidFill>
          <a:ln w="6350">
            <a:solidFill>
              <a:srgbClr val="D5DAE1"/>
            </a:solidFill>
            <a:prstDash val="solid"/>
          </a:ln>
        </p:spPr>
      </p:sp>
      <p:sp>
        <p:nvSpPr>
          <p:cNvPr id="28" name="text_44"/>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5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actband_45"/>
          <p:cNvSpPr/>
          <p:nvPr/>
        </p:nvSpPr>
        <p:spPr>
          <a:xfrm>
            <a:off x="0" y="237744"/>
            <a:ext cx="12191695" cy="914400"/>
          </a:xfrm>
          <a:prstGeom prst="rect">
            <a:avLst/>
          </a:prstGeom>
          <a:solidFill>
            <a:srgbClr val="FBEBD0"/>
          </a:solidFill>
          <a:ln w="12700">
            <a:solidFill>
              <a:srgbClr val="FBEBD0"/>
            </a:solidFill>
            <a:prstDash val="solid"/>
          </a:ln>
        </p:spPr>
      </p:sp>
      <p:sp>
        <p:nvSpPr>
          <p:cNvPr id="3" name="text_46"/>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10 MIN</a:t>
            </a:r>
            <a:endParaRPr lang="en-US" sz="1100" dirty="0"/>
          </a:p>
        </p:txBody>
      </p:sp>
      <p:sp>
        <p:nvSpPr>
          <p:cNvPr id="4" name="text_47"/>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Could I repeat your study?</a:t>
            </a:r>
            <a:endParaRPr lang="en-US" sz="2600" dirty="0"/>
          </a:p>
        </p:txBody>
      </p:sp>
      <p:sp>
        <p:nvSpPr>
          <p:cNvPr id="5" name="num_48"/>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49"/>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50"/>
          <p:cNvSpPr txBox="1"/>
          <p:nvPr/>
        </p:nvSpPr>
        <p:spPr>
          <a:xfrm>
            <a:off x="1097280" y="1417320"/>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Swap Methods drafts with a partner.</a:t>
            </a:r>
            <a:endParaRPr lang="en-US" sz="1500" dirty="0"/>
          </a:p>
        </p:txBody>
      </p:sp>
      <p:sp>
        <p:nvSpPr>
          <p:cNvPr id="8" name="num_51"/>
          <p:cNvSpPr/>
          <p:nvPr/>
        </p:nvSpPr>
        <p:spPr>
          <a:xfrm>
            <a:off x="594360" y="2020824"/>
            <a:ext cx="365760" cy="365760"/>
          </a:xfrm>
          <a:prstGeom prst="ellipse">
            <a:avLst/>
          </a:prstGeom>
          <a:solidFill>
            <a:srgbClr val="D98E1F"/>
          </a:solidFill>
          <a:ln w="12700">
            <a:solidFill>
              <a:srgbClr val="D98E1F"/>
            </a:solidFill>
            <a:prstDash val="solid"/>
          </a:ln>
        </p:spPr>
      </p:sp>
      <p:sp>
        <p:nvSpPr>
          <p:cNvPr id="9" name="text_52"/>
          <p:cNvSpPr txBox="1"/>
          <p:nvPr/>
        </p:nvSpPr>
        <p:spPr>
          <a:xfrm>
            <a:off x="594360" y="2020824"/>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53"/>
          <p:cNvSpPr txBox="1"/>
          <p:nvPr/>
        </p:nvSpPr>
        <p:spPr>
          <a:xfrm>
            <a:off x="1097280" y="2002536"/>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Read as if you had to </a:t>
            </a:r>
            <a:r>
              <a:rPr lang="en-US" sz="1500" b="1" dirty="0">
                <a:solidFill>
                  <a:srgbClr val="222B36"/>
                </a:solidFill>
                <a:latin typeface="Calibri" pitchFamily="34" charset="0"/>
                <a:ea typeface="Calibri" pitchFamily="34" charset="-122"/>
                <a:cs typeface="Calibri" pitchFamily="34" charset="-120"/>
              </a:rPr>
              <a:t>redo the analysis tomorrow</a:t>
            </a:r>
            <a:r>
              <a:rPr lang="en-US" sz="1500" dirty="0">
                <a:solidFill>
                  <a:srgbClr val="222B36"/>
                </a:solidFill>
                <a:latin typeface="Calibri" pitchFamily="34" charset="0"/>
                <a:ea typeface="Calibri" pitchFamily="34" charset="-122"/>
                <a:cs typeface="Calibri" pitchFamily="34" charset="-120"/>
              </a:rPr>
              <a:t> with only this text and the notebook.</a:t>
            </a:r>
            <a:endParaRPr lang="en-US" sz="1500" dirty="0"/>
          </a:p>
        </p:txBody>
      </p:sp>
      <p:sp>
        <p:nvSpPr>
          <p:cNvPr id="11" name="num_54"/>
          <p:cNvSpPr/>
          <p:nvPr/>
        </p:nvSpPr>
        <p:spPr>
          <a:xfrm>
            <a:off x="594360" y="2807208"/>
            <a:ext cx="365760" cy="365760"/>
          </a:xfrm>
          <a:prstGeom prst="ellipse">
            <a:avLst/>
          </a:prstGeom>
          <a:solidFill>
            <a:srgbClr val="D98E1F"/>
          </a:solidFill>
          <a:ln w="12700">
            <a:solidFill>
              <a:srgbClr val="D98E1F"/>
            </a:solidFill>
            <a:prstDash val="solid"/>
          </a:ln>
        </p:spPr>
      </p:sp>
      <p:sp>
        <p:nvSpPr>
          <p:cNvPr id="12" name="text_55"/>
          <p:cNvSpPr txBox="1"/>
          <p:nvPr/>
        </p:nvSpPr>
        <p:spPr>
          <a:xfrm>
            <a:off x="594360" y="28072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56"/>
          <p:cNvSpPr txBox="1"/>
          <p:nvPr/>
        </p:nvSpPr>
        <p:spPr>
          <a:xfrm>
            <a:off x="1097280" y="27889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List every decision you would have to </a:t>
            </a:r>
            <a:r>
              <a:rPr lang="en-US" sz="1500" b="1" dirty="0">
                <a:solidFill>
                  <a:srgbClr val="222B36"/>
                </a:solidFill>
                <a:latin typeface="Calibri" pitchFamily="34" charset="0"/>
                <a:ea typeface="Calibri" pitchFamily="34" charset="-122"/>
                <a:cs typeface="Calibri" pitchFamily="34" charset="-120"/>
              </a:rPr>
              <a:t>guess</a:t>
            </a:r>
            <a:r>
              <a:rPr lang="en-US" sz="1500" dirty="0">
                <a:solidFill>
                  <a:srgbClr val="222B36"/>
                </a:solidFill>
                <a:latin typeface="Calibri" pitchFamily="34" charset="0"/>
                <a:ea typeface="Calibri" pitchFamily="34" charset="-122"/>
                <a:cs typeface="Calibri" pitchFamily="34" charset="-120"/>
              </a:rPr>
              <a:t>: period? region bounds? ONI threshold? anomaly baseline? weighting? cloud variable? months used?</a:t>
            </a:r>
            <a:endParaRPr lang="en-US" sz="1500" dirty="0"/>
          </a:p>
        </p:txBody>
      </p:sp>
      <p:sp>
        <p:nvSpPr>
          <p:cNvPr id="14" name="num_57"/>
          <p:cNvSpPr/>
          <p:nvPr/>
        </p:nvSpPr>
        <p:spPr>
          <a:xfrm>
            <a:off x="594360" y="3593592"/>
            <a:ext cx="365760" cy="365760"/>
          </a:xfrm>
          <a:prstGeom prst="ellipse">
            <a:avLst/>
          </a:prstGeom>
          <a:solidFill>
            <a:srgbClr val="D98E1F"/>
          </a:solidFill>
          <a:ln w="12700">
            <a:solidFill>
              <a:srgbClr val="D98E1F"/>
            </a:solidFill>
            <a:prstDash val="solid"/>
          </a:ln>
        </p:spPr>
      </p:sp>
      <p:sp>
        <p:nvSpPr>
          <p:cNvPr id="15" name="text_58"/>
          <p:cNvSpPr txBox="1"/>
          <p:nvPr/>
        </p:nvSpPr>
        <p:spPr>
          <a:xfrm>
            <a:off x="594360" y="35935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59"/>
          <p:cNvSpPr txBox="1"/>
          <p:nvPr/>
        </p:nvSpPr>
        <p:spPr>
          <a:xfrm>
            <a:off x="1097280" y="35753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Also mark anything that is </a:t>
            </a:r>
            <a:r>
              <a:rPr lang="en-US" sz="1500" b="1" dirty="0">
                <a:solidFill>
                  <a:srgbClr val="222B36"/>
                </a:solidFill>
                <a:latin typeface="Calibri" pitchFamily="34" charset="0"/>
                <a:ea typeface="Calibri" pitchFamily="34" charset="-122"/>
                <a:cs typeface="Calibri" pitchFamily="34" charset="-120"/>
              </a:rPr>
              <a:t>code, not science</a:t>
            </a:r>
            <a:r>
              <a:rPr lang="en-US" sz="1500" dirty="0">
                <a:solidFill>
                  <a:srgbClr val="222B36"/>
                </a:solidFill>
                <a:latin typeface="Calibri" pitchFamily="34" charset="0"/>
                <a:ea typeface="Calibri" pitchFamily="34" charset="-122"/>
                <a:cs typeface="Calibri" pitchFamily="34" charset="-120"/>
              </a:rPr>
              <a:t> (cell numbers, function names, ‘I ran…’).</a:t>
            </a:r>
            <a:endParaRPr lang="en-US" sz="1500" dirty="0"/>
          </a:p>
        </p:txBody>
      </p:sp>
      <p:sp>
        <p:nvSpPr>
          <p:cNvPr id="17" name="num_60"/>
          <p:cNvSpPr/>
          <p:nvPr/>
        </p:nvSpPr>
        <p:spPr>
          <a:xfrm>
            <a:off x="594360" y="4379976"/>
            <a:ext cx="365760" cy="365760"/>
          </a:xfrm>
          <a:prstGeom prst="ellipse">
            <a:avLst/>
          </a:prstGeom>
          <a:solidFill>
            <a:srgbClr val="D98E1F"/>
          </a:solidFill>
          <a:ln w="12700">
            <a:solidFill>
              <a:srgbClr val="D98E1F"/>
            </a:solidFill>
            <a:prstDash val="solid"/>
          </a:ln>
        </p:spPr>
      </p:sp>
      <p:sp>
        <p:nvSpPr>
          <p:cNvPr id="18" name="text_61"/>
          <p:cNvSpPr txBox="1"/>
          <p:nvPr/>
        </p:nvSpPr>
        <p:spPr>
          <a:xfrm>
            <a:off x="594360" y="43799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62"/>
          <p:cNvSpPr txBox="1"/>
          <p:nvPr/>
        </p:nvSpPr>
        <p:spPr>
          <a:xfrm>
            <a:off x="1097280" y="4361688"/>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Return the list. Don't fix it now; that is Task 5A.</a:t>
            </a:r>
            <a:endParaRPr lang="en-US" sz="1500" dirty="0"/>
          </a:p>
        </p:txBody>
      </p:sp>
      <p:sp>
        <p:nvSpPr>
          <p:cNvPr id="20" name="card_63"/>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64"/>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65"/>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66"/>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‘guess list’ for your own Methods</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sense of what a complete Methods looks like</a:t>
            </a:r>
            <a:endParaRPr lang="en-US" sz="1450" dirty="0"/>
          </a:p>
        </p:txBody>
      </p:sp>
      <p:sp>
        <p:nvSpPr>
          <p:cNvPr id="24" name="card_67"/>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68"/>
          <p:cNvSpPr/>
          <p:nvPr/>
        </p:nvSpPr>
        <p:spPr>
          <a:xfrm>
            <a:off x="7845552" y="4059936"/>
            <a:ext cx="1078992" cy="256032"/>
          </a:xfrm>
          <a:prstGeom prst="roundRect">
            <a:avLst>
              <a:gd name="adj" fmla="val 21429"/>
            </a:avLst>
          </a:prstGeom>
          <a:solidFill>
            <a:srgbClr val="2E4A6B"/>
          </a:solidFill>
          <a:ln w="12700">
            <a:solidFill>
              <a:srgbClr val="2E4A6B"/>
            </a:solidFill>
            <a:prstDash val="solid"/>
          </a:ln>
        </p:spPr>
      </p:sp>
      <p:sp>
        <p:nvSpPr>
          <p:cNvPr id="26" name="text_69"/>
          <p:cNvSpPr txBox="1"/>
          <p:nvPr/>
        </p:nvSpPr>
        <p:spPr>
          <a:xfrm>
            <a:off x="7845552" y="4059936"/>
            <a:ext cx="107899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THE STANDARD</a:t>
            </a:r>
            <a:endParaRPr lang="en-US" sz="1050" dirty="0"/>
          </a:p>
        </p:txBody>
      </p:sp>
      <p:sp>
        <p:nvSpPr>
          <p:cNvPr id="27" name="cardbody_70"/>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Schultz: a tenet of scientific writing is whether a reader ‘has enough information from the paper to duplicate the study’.</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Interpretation (why the cloud changes) belongs in the </a:t>
            </a:r>
            <a:r>
              <a:rPr lang="en-US" sz="1400" b="1" dirty="0">
                <a:solidFill>
                  <a:srgbClr val="222B36"/>
                </a:solidFill>
                <a:latin typeface="Calibri" pitchFamily="34" charset="0"/>
                <a:ea typeface="Calibri" pitchFamily="34" charset="-122"/>
                <a:cs typeface="Calibri" pitchFamily="34" charset="-120"/>
              </a:rPr>
              <a:t>Discussion</a:t>
            </a:r>
            <a:r>
              <a:rPr lang="en-US" sz="1400" dirty="0">
                <a:solidFill>
                  <a:srgbClr val="222B36"/>
                </a:solidFill>
                <a:latin typeface="Calibri" pitchFamily="34" charset="0"/>
                <a:ea typeface="Calibri" pitchFamily="34" charset="-122"/>
                <a:cs typeface="Calibri" pitchFamily="34" charset="-120"/>
              </a:rPr>
              <a:t>, not the Methods.</a:t>
            </a:r>
            <a:endParaRPr lang="en-US" sz="1400" dirty="0"/>
          </a:p>
        </p:txBody>
      </p:sp>
      <p:sp>
        <p:nvSpPr>
          <p:cNvPr id="28" name="text_71"/>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§4.8 Data and methods.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72"/>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73"/>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7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Coins in a bucket: r is not enough, n matters</a:t>
            </a:r>
            <a:endParaRPr lang="en-US" sz="2800" dirty="0"/>
          </a:p>
        </p:txBody>
      </p:sp>
      <p:sp>
        <p:nvSpPr>
          <p:cNvPr id="5" name="coin_75"/>
          <p:cNvSpPr/>
          <p:nvPr/>
        </p:nvSpPr>
        <p:spPr>
          <a:xfrm>
            <a:off x="676656" y="1591056"/>
            <a:ext cx="384048" cy="384048"/>
          </a:xfrm>
          <a:prstGeom prst="ellipse">
            <a:avLst/>
          </a:prstGeom>
          <a:solidFill>
            <a:srgbClr val="C98B5A"/>
          </a:solidFill>
          <a:ln w="12700">
            <a:solidFill>
              <a:srgbClr val="5B6573"/>
            </a:solidFill>
            <a:prstDash val="solid"/>
          </a:ln>
        </p:spPr>
      </p:sp>
      <p:sp>
        <p:nvSpPr>
          <p:cNvPr id="6" name="text_76"/>
          <p:cNvSpPr txBox="1"/>
          <p:nvPr/>
        </p:nvSpPr>
        <p:spPr>
          <a:xfrm>
            <a:off x="676656" y="1591056"/>
            <a:ext cx="384048" cy="384048"/>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1p</a:t>
            </a:r>
            <a:endParaRPr lang="en-US" sz="1100" dirty="0"/>
          </a:p>
        </p:txBody>
      </p:sp>
      <p:sp>
        <p:nvSpPr>
          <p:cNvPr id="7" name="coin_77"/>
          <p:cNvSpPr/>
          <p:nvPr/>
        </p:nvSpPr>
        <p:spPr>
          <a:xfrm>
            <a:off x="1442466" y="1570482"/>
            <a:ext cx="425196" cy="425196"/>
          </a:xfrm>
          <a:prstGeom prst="ellipse">
            <a:avLst/>
          </a:prstGeom>
          <a:solidFill>
            <a:srgbClr val="C98B5A"/>
          </a:solidFill>
          <a:ln w="12700">
            <a:solidFill>
              <a:srgbClr val="5B6573"/>
            </a:solidFill>
            <a:prstDash val="solid"/>
          </a:ln>
        </p:spPr>
      </p:sp>
      <p:sp>
        <p:nvSpPr>
          <p:cNvPr id="8" name="text_78"/>
          <p:cNvSpPr txBox="1"/>
          <p:nvPr/>
        </p:nvSpPr>
        <p:spPr>
          <a:xfrm>
            <a:off x="1442466" y="1570482"/>
            <a:ext cx="425196" cy="425196"/>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2p</a:t>
            </a:r>
            <a:endParaRPr lang="en-US" sz="1100" dirty="0"/>
          </a:p>
        </p:txBody>
      </p:sp>
      <p:sp>
        <p:nvSpPr>
          <p:cNvPr id="9" name="coin_79"/>
          <p:cNvSpPr/>
          <p:nvPr/>
        </p:nvSpPr>
        <p:spPr>
          <a:xfrm>
            <a:off x="2208276" y="1549908"/>
            <a:ext cx="466344" cy="466344"/>
          </a:xfrm>
          <a:prstGeom prst="ellipse">
            <a:avLst/>
          </a:prstGeom>
          <a:solidFill>
            <a:srgbClr val="C9CED6"/>
          </a:solidFill>
          <a:ln w="12700">
            <a:solidFill>
              <a:srgbClr val="5B6573"/>
            </a:solidFill>
            <a:prstDash val="solid"/>
          </a:ln>
        </p:spPr>
      </p:sp>
      <p:sp>
        <p:nvSpPr>
          <p:cNvPr id="10" name="text_80"/>
          <p:cNvSpPr txBox="1"/>
          <p:nvPr/>
        </p:nvSpPr>
        <p:spPr>
          <a:xfrm>
            <a:off x="2208276" y="1549908"/>
            <a:ext cx="466344" cy="466344"/>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5p</a:t>
            </a:r>
            <a:endParaRPr lang="en-US" sz="1100" dirty="0"/>
          </a:p>
        </p:txBody>
      </p:sp>
      <p:sp>
        <p:nvSpPr>
          <p:cNvPr id="11" name="coin_81"/>
          <p:cNvSpPr/>
          <p:nvPr/>
        </p:nvSpPr>
        <p:spPr>
          <a:xfrm>
            <a:off x="2974086" y="1529334"/>
            <a:ext cx="507492" cy="507492"/>
          </a:xfrm>
          <a:prstGeom prst="ellipse">
            <a:avLst/>
          </a:prstGeom>
          <a:solidFill>
            <a:srgbClr val="C9CED6"/>
          </a:solidFill>
          <a:ln w="12700">
            <a:solidFill>
              <a:srgbClr val="5B6573"/>
            </a:solidFill>
            <a:prstDash val="solid"/>
          </a:ln>
        </p:spPr>
      </p:sp>
      <p:sp>
        <p:nvSpPr>
          <p:cNvPr id="12" name="text_82"/>
          <p:cNvSpPr txBox="1"/>
          <p:nvPr/>
        </p:nvSpPr>
        <p:spPr>
          <a:xfrm>
            <a:off x="2974086" y="1529334"/>
            <a:ext cx="507492" cy="507492"/>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10p</a:t>
            </a:r>
            <a:endParaRPr lang="en-US" sz="1100" dirty="0"/>
          </a:p>
        </p:txBody>
      </p:sp>
      <p:sp>
        <p:nvSpPr>
          <p:cNvPr id="13" name="coin_83"/>
          <p:cNvSpPr/>
          <p:nvPr/>
        </p:nvSpPr>
        <p:spPr>
          <a:xfrm>
            <a:off x="3739896" y="1508760"/>
            <a:ext cx="548640" cy="548640"/>
          </a:xfrm>
          <a:prstGeom prst="ellipse">
            <a:avLst/>
          </a:prstGeom>
          <a:solidFill>
            <a:srgbClr val="C9CED6"/>
          </a:solidFill>
          <a:ln w="12700">
            <a:solidFill>
              <a:srgbClr val="5B6573"/>
            </a:solidFill>
            <a:prstDash val="solid"/>
          </a:ln>
        </p:spPr>
      </p:sp>
      <p:sp>
        <p:nvSpPr>
          <p:cNvPr id="14" name="text_84"/>
          <p:cNvSpPr txBox="1"/>
          <p:nvPr/>
        </p:nvSpPr>
        <p:spPr>
          <a:xfrm>
            <a:off x="3739896" y="1508760"/>
            <a:ext cx="548640" cy="548640"/>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20p</a:t>
            </a:r>
            <a:endParaRPr lang="en-US" sz="1100" dirty="0"/>
          </a:p>
        </p:txBody>
      </p:sp>
      <p:sp>
        <p:nvSpPr>
          <p:cNvPr id="15" name="coin_85"/>
          <p:cNvSpPr/>
          <p:nvPr/>
        </p:nvSpPr>
        <p:spPr>
          <a:xfrm>
            <a:off x="4505706" y="1488186"/>
            <a:ext cx="589788" cy="589788"/>
          </a:xfrm>
          <a:prstGeom prst="ellipse">
            <a:avLst/>
          </a:prstGeom>
          <a:solidFill>
            <a:srgbClr val="C9CED6"/>
          </a:solidFill>
          <a:ln w="12700">
            <a:solidFill>
              <a:srgbClr val="5B6573"/>
            </a:solidFill>
            <a:prstDash val="solid"/>
          </a:ln>
        </p:spPr>
      </p:sp>
      <p:sp>
        <p:nvSpPr>
          <p:cNvPr id="16" name="text_86"/>
          <p:cNvSpPr txBox="1"/>
          <p:nvPr/>
        </p:nvSpPr>
        <p:spPr>
          <a:xfrm>
            <a:off x="4505706" y="1488186"/>
            <a:ext cx="589788" cy="589788"/>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50p</a:t>
            </a:r>
            <a:endParaRPr lang="en-US" sz="1100" dirty="0"/>
          </a:p>
        </p:txBody>
      </p:sp>
      <p:sp>
        <p:nvSpPr>
          <p:cNvPr id="17" name="coin_87"/>
          <p:cNvSpPr/>
          <p:nvPr/>
        </p:nvSpPr>
        <p:spPr>
          <a:xfrm>
            <a:off x="5271516" y="1467612"/>
            <a:ext cx="630936" cy="630936"/>
          </a:xfrm>
          <a:prstGeom prst="ellipse">
            <a:avLst/>
          </a:prstGeom>
          <a:solidFill>
            <a:srgbClr val="D9B45A"/>
          </a:solidFill>
          <a:ln w="12700">
            <a:solidFill>
              <a:srgbClr val="5B6573"/>
            </a:solidFill>
            <a:prstDash val="solid"/>
          </a:ln>
        </p:spPr>
      </p:sp>
      <p:sp>
        <p:nvSpPr>
          <p:cNvPr id="18" name="text_88"/>
          <p:cNvSpPr txBox="1"/>
          <p:nvPr/>
        </p:nvSpPr>
        <p:spPr>
          <a:xfrm>
            <a:off x="5271516" y="1467612"/>
            <a:ext cx="630936" cy="630936"/>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£1</a:t>
            </a:r>
            <a:endParaRPr lang="en-US" sz="1100" dirty="0"/>
          </a:p>
        </p:txBody>
      </p:sp>
      <p:sp>
        <p:nvSpPr>
          <p:cNvPr id="19" name="text_89"/>
          <p:cNvSpPr txBox="1"/>
          <p:nvPr/>
        </p:nvSpPr>
        <p:spPr>
          <a:xfrm>
            <a:off x="548640" y="2148840"/>
            <a:ext cx="585216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Pull them out at random. What's the chance they come out in perfect order, so that draw order and value have r = 1?</a:t>
            </a:r>
            <a:endParaRPr lang="en-US" sz="1500" dirty="0"/>
          </a:p>
        </p:txBody>
      </p:sp>
      <p:sp>
        <p:nvSpPr>
          <p:cNvPr id="20" name="row_90"/>
          <p:cNvSpPr/>
          <p:nvPr/>
        </p:nvSpPr>
        <p:spPr>
          <a:xfrm>
            <a:off x="548640" y="2834640"/>
            <a:ext cx="5852160" cy="457200"/>
          </a:xfrm>
          <a:prstGeom prst="rect">
            <a:avLst/>
          </a:prstGeom>
          <a:solidFill>
            <a:srgbClr val="F7F4EE"/>
          </a:solidFill>
          <a:ln w="12700">
            <a:solidFill>
              <a:srgbClr val="F7F4EE"/>
            </a:solidFill>
            <a:prstDash val="solid"/>
          </a:ln>
        </p:spPr>
      </p:sp>
      <p:sp>
        <p:nvSpPr>
          <p:cNvPr id="21" name="text_91"/>
          <p:cNvSpPr txBox="1"/>
          <p:nvPr/>
        </p:nvSpPr>
        <p:spPr>
          <a:xfrm>
            <a:off x="685800" y="2834640"/>
            <a:ext cx="1645920" cy="457200"/>
          </a:xfrm>
          <a:prstGeom prst="rect">
            <a:avLst/>
          </a:prstGeom>
          <a:noFill/>
          <a:ln/>
        </p:spPr>
        <p:txBody>
          <a:bodyPr wrap="square" lIns="635" tIns="635" rIns="635" bIns="635" rtlCol="0" anchor="ctr"/>
          <a:lstStyle/>
          <a:p>
            <a:pPr algn="l" indent="0" marL="0">
              <a:lnSpc>
                <a:spcPct val="100000"/>
              </a:lnSpc>
              <a:buNone/>
            </a:pPr>
            <a:r>
              <a:rPr lang="en-US" sz="1500" b="1" dirty="0">
                <a:solidFill>
                  <a:srgbClr val="1B2A41"/>
                </a:solidFill>
                <a:latin typeface="Calibri" pitchFamily="34" charset="0"/>
                <a:ea typeface="Calibri" pitchFamily="34" charset="-122"/>
                <a:cs typeface="Calibri" pitchFamily="34" charset="-120"/>
              </a:rPr>
              <a:t>3 coins</a:t>
            </a:r>
            <a:endParaRPr lang="en-US" sz="1500" dirty="0"/>
          </a:p>
        </p:txBody>
      </p:sp>
      <p:sp>
        <p:nvSpPr>
          <p:cNvPr id="22" name="text_92"/>
          <p:cNvSpPr txBox="1"/>
          <p:nvPr/>
        </p:nvSpPr>
        <p:spPr>
          <a:xfrm>
            <a:off x="2377440" y="2834640"/>
            <a:ext cx="2011680" cy="457200"/>
          </a:xfrm>
          <a:prstGeom prst="rect">
            <a:avLst/>
          </a:prstGeom>
          <a:noFill/>
          <a:ln/>
        </p:spPr>
        <p:txBody>
          <a:bodyPr wrap="square" lIns="635" tIns="635" rIns="635" bIns="635" rtlCol="0" anchor="ctr"/>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1 in 6</a:t>
            </a:r>
            <a:endParaRPr lang="en-US" sz="1500" dirty="0"/>
          </a:p>
        </p:txBody>
      </p:sp>
      <p:sp>
        <p:nvSpPr>
          <p:cNvPr id="23" name="text_93"/>
          <p:cNvSpPr txBox="1"/>
          <p:nvPr/>
        </p:nvSpPr>
        <p:spPr>
          <a:xfrm>
            <a:off x="4480560" y="2834640"/>
            <a:ext cx="1737360" cy="457200"/>
          </a:xfrm>
          <a:prstGeom prst="rect">
            <a:avLst/>
          </a:prstGeom>
          <a:noFill/>
          <a:ln/>
        </p:spPr>
        <p:txBody>
          <a:bodyPr wrap="square" lIns="635" tIns="635" rIns="635" bIns="635" rtlCol="0" anchor="ctr"/>
          <a:lstStyle/>
          <a:p>
            <a:pPr algn="r" indent="0" marL="0">
              <a:lnSpc>
                <a:spcPct val="100000"/>
              </a:lnSpc>
              <a:buNone/>
            </a:pPr>
            <a:r>
              <a:rPr lang="en-US" sz="1500" b="1" dirty="0">
                <a:solidFill>
                  <a:srgbClr val="D98E1F"/>
                </a:solidFill>
                <a:latin typeface="Calibri" pitchFamily="34" charset="0"/>
                <a:ea typeface="Calibri" pitchFamily="34" charset="-122"/>
                <a:cs typeface="Calibri" pitchFamily="34" charset="-120"/>
              </a:rPr>
              <a:t>17%</a:t>
            </a:r>
            <a:endParaRPr lang="en-US" sz="1500" dirty="0"/>
          </a:p>
        </p:txBody>
      </p:sp>
      <p:sp>
        <p:nvSpPr>
          <p:cNvPr id="24" name="row_94"/>
          <p:cNvSpPr/>
          <p:nvPr/>
        </p:nvSpPr>
        <p:spPr>
          <a:xfrm>
            <a:off x="548640" y="3337560"/>
            <a:ext cx="5852160" cy="457200"/>
          </a:xfrm>
          <a:prstGeom prst="rect">
            <a:avLst/>
          </a:prstGeom>
          <a:solidFill>
            <a:srgbClr val="FFFFFF"/>
          </a:solidFill>
          <a:ln w="12700">
            <a:solidFill>
              <a:srgbClr val="F7F4EE"/>
            </a:solidFill>
            <a:prstDash val="solid"/>
          </a:ln>
        </p:spPr>
      </p:sp>
      <p:sp>
        <p:nvSpPr>
          <p:cNvPr id="25" name="text_95"/>
          <p:cNvSpPr txBox="1"/>
          <p:nvPr/>
        </p:nvSpPr>
        <p:spPr>
          <a:xfrm>
            <a:off x="685800" y="3337560"/>
            <a:ext cx="1645920" cy="457200"/>
          </a:xfrm>
          <a:prstGeom prst="rect">
            <a:avLst/>
          </a:prstGeom>
          <a:noFill/>
          <a:ln/>
        </p:spPr>
        <p:txBody>
          <a:bodyPr wrap="square" lIns="635" tIns="635" rIns="635" bIns="635" rtlCol="0" anchor="ctr"/>
          <a:lstStyle/>
          <a:p>
            <a:pPr algn="l" indent="0" marL="0">
              <a:lnSpc>
                <a:spcPct val="100000"/>
              </a:lnSpc>
              <a:buNone/>
            </a:pPr>
            <a:r>
              <a:rPr lang="en-US" sz="1500" b="1" dirty="0">
                <a:solidFill>
                  <a:srgbClr val="1B2A41"/>
                </a:solidFill>
                <a:latin typeface="Calibri" pitchFamily="34" charset="0"/>
                <a:ea typeface="Calibri" pitchFamily="34" charset="-122"/>
                <a:cs typeface="Calibri" pitchFamily="34" charset="-120"/>
              </a:rPr>
              <a:t>5 coins</a:t>
            </a:r>
            <a:endParaRPr lang="en-US" sz="1500" dirty="0"/>
          </a:p>
        </p:txBody>
      </p:sp>
      <p:sp>
        <p:nvSpPr>
          <p:cNvPr id="26" name="text_96"/>
          <p:cNvSpPr txBox="1"/>
          <p:nvPr/>
        </p:nvSpPr>
        <p:spPr>
          <a:xfrm>
            <a:off x="2377440" y="3337560"/>
            <a:ext cx="2011680" cy="457200"/>
          </a:xfrm>
          <a:prstGeom prst="rect">
            <a:avLst/>
          </a:prstGeom>
          <a:noFill/>
          <a:ln/>
        </p:spPr>
        <p:txBody>
          <a:bodyPr wrap="square" lIns="635" tIns="635" rIns="635" bIns="635" rtlCol="0" anchor="ctr"/>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1 in 120</a:t>
            </a:r>
            <a:endParaRPr lang="en-US" sz="1500" dirty="0"/>
          </a:p>
        </p:txBody>
      </p:sp>
      <p:sp>
        <p:nvSpPr>
          <p:cNvPr id="27" name="text_97"/>
          <p:cNvSpPr txBox="1"/>
          <p:nvPr/>
        </p:nvSpPr>
        <p:spPr>
          <a:xfrm>
            <a:off x="4480560" y="3337560"/>
            <a:ext cx="1737360" cy="457200"/>
          </a:xfrm>
          <a:prstGeom prst="rect">
            <a:avLst/>
          </a:prstGeom>
          <a:noFill/>
          <a:ln/>
        </p:spPr>
        <p:txBody>
          <a:bodyPr wrap="square" lIns="635" tIns="635" rIns="635" bIns="635" rtlCol="0" anchor="ctr"/>
          <a:lstStyle/>
          <a:p>
            <a:pPr algn="r" indent="0" marL="0">
              <a:lnSpc>
                <a:spcPct val="100000"/>
              </a:lnSpc>
              <a:buNone/>
            </a:pPr>
            <a:r>
              <a:rPr lang="en-US" sz="1500" b="1" dirty="0">
                <a:solidFill>
                  <a:srgbClr val="D98E1F"/>
                </a:solidFill>
                <a:latin typeface="Calibri" pitchFamily="34" charset="0"/>
                <a:ea typeface="Calibri" pitchFamily="34" charset="-122"/>
                <a:cs typeface="Calibri" pitchFamily="34" charset="-120"/>
              </a:rPr>
              <a:t>0.8%</a:t>
            </a:r>
            <a:endParaRPr lang="en-US" sz="1500" dirty="0"/>
          </a:p>
        </p:txBody>
      </p:sp>
      <p:sp>
        <p:nvSpPr>
          <p:cNvPr id="28" name="row_98"/>
          <p:cNvSpPr/>
          <p:nvPr/>
        </p:nvSpPr>
        <p:spPr>
          <a:xfrm>
            <a:off x="548640" y="3840480"/>
            <a:ext cx="5852160" cy="457200"/>
          </a:xfrm>
          <a:prstGeom prst="rect">
            <a:avLst/>
          </a:prstGeom>
          <a:solidFill>
            <a:srgbClr val="F7F4EE"/>
          </a:solidFill>
          <a:ln w="12700">
            <a:solidFill>
              <a:srgbClr val="F7F4EE"/>
            </a:solidFill>
            <a:prstDash val="solid"/>
          </a:ln>
        </p:spPr>
      </p:sp>
      <p:sp>
        <p:nvSpPr>
          <p:cNvPr id="29" name="text_99"/>
          <p:cNvSpPr txBox="1"/>
          <p:nvPr/>
        </p:nvSpPr>
        <p:spPr>
          <a:xfrm>
            <a:off x="685800" y="3840480"/>
            <a:ext cx="1645920" cy="457200"/>
          </a:xfrm>
          <a:prstGeom prst="rect">
            <a:avLst/>
          </a:prstGeom>
          <a:noFill/>
          <a:ln/>
        </p:spPr>
        <p:txBody>
          <a:bodyPr wrap="square" lIns="635" tIns="635" rIns="635" bIns="635" rtlCol="0" anchor="ctr"/>
          <a:lstStyle/>
          <a:p>
            <a:pPr algn="l" indent="0" marL="0">
              <a:lnSpc>
                <a:spcPct val="100000"/>
              </a:lnSpc>
              <a:buNone/>
            </a:pPr>
            <a:r>
              <a:rPr lang="en-US" sz="1500" b="1" dirty="0">
                <a:solidFill>
                  <a:srgbClr val="1B2A41"/>
                </a:solidFill>
                <a:latin typeface="Calibri" pitchFamily="34" charset="0"/>
                <a:ea typeface="Calibri" pitchFamily="34" charset="-122"/>
                <a:cs typeface="Calibri" pitchFamily="34" charset="-120"/>
              </a:rPr>
              <a:t>7 coins</a:t>
            </a:r>
            <a:endParaRPr lang="en-US" sz="1500" dirty="0"/>
          </a:p>
        </p:txBody>
      </p:sp>
      <p:sp>
        <p:nvSpPr>
          <p:cNvPr id="30" name="text_100"/>
          <p:cNvSpPr txBox="1"/>
          <p:nvPr/>
        </p:nvSpPr>
        <p:spPr>
          <a:xfrm>
            <a:off x="2377440" y="3840480"/>
            <a:ext cx="2011680" cy="457200"/>
          </a:xfrm>
          <a:prstGeom prst="rect">
            <a:avLst/>
          </a:prstGeom>
          <a:noFill/>
          <a:ln/>
        </p:spPr>
        <p:txBody>
          <a:bodyPr wrap="square" lIns="635" tIns="635" rIns="635" bIns="635" rtlCol="0" anchor="ctr"/>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1 in 5,040</a:t>
            </a:r>
            <a:endParaRPr lang="en-US" sz="1500" dirty="0"/>
          </a:p>
        </p:txBody>
      </p:sp>
      <p:sp>
        <p:nvSpPr>
          <p:cNvPr id="31" name="text_101"/>
          <p:cNvSpPr txBox="1"/>
          <p:nvPr/>
        </p:nvSpPr>
        <p:spPr>
          <a:xfrm>
            <a:off x="4480560" y="3840480"/>
            <a:ext cx="1737360" cy="457200"/>
          </a:xfrm>
          <a:prstGeom prst="rect">
            <a:avLst/>
          </a:prstGeom>
          <a:noFill/>
          <a:ln/>
        </p:spPr>
        <p:txBody>
          <a:bodyPr wrap="square" lIns="635" tIns="635" rIns="635" bIns="635" rtlCol="0" anchor="ctr"/>
          <a:lstStyle/>
          <a:p>
            <a:pPr algn="r" indent="0" marL="0">
              <a:lnSpc>
                <a:spcPct val="100000"/>
              </a:lnSpc>
              <a:buNone/>
            </a:pPr>
            <a:r>
              <a:rPr lang="en-US" sz="1500" b="1" dirty="0">
                <a:solidFill>
                  <a:srgbClr val="D98E1F"/>
                </a:solidFill>
                <a:latin typeface="Calibri" pitchFamily="34" charset="0"/>
                <a:ea typeface="Calibri" pitchFamily="34" charset="-122"/>
                <a:cs typeface="Calibri" pitchFamily="34" charset="-120"/>
              </a:rPr>
              <a:t>0.02%</a:t>
            </a:r>
            <a:endParaRPr lang="en-US" sz="1500" dirty="0"/>
          </a:p>
        </p:txBody>
      </p:sp>
      <p:sp>
        <p:nvSpPr>
          <p:cNvPr id="32" name="card_102"/>
          <p:cNvSpPr/>
          <p:nvPr/>
        </p:nvSpPr>
        <p:spPr>
          <a:xfrm>
            <a:off x="548640" y="4434840"/>
            <a:ext cx="5852160" cy="1828800"/>
          </a:xfrm>
          <a:prstGeom prst="roundRect">
            <a:avLst>
              <a:gd name="adj" fmla="val 4000"/>
            </a:avLst>
          </a:prstGeom>
          <a:solidFill>
            <a:srgbClr val="DCEFEA"/>
          </a:solidFill>
          <a:ln w="9525">
            <a:solidFill>
              <a:srgbClr val="DCEFEA"/>
            </a:solidFill>
            <a:prstDash val="solid"/>
          </a:ln>
        </p:spPr>
      </p:sp>
      <p:sp>
        <p:nvSpPr>
          <p:cNvPr id="33" name="tag_103"/>
          <p:cNvSpPr/>
          <p:nvPr/>
        </p:nvSpPr>
        <p:spPr>
          <a:xfrm>
            <a:off x="713232" y="4562856"/>
            <a:ext cx="845820" cy="256032"/>
          </a:xfrm>
          <a:prstGeom prst="roundRect">
            <a:avLst>
              <a:gd name="adj" fmla="val 21429"/>
            </a:avLst>
          </a:prstGeom>
          <a:solidFill>
            <a:srgbClr val="1F7A6E"/>
          </a:solidFill>
          <a:ln w="12700">
            <a:solidFill>
              <a:srgbClr val="1F7A6E"/>
            </a:solidFill>
            <a:prstDash val="solid"/>
          </a:ln>
        </p:spPr>
      </p:sp>
      <p:sp>
        <p:nvSpPr>
          <p:cNvPr id="34" name="text_104"/>
          <p:cNvSpPr txBox="1"/>
          <p:nvPr/>
        </p:nvSpPr>
        <p:spPr>
          <a:xfrm>
            <a:off x="713232" y="4562856"/>
            <a:ext cx="84582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THE POINT</a:t>
            </a:r>
            <a:endParaRPr lang="en-US" sz="1050" dirty="0"/>
          </a:p>
        </p:txBody>
      </p:sp>
      <p:sp>
        <p:nvSpPr>
          <p:cNvPr id="35" name="cardbody_105"/>
          <p:cNvSpPr txBox="1"/>
          <p:nvPr/>
        </p:nvSpPr>
        <p:spPr>
          <a:xfrm>
            <a:off x="713232" y="4910328"/>
            <a:ext cx="5522976" cy="1261872"/>
          </a:xfrm>
          <a:prstGeom prst="rect">
            <a:avLst/>
          </a:prstGeom>
          <a:noFill/>
          <a:ln/>
        </p:spPr>
        <p:txBody>
          <a:bodyPr wrap="square" lIns="381" tIns="381" rIns="381" bIns="381" rtlCol="0" anchor="t"/>
          <a:lstStyle/>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The </a:t>
            </a:r>
            <a:r>
              <a:rPr lang="en-US" sz="1400" b="1" dirty="0">
                <a:solidFill>
                  <a:srgbClr val="222B36"/>
                </a:solidFill>
                <a:latin typeface="Calibri" pitchFamily="34" charset="0"/>
                <a:ea typeface="Calibri" pitchFamily="34" charset="-122"/>
                <a:cs typeface="Calibri" pitchFamily="34" charset="-120"/>
              </a:rPr>
              <a:t>same</a:t>
            </a:r>
            <a:r>
              <a:rPr lang="en-US" sz="1400" dirty="0">
                <a:solidFill>
                  <a:srgbClr val="222B36"/>
                </a:solidFill>
                <a:latin typeface="Calibri" pitchFamily="34" charset="0"/>
                <a:ea typeface="Calibri" pitchFamily="34" charset="-122"/>
                <a:cs typeface="Calibri" pitchFamily="34" charset="-120"/>
              </a:rPr>
              <a:t> perfect r, but a very different chance that it's luck. The p-value combines r </a:t>
            </a:r>
            <a:r>
              <a:rPr lang="en-US" sz="1400" b="1" dirty="0">
                <a:solidFill>
                  <a:srgbClr val="222B36"/>
                </a:solidFill>
                <a:latin typeface="Calibri" pitchFamily="34" charset="0"/>
                <a:ea typeface="Calibri" pitchFamily="34" charset="-122"/>
                <a:cs typeface="Calibri" pitchFamily="34" charset="-120"/>
              </a:rPr>
              <a:t>and</a:t>
            </a:r>
            <a:r>
              <a:rPr lang="en-US" sz="1400" dirty="0">
                <a:solidFill>
                  <a:srgbClr val="222B36"/>
                </a:solidFill>
                <a:latin typeface="Calibri" pitchFamily="34" charset="0"/>
                <a:ea typeface="Calibri" pitchFamily="34" charset="-122"/>
                <a:cs typeface="Calibri" pitchFamily="34" charset="-120"/>
              </a:rPr>
              <a:t> n.</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|r| needed for p &lt; 0.05:  n = 10 → 0.63 · n = 30 → 0.36 · n = 85 → 0.21 · n = 247 → 0.12</a:t>
            </a:r>
            <a:endParaRPr lang="en-US" sz="1400" dirty="0"/>
          </a:p>
        </p:txBody>
      </p:sp>
      <p:pic>
        <p:nvPicPr>
          <p:cNvPr id="36" name="img_106" descr="/home/claude/work/build/figs/chance_r.png">    </p:cNvPr>
          <p:cNvPicPr>
            <a:picLocks noChangeAspect="1"/>
          </p:cNvPicPr>
          <p:nvPr/>
        </p:nvPicPr>
        <p:blipFill>
          <a:blip r:embed="rId1"/>
          <a:stretch>
            <a:fillRect/>
          </a:stretch>
        </p:blipFill>
        <p:spPr>
          <a:xfrm>
            <a:off x="6675120" y="1325880"/>
            <a:ext cx="4965192" cy="3814874"/>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agl_107"/>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08"/>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0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Are 247 months independent? Effective n</a:t>
            </a:r>
            <a:endParaRPr lang="en-US" sz="2800" dirty="0"/>
          </a:p>
        </p:txBody>
      </p:sp>
      <p:sp>
        <p:nvSpPr>
          <p:cNvPr id="5" name="mbul_110"/>
          <p:cNvSpPr txBox="1"/>
          <p:nvPr/>
        </p:nvSpPr>
        <p:spPr>
          <a:xfrm>
            <a:off x="548640" y="1280160"/>
            <a:ext cx="5943600" cy="3840480"/>
          </a:xfrm>
          <a:prstGeom prst="rect">
            <a:avLst/>
          </a:prstGeom>
          <a:noFill/>
          <a:ln/>
        </p:spPr>
        <p:txBody>
          <a:bodyPr wrap="square" lIns="635" tIns="635" rIns="635" bIns="635" rtlCol="0" anchor="t"/>
          <a:lstStyle/>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A p-value assumes </a:t>
            </a:r>
            <a:r>
              <a:rPr lang="en-US" sz="1500" b="1" dirty="0">
                <a:solidFill>
                  <a:srgbClr val="222B36"/>
                </a:solidFill>
                <a:latin typeface="Calibri" pitchFamily="34" charset="0"/>
                <a:ea typeface="Calibri" pitchFamily="34" charset="-122"/>
                <a:cs typeface="Calibri" pitchFamily="34" charset="-120"/>
              </a:rPr>
              <a:t>independent</a:t>
            </a:r>
            <a:r>
              <a:rPr lang="en-US" sz="1500" dirty="0">
                <a:solidFill>
                  <a:srgbClr val="222B36"/>
                </a:solidFill>
                <a:latin typeface="Calibri" pitchFamily="34" charset="0"/>
                <a:ea typeface="Calibri" pitchFamily="34" charset="-122"/>
                <a:cs typeface="Calibri" pitchFamily="34" charset="-120"/>
              </a:rPr>
              <a:t> samples. Monthly ENSO data aren't: the ONI's lag-1 autocorrelation is </a:t>
            </a:r>
            <a:r>
              <a:rPr lang="en-US" sz="1500" b="1" dirty="0">
                <a:solidFill>
                  <a:srgbClr val="222B36"/>
                </a:solidFill>
                <a:latin typeface="Calibri" pitchFamily="34" charset="0"/>
                <a:ea typeface="Calibri" pitchFamily="34" charset="-122"/>
                <a:cs typeface="Calibri" pitchFamily="34" charset="-120"/>
              </a:rPr>
              <a:t>0.97</a:t>
            </a:r>
            <a:r>
              <a:rPr lang="en-US" sz="1500" dirty="0">
                <a:solidFill>
                  <a:srgbClr val="222B36"/>
                </a:solidFill>
                <a:latin typeface="Calibri" pitchFamily="34" charset="0"/>
                <a:ea typeface="Calibri" pitchFamily="34" charset="-122"/>
                <a:cs typeface="Calibri" pitchFamily="34" charset="-120"/>
              </a:rPr>
              <a:t>.</a:t>
            </a:r>
            <a:endParaRPr lang="en-US" sz="1500" dirty="0"/>
          </a:p>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Effective sample size: </a:t>
            </a:r>
            <a:r>
              <a:rPr lang="en-US" sz="1500" dirty="0">
                <a:solidFill>
                  <a:srgbClr val="222B36"/>
                </a:solidFill>
                <a:latin typeface="Calibri" pitchFamily="34" charset="0"/>
                <a:ea typeface="Calibri" pitchFamily="34" charset="-122"/>
                <a:cs typeface="Calibri" pitchFamily="34" charset="-120"/>
              </a:rPr>
              <a:t>n_eff = n (1 − r₁ₓ r₁ᵧ) / (1 + r₁ₓ r₁ᵧ), where r₁ is each series' lag-1 autocorrelation.</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With n = 247 months, n_eff ≈ </a:t>
            </a:r>
            <a:r>
              <a:rPr lang="en-US" sz="1500" b="1" dirty="0">
                <a:solidFill>
                  <a:srgbClr val="222B36"/>
                </a:solidFill>
                <a:latin typeface="Calibri" pitchFamily="34" charset="0"/>
                <a:ea typeface="Calibri" pitchFamily="34" charset="-122"/>
                <a:cs typeface="Calibri" pitchFamily="34" charset="-120"/>
              </a:rPr>
              <a:t>135, 85 or 31</a:t>
            </a:r>
            <a:r>
              <a:rPr lang="en-US" sz="1500" dirty="0">
                <a:solidFill>
                  <a:srgbClr val="222B36"/>
                </a:solidFill>
                <a:latin typeface="Calibri" pitchFamily="34" charset="0"/>
                <a:ea typeface="Calibri" pitchFamily="34" charset="-122"/>
                <a:cs typeface="Calibri" pitchFamily="34" charset="-120"/>
              </a:rPr>
              <a:t> if the cloud anomaly's r₁ is 0.3, 0.5 or 0.8.</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Notebook §6 now prints </a:t>
            </a:r>
            <a:r>
              <a:rPr lang="en-US" sz="1500" b="1" dirty="0">
                <a:solidFill>
                  <a:srgbClr val="222B36"/>
                </a:solidFill>
                <a:latin typeface="Calibri" pitchFamily="34" charset="0"/>
                <a:ea typeface="Calibri" pitchFamily="34" charset="-122"/>
                <a:cs typeface="Calibri" pitchFamily="34" charset="-120"/>
              </a:rPr>
              <a:t>n and n_eff</a:t>
            </a:r>
            <a:r>
              <a:rPr lang="en-US" sz="1500" dirty="0">
                <a:solidFill>
                  <a:srgbClr val="222B36"/>
                </a:solidFill>
                <a:latin typeface="Calibri" pitchFamily="34" charset="0"/>
                <a:ea typeface="Calibri" pitchFamily="34" charset="-122"/>
                <a:cs typeface="Calibri" pitchFamily="34" charset="-120"/>
              </a:rPr>
              <a:t>; its p_adj and 95% range use n_eff. Report those.</a:t>
            </a:r>
            <a:endParaRPr lang="en-US" sz="1500" dirty="0"/>
          </a:p>
        </p:txBody>
      </p:sp>
      <p:sp>
        <p:nvSpPr>
          <p:cNvPr id="6" name="sent_111"/>
          <p:cNvSpPr/>
          <p:nvPr/>
        </p:nvSpPr>
        <p:spPr>
          <a:xfrm>
            <a:off x="548640" y="5257800"/>
            <a:ext cx="5943600" cy="1051560"/>
          </a:xfrm>
          <a:prstGeom prst="roundRect">
            <a:avLst>
              <a:gd name="adj" fmla="val 5217"/>
            </a:avLst>
          </a:prstGeom>
          <a:solidFill>
            <a:srgbClr val="DCEFEA"/>
          </a:solidFill>
          <a:ln w="12700">
            <a:solidFill>
              <a:srgbClr val="1F7A6E"/>
            </a:solidFill>
            <a:prstDash val="solid"/>
          </a:ln>
        </p:spPr>
      </p:sp>
      <p:sp>
        <p:nvSpPr>
          <p:cNvPr id="7" name="text_112"/>
          <p:cNvSpPr txBox="1"/>
          <p:nvPr/>
        </p:nvSpPr>
        <p:spPr>
          <a:xfrm>
            <a:off x="685800" y="5330952"/>
            <a:ext cx="566928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CALCULATE IT YOURSELF</a:t>
            </a:r>
            <a:endParaRPr lang="en-US" sz="1000" dirty="0"/>
          </a:p>
        </p:txBody>
      </p:sp>
      <p:sp>
        <p:nvSpPr>
          <p:cNvPr id="8" name="text_113"/>
          <p:cNvSpPr txBox="1"/>
          <p:nvPr/>
        </p:nvSpPr>
        <p:spPr>
          <a:xfrm>
            <a:off x="685800" y="5568696"/>
            <a:ext cx="566928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 = r √(n − 2) / √(1 − r²), with n − 2 degrees of freedom.  Task 5D: compute p with n, then with n_eff.</a:t>
            </a:r>
            <a:endParaRPr lang="en-US" sz="1350" dirty="0"/>
          </a:p>
        </p:txBody>
      </p:sp>
      <p:pic>
        <p:nvPicPr>
          <p:cNvPr id="9" name="img_114" descr="/home/claude/work/build/figs/autocorrelation.png">    </p:cNvPr>
          <p:cNvPicPr>
            <a:picLocks noChangeAspect="1"/>
          </p:cNvPicPr>
          <p:nvPr/>
        </p:nvPicPr>
        <p:blipFill>
          <a:blip r:embed="rId1"/>
          <a:stretch>
            <a:fillRect/>
          </a:stretch>
        </p:blipFill>
        <p:spPr>
          <a:xfrm>
            <a:off x="6766560" y="1280160"/>
            <a:ext cx="4876495" cy="3668631"/>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agl_115"/>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16"/>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1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Pure noise can draw convincing maps</a:t>
            </a:r>
            <a:endParaRPr lang="en-US" sz="2800" dirty="0"/>
          </a:p>
        </p:txBody>
      </p:sp>
      <p:pic>
        <p:nvPicPr>
          <p:cNvPr id="5" name="img_118" descr="/home/claude/work/build/figs/real_vs_noise.png">    </p:cNvPr>
          <p:cNvPicPr>
            <a:picLocks noChangeAspect="1"/>
          </p:cNvPicPr>
          <p:nvPr/>
        </p:nvPicPr>
        <p:blipFill>
          <a:blip r:embed="rId1"/>
          <a:stretch>
            <a:fillRect/>
          </a:stretch>
        </p:blipFill>
        <p:spPr>
          <a:xfrm>
            <a:off x="548640" y="1234440"/>
            <a:ext cx="11091672" cy="3329770"/>
          </a:xfrm>
          <a:prstGeom prst="rect">
            <a:avLst/>
          </a:prstGeom>
        </p:spPr>
      </p:pic>
      <p:sp>
        <p:nvSpPr>
          <p:cNvPr id="6" name="mwbul_119"/>
          <p:cNvSpPr txBox="1"/>
          <p:nvPr/>
        </p:nvSpPr>
        <p:spPr>
          <a:xfrm>
            <a:off x="548640" y="4701370"/>
            <a:ext cx="11091672" cy="1653710"/>
          </a:xfrm>
          <a:prstGeom prst="rect">
            <a:avLst/>
          </a:prstGeom>
          <a:noFill/>
          <a:ln/>
        </p:spPr>
        <p:txBody>
          <a:bodyPr wrap="square" lIns="635" tIns="635" rIns="635" bIns="635" rtlCol="0" anchor="t"/>
          <a:lstStyle/>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Left: the </a:t>
            </a:r>
            <a:r>
              <a:rPr lang="en-US" sz="1400" b="1" dirty="0">
                <a:solidFill>
                  <a:srgbClr val="222B36"/>
                </a:solidFill>
                <a:latin typeface="Calibri" pitchFamily="34" charset="0"/>
                <a:ea typeface="Calibri" pitchFamily="34" charset="-122"/>
                <a:cs typeface="Calibri" pitchFamily="34" charset="-120"/>
              </a:rPr>
              <a:t>real ONI</a:t>
            </a:r>
            <a:r>
              <a:rPr lang="en-US" sz="1400" dirty="0">
                <a:solidFill>
                  <a:srgbClr val="222B36"/>
                </a:solidFill>
                <a:latin typeface="Calibri" pitchFamily="34" charset="0"/>
                <a:ea typeface="Calibri" pitchFamily="34" charset="-122"/>
                <a:cs typeface="Calibri" pitchFamily="34" charset="-120"/>
              </a:rPr>
              <a:t> correlated with </a:t>
            </a:r>
            <a:r>
              <a:rPr lang="en-US" sz="1400" b="1" dirty="0">
                <a:solidFill>
                  <a:srgbClr val="222B36"/>
                </a:solidFill>
                <a:latin typeface="Calibri" pitchFamily="34" charset="0"/>
                <a:ea typeface="Calibri" pitchFamily="34" charset="-122"/>
                <a:cs typeface="Calibri" pitchFamily="34" charset="-120"/>
              </a:rPr>
              <a:t>pure noise</a:t>
            </a:r>
            <a:r>
              <a:rPr lang="en-US" sz="1400" dirty="0">
                <a:solidFill>
                  <a:srgbClr val="222B36"/>
                </a:solidFill>
                <a:latin typeface="Calibri" pitchFamily="34" charset="0"/>
                <a:ea typeface="Calibri" pitchFamily="34" charset="-122"/>
                <a:cs typeface="Calibri" pitchFamily="34" charset="-120"/>
              </a:rPr>
              <a:t> that has realistic memory and blobs. </a:t>
            </a:r>
            <a:r>
              <a:rPr lang="en-US" sz="1400" b="1" dirty="0">
                <a:solidFill>
                  <a:srgbClr val="222B36"/>
                </a:solidFill>
                <a:latin typeface="Calibri" pitchFamily="34" charset="0"/>
                <a:ea typeface="Calibri" pitchFamily="34" charset="-122"/>
                <a:cs typeface="Calibri" pitchFamily="34" charset="-120"/>
              </a:rPr>
              <a:t>32%</a:t>
            </a:r>
            <a:r>
              <a:rPr lang="en-US" sz="1400" dirty="0">
                <a:solidFill>
                  <a:srgbClr val="222B36"/>
                </a:solidFill>
                <a:latin typeface="Calibri" pitchFamily="34" charset="0"/>
                <a:ea typeface="Calibri" pitchFamily="34" charset="-122"/>
                <a:cs typeface="Calibri" pitchFamily="34" charset="-120"/>
              </a:rPr>
              <a:t> of grid points pass a naive 5% test.</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Even with no memory at all, 5% pass by chance. A map has thousands of points, so that's </a:t>
            </a:r>
            <a:r>
              <a:rPr lang="en-US" sz="1400" b="1" dirty="0">
                <a:solidFill>
                  <a:srgbClr val="222B36"/>
                </a:solidFill>
                <a:latin typeface="Calibri" pitchFamily="34" charset="0"/>
                <a:ea typeface="Calibri" pitchFamily="34" charset="-122"/>
                <a:cs typeface="Calibri" pitchFamily="34" charset="-120"/>
              </a:rPr>
              <a:t>hundreds</a:t>
            </a:r>
            <a:r>
              <a:rPr lang="en-US" sz="1400" dirty="0">
                <a:solidFill>
                  <a:srgbClr val="222B36"/>
                </a:solidFill>
                <a:latin typeface="Calibri" pitchFamily="34" charset="0"/>
                <a:ea typeface="Calibri" pitchFamily="34" charset="-122"/>
                <a:cs typeface="Calibri" pitchFamily="34" charset="-120"/>
              </a:rPr>
              <a:t> of false ‘signals’ (Wilks 2016).</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Right: the real signal is far stronger and sits where the physics says it should. Choose regions for a </a:t>
            </a:r>
            <a:r>
              <a:rPr lang="en-US" sz="1400" b="1" dirty="0">
                <a:solidFill>
                  <a:srgbClr val="222B36"/>
                </a:solidFill>
                <a:latin typeface="Calibri" pitchFamily="34" charset="0"/>
                <a:ea typeface="Calibri" pitchFamily="34" charset="-122"/>
                <a:cs typeface="Calibri" pitchFamily="34" charset="-120"/>
              </a:rPr>
              <a:t>physical</a:t>
            </a:r>
            <a:r>
              <a:rPr lang="en-US" sz="1400" dirty="0">
                <a:solidFill>
                  <a:srgbClr val="222B36"/>
                </a:solidFill>
                <a:latin typeface="Calibri" pitchFamily="34" charset="0"/>
                <a:ea typeface="Calibri" pitchFamily="34" charset="-122"/>
                <a:cs typeface="Calibri" pitchFamily="34" charset="-120"/>
              </a:rPr>
              <a:t> reason, then test them properly.  Try it: methods_demos.ipynb §6.</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agl_120"/>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21"/>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2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Is one year's cloud different from another's?</a:t>
            </a:r>
            <a:endParaRPr lang="en-US" sz="2800" dirty="0"/>
          </a:p>
        </p:txBody>
      </p:sp>
      <p:pic>
        <p:nvPicPr>
          <p:cNvPr id="5" name="img_123" descr="/home/claude/work/build/figs/real_global_years.png">    </p:cNvPr>
          <p:cNvPicPr>
            <a:picLocks noChangeAspect="1"/>
          </p:cNvPicPr>
          <p:nvPr/>
        </p:nvPicPr>
        <p:blipFill>
          <a:blip r:embed="rId1"/>
          <a:stretch>
            <a:fillRect/>
          </a:stretch>
        </p:blipFill>
        <p:spPr>
          <a:xfrm>
            <a:off x="2981938" y="1234440"/>
            <a:ext cx="6225077" cy="2971800"/>
          </a:xfrm>
          <a:prstGeom prst="rect">
            <a:avLst/>
          </a:prstGeom>
        </p:spPr>
      </p:pic>
      <p:sp>
        <p:nvSpPr>
          <p:cNvPr id="6" name="mwbul_124"/>
          <p:cNvSpPr txBox="1"/>
          <p:nvPr/>
        </p:nvSpPr>
        <p:spPr>
          <a:xfrm>
            <a:off x="548640" y="4343400"/>
            <a:ext cx="6949440" cy="2011680"/>
          </a:xfrm>
          <a:prstGeom prst="rect">
            <a:avLst/>
          </a:prstGeom>
          <a:noFill/>
          <a:ln/>
        </p:spPr>
        <p:txBody>
          <a:bodyPr wrap="square" lIns="635" tIns="635" rIns="635" bIns="635" rtlCol="0" anchor="t"/>
          <a:lstStyle/>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Compare two years' 12 monthly anomalies with a </a:t>
            </a:r>
            <a:r>
              <a:rPr lang="en-US" sz="1400" b="1" dirty="0">
                <a:solidFill>
                  <a:srgbClr val="222B36"/>
                </a:solidFill>
                <a:latin typeface="Calibri" pitchFamily="34" charset="0"/>
                <a:ea typeface="Calibri" pitchFamily="34" charset="-122"/>
                <a:cs typeface="Calibri" pitchFamily="34" charset="-120"/>
              </a:rPr>
              <a:t>t-test</a:t>
            </a:r>
            <a:r>
              <a:rPr lang="en-US" sz="1400" dirty="0">
                <a:solidFill>
                  <a:srgbClr val="222B36"/>
                </a:solidFill>
                <a:latin typeface="Calibri" pitchFamily="34" charset="0"/>
                <a:ea typeface="Calibri" pitchFamily="34" charset="-122"/>
                <a:cs typeface="Calibri" pitchFamily="34" charset="-120"/>
              </a:rPr>
              <a:t> → p. New notebook section </a:t>
            </a:r>
            <a:r>
              <a:rPr lang="en-US" sz="1400" b="1" dirty="0">
                <a:solidFill>
                  <a:srgbClr val="222B36"/>
                </a:solidFill>
                <a:latin typeface="Calibri" pitchFamily="34" charset="0"/>
                <a:ea typeface="Calibri" pitchFamily="34" charset="-122"/>
                <a:cs typeface="Calibri" pitchFamily="34" charset="-120"/>
              </a:rPr>
              <a:t>3b</a:t>
            </a:r>
            <a:r>
              <a:rPr lang="en-US" sz="1400" dirty="0">
                <a:solidFill>
                  <a:srgbClr val="222B36"/>
                </a:solidFill>
                <a:latin typeface="Calibri" pitchFamily="34" charset="0"/>
                <a:ea typeface="Calibri" pitchFamily="34" charset="-122"/>
                <a:cs typeface="Calibri" pitchFamily="34" charset="-120"/>
              </a:rPr>
              <a:t> does it for any two years.</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Global cloud anomalies have r₁ = 0.54, so 12 months ≈ </a:t>
            </a:r>
            <a:r>
              <a:rPr lang="en-US" sz="1400" b="1" dirty="0">
                <a:solidFill>
                  <a:srgbClr val="222B36"/>
                </a:solidFill>
                <a:latin typeface="Calibri" pitchFamily="34" charset="0"/>
                <a:ea typeface="Calibri" pitchFamily="34" charset="-122"/>
                <a:cs typeface="Calibri" pitchFamily="34" charset="-120"/>
              </a:rPr>
              <a:t>3.6</a:t>
            </a:r>
            <a:r>
              <a:rPr lang="en-US" sz="1400" dirty="0">
                <a:solidFill>
                  <a:srgbClr val="222B36"/>
                </a:solidFill>
                <a:latin typeface="Calibri" pitchFamily="34" charset="0"/>
                <a:ea typeface="Calibri" pitchFamily="34" charset="-122"/>
                <a:cs typeface="Calibri" pitchFamily="34" charset="-120"/>
              </a:rPr>
              <a:t> independent months. </a:t>
            </a:r>
            <a:r>
              <a:rPr lang="en-US" sz="1400" b="1" dirty="0">
                <a:solidFill>
                  <a:srgbClr val="222B36"/>
                </a:solidFill>
                <a:latin typeface="Calibri" pitchFamily="34" charset="0"/>
                <a:ea typeface="Calibri" pitchFamily="34" charset="-122"/>
                <a:cs typeface="Calibri" pitchFamily="34" charset="-120"/>
              </a:rPr>
              <a:t>2010 vs 2011:</a:t>
            </a:r>
            <a:r>
              <a:rPr lang="en-US" sz="1400" dirty="0">
                <a:solidFill>
                  <a:srgbClr val="222B36"/>
                </a:solidFill>
                <a:latin typeface="Calibri" pitchFamily="34" charset="0"/>
                <a:ea typeface="Calibri" pitchFamily="34" charset="-122"/>
                <a:cs typeface="Calibri" pitchFamily="34" charset="-120"/>
              </a:rPr>
              <a:t> naive p = 0.02, adjusted p = 0.24.</a:t>
            </a:r>
            <a:endParaRPr lang="en-US" sz="1400" dirty="0"/>
          </a:p>
          <a:p>
            <a:pPr marL="342900" indent="-342900">
              <a:spcAft>
                <a:spcPts val="400"/>
              </a:spcAft>
              <a:buSzPct val="100000"/>
              <a:buChar char="■"/>
            </a:pPr>
            <a:r>
              <a:rPr lang="en-US" sz="1400" b="1" dirty="0">
                <a:solidFill>
                  <a:srgbClr val="222B36"/>
                </a:solidFill>
                <a:latin typeface="Calibri" pitchFamily="34" charset="0"/>
                <a:ea typeface="Calibri" pitchFamily="34" charset="-122"/>
                <a:cs typeface="Calibri" pitchFamily="34" charset="-120"/>
              </a:rPr>
              <a:t>190 pairs</a:t>
            </a:r>
            <a:r>
              <a:rPr lang="en-US" sz="1400" dirty="0">
                <a:solidFill>
                  <a:srgbClr val="222B36"/>
                </a:solidFill>
                <a:latin typeface="Calibri" pitchFamily="34" charset="0"/>
                <a:ea typeface="Calibri" pitchFamily="34" charset="-122"/>
                <a:cs typeface="Calibri" pitchFamily="34" charset="-120"/>
              </a:rPr>
              <a:t> of complete years → ~10 ‘significant’ by chance. Choose years </a:t>
            </a:r>
            <a:r>
              <a:rPr lang="en-US" sz="1400" b="1" dirty="0">
                <a:solidFill>
                  <a:srgbClr val="222B36"/>
                </a:solidFill>
                <a:latin typeface="Calibri" pitchFamily="34" charset="0"/>
                <a:ea typeface="Calibri" pitchFamily="34" charset="-122"/>
                <a:cs typeface="Calibri" pitchFamily="34" charset="-120"/>
              </a:rPr>
              <a:t>before</a:t>
            </a:r>
            <a:r>
              <a:rPr lang="en-US" sz="1400" dirty="0">
                <a:solidFill>
                  <a:srgbClr val="222B36"/>
                </a:solidFill>
                <a:latin typeface="Calibri" pitchFamily="34" charset="0"/>
                <a:ea typeface="Calibri" pitchFamily="34" charset="-122"/>
                <a:cs typeface="Calibri" pitchFamily="34" charset="-120"/>
              </a:rPr>
              <a:t> looking, for a reason.</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Global cloud falls by about </a:t>
            </a:r>
            <a:r>
              <a:rPr lang="en-US" sz="1400" b="1" dirty="0">
                <a:solidFill>
                  <a:srgbClr val="222B36"/>
                </a:solidFill>
                <a:latin typeface="Calibri" pitchFamily="34" charset="0"/>
                <a:ea typeface="Calibri" pitchFamily="34" charset="-122"/>
                <a:cs typeface="Calibri" pitchFamily="34" charset="-120"/>
              </a:rPr>
              <a:t>0.4 pp per decade</a:t>
            </a:r>
            <a:r>
              <a:rPr lang="en-US" sz="1400" dirty="0">
                <a:solidFill>
                  <a:srgbClr val="222B36"/>
                </a:solidFill>
                <a:latin typeface="Calibri" pitchFamily="34" charset="0"/>
                <a:ea typeface="Calibri" pitchFamily="34" charset="-122"/>
                <a:cs typeface="Calibri" pitchFamily="34" charset="-120"/>
              </a:rPr>
              <a:t> here. Is that real, or a reanalysis artefact? (Cf. record-low albedo in 2023: Goessling et al. 2024.) Trends can masquerade as ENSO signals. Try DETREND = True.</a:t>
            </a:r>
            <a:endParaRPr lang="en-US" sz="1400" dirty="0"/>
          </a:p>
        </p:txBody>
      </p:sp>
      <p:sp>
        <p:nvSpPr>
          <p:cNvPr id="7" name="sent_125"/>
          <p:cNvSpPr/>
          <p:nvPr/>
        </p:nvSpPr>
        <p:spPr>
          <a:xfrm>
            <a:off x="7726680" y="4389120"/>
            <a:ext cx="3913632" cy="1737360"/>
          </a:xfrm>
          <a:prstGeom prst="roundRect">
            <a:avLst>
              <a:gd name="adj" fmla="val 3158"/>
            </a:avLst>
          </a:prstGeom>
          <a:solidFill>
            <a:srgbClr val="DCEFEA"/>
          </a:solidFill>
          <a:ln w="12700">
            <a:solidFill>
              <a:srgbClr val="1F7A6E"/>
            </a:solidFill>
            <a:prstDash val="solid"/>
          </a:ln>
        </p:spPr>
      </p:sp>
      <p:sp>
        <p:nvSpPr>
          <p:cNvPr id="8" name="text_126"/>
          <p:cNvSpPr txBox="1"/>
          <p:nvPr/>
        </p:nvSpPr>
        <p:spPr>
          <a:xfrm>
            <a:off x="7863840" y="4462272"/>
            <a:ext cx="3639312"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RESULTS, THIS BECOMES</a:t>
            </a:r>
            <a:endParaRPr lang="en-US" sz="1000" dirty="0"/>
          </a:p>
        </p:txBody>
      </p:sp>
      <p:sp>
        <p:nvSpPr>
          <p:cNvPr id="9" name="text_127"/>
          <p:cNvSpPr txBox="1"/>
          <p:nvPr/>
        </p:nvSpPr>
        <p:spPr>
          <a:xfrm>
            <a:off x="7863840" y="4700016"/>
            <a:ext cx="3639312" cy="13716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“Global-mean TCC was 0.51 pp higher in 2010 than in 2011, but the difference is not significant once autocorrelation is allowed for (p = 0.24).”</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agl_128"/>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29"/>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3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Defend your threshold, and test it</a:t>
            </a:r>
            <a:endParaRPr lang="en-US" sz="2800" dirty="0"/>
          </a:p>
        </p:txBody>
      </p:sp>
      <p:sp>
        <p:nvSpPr>
          <p:cNvPr id="5" name="mbul_131"/>
          <p:cNvSpPr txBox="1"/>
          <p:nvPr/>
        </p:nvSpPr>
        <p:spPr>
          <a:xfrm>
            <a:off x="548640" y="1280160"/>
            <a:ext cx="6035040" cy="3840480"/>
          </a:xfrm>
          <a:prstGeom prst="rect">
            <a:avLst/>
          </a:prstGeom>
          <a:noFill/>
          <a:ln/>
        </p:spPr>
        <p:txBody>
          <a:bodyPr wrap="square" lIns="635" tIns="635" rIns="635" bIns="635" rtlCol="0" anchor="t"/>
          <a:lstStyle/>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Schultz: </a:t>
            </a:r>
            <a:r>
              <a:rPr lang="en-US" sz="1500" dirty="0">
                <a:solidFill>
                  <a:srgbClr val="222B36"/>
                </a:solidFill>
                <a:latin typeface="Calibri" pitchFamily="34" charset="0"/>
                <a:ea typeface="Calibri" pitchFamily="34" charset="-122"/>
                <a:cs typeface="Calibri" pitchFamily="34" charset="-120"/>
              </a:rPr>
              <a:t>reviewers will question your thresholds. Defend them by </a:t>
            </a:r>
            <a:r>
              <a:rPr lang="en-US" sz="1500" b="1" dirty="0">
                <a:solidFill>
                  <a:srgbClr val="222B36"/>
                </a:solidFill>
                <a:latin typeface="Calibri" pitchFamily="34" charset="0"/>
                <a:ea typeface="Calibri" pitchFamily="34" charset="-122"/>
                <a:cs typeface="Calibri" pitchFamily="34" charset="-120"/>
              </a:rPr>
              <a:t>convention or physics</a:t>
            </a:r>
            <a:r>
              <a:rPr lang="en-US" sz="1500" dirty="0">
                <a:solidFill>
                  <a:srgbClr val="222B36"/>
                </a:solidFill>
                <a:latin typeface="Calibri" pitchFamily="34" charset="0"/>
                <a:ea typeface="Calibri" pitchFamily="34" charset="-122"/>
                <a:cs typeface="Calibri" pitchFamily="34" charset="-120"/>
              </a:rPr>
              <a:t> (NOAA's ±0.5 °C) or by the </a:t>
            </a:r>
            <a:r>
              <a:rPr lang="en-US" sz="1500" b="1" dirty="0">
                <a:solidFill>
                  <a:srgbClr val="222B36"/>
                </a:solidFill>
                <a:latin typeface="Calibri" pitchFamily="34" charset="0"/>
                <a:ea typeface="Calibri" pitchFamily="34" charset="-122"/>
                <a:cs typeface="Calibri" pitchFamily="34" charset="-120"/>
              </a:rPr>
              <a:t>data</a:t>
            </a:r>
            <a:r>
              <a:rPr lang="en-US" sz="1500" dirty="0">
                <a:solidFill>
                  <a:srgbClr val="222B36"/>
                </a:solidFill>
                <a:latin typeface="Calibri" pitchFamily="34" charset="0"/>
                <a:ea typeface="Calibri" pitchFamily="34" charset="-122"/>
                <a:cs typeface="Calibri" pitchFamily="34" charset="-120"/>
              </a:rPr>
              <a:t> (e.g. top and bottom 25% of ONI months).</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Raising the threshold to ±1.0 °C cuts El Niño months from </a:t>
            </a:r>
            <a:r>
              <a:rPr lang="en-US" sz="1500" b="1" dirty="0">
                <a:solidFill>
                  <a:srgbClr val="222B36"/>
                </a:solidFill>
                <a:latin typeface="Calibri" pitchFamily="34" charset="0"/>
                <a:ea typeface="Calibri" pitchFamily="34" charset="-122"/>
                <a:cs typeface="Calibri" pitchFamily="34" charset="-120"/>
              </a:rPr>
              <a:t>54 to 24</a:t>
            </a:r>
            <a:r>
              <a:rPr lang="en-US" sz="1500" dirty="0">
                <a:solidFill>
                  <a:srgbClr val="222B36"/>
                </a:solidFill>
                <a:latin typeface="Calibri" pitchFamily="34" charset="0"/>
                <a:ea typeface="Calibri" pitchFamily="34" charset="-122"/>
                <a:cs typeface="Calibri" pitchFamily="34" charset="-120"/>
              </a:rPr>
              <a:t> and La Niña from </a:t>
            </a:r>
            <a:r>
              <a:rPr lang="en-US" sz="1500" b="1" dirty="0">
                <a:solidFill>
                  <a:srgbClr val="222B36"/>
                </a:solidFill>
                <a:latin typeface="Calibri" pitchFamily="34" charset="0"/>
                <a:ea typeface="Calibri" pitchFamily="34" charset="-122"/>
                <a:cs typeface="Calibri" pitchFamily="34" charset="-120"/>
              </a:rPr>
              <a:t>82 to 25</a:t>
            </a:r>
            <a:r>
              <a:rPr lang="en-US" sz="1500" dirty="0">
                <a:solidFill>
                  <a:srgbClr val="222B36"/>
                </a:solidFill>
                <a:latin typeface="Calibri" pitchFamily="34" charset="0"/>
                <a:ea typeface="Calibri" pitchFamily="34" charset="-122"/>
                <a:cs typeface="Calibri" pitchFamily="34" charset="-120"/>
              </a:rPr>
              <a:t>: stronger events, fewer samples.</a:t>
            </a:r>
            <a:endParaRPr lang="en-US" sz="1500" dirty="0"/>
          </a:p>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Sensitivity test: </a:t>
            </a:r>
            <a:r>
              <a:rPr lang="en-US" sz="1500" dirty="0">
                <a:solidFill>
                  <a:srgbClr val="222B36"/>
                </a:solidFill>
                <a:latin typeface="Calibri" pitchFamily="34" charset="0"/>
                <a:ea typeface="Calibri" pitchFamily="34" charset="-122"/>
                <a:cs typeface="Calibri" pitchFamily="34" charset="-120"/>
              </a:rPr>
              <a:t>does your answer survive ±1.0 °C, or leaving out 2015–16? One sentence in Results is the ‘careful treatment of a subtlety’ in the 80%+ band.</a:t>
            </a:r>
            <a:endParaRPr lang="en-US" sz="1500" dirty="0"/>
          </a:p>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Composites: </a:t>
            </a:r>
            <a:r>
              <a:rPr lang="en-US" sz="1500" dirty="0">
                <a:solidFill>
                  <a:srgbClr val="222B36"/>
                </a:solidFill>
                <a:latin typeface="Calibri" pitchFamily="34" charset="0"/>
                <a:ea typeface="Calibri" pitchFamily="34" charset="-122"/>
                <a:cs typeface="Calibri" pitchFamily="34" charset="-120"/>
              </a:rPr>
              <a:t>check that most members show the feature, not just one big event (§18.4.4).</a:t>
            </a:r>
            <a:endParaRPr lang="en-US" sz="1500" dirty="0"/>
          </a:p>
        </p:txBody>
      </p:sp>
      <p:sp>
        <p:nvSpPr>
          <p:cNvPr id="6" name="sent_132"/>
          <p:cNvSpPr/>
          <p:nvPr/>
        </p:nvSpPr>
        <p:spPr>
          <a:xfrm>
            <a:off x="548640" y="5257800"/>
            <a:ext cx="6035040" cy="1051560"/>
          </a:xfrm>
          <a:prstGeom prst="roundRect">
            <a:avLst>
              <a:gd name="adj" fmla="val 5217"/>
            </a:avLst>
          </a:prstGeom>
          <a:solidFill>
            <a:srgbClr val="DCEFEA"/>
          </a:solidFill>
          <a:ln w="12700">
            <a:solidFill>
              <a:srgbClr val="1F7A6E"/>
            </a:solidFill>
            <a:prstDash val="solid"/>
          </a:ln>
        </p:spPr>
      </p:sp>
      <p:sp>
        <p:nvSpPr>
          <p:cNvPr id="7" name="text_133"/>
          <p:cNvSpPr txBox="1"/>
          <p:nvPr/>
        </p:nvSpPr>
        <p:spPr>
          <a:xfrm>
            <a:off x="685800" y="5330952"/>
            <a:ext cx="576072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ONE SENTENCE IN YOUR RESULTS</a:t>
            </a:r>
            <a:endParaRPr lang="en-US" sz="1000" dirty="0"/>
          </a:p>
        </p:txBody>
      </p:sp>
      <p:sp>
        <p:nvSpPr>
          <p:cNvPr id="8" name="text_134"/>
          <p:cNvSpPr txBox="1"/>
          <p:nvPr/>
        </p:nvSpPr>
        <p:spPr>
          <a:xfrm>
            <a:off x="685800" y="5568696"/>
            <a:ext cx="576072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“The sign of the composite is unchanged with a ±1.0 °C threshold (24 El Niño, 25 La Niña months).”</a:t>
            </a:r>
            <a:endParaRPr lang="en-US" sz="1350" dirty="0"/>
          </a:p>
        </p:txBody>
      </p:sp>
      <p:pic>
        <p:nvPicPr>
          <p:cNvPr id="9" name="img_135" descr="/home/claude/work/build/figs/threshold_sensitivity.png">    </p:cNvPr>
          <p:cNvPicPr>
            <a:picLocks noChangeAspect="1"/>
          </p:cNvPicPr>
          <p:nvPr/>
        </p:nvPicPr>
        <p:blipFill>
          <a:blip r:embed="rId1"/>
          <a:stretch>
            <a:fillRect/>
          </a:stretch>
        </p:blipFill>
        <p:spPr>
          <a:xfrm>
            <a:off x="6858000" y="1280160"/>
            <a:ext cx="4785055" cy="4124886"/>
          </a:xfrm>
          <a:prstGeom prst="rect">
            <a:avLst/>
          </a:prstGeom>
        </p:spPr>
      </p:pic>
      <p:sp>
        <p:nvSpPr>
          <p:cNvPr id="10" name="text_136"/>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AMS, §18.3 Picking thresholds; §18.4.4 composites.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3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 caption that stands alone</a:t>
            </a:r>
            <a:endParaRPr lang="en-US" sz="2800" dirty="0"/>
          </a:p>
        </p:txBody>
      </p:sp>
      <p:sp>
        <p:nvSpPr>
          <p:cNvPr id="3" name="card_138"/>
          <p:cNvSpPr/>
          <p:nvPr/>
        </p:nvSpPr>
        <p:spPr>
          <a:xfrm>
            <a:off x="548640" y="1325880"/>
            <a:ext cx="5440680" cy="2880360"/>
          </a:xfrm>
          <a:prstGeom prst="roundRect">
            <a:avLst>
              <a:gd name="adj" fmla="val 2540"/>
            </a:avLst>
          </a:prstGeom>
          <a:solidFill>
            <a:srgbClr val="F5E0DA"/>
          </a:solidFill>
          <a:ln w="9525">
            <a:solidFill>
              <a:srgbClr val="F5E0DA"/>
            </a:solidFill>
            <a:prstDash val="solid"/>
          </a:ln>
        </p:spPr>
      </p:sp>
      <p:sp>
        <p:nvSpPr>
          <p:cNvPr id="4" name="tag_139"/>
          <p:cNvSpPr/>
          <p:nvPr/>
        </p:nvSpPr>
        <p:spPr>
          <a:xfrm>
            <a:off x="713232" y="1453896"/>
            <a:ext cx="457200" cy="256032"/>
          </a:xfrm>
          <a:prstGeom prst="roundRect">
            <a:avLst>
              <a:gd name="adj" fmla="val 21429"/>
            </a:avLst>
          </a:prstGeom>
          <a:solidFill>
            <a:srgbClr val="B04A35"/>
          </a:solidFill>
          <a:ln w="12700">
            <a:solidFill>
              <a:srgbClr val="B04A35"/>
            </a:solidFill>
            <a:prstDash val="solid"/>
          </a:ln>
        </p:spPr>
      </p:sp>
      <p:sp>
        <p:nvSpPr>
          <p:cNvPr id="5" name="text_140"/>
          <p:cNvSpPr txBox="1"/>
          <p:nvPr/>
        </p:nvSpPr>
        <p:spPr>
          <a:xfrm>
            <a:off x="713232" y="1453896"/>
            <a:ext cx="4572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WEAK</a:t>
            </a:r>
            <a:endParaRPr lang="en-US" sz="1050" dirty="0"/>
          </a:p>
        </p:txBody>
      </p:sp>
      <p:sp>
        <p:nvSpPr>
          <p:cNvPr id="6" name="text_141"/>
          <p:cNvSpPr txBox="1"/>
          <p:nvPr/>
        </p:nvSpPr>
        <p:spPr>
          <a:xfrm>
            <a:off x="713232" y="1801368"/>
            <a:ext cx="5111496" cy="231343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“Figure 2. Correlation map.”</a:t>
            </a:r>
            <a:endParaRPr lang="en-US" sz="1500" dirty="0"/>
          </a:p>
        </p:txBody>
      </p:sp>
      <p:sp>
        <p:nvSpPr>
          <p:cNvPr id="7" name="card_142"/>
          <p:cNvSpPr/>
          <p:nvPr/>
        </p:nvSpPr>
        <p:spPr>
          <a:xfrm>
            <a:off x="6199632" y="1325880"/>
            <a:ext cx="5440680" cy="2880360"/>
          </a:xfrm>
          <a:prstGeom prst="roundRect">
            <a:avLst>
              <a:gd name="adj" fmla="val 2540"/>
            </a:avLst>
          </a:prstGeom>
          <a:solidFill>
            <a:srgbClr val="DCEFEA"/>
          </a:solidFill>
          <a:ln w="9525">
            <a:solidFill>
              <a:srgbClr val="DCEFEA"/>
            </a:solidFill>
            <a:prstDash val="solid"/>
          </a:ln>
        </p:spPr>
      </p:sp>
      <p:sp>
        <p:nvSpPr>
          <p:cNvPr id="8" name="tag_143"/>
          <p:cNvSpPr/>
          <p:nvPr/>
        </p:nvSpPr>
        <p:spPr>
          <a:xfrm>
            <a:off x="6364224" y="1453896"/>
            <a:ext cx="612648" cy="256032"/>
          </a:xfrm>
          <a:prstGeom prst="roundRect">
            <a:avLst>
              <a:gd name="adj" fmla="val 21429"/>
            </a:avLst>
          </a:prstGeom>
          <a:solidFill>
            <a:srgbClr val="1F7A6E"/>
          </a:solidFill>
          <a:ln w="12700">
            <a:solidFill>
              <a:srgbClr val="1F7A6E"/>
            </a:solidFill>
            <a:prstDash val="solid"/>
          </a:ln>
        </p:spPr>
      </p:sp>
      <p:sp>
        <p:nvSpPr>
          <p:cNvPr id="9" name="text_144"/>
          <p:cNvSpPr txBox="1"/>
          <p:nvPr/>
        </p:nvSpPr>
        <p:spPr>
          <a:xfrm>
            <a:off x="6364224" y="145389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STRONG</a:t>
            </a:r>
            <a:endParaRPr lang="en-US" sz="1050" dirty="0"/>
          </a:p>
        </p:txBody>
      </p:sp>
      <p:sp>
        <p:nvSpPr>
          <p:cNvPr id="10" name="text_145"/>
          <p:cNvSpPr txBox="1"/>
          <p:nvPr/>
        </p:nvSpPr>
        <p:spPr>
          <a:xfrm>
            <a:off x="6364224" y="1801368"/>
            <a:ext cx="5111496" cy="231343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“Figure 2. Correlation between monthly high-cloud-cover anomaly and the ONI at each grid point, January 2005 – July 2025 (n = 247 months). Boxes mark the central Pacific (CP) and Maritime Continent (MC) regions analysed in Figs 3–4. Figure produced by the author using ERA5 (ECMWF / Copernicus Climate Change Service) and ONI (NOAA Climate Prediction Center) data.”</a:t>
            </a:r>
            <a:endParaRPr lang="en-US" sz="1500" dirty="0"/>
          </a:p>
        </p:txBody>
      </p:sp>
      <p:sp>
        <p:nvSpPr>
          <p:cNvPr id="11" name="text_146"/>
          <p:cNvSpPr txBox="1"/>
          <p:nvPr/>
        </p:nvSpPr>
        <p:spPr>
          <a:xfrm>
            <a:off x="548640" y="438912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2" name="changed_147"/>
          <p:cNvSpPr txBox="1"/>
          <p:nvPr/>
        </p:nvSpPr>
        <p:spPr>
          <a:xfrm>
            <a:off x="548640" y="4663440"/>
            <a:ext cx="11064240" cy="1691640"/>
          </a:xfrm>
          <a:prstGeom prst="rect">
            <a:avLst/>
          </a:prstGeom>
          <a:noFill/>
          <a:ln/>
        </p:spPr>
        <p:txBody>
          <a:bodyPr wrap="square" lIns="635" tIns="635" rIns="635" bIns="635" rtlCol="0" anchor="t"/>
          <a:lstStyle/>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Essence first</a:t>
            </a:r>
            <a:r>
              <a:rPr lang="en-US" sz="1450" dirty="0">
                <a:solidFill>
                  <a:srgbClr val="222B36"/>
                </a:solidFill>
                <a:latin typeface="Calibri" pitchFamily="34" charset="0"/>
                <a:ea typeface="Calibri" pitchFamily="34" charset="-122"/>
                <a:cs typeface="Calibri" pitchFamily="34" charset="-120"/>
              </a:rPr>
              <a:t> (‘Correlation between … and the ONI’), then the period, the regions and links to later figures.</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Defines what a </a:t>
            </a:r>
            <a:r>
              <a:rPr lang="en-US" sz="1450" b="1" dirty="0">
                <a:solidFill>
                  <a:srgbClr val="222B36"/>
                </a:solidFill>
                <a:latin typeface="Calibri" pitchFamily="34" charset="0"/>
                <a:ea typeface="Calibri" pitchFamily="34" charset="-122"/>
                <a:cs typeface="Calibri" pitchFamily="34" charset="-120"/>
              </a:rPr>
              <a:t>positive value</a:t>
            </a:r>
            <a:r>
              <a:rPr lang="en-US" sz="1450" dirty="0">
                <a:solidFill>
                  <a:srgbClr val="222B36"/>
                </a:solidFill>
                <a:latin typeface="Calibri" pitchFamily="34" charset="0"/>
                <a:ea typeface="Calibri" pitchFamily="34" charset="-122"/>
                <a:cs typeface="Calibri" pitchFamily="34" charset="-120"/>
              </a:rPr>
              <a:t> means implicitly: higher cloud anomaly when ONI is higher.</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Attribution: </a:t>
            </a:r>
            <a:r>
              <a:rPr lang="en-US" sz="1450" b="1" dirty="0">
                <a:solidFill>
                  <a:srgbClr val="222B36"/>
                </a:solidFill>
                <a:latin typeface="Calibri" pitchFamily="34" charset="0"/>
                <a:ea typeface="Calibri" pitchFamily="34" charset="-122"/>
                <a:cs typeface="Calibri" pitchFamily="34" charset="-120"/>
              </a:rPr>
              <a:t>your</a:t>
            </a:r>
            <a:r>
              <a:rPr lang="en-US" sz="1450" dirty="0">
                <a:solidFill>
                  <a:srgbClr val="222B36"/>
                </a:solidFill>
                <a:latin typeface="Calibri" pitchFamily="34" charset="0"/>
                <a:ea typeface="Calibri" pitchFamily="34" charset="-122"/>
                <a:cs typeface="Calibri" pitchFamily="34" charset="-120"/>
              </a:rPr>
              <a:t> figure, </a:t>
            </a:r>
            <a:r>
              <a:rPr lang="en-US" sz="1450" b="1" dirty="0">
                <a:solidFill>
                  <a:srgbClr val="222B36"/>
                </a:solidFill>
                <a:latin typeface="Calibri" pitchFamily="34" charset="0"/>
                <a:ea typeface="Calibri" pitchFamily="34" charset="-122"/>
                <a:cs typeface="Calibri" pitchFamily="34" charset="-120"/>
              </a:rPr>
              <a:t>their</a:t>
            </a:r>
            <a:r>
              <a:rPr lang="en-US" sz="1450" dirty="0">
                <a:solidFill>
                  <a:srgbClr val="222B36"/>
                </a:solidFill>
                <a:latin typeface="Calibri" pitchFamily="34" charset="0"/>
                <a:ea typeface="Calibri" pitchFamily="34" charset="-122"/>
                <a:cs typeface="Calibri" pitchFamily="34" charset="-120"/>
              </a:rPr>
              <a:t> data. Longer, but every word is doing a job.</a:t>
            </a:r>
            <a:endParaRPr lang="en-US" sz="1450" dirty="0"/>
          </a:p>
        </p:txBody>
      </p:sp>
      <p:sp>
        <p:nvSpPr>
          <p:cNvPr id="13" name="text_148"/>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§11.10; attribution wording from the Student Guide §6.</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_14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Describe the science, not the plot</a:t>
            </a:r>
            <a:endParaRPr lang="en-US" sz="2800" dirty="0"/>
          </a:p>
        </p:txBody>
      </p:sp>
      <p:sp>
        <p:nvSpPr>
          <p:cNvPr id="3" name="text_150"/>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Schultz's example: “Figure 5 shows plots of surface temperature… showing that…”  →  “The elimination of sea ice… resulted in warmer arctic temperatures (Fig. 5).”</a:t>
            </a:r>
            <a:endParaRPr lang="en-US" sz="1500" dirty="0"/>
          </a:p>
        </p:txBody>
      </p:sp>
      <p:sp>
        <p:nvSpPr>
          <p:cNvPr id="4" name="card_151"/>
          <p:cNvSpPr/>
          <p:nvPr/>
        </p:nvSpPr>
        <p:spPr>
          <a:xfrm>
            <a:off x="548640" y="1691640"/>
            <a:ext cx="5440680" cy="2377440"/>
          </a:xfrm>
          <a:prstGeom prst="roundRect">
            <a:avLst>
              <a:gd name="adj" fmla="val 3077"/>
            </a:avLst>
          </a:prstGeom>
          <a:solidFill>
            <a:srgbClr val="F5E0DA"/>
          </a:solidFill>
          <a:ln w="9525">
            <a:solidFill>
              <a:srgbClr val="F5E0DA"/>
            </a:solidFill>
            <a:prstDash val="solid"/>
          </a:ln>
        </p:spPr>
      </p:sp>
      <p:sp>
        <p:nvSpPr>
          <p:cNvPr id="5" name="tag_152"/>
          <p:cNvSpPr/>
          <p:nvPr/>
        </p:nvSpPr>
        <p:spPr>
          <a:xfrm>
            <a:off x="713232" y="1819656"/>
            <a:ext cx="457200" cy="256032"/>
          </a:xfrm>
          <a:prstGeom prst="roundRect">
            <a:avLst>
              <a:gd name="adj" fmla="val 21429"/>
            </a:avLst>
          </a:prstGeom>
          <a:solidFill>
            <a:srgbClr val="B04A35"/>
          </a:solidFill>
          <a:ln w="12700">
            <a:solidFill>
              <a:srgbClr val="B04A35"/>
            </a:solidFill>
            <a:prstDash val="solid"/>
          </a:ln>
        </p:spPr>
      </p:sp>
      <p:sp>
        <p:nvSpPr>
          <p:cNvPr id="6" name="text_153"/>
          <p:cNvSpPr txBox="1"/>
          <p:nvPr/>
        </p:nvSpPr>
        <p:spPr>
          <a:xfrm>
            <a:off x="713232" y="1819656"/>
            <a:ext cx="4572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WEAK</a:t>
            </a:r>
            <a:endParaRPr lang="en-US" sz="1050" dirty="0"/>
          </a:p>
        </p:txBody>
      </p:sp>
      <p:sp>
        <p:nvSpPr>
          <p:cNvPr id="7" name="text_154"/>
          <p:cNvSpPr txBox="1"/>
          <p:nvPr/>
        </p:nvSpPr>
        <p:spPr>
          <a:xfrm>
            <a:off x="713232" y="2167128"/>
            <a:ext cx="5111496" cy="181051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“Figure 3 shows the time series of low-cloud anomaly and ONI. It can be seen from Figure 3 that there is a relationship between them.”</a:t>
            </a:r>
            <a:endParaRPr lang="en-US" sz="1500" dirty="0"/>
          </a:p>
        </p:txBody>
      </p:sp>
      <p:sp>
        <p:nvSpPr>
          <p:cNvPr id="8" name="card_155"/>
          <p:cNvSpPr/>
          <p:nvPr/>
        </p:nvSpPr>
        <p:spPr>
          <a:xfrm>
            <a:off x="6199632" y="1691640"/>
            <a:ext cx="5440680" cy="2377440"/>
          </a:xfrm>
          <a:prstGeom prst="roundRect">
            <a:avLst>
              <a:gd name="adj" fmla="val 3077"/>
            </a:avLst>
          </a:prstGeom>
          <a:solidFill>
            <a:srgbClr val="DCEFEA"/>
          </a:solidFill>
          <a:ln w="9525">
            <a:solidFill>
              <a:srgbClr val="DCEFEA"/>
            </a:solidFill>
            <a:prstDash val="solid"/>
          </a:ln>
        </p:spPr>
      </p:sp>
      <p:sp>
        <p:nvSpPr>
          <p:cNvPr id="9" name="tag_156"/>
          <p:cNvSpPr/>
          <p:nvPr/>
        </p:nvSpPr>
        <p:spPr>
          <a:xfrm>
            <a:off x="6364224" y="1819656"/>
            <a:ext cx="612648" cy="256032"/>
          </a:xfrm>
          <a:prstGeom prst="roundRect">
            <a:avLst>
              <a:gd name="adj" fmla="val 21429"/>
            </a:avLst>
          </a:prstGeom>
          <a:solidFill>
            <a:srgbClr val="1F7A6E"/>
          </a:solidFill>
          <a:ln w="12700">
            <a:solidFill>
              <a:srgbClr val="1F7A6E"/>
            </a:solidFill>
            <a:prstDash val="solid"/>
          </a:ln>
        </p:spPr>
      </p:sp>
      <p:sp>
        <p:nvSpPr>
          <p:cNvPr id="10" name="text_157"/>
          <p:cNvSpPr txBox="1"/>
          <p:nvPr/>
        </p:nvSpPr>
        <p:spPr>
          <a:xfrm>
            <a:off x="6364224" y="181965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STRONG</a:t>
            </a:r>
            <a:endParaRPr lang="en-US" sz="1050" dirty="0"/>
          </a:p>
        </p:txBody>
      </p:sp>
      <p:sp>
        <p:nvSpPr>
          <p:cNvPr id="11" name="text_158"/>
          <p:cNvSpPr txBox="1"/>
          <p:nvPr/>
        </p:nvSpPr>
        <p:spPr>
          <a:xfrm>
            <a:off x="6364224" y="2167128"/>
            <a:ext cx="5111496" cy="181051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“High-cloud cover over CP is higher than usual during El Niño and lower during La Niña (Fig. 3); the largest positive anomaly, [ ] percentage points, coincides with the 2015–16 El Niño.” (illustrative)</a:t>
            </a:r>
            <a:endParaRPr lang="en-US" sz="1500" dirty="0"/>
          </a:p>
        </p:txBody>
      </p:sp>
      <p:sp>
        <p:nvSpPr>
          <p:cNvPr id="12" name="text_159"/>
          <p:cNvSpPr txBox="1"/>
          <p:nvPr/>
        </p:nvSpPr>
        <p:spPr>
          <a:xfrm>
            <a:off x="548640" y="425196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60"/>
          <p:cNvSpPr txBox="1"/>
          <p:nvPr/>
        </p:nvSpPr>
        <p:spPr>
          <a:xfrm>
            <a:off x="548640" y="4526280"/>
            <a:ext cx="11064240" cy="1828800"/>
          </a:xfrm>
          <a:prstGeom prst="rect">
            <a:avLst/>
          </a:prstGeom>
          <a:noFill/>
          <a:ln/>
        </p:spPr>
        <p:txBody>
          <a:bodyPr wrap="square" lIns="635" tIns="635" rIns="635" bIns="635" rtlCol="0" anchor="t"/>
          <a:lstStyle/>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The </a:t>
            </a:r>
            <a:r>
              <a:rPr lang="en-US" sz="1450" b="1" dirty="0">
                <a:solidFill>
                  <a:srgbClr val="222B36"/>
                </a:solidFill>
                <a:latin typeface="Calibri" pitchFamily="34" charset="0"/>
                <a:ea typeface="Calibri" pitchFamily="34" charset="-122"/>
                <a:cs typeface="Calibri" pitchFamily="34" charset="-120"/>
              </a:rPr>
              <a:t>science</a:t>
            </a:r>
            <a:r>
              <a:rPr lang="en-US" sz="1450" dirty="0">
                <a:solidFill>
                  <a:srgbClr val="222B36"/>
                </a:solidFill>
                <a:latin typeface="Calibri" pitchFamily="34" charset="0"/>
                <a:ea typeface="Calibri" pitchFamily="34" charset="-122"/>
                <a:cs typeface="Calibri" pitchFamily="34" charset="-120"/>
              </a:rPr>
              <a:t> is the subject of the sentence; the figure is cited </a:t>
            </a:r>
            <a:r>
              <a:rPr lang="en-US" sz="1450" b="1" dirty="0">
                <a:solidFill>
                  <a:srgbClr val="222B36"/>
                </a:solidFill>
                <a:latin typeface="Calibri" pitchFamily="34" charset="0"/>
                <a:ea typeface="Calibri" pitchFamily="34" charset="-122"/>
                <a:cs typeface="Calibri" pitchFamily="34" charset="-120"/>
              </a:rPr>
              <a:t>indirectly</a:t>
            </a:r>
            <a:r>
              <a:rPr lang="en-US" sz="1450" dirty="0">
                <a:solidFill>
                  <a:srgbClr val="222B36"/>
                </a:solidFill>
                <a:latin typeface="Calibri" pitchFamily="34" charset="0"/>
                <a:ea typeface="Calibri" pitchFamily="34" charset="-122"/>
                <a:cs typeface="Calibri" pitchFamily="34" charset="-120"/>
              </a:rPr>
              <a:t>, in brackets, at the end.</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Note the </a:t>
            </a:r>
            <a:r>
              <a:rPr lang="en-US" sz="1450" b="1" dirty="0">
                <a:solidFill>
                  <a:srgbClr val="222B36"/>
                </a:solidFill>
                <a:latin typeface="Calibri" pitchFamily="34" charset="0"/>
                <a:ea typeface="Calibri" pitchFamily="34" charset="-122"/>
                <a:cs typeface="Calibri" pitchFamily="34" charset="-120"/>
              </a:rPr>
              <a:t>obvious first</a:t>
            </a:r>
            <a:r>
              <a:rPr lang="en-US" sz="1450" dirty="0">
                <a:solidFill>
                  <a:srgbClr val="222B36"/>
                </a:solidFill>
                <a:latin typeface="Calibri" pitchFamily="34" charset="0"/>
                <a:ea typeface="Calibri" pitchFamily="34" charset="-122"/>
                <a:cs typeface="Calibri" pitchFamily="34" charset="-120"/>
              </a:rPr>
              <a:t>, then the finer point or exception (Schultz §11.11). Don't explain how to read the plot: the caption does that.</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Every figure is cited in the text, </a:t>
            </a:r>
            <a:r>
              <a:rPr lang="en-US" sz="1450" b="1" dirty="0">
                <a:solidFill>
                  <a:srgbClr val="222B36"/>
                </a:solidFill>
                <a:latin typeface="Calibri" pitchFamily="34" charset="0"/>
                <a:ea typeface="Calibri" pitchFamily="34" charset="-122"/>
                <a:cs typeface="Calibri" pitchFamily="34" charset="-120"/>
              </a:rPr>
              <a:t>in numerical order</a:t>
            </a:r>
            <a:r>
              <a:rPr lang="en-US" sz="1450" dirty="0">
                <a:solidFill>
                  <a:srgbClr val="222B36"/>
                </a:solidFill>
                <a:latin typeface="Calibri" pitchFamily="34" charset="0"/>
                <a:ea typeface="Calibri" pitchFamily="34" charset="-122"/>
                <a:cs typeface="Calibri" pitchFamily="34" charset="-120"/>
              </a:rPr>
              <a:t>. The text should make sense even without the figures.</a:t>
            </a:r>
            <a:endParaRPr lang="en-US" sz="1450" dirty="0"/>
          </a:p>
        </p:txBody>
      </p:sp>
      <p:sp>
        <p:nvSpPr>
          <p:cNvPr id="14" name="text_161"/>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§10.1 (Fig. 5 example), §11.11, §11.13–11.14.</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agl_162"/>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63"/>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6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Honest colour scales</a:t>
            </a:r>
            <a:endParaRPr lang="en-US" sz="2800" dirty="0"/>
          </a:p>
        </p:txBody>
      </p:sp>
      <p:sp>
        <p:nvSpPr>
          <p:cNvPr id="5" name="mbul_165"/>
          <p:cNvSpPr txBox="1"/>
          <p:nvPr/>
        </p:nvSpPr>
        <p:spPr>
          <a:xfrm>
            <a:off x="548640" y="1280160"/>
            <a:ext cx="603504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Anomalies, differences and correlations: </a:t>
            </a:r>
            <a:r>
              <a:rPr lang="en-US" sz="1550" dirty="0">
                <a:solidFill>
                  <a:srgbClr val="222B36"/>
                </a:solidFill>
                <a:latin typeface="Calibri" pitchFamily="34" charset="0"/>
                <a:ea typeface="Calibri" pitchFamily="34" charset="-122"/>
                <a:cs typeface="Calibri" pitchFamily="34" charset="-120"/>
              </a:rPr>
              <a:t>use a </a:t>
            </a:r>
            <a:r>
              <a:rPr lang="en-US" sz="1550" b="1" dirty="0">
                <a:solidFill>
                  <a:srgbClr val="222B36"/>
                </a:solidFill>
                <a:latin typeface="Calibri" pitchFamily="34" charset="0"/>
                <a:ea typeface="Calibri" pitchFamily="34" charset="-122"/>
                <a:cs typeface="Calibri" pitchFamily="34" charset="-120"/>
              </a:rPr>
              <a:t>diverging</a:t>
            </a:r>
            <a:r>
              <a:rPr lang="en-US" sz="1550" dirty="0">
                <a:solidFill>
                  <a:srgbClr val="222B36"/>
                </a:solidFill>
                <a:latin typeface="Calibri" pitchFamily="34" charset="0"/>
                <a:ea typeface="Calibri" pitchFamily="34" charset="-122"/>
                <a:cs typeface="Calibri" pitchFamily="34" charset="-120"/>
              </a:rPr>
              <a:t> colour map (blue–white–red) </a:t>
            </a:r>
            <a:r>
              <a:rPr lang="en-US" sz="1550" b="1" dirty="0">
                <a:solidFill>
                  <a:srgbClr val="222B36"/>
                </a:solidFill>
                <a:latin typeface="Calibri" pitchFamily="34" charset="0"/>
                <a:ea typeface="Calibri" pitchFamily="34" charset="-122"/>
                <a:cs typeface="Calibri" pitchFamily="34" charset="-120"/>
              </a:rPr>
              <a:t>centred on zero</a:t>
            </a:r>
            <a:r>
              <a:rPr lang="en-US" sz="1550" dirty="0">
                <a:solidFill>
                  <a:srgbClr val="222B36"/>
                </a:solidFill>
                <a:latin typeface="Calibri" pitchFamily="34" charset="0"/>
                <a:ea typeface="Calibri" pitchFamily="34" charset="-122"/>
                <a:cs typeface="Calibri" pitchFamily="34" charset="-120"/>
              </a:rPr>
              <a:t>, with symmetric limits (e.g. −0.8 to +0.8).</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Panels you compare must share the </a:t>
            </a:r>
            <a:r>
              <a:rPr lang="en-US" sz="1550" b="1" dirty="0">
                <a:solidFill>
                  <a:srgbClr val="222B36"/>
                </a:solidFill>
                <a:latin typeface="Calibri" pitchFamily="34" charset="0"/>
                <a:ea typeface="Calibri" pitchFamily="34" charset="-122"/>
                <a:cs typeface="Calibri" pitchFamily="34" charset="-120"/>
              </a:rPr>
              <a:t>same</a:t>
            </a:r>
            <a:r>
              <a:rPr lang="en-US" sz="1550" dirty="0">
                <a:solidFill>
                  <a:srgbClr val="222B36"/>
                </a:solidFill>
                <a:latin typeface="Calibri" pitchFamily="34" charset="0"/>
                <a:ea typeface="Calibri" pitchFamily="34" charset="-122"/>
                <a:cs typeface="Calibri" pitchFamily="34" charset="-120"/>
              </a:rPr>
              <a:t> limits, or the eye compares colours that mean different things.</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Avoid rainbow (‘jet’) maps: they invent sharp boundaries and fail for colour-blind readers.</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Label the colour bar with the </a:t>
            </a:r>
            <a:r>
              <a:rPr lang="en-US" sz="1550" b="1" dirty="0">
                <a:solidFill>
                  <a:srgbClr val="222B36"/>
                </a:solidFill>
                <a:latin typeface="Calibri" pitchFamily="34" charset="0"/>
                <a:ea typeface="Calibri" pitchFamily="34" charset="-122"/>
                <a:cs typeface="Calibri" pitchFamily="34" charset="-120"/>
              </a:rPr>
              <a:t>variable and units</a:t>
            </a:r>
            <a:r>
              <a:rPr lang="en-US" sz="1550" dirty="0">
                <a:solidFill>
                  <a:srgbClr val="222B36"/>
                </a:solidFill>
                <a:latin typeface="Calibri" pitchFamily="34" charset="0"/>
                <a:ea typeface="Calibri" pitchFamily="34" charset="-122"/>
                <a:cs typeface="Calibri" pitchFamily="34" charset="-120"/>
              </a:rPr>
              <a:t>.</a:t>
            </a:r>
            <a:endParaRPr lang="en-US" sz="1550" dirty="0"/>
          </a:p>
        </p:txBody>
      </p:sp>
      <p:sp>
        <p:nvSpPr>
          <p:cNvPr id="6" name="text_166"/>
          <p:cNvSpPr txBox="1"/>
          <p:nvPr/>
        </p:nvSpPr>
        <p:spPr>
          <a:xfrm>
            <a:off x="6858000" y="1463040"/>
            <a:ext cx="4785055" cy="274320"/>
          </a:xfrm>
          <a:prstGeom prst="rect">
            <a:avLst/>
          </a:prstGeom>
          <a:noFill/>
          <a:ln/>
        </p:spPr>
        <p:txBody>
          <a:bodyPr wrap="square" lIns="635" tIns="635" rIns="635" bIns="635" rtlCol="0" anchor="t"/>
          <a:lstStyle/>
          <a:p>
            <a:pPr algn="l" indent="0" marL="0">
              <a:lnSpc>
                <a:spcPct val="100000"/>
              </a:lnSpc>
              <a:buNone/>
            </a:pPr>
            <a:r>
              <a:rPr lang="en-US" sz="1200" b="1" dirty="0">
                <a:solidFill>
                  <a:srgbClr val="1F7A6E"/>
                </a:solidFill>
                <a:latin typeface="Calibri" pitchFamily="34" charset="0"/>
                <a:ea typeface="Calibri" pitchFamily="34" charset="-122"/>
                <a:cs typeface="Calibri" pitchFamily="34" charset="-120"/>
              </a:rPr>
              <a:t>✓  DIVERGING, CENTRED ON ZERO</a:t>
            </a:r>
            <a:endParaRPr lang="en-US" sz="1200" dirty="0"/>
          </a:p>
        </p:txBody>
      </p:sp>
      <p:sp>
        <p:nvSpPr>
          <p:cNvPr id="7" name="d_167"/>
          <p:cNvSpPr/>
          <p:nvPr/>
        </p:nvSpPr>
        <p:spPr>
          <a:xfrm>
            <a:off x="6858000" y="1783080"/>
            <a:ext cx="683579" cy="502920"/>
          </a:xfrm>
          <a:prstGeom prst="rect">
            <a:avLst/>
          </a:prstGeom>
          <a:solidFill>
            <a:srgbClr val="2E6DA4"/>
          </a:solidFill>
          <a:ln w="12700">
            <a:solidFill>
              <a:srgbClr val="2E6DA4"/>
            </a:solidFill>
            <a:prstDash val="solid"/>
          </a:ln>
        </p:spPr>
      </p:sp>
      <p:sp>
        <p:nvSpPr>
          <p:cNvPr id="8" name="d_168"/>
          <p:cNvSpPr/>
          <p:nvPr/>
        </p:nvSpPr>
        <p:spPr>
          <a:xfrm>
            <a:off x="7541579" y="1783080"/>
            <a:ext cx="683579" cy="502920"/>
          </a:xfrm>
          <a:prstGeom prst="rect">
            <a:avLst/>
          </a:prstGeom>
          <a:solidFill>
            <a:srgbClr val="6C9ACB"/>
          </a:solidFill>
          <a:ln w="12700">
            <a:solidFill>
              <a:srgbClr val="6C9ACB"/>
            </a:solidFill>
            <a:prstDash val="solid"/>
          </a:ln>
        </p:spPr>
      </p:sp>
      <p:sp>
        <p:nvSpPr>
          <p:cNvPr id="9" name="d_169"/>
          <p:cNvSpPr/>
          <p:nvPr/>
        </p:nvSpPr>
        <p:spPr>
          <a:xfrm>
            <a:off x="8225159" y="1783080"/>
            <a:ext cx="683579" cy="502920"/>
          </a:xfrm>
          <a:prstGeom prst="rect">
            <a:avLst/>
          </a:prstGeom>
          <a:solidFill>
            <a:srgbClr val="AFC8E3"/>
          </a:solidFill>
          <a:ln w="12700">
            <a:solidFill>
              <a:srgbClr val="AFC8E3"/>
            </a:solidFill>
            <a:prstDash val="solid"/>
          </a:ln>
        </p:spPr>
      </p:sp>
      <p:sp>
        <p:nvSpPr>
          <p:cNvPr id="10" name="d_170"/>
          <p:cNvSpPr/>
          <p:nvPr/>
        </p:nvSpPr>
        <p:spPr>
          <a:xfrm>
            <a:off x="8908738" y="1783080"/>
            <a:ext cx="683579" cy="502920"/>
          </a:xfrm>
          <a:prstGeom prst="rect">
            <a:avLst/>
          </a:prstGeom>
          <a:solidFill>
            <a:srgbClr val="F7F7F7"/>
          </a:solidFill>
          <a:ln w="12700">
            <a:solidFill>
              <a:srgbClr val="F7F7F7"/>
            </a:solidFill>
            <a:prstDash val="solid"/>
          </a:ln>
        </p:spPr>
      </p:sp>
      <p:sp>
        <p:nvSpPr>
          <p:cNvPr id="11" name="d_171"/>
          <p:cNvSpPr/>
          <p:nvPr/>
        </p:nvSpPr>
        <p:spPr>
          <a:xfrm>
            <a:off x="9592317" y="1783080"/>
            <a:ext cx="683579" cy="502920"/>
          </a:xfrm>
          <a:prstGeom prst="rect">
            <a:avLst/>
          </a:prstGeom>
          <a:solidFill>
            <a:srgbClr val="F2B8AE"/>
          </a:solidFill>
          <a:ln w="12700">
            <a:solidFill>
              <a:srgbClr val="F2B8AE"/>
            </a:solidFill>
            <a:prstDash val="solid"/>
          </a:ln>
        </p:spPr>
      </p:sp>
      <p:sp>
        <p:nvSpPr>
          <p:cNvPr id="12" name="d_172"/>
          <p:cNvSpPr/>
          <p:nvPr/>
        </p:nvSpPr>
        <p:spPr>
          <a:xfrm>
            <a:off x="10275897" y="1783080"/>
            <a:ext cx="683579" cy="502920"/>
          </a:xfrm>
          <a:prstGeom prst="rect">
            <a:avLst/>
          </a:prstGeom>
          <a:solidFill>
            <a:srgbClr val="D9705F"/>
          </a:solidFill>
          <a:ln w="12700">
            <a:solidFill>
              <a:srgbClr val="D9705F"/>
            </a:solidFill>
            <a:prstDash val="solid"/>
          </a:ln>
        </p:spPr>
      </p:sp>
      <p:sp>
        <p:nvSpPr>
          <p:cNvPr id="13" name="d_173"/>
          <p:cNvSpPr/>
          <p:nvPr/>
        </p:nvSpPr>
        <p:spPr>
          <a:xfrm>
            <a:off x="10959476" y="1783080"/>
            <a:ext cx="683579" cy="502920"/>
          </a:xfrm>
          <a:prstGeom prst="rect">
            <a:avLst/>
          </a:prstGeom>
          <a:solidFill>
            <a:srgbClr val="B04A35"/>
          </a:solidFill>
          <a:ln w="12700">
            <a:solidFill>
              <a:srgbClr val="B04A35"/>
            </a:solidFill>
            <a:prstDash val="solid"/>
          </a:ln>
        </p:spPr>
      </p:sp>
      <p:sp>
        <p:nvSpPr>
          <p:cNvPr id="14" name="text_174"/>
          <p:cNvSpPr txBox="1"/>
          <p:nvPr/>
        </p:nvSpPr>
        <p:spPr>
          <a:xfrm>
            <a:off x="6858000" y="2304288"/>
            <a:ext cx="731520" cy="274320"/>
          </a:xfrm>
          <a:prstGeom prst="rect">
            <a:avLst/>
          </a:prstGeom>
          <a:noFill/>
          <a:ln/>
        </p:spPr>
        <p:txBody>
          <a:bodyPr wrap="square" lIns="635" tIns="635" rIns="635" bIns="635" rtlCol="0" anchor="t"/>
          <a:lstStyle/>
          <a:p>
            <a:pPr algn="l" indent="0" marL="0">
              <a:lnSpc>
                <a:spcPct val="100000"/>
              </a:lnSpc>
              <a:buNone/>
            </a:pPr>
            <a:r>
              <a:rPr lang="en-US" sz="1100" dirty="0">
                <a:solidFill>
                  <a:srgbClr val="5B6573"/>
                </a:solidFill>
                <a:latin typeface="Calibri" pitchFamily="34" charset="0"/>
                <a:ea typeface="Calibri" pitchFamily="34" charset="-122"/>
                <a:cs typeface="Calibri" pitchFamily="34" charset="-120"/>
              </a:rPr>
              <a:t>−0.8</a:t>
            </a:r>
            <a:endParaRPr lang="en-US" sz="1100" dirty="0"/>
          </a:p>
        </p:txBody>
      </p:sp>
      <p:sp>
        <p:nvSpPr>
          <p:cNvPr id="15" name="text_175"/>
          <p:cNvSpPr txBox="1"/>
          <p:nvPr/>
        </p:nvSpPr>
        <p:spPr>
          <a:xfrm>
            <a:off x="9067648" y="2304288"/>
            <a:ext cx="365760" cy="274320"/>
          </a:xfrm>
          <a:prstGeom prst="rect">
            <a:avLst/>
          </a:prstGeom>
          <a:noFill/>
          <a:ln/>
        </p:spPr>
        <p:txBody>
          <a:bodyPr wrap="square" lIns="635" tIns="635" rIns="635" bIns="635" rtlCol="0" anchor="t"/>
          <a:lstStyle/>
          <a:p>
            <a:pPr algn="ctr" indent="0" marL="0">
              <a:lnSpc>
                <a:spcPct val="100000"/>
              </a:lnSpc>
              <a:buNone/>
            </a:pPr>
            <a:r>
              <a:rPr lang="en-US" sz="1100" dirty="0">
                <a:solidFill>
                  <a:srgbClr val="5B6573"/>
                </a:solidFill>
                <a:latin typeface="Calibri" pitchFamily="34" charset="0"/>
                <a:ea typeface="Calibri" pitchFamily="34" charset="-122"/>
                <a:cs typeface="Calibri" pitchFamily="34" charset="-120"/>
              </a:rPr>
              <a:t>0</a:t>
            </a:r>
            <a:endParaRPr lang="en-US" sz="1100" dirty="0"/>
          </a:p>
        </p:txBody>
      </p:sp>
      <p:sp>
        <p:nvSpPr>
          <p:cNvPr id="16" name="text_176"/>
          <p:cNvSpPr txBox="1"/>
          <p:nvPr/>
        </p:nvSpPr>
        <p:spPr>
          <a:xfrm>
            <a:off x="10911535" y="2304288"/>
            <a:ext cx="731520" cy="274320"/>
          </a:xfrm>
          <a:prstGeom prst="rect">
            <a:avLst/>
          </a:prstGeom>
          <a:noFill/>
          <a:ln/>
        </p:spPr>
        <p:txBody>
          <a:bodyPr wrap="square" lIns="635" tIns="635" rIns="635" bIns="635" rtlCol="0" anchor="t"/>
          <a:lstStyle/>
          <a:p>
            <a:pPr algn="r" indent="0" marL="0">
              <a:lnSpc>
                <a:spcPct val="100000"/>
              </a:lnSpc>
              <a:buNone/>
            </a:pPr>
            <a:r>
              <a:rPr lang="en-US" sz="1100" dirty="0">
                <a:solidFill>
                  <a:srgbClr val="5B6573"/>
                </a:solidFill>
                <a:latin typeface="Calibri" pitchFamily="34" charset="0"/>
                <a:ea typeface="Calibri" pitchFamily="34" charset="-122"/>
                <a:cs typeface="Calibri" pitchFamily="34" charset="-120"/>
              </a:rPr>
              <a:t>+0.8</a:t>
            </a:r>
            <a:endParaRPr lang="en-US" sz="1100" dirty="0"/>
          </a:p>
        </p:txBody>
      </p:sp>
      <p:sp>
        <p:nvSpPr>
          <p:cNvPr id="17" name="text_177"/>
          <p:cNvSpPr txBox="1"/>
          <p:nvPr/>
        </p:nvSpPr>
        <p:spPr>
          <a:xfrm>
            <a:off x="6858000" y="2926080"/>
            <a:ext cx="4785055" cy="274320"/>
          </a:xfrm>
          <a:prstGeom prst="rect">
            <a:avLst/>
          </a:prstGeom>
          <a:noFill/>
          <a:ln/>
        </p:spPr>
        <p:txBody>
          <a:bodyPr wrap="square" lIns="635" tIns="635" rIns="635" bIns="635" rtlCol="0" anchor="t"/>
          <a:lstStyle/>
          <a:p>
            <a:pPr algn="l" indent="0" marL="0">
              <a:lnSpc>
                <a:spcPct val="100000"/>
              </a:lnSpc>
              <a:buNone/>
            </a:pPr>
            <a:r>
              <a:rPr lang="en-US" sz="1200" b="1" dirty="0">
                <a:solidFill>
                  <a:srgbClr val="B04A35"/>
                </a:solidFill>
                <a:latin typeface="Calibri" pitchFamily="34" charset="0"/>
                <a:ea typeface="Calibri" pitchFamily="34" charset="-122"/>
                <a:cs typeface="Calibri" pitchFamily="34" charset="-120"/>
              </a:rPr>
              <a:t>✗  RAINBOW: FALSE BOUNDARIES</a:t>
            </a:r>
            <a:endParaRPr lang="en-US" sz="1200" dirty="0"/>
          </a:p>
        </p:txBody>
      </p:sp>
      <p:sp>
        <p:nvSpPr>
          <p:cNvPr id="18" name="j_178"/>
          <p:cNvSpPr/>
          <p:nvPr/>
        </p:nvSpPr>
        <p:spPr>
          <a:xfrm>
            <a:off x="6858000" y="3246120"/>
            <a:ext cx="531673" cy="502920"/>
          </a:xfrm>
          <a:prstGeom prst="rect">
            <a:avLst/>
          </a:prstGeom>
          <a:solidFill>
            <a:srgbClr val="00007F"/>
          </a:solidFill>
          <a:ln w="12700">
            <a:solidFill>
              <a:srgbClr val="00007F"/>
            </a:solidFill>
            <a:prstDash val="solid"/>
          </a:ln>
        </p:spPr>
      </p:sp>
      <p:sp>
        <p:nvSpPr>
          <p:cNvPr id="19" name="j_179"/>
          <p:cNvSpPr/>
          <p:nvPr/>
        </p:nvSpPr>
        <p:spPr>
          <a:xfrm>
            <a:off x="7389673" y="3246120"/>
            <a:ext cx="531673" cy="502920"/>
          </a:xfrm>
          <a:prstGeom prst="rect">
            <a:avLst/>
          </a:prstGeom>
          <a:solidFill>
            <a:srgbClr val="0000FF"/>
          </a:solidFill>
          <a:ln w="12700">
            <a:solidFill>
              <a:srgbClr val="0000FF"/>
            </a:solidFill>
            <a:prstDash val="solid"/>
          </a:ln>
        </p:spPr>
      </p:sp>
      <p:sp>
        <p:nvSpPr>
          <p:cNvPr id="20" name="j_180"/>
          <p:cNvSpPr/>
          <p:nvPr/>
        </p:nvSpPr>
        <p:spPr>
          <a:xfrm>
            <a:off x="7921346" y="3246120"/>
            <a:ext cx="531673" cy="502920"/>
          </a:xfrm>
          <a:prstGeom prst="rect">
            <a:avLst/>
          </a:prstGeom>
          <a:solidFill>
            <a:srgbClr val="007FFF"/>
          </a:solidFill>
          <a:ln w="12700">
            <a:solidFill>
              <a:srgbClr val="007FFF"/>
            </a:solidFill>
            <a:prstDash val="solid"/>
          </a:ln>
        </p:spPr>
      </p:sp>
      <p:sp>
        <p:nvSpPr>
          <p:cNvPr id="21" name="j_181"/>
          <p:cNvSpPr/>
          <p:nvPr/>
        </p:nvSpPr>
        <p:spPr>
          <a:xfrm>
            <a:off x="8453018" y="3246120"/>
            <a:ext cx="531673" cy="502920"/>
          </a:xfrm>
          <a:prstGeom prst="rect">
            <a:avLst/>
          </a:prstGeom>
          <a:solidFill>
            <a:srgbClr val="00FFFF"/>
          </a:solidFill>
          <a:ln w="12700">
            <a:solidFill>
              <a:srgbClr val="00FFFF"/>
            </a:solidFill>
            <a:prstDash val="solid"/>
          </a:ln>
        </p:spPr>
      </p:sp>
      <p:sp>
        <p:nvSpPr>
          <p:cNvPr id="22" name="j_182"/>
          <p:cNvSpPr/>
          <p:nvPr/>
        </p:nvSpPr>
        <p:spPr>
          <a:xfrm>
            <a:off x="8984691" y="3246120"/>
            <a:ext cx="531673" cy="502920"/>
          </a:xfrm>
          <a:prstGeom prst="rect">
            <a:avLst/>
          </a:prstGeom>
          <a:solidFill>
            <a:srgbClr val="7FFF7F"/>
          </a:solidFill>
          <a:ln w="12700">
            <a:solidFill>
              <a:srgbClr val="7FFF7F"/>
            </a:solidFill>
            <a:prstDash val="solid"/>
          </a:ln>
        </p:spPr>
      </p:sp>
      <p:sp>
        <p:nvSpPr>
          <p:cNvPr id="23" name="j_183"/>
          <p:cNvSpPr/>
          <p:nvPr/>
        </p:nvSpPr>
        <p:spPr>
          <a:xfrm>
            <a:off x="9516364" y="3246120"/>
            <a:ext cx="531673" cy="502920"/>
          </a:xfrm>
          <a:prstGeom prst="rect">
            <a:avLst/>
          </a:prstGeom>
          <a:solidFill>
            <a:srgbClr val="FFFF00"/>
          </a:solidFill>
          <a:ln w="12700">
            <a:solidFill>
              <a:srgbClr val="FFFF00"/>
            </a:solidFill>
            <a:prstDash val="solid"/>
          </a:ln>
        </p:spPr>
      </p:sp>
      <p:sp>
        <p:nvSpPr>
          <p:cNvPr id="24" name="j_184"/>
          <p:cNvSpPr/>
          <p:nvPr/>
        </p:nvSpPr>
        <p:spPr>
          <a:xfrm>
            <a:off x="10048037" y="3246120"/>
            <a:ext cx="531673" cy="502920"/>
          </a:xfrm>
          <a:prstGeom prst="rect">
            <a:avLst/>
          </a:prstGeom>
          <a:solidFill>
            <a:srgbClr val="FF7F00"/>
          </a:solidFill>
          <a:ln w="12700">
            <a:solidFill>
              <a:srgbClr val="FF7F00"/>
            </a:solidFill>
            <a:prstDash val="solid"/>
          </a:ln>
        </p:spPr>
      </p:sp>
      <p:sp>
        <p:nvSpPr>
          <p:cNvPr id="25" name="j_185"/>
          <p:cNvSpPr/>
          <p:nvPr/>
        </p:nvSpPr>
        <p:spPr>
          <a:xfrm>
            <a:off x="10579710" y="3246120"/>
            <a:ext cx="531673" cy="502920"/>
          </a:xfrm>
          <a:prstGeom prst="rect">
            <a:avLst/>
          </a:prstGeom>
          <a:solidFill>
            <a:srgbClr val="FF0000"/>
          </a:solidFill>
          <a:ln w="12700">
            <a:solidFill>
              <a:srgbClr val="FF0000"/>
            </a:solidFill>
            <a:prstDash val="solid"/>
          </a:ln>
        </p:spPr>
      </p:sp>
      <p:sp>
        <p:nvSpPr>
          <p:cNvPr id="26" name="j_186"/>
          <p:cNvSpPr/>
          <p:nvPr/>
        </p:nvSpPr>
        <p:spPr>
          <a:xfrm>
            <a:off x="11111382" y="3246120"/>
            <a:ext cx="531673" cy="502920"/>
          </a:xfrm>
          <a:prstGeom prst="rect">
            <a:avLst/>
          </a:prstGeom>
          <a:solidFill>
            <a:srgbClr val="7F0000"/>
          </a:solidFill>
          <a:ln w="12700">
            <a:solidFill>
              <a:srgbClr val="7F0000"/>
            </a:solidFill>
            <a:prstDash val="solid"/>
          </a:ln>
        </p:spPr>
      </p:sp>
      <p:sp>
        <p:nvSpPr>
          <p:cNvPr id="27" name="text_187"/>
          <p:cNvSpPr txBox="1"/>
          <p:nvPr/>
        </p:nvSpPr>
        <p:spPr>
          <a:xfrm>
            <a:off x="6858000" y="4206240"/>
            <a:ext cx="4785055" cy="274320"/>
          </a:xfrm>
          <a:prstGeom prst="rect">
            <a:avLst/>
          </a:prstGeom>
          <a:noFill/>
          <a:ln/>
        </p:spPr>
        <p:txBody>
          <a:bodyPr wrap="square" lIns="635" tIns="635" rIns="635" bIns="635" rtlCol="0" anchor="t"/>
          <a:lstStyle/>
          <a:p>
            <a:pPr algn="l" indent="0" marL="0">
              <a:lnSpc>
                <a:spcPct val="100000"/>
              </a:lnSpc>
              <a:buNone/>
            </a:pPr>
            <a:r>
              <a:rPr lang="en-US" sz="1200" b="1" dirty="0">
                <a:solidFill>
                  <a:srgbClr val="B04A35"/>
                </a:solidFill>
                <a:latin typeface="Calibri" pitchFamily="34" charset="0"/>
                <a:ea typeface="Calibri" pitchFamily="34" charset="-122"/>
                <a:cs typeface="Calibri" pitchFamily="34" charset="-120"/>
              </a:rPr>
              <a:t>✗  NOT CENTRED: zero looks ‘positive’</a:t>
            </a:r>
            <a:endParaRPr lang="en-US" sz="1200" dirty="0"/>
          </a:p>
        </p:txBody>
      </p:sp>
      <p:sp>
        <p:nvSpPr>
          <p:cNvPr id="28" name="o_188"/>
          <p:cNvSpPr/>
          <p:nvPr/>
        </p:nvSpPr>
        <p:spPr>
          <a:xfrm>
            <a:off x="6858000" y="4526280"/>
            <a:ext cx="683579" cy="502920"/>
          </a:xfrm>
          <a:prstGeom prst="rect">
            <a:avLst/>
          </a:prstGeom>
          <a:solidFill>
            <a:srgbClr val="AFC8E3"/>
          </a:solidFill>
          <a:ln w="12700">
            <a:solidFill>
              <a:srgbClr val="AFC8E3"/>
            </a:solidFill>
            <a:prstDash val="solid"/>
          </a:ln>
        </p:spPr>
      </p:sp>
      <p:sp>
        <p:nvSpPr>
          <p:cNvPr id="29" name="o_189"/>
          <p:cNvSpPr/>
          <p:nvPr/>
        </p:nvSpPr>
        <p:spPr>
          <a:xfrm>
            <a:off x="7541579" y="4526280"/>
            <a:ext cx="683579" cy="502920"/>
          </a:xfrm>
          <a:prstGeom prst="rect">
            <a:avLst/>
          </a:prstGeom>
          <a:solidFill>
            <a:srgbClr val="F7F7F7"/>
          </a:solidFill>
          <a:ln w="12700">
            <a:solidFill>
              <a:srgbClr val="F7F7F7"/>
            </a:solidFill>
            <a:prstDash val="solid"/>
          </a:ln>
        </p:spPr>
      </p:sp>
      <p:sp>
        <p:nvSpPr>
          <p:cNvPr id="30" name="o_190"/>
          <p:cNvSpPr/>
          <p:nvPr/>
        </p:nvSpPr>
        <p:spPr>
          <a:xfrm>
            <a:off x="8225159" y="4526280"/>
            <a:ext cx="683579" cy="502920"/>
          </a:xfrm>
          <a:prstGeom prst="rect">
            <a:avLst/>
          </a:prstGeom>
          <a:solidFill>
            <a:srgbClr val="F2B8AE"/>
          </a:solidFill>
          <a:ln w="12700">
            <a:solidFill>
              <a:srgbClr val="F2B8AE"/>
            </a:solidFill>
            <a:prstDash val="solid"/>
          </a:ln>
        </p:spPr>
      </p:sp>
      <p:sp>
        <p:nvSpPr>
          <p:cNvPr id="31" name="o_191"/>
          <p:cNvSpPr/>
          <p:nvPr/>
        </p:nvSpPr>
        <p:spPr>
          <a:xfrm>
            <a:off x="8908738" y="4526280"/>
            <a:ext cx="683579" cy="502920"/>
          </a:xfrm>
          <a:prstGeom prst="rect">
            <a:avLst/>
          </a:prstGeom>
          <a:solidFill>
            <a:srgbClr val="E89585"/>
          </a:solidFill>
          <a:ln w="12700">
            <a:solidFill>
              <a:srgbClr val="E89585"/>
            </a:solidFill>
            <a:prstDash val="solid"/>
          </a:ln>
        </p:spPr>
      </p:sp>
      <p:sp>
        <p:nvSpPr>
          <p:cNvPr id="32" name="o_192"/>
          <p:cNvSpPr/>
          <p:nvPr/>
        </p:nvSpPr>
        <p:spPr>
          <a:xfrm>
            <a:off x="9592317" y="4526280"/>
            <a:ext cx="683579" cy="502920"/>
          </a:xfrm>
          <a:prstGeom prst="rect">
            <a:avLst/>
          </a:prstGeom>
          <a:solidFill>
            <a:srgbClr val="D9705F"/>
          </a:solidFill>
          <a:ln w="12700">
            <a:solidFill>
              <a:srgbClr val="D9705F"/>
            </a:solidFill>
            <a:prstDash val="solid"/>
          </a:ln>
        </p:spPr>
      </p:sp>
      <p:sp>
        <p:nvSpPr>
          <p:cNvPr id="33" name="o_193"/>
          <p:cNvSpPr/>
          <p:nvPr/>
        </p:nvSpPr>
        <p:spPr>
          <a:xfrm>
            <a:off x="10275897" y="4526280"/>
            <a:ext cx="683579" cy="502920"/>
          </a:xfrm>
          <a:prstGeom prst="rect">
            <a:avLst/>
          </a:prstGeom>
          <a:solidFill>
            <a:srgbClr val="C55A47"/>
          </a:solidFill>
          <a:ln w="12700">
            <a:solidFill>
              <a:srgbClr val="C55A47"/>
            </a:solidFill>
            <a:prstDash val="solid"/>
          </a:ln>
        </p:spPr>
      </p:sp>
      <p:sp>
        <p:nvSpPr>
          <p:cNvPr id="34" name="o_194"/>
          <p:cNvSpPr/>
          <p:nvPr/>
        </p:nvSpPr>
        <p:spPr>
          <a:xfrm>
            <a:off x="10959476" y="4526280"/>
            <a:ext cx="683579" cy="502920"/>
          </a:xfrm>
          <a:prstGeom prst="rect">
            <a:avLst/>
          </a:prstGeom>
          <a:solidFill>
            <a:srgbClr val="B04A35"/>
          </a:solidFill>
          <a:ln w="12700">
            <a:solidFill>
              <a:srgbClr val="B04A35"/>
            </a:solidFill>
            <a:prstDash val="solid"/>
          </a:ln>
        </p:spPr>
      </p:sp>
      <p:sp>
        <p:nvSpPr>
          <p:cNvPr id="35" name="text_195"/>
          <p:cNvSpPr txBox="1"/>
          <p:nvPr/>
        </p:nvSpPr>
        <p:spPr>
          <a:xfrm>
            <a:off x="6858000" y="5047488"/>
            <a:ext cx="731520" cy="274320"/>
          </a:xfrm>
          <a:prstGeom prst="rect">
            <a:avLst/>
          </a:prstGeom>
          <a:noFill/>
          <a:ln/>
        </p:spPr>
        <p:txBody>
          <a:bodyPr wrap="square" lIns="635" tIns="635" rIns="635" bIns="635" rtlCol="0" anchor="t"/>
          <a:lstStyle/>
          <a:p>
            <a:pPr algn="l" indent="0" marL="0">
              <a:lnSpc>
                <a:spcPct val="100000"/>
              </a:lnSpc>
              <a:buNone/>
            </a:pPr>
            <a:r>
              <a:rPr lang="en-US" sz="1100" dirty="0">
                <a:solidFill>
                  <a:srgbClr val="5B6573"/>
                </a:solidFill>
                <a:latin typeface="Calibri" pitchFamily="34" charset="0"/>
                <a:ea typeface="Calibri" pitchFamily="34" charset="-122"/>
                <a:cs typeface="Calibri" pitchFamily="34" charset="-120"/>
              </a:rPr>
              <a:t>−0.2</a:t>
            </a:r>
            <a:endParaRPr lang="en-US" sz="1100" dirty="0"/>
          </a:p>
        </p:txBody>
      </p:sp>
      <p:sp>
        <p:nvSpPr>
          <p:cNvPr id="36" name="text_196"/>
          <p:cNvSpPr txBox="1"/>
          <p:nvPr/>
        </p:nvSpPr>
        <p:spPr>
          <a:xfrm>
            <a:off x="10911535" y="5047488"/>
            <a:ext cx="731520" cy="274320"/>
          </a:xfrm>
          <a:prstGeom prst="rect">
            <a:avLst/>
          </a:prstGeom>
          <a:noFill/>
          <a:ln/>
        </p:spPr>
        <p:txBody>
          <a:bodyPr wrap="square" lIns="635" tIns="635" rIns="635" bIns="635" rtlCol="0" anchor="t"/>
          <a:lstStyle/>
          <a:p>
            <a:pPr algn="r" indent="0" marL="0">
              <a:lnSpc>
                <a:spcPct val="100000"/>
              </a:lnSpc>
              <a:buNone/>
            </a:pPr>
            <a:r>
              <a:rPr lang="en-US" sz="1100" dirty="0">
                <a:solidFill>
                  <a:srgbClr val="5B6573"/>
                </a:solidFill>
                <a:latin typeface="Calibri" pitchFamily="34" charset="0"/>
                <a:ea typeface="Calibri" pitchFamily="34" charset="-122"/>
                <a:cs typeface="Calibri" pitchFamily="34" charset="-120"/>
              </a:rPr>
              <a:t>+0.8</a:t>
            </a:r>
            <a:endParaRPr lang="en-US" sz="11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ctband_197"/>
          <p:cNvSpPr/>
          <p:nvPr/>
        </p:nvSpPr>
        <p:spPr>
          <a:xfrm>
            <a:off x="0" y="237744"/>
            <a:ext cx="12191695" cy="914400"/>
          </a:xfrm>
          <a:prstGeom prst="rect">
            <a:avLst/>
          </a:prstGeom>
          <a:solidFill>
            <a:srgbClr val="FBEBD0"/>
          </a:solidFill>
          <a:ln w="12700">
            <a:solidFill>
              <a:srgbClr val="FBEBD0"/>
            </a:solidFill>
            <a:prstDash val="solid"/>
          </a:ln>
        </p:spPr>
      </p:sp>
      <p:sp>
        <p:nvSpPr>
          <p:cNvPr id="3" name="text_198"/>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10 MIN</a:t>
            </a:r>
            <a:endParaRPr lang="en-US" sz="1100" dirty="0"/>
          </a:p>
        </p:txBody>
      </p:sp>
      <p:sp>
        <p:nvSpPr>
          <p:cNvPr id="4" name="text_199"/>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Caption clinic</a:t>
            </a:r>
            <a:endParaRPr lang="en-US" sz="2600" dirty="0"/>
          </a:p>
        </p:txBody>
      </p:sp>
      <p:sp>
        <p:nvSpPr>
          <p:cNvPr id="5" name="num_200"/>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201"/>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202"/>
          <p:cNvSpPr txBox="1"/>
          <p:nvPr/>
        </p:nvSpPr>
        <p:spPr>
          <a:xfrm>
            <a:off x="1097280" y="1417320"/>
            <a:ext cx="6126480" cy="93268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a </a:t>
            </a:r>
            <a:r>
              <a:rPr lang="en-US" sz="1500" b="1" dirty="0">
                <a:solidFill>
                  <a:srgbClr val="222B36"/>
                </a:solidFill>
                <a:latin typeface="Calibri" pitchFamily="34" charset="0"/>
                <a:ea typeface="Calibri" pitchFamily="34" charset="-122"/>
                <a:cs typeface="Calibri" pitchFamily="34" charset="-120"/>
              </a:rPr>
              <a:t>full caption</a:t>
            </a:r>
            <a:r>
              <a:rPr lang="en-US" sz="1500" dirty="0">
                <a:solidFill>
                  <a:srgbClr val="222B36"/>
                </a:solidFill>
                <a:latin typeface="Calibri" pitchFamily="34" charset="0"/>
                <a:ea typeface="Calibri" pitchFamily="34" charset="-122"/>
                <a:cs typeface="Calibri" pitchFamily="34" charset="-120"/>
              </a:rPr>
              <a:t> for each figure: what is plotted · units · period/region · threshold/definition · data source. Begin with the </a:t>
            </a:r>
            <a:r>
              <a:rPr lang="en-US" sz="1500" b="1" dirty="0">
                <a:solidFill>
                  <a:srgbClr val="222B36"/>
                </a:solidFill>
                <a:latin typeface="Calibri" pitchFamily="34" charset="0"/>
                <a:ea typeface="Calibri" pitchFamily="34" charset="-122"/>
                <a:cs typeface="Calibri" pitchFamily="34" charset="-120"/>
              </a:rPr>
              <a:t>essence</a:t>
            </a:r>
            <a:r>
              <a:rPr lang="en-US" sz="1500" dirty="0">
                <a:solidFill>
                  <a:srgbClr val="222B36"/>
                </a:solidFill>
                <a:latin typeface="Calibri" pitchFamily="34" charset="0"/>
                <a:ea typeface="Calibri" pitchFamily="34" charset="-122"/>
                <a:cs typeface="Calibri" pitchFamily="34" charset="-120"/>
              </a:rPr>
              <a:t> phrase.</a:t>
            </a:r>
            <a:endParaRPr lang="en-US" sz="1500" dirty="0"/>
          </a:p>
        </p:txBody>
      </p:sp>
      <p:sp>
        <p:nvSpPr>
          <p:cNvPr id="8" name="num_203"/>
          <p:cNvSpPr/>
          <p:nvPr/>
        </p:nvSpPr>
        <p:spPr>
          <a:xfrm>
            <a:off x="594360" y="2496312"/>
            <a:ext cx="365760" cy="365760"/>
          </a:xfrm>
          <a:prstGeom prst="ellipse">
            <a:avLst/>
          </a:prstGeom>
          <a:solidFill>
            <a:srgbClr val="D98E1F"/>
          </a:solidFill>
          <a:ln w="12700">
            <a:solidFill>
              <a:srgbClr val="D98E1F"/>
            </a:solidFill>
            <a:prstDash val="solid"/>
          </a:ln>
        </p:spPr>
      </p:sp>
      <p:sp>
        <p:nvSpPr>
          <p:cNvPr id="9" name="text_204"/>
          <p:cNvSpPr txBox="1"/>
          <p:nvPr/>
        </p:nvSpPr>
        <p:spPr>
          <a:xfrm>
            <a:off x="594360" y="249631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205"/>
          <p:cNvSpPr txBox="1"/>
          <p:nvPr/>
        </p:nvSpPr>
        <p:spPr>
          <a:xfrm>
            <a:off x="1097280" y="247802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Under each caption, write the </a:t>
            </a:r>
            <a:r>
              <a:rPr lang="en-US" sz="1500" b="1" dirty="0">
                <a:solidFill>
                  <a:srgbClr val="222B36"/>
                </a:solidFill>
                <a:latin typeface="Calibri" pitchFamily="34" charset="0"/>
                <a:ea typeface="Calibri" pitchFamily="34" charset="-122"/>
                <a:cs typeface="Calibri" pitchFamily="34" charset="-120"/>
              </a:rPr>
              <a:t>one result sentence</a:t>
            </a:r>
            <a:r>
              <a:rPr lang="en-US" sz="1500" dirty="0">
                <a:solidFill>
                  <a:srgbClr val="222B36"/>
                </a:solidFill>
                <a:latin typeface="Calibri" pitchFamily="34" charset="0"/>
                <a:ea typeface="Calibri" pitchFamily="34" charset="-122"/>
                <a:cs typeface="Calibri" pitchFamily="34" charset="-120"/>
              </a:rPr>
              <a:t> that will cite it indirectly: science first, “(Fig. n)” last.</a:t>
            </a:r>
            <a:endParaRPr lang="en-US" sz="1500" dirty="0"/>
          </a:p>
        </p:txBody>
      </p:sp>
      <p:sp>
        <p:nvSpPr>
          <p:cNvPr id="11" name="num_206"/>
          <p:cNvSpPr/>
          <p:nvPr/>
        </p:nvSpPr>
        <p:spPr>
          <a:xfrm>
            <a:off x="594360" y="3282696"/>
            <a:ext cx="365760" cy="365760"/>
          </a:xfrm>
          <a:prstGeom prst="ellipse">
            <a:avLst/>
          </a:prstGeom>
          <a:solidFill>
            <a:srgbClr val="D98E1F"/>
          </a:solidFill>
          <a:ln w="12700">
            <a:solidFill>
              <a:srgbClr val="D98E1F"/>
            </a:solidFill>
            <a:prstDash val="solid"/>
          </a:ln>
        </p:spPr>
      </p:sp>
      <p:sp>
        <p:nvSpPr>
          <p:cNvPr id="12" name="text_207"/>
          <p:cNvSpPr txBox="1"/>
          <p:nvPr/>
        </p:nvSpPr>
        <p:spPr>
          <a:xfrm>
            <a:off x="594360" y="328269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208"/>
          <p:cNvSpPr txBox="1"/>
          <p:nvPr/>
        </p:nvSpPr>
        <p:spPr>
          <a:xfrm>
            <a:off x="1097280" y="3264408"/>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Swap </a:t>
            </a:r>
            <a:r>
              <a:rPr lang="en-US" sz="1500" b="1" dirty="0">
                <a:solidFill>
                  <a:srgbClr val="222B36"/>
                </a:solidFill>
                <a:latin typeface="Calibri" pitchFamily="34" charset="0"/>
                <a:ea typeface="Calibri" pitchFamily="34" charset="-122"/>
                <a:cs typeface="Calibri" pitchFamily="34" charset="-120"/>
              </a:rPr>
              <a:t>captions only</a:t>
            </a:r>
            <a:r>
              <a:rPr lang="en-US" sz="1500" dirty="0">
                <a:solidFill>
                  <a:srgbClr val="222B36"/>
                </a:solidFill>
                <a:latin typeface="Calibri" pitchFamily="34" charset="0"/>
                <a:ea typeface="Calibri" pitchFamily="34" charset="-122"/>
                <a:cs typeface="Calibri" pitchFamily="34" charset="-120"/>
              </a:rPr>
              <a:t> (no figures!) with a partner.</a:t>
            </a:r>
            <a:endParaRPr lang="en-US" sz="1500" dirty="0"/>
          </a:p>
        </p:txBody>
      </p:sp>
      <p:sp>
        <p:nvSpPr>
          <p:cNvPr id="14" name="num_209"/>
          <p:cNvSpPr/>
          <p:nvPr/>
        </p:nvSpPr>
        <p:spPr>
          <a:xfrm>
            <a:off x="594360" y="3867912"/>
            <a:ext cx="365760" cy="365760"/>
          </a:xfrm>
          <a:prstGeom prst="ellipse">
            <a:avLst/>
          </a:prstGeom>
          <a:solidFill>
            <a:srgbClr val="D98E1F"/>
          </a:solidFill>
          <a:ln w="12700">
            <a:solidFill>
              <a:srgbClr val="D98E1F"/>
            </a:solidFill>
            <a:prstDash val="solid"/>
          </a:ln>
        </p:spPr>
      </p:sp>
      <p:sp>
        <p:nvSpPr>
          <p:cNvPr id="15" name="text_210"/>
          <p:cNvSpPr txBox="1"/>
          <p:nvPr/>
        </p:nvSpPr>
        <p:spPr>
          <a:xfrm>
            <a:off x="594360" y="386791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211"/>
          <p:cNvSpPr txBox="1"/>
          <p:nvPr/>
        </p:nvSpPr>
        <p:spPr>
          <a:xfrm>
            <a:off x="1097280" y="384962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Partner </a:t>
            </a:r>
            <a:r>
              <a:rPr lang="en-US" sz="1500" b="1" dirty="0">
                <a:solidFill>
                  <a:srgbClr val="222B36"/>
                </a:solidFill>
                <a:latin typeface="Calibri" pitchFamily="34" charset="0"/>
                <a:ea typeface="Calibri" pitchFamily="34" charset="-122"/>
                <a:cs typeface="Calibri" pitchFamily="34" charset="-120"/>
              </a:rPr>
              <a:t>sketches</a:t>
            </a:r>
            <a:r>
              <a:rPr lang="en-US" sz="1500" dirty="0">
                <a:solidFill>
                  <a:srgbClr val="222B36"/>
                </a:solidFill>
                <a:latin typeface="Calibri" pitchFamily="34" charset="0"/>
                <a:ea typeface="Calibri" pitchFamily="34" charset="-122"/>
                <a:cs typeface="Calibri" pitchFamily="34" charset="-120"/>
              </a:rPr>
              <a:t> what they think each figure looks like: axes, map, colours, panels.</a:t>
            </a:r>
            <a:endParaRPr lang="en-US" sz="1500" dirty="0"/>
          </a:p>
        </p:txBody>
      </p:sp>
      <p:sp>
        <p:nvSpPr>
          <p:cNvPr id="17" name="num_212"/>
          <p:cNvSpPr/>
          <p:nvPr/>
        </p:nvSpPr>
        <p:spPr>
          <a:xfrm>
            <a:off x="594360" y="4654296"/>
            <a:ext cx="365760" cy="365760"/>
          </a:xfrm>
          <a:prstGeom prst="ellipse">
            <a:avLst/>
          </a:prstGeom>
          <a:solidFill>
            <a:srgbClr val="D98E1F"/>
          </a:solidFill>
          <a:ln w="12700">
            <a:solidFill>
              <a:srgbClr val="D98E1F"/>
            </a:solidFill>
            <a:prstDash val="solid"/>
          </a:ln>
        </p:spPr>
      </p:sp>
      <p:sp>
        <p:nvSpPr>
          <p:cNvPr id="18" name="text_213"/>
          <p:cNvSpPr txBox="1"/>
          <p:nvPr/>
        </p:nvSpPr>
        <p:spPr>
          <a:xfrm>
            <a:off x="594360" y="465429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214"/>
          <p:cNvSpPr txBox="1"/>
          <p:nvPr/>
        </p:nvSpPr>
        <p:spPr>
          <a:xfrm>
            <a:off x="1097280" y="463600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Compare the sketch with the real figure. Where they differ, the caption is incomplete.</a:t>
            </a:r>
            <a:endParaRPr lang="en-US" sz="1500" dirty="0"/>
          </a:p>
        </p:txBody>
      </p:sp>
      <p:sp>
        <p:nvSpPr>
          <p:cNvPr id="20" name="card_215"/>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216"/>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217"/>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218"/>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Report-ready captions for all figures (Task 5C)</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One result sentence per figure: the seeds of your Results</a:t>
            </a:r>
            <a:endParaRPr lang="en-US" sz="1450" dirty="0"/>
          </a:p>
        </p:txBody>
      </p:sp>
      <p:sp>
        <p:nvSpPr>
          <p:cNvPr id="24" name="card_219"/>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220"/>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221"/>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222"/>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each figure's </a:t>
            </a:r>
            <a:r>
              <a:rPr lang="en-US" sz="1400" b="1" dirty="0">
                <a:solidFill>
                  <a:srgbClr val="222B36"/>
                </a:solidFill>
                <a:latin typeface="Calibri" pitchFamily="34" charset="0"/>
                <a:ea typeface="Calibri" pitchFamily="34" charset="-122"/>
                <a:cs typeface="Calibri" pitchFamily="34" charset="-120"/>
              </a:rPr>
              <a:t>essence phrase</a:t>
            </a:r>
            <a:r>
              <a:rPr lang="en-US" sz="1400" dirty="0">
                <a:solidFill>
                  <a:srgbClr val="222B36"/>
                </a:solidFill>
                <a:latin typeface="Calibri" pitchFamily="34" charset="0"/>
                <a:ea typeface="Calibri" pitchFamily="34" charset="-122"/>
                <a:cs typeface="Calibri" pitchFamily="34" charset="-120"/>
              </a:rPr>
              <a:t> different from the others?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a:t>
            </a:r>
            <a:r>
              <a:rPr lang="en-US" sz="1400" b="1" dirty="0">
                <a:solidFill>
                  <a:srgbClr val="222B36"/>
                </a:solidFill>
                <a:latin typeface="Calibri" pitchFamily="34" charset="0"/>
                <a:ea typeface="Calibri" pitchFamily="34" charset="-122"/>
                <a:cs typeface="Calibri" pitchFamily="34" charset="-120"/>
              </a:rPr>
              <a:t>sign convention</a:t>
            </a:r>
            <a:r>
              <a:rPr lang="en-US" sz="1400" dirty="0">
                <a:solidFill>
                  <a:srgbClr val="222B36"/>
                </a:solidFill>
                <a:latin typeface="Calibri" pitchFamily="34" charset="0"/>
                <a:ea typeface="Calibri" pitchFamily="34" charset="-122"/>
                <a:cs typeface="Calibri" pitchFamily="34" charset="-120"/>
              </a:rPr>
              <a:t> clear (what does positive mean)?</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a:t>
            </a:r>
            <a:r>
              <a:rPr lang="en-US" sz="1400" b="1" dirty="0">
                <a:solidFill>
                  <a:srgbClr val="222B36"/>
                </a:solidFill>
                <a:latin typeface="Calibri" pitchFamily="34" charset="0"/>
                <a:ea typeface="Calibri" pitchFamily="34" charset="-122"/>
                <a:cs typeface="Calibri" pitchFamily="34" charset="-120"/>
              </a:rPr>
              <a:t>attribution</a:t>
            </a:r>
            <a:r>
              <a:rPr lang="en-US" sz="1400" dirty="0">
                <a:solidFill>
                  <a:srgbClr val="222B36"/>
                </a:solidFill>
                <a:latin typeface="Calibri" pitchFamily="34" charset="0"/>
                <a:ea typeface="Calibri" pitchFamily="34" charset="-122"/>
                <a:cs typeface="Calibri" pitchFamily="34" charset="-120"/>
              </a:rPr>
              <a:t> line there?</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_223"/>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6  ·  Thu 19 Nov</a:t>
            </a:r>
            <a:endParaRPr lang="en-US" sz="2800" dirty="0"/>
          </a:p>
        </p:txBody>
      </p:sp>
      <p:sp>
        <p:nvSpPr>
          <p:cNvPr id="3" name="text_224"/>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One week. About 2½ hours. This is the week your Results section appears.</a:t>
            </a:r>
            <a:endParaRPr lang="en-US" sz="1500" dirty="0"/>
          </a:p>
        </p:txBody>
      </p:sp>
      <p:sp>
        <p:nvSpPr>
          <p:cNvPr id="4" name="card_225"/>
          <p:cNvSpPr/>
          <p:nvPr/>
        </p:nvSpPr>
        <p:spPr>
          <a:xfrm>
            <a:off x="548640" y="1691640"/>
            <a:ext cx="2622042" cy="2971800"/>
          </a:xfrm>
          <a:prstGeom prst="roundRect">
            <a:avLst>
              <a:gd name="adj" fmla="val 2790"/>
            </a:avLst>
          </a:prstGeom>
          <a:solidFill>
            <a:srgbClr val="F7F4EE"/>
          </a:solidFill>
          <a:ln w="9525">
            <a:solidFill>
              <a:srgbClr val="D5DAE1"/>
            </a:solidFill>
            <a:prstDash val="solid"/>
          </a:ln>
        </p:spPr>
      </p:sp>
      <p:sp>
        <p:nvSpPr>
          <p:cNvPr id="5" name="tag_226"/>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227"/>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5A  ·  30 min</a:t>
            </a:r>
            <a:endParaRPr lang="en-US" sz="1050" dirty="0"/>
          </a:p>
        </p:txBody>
      </p:sp>
      <p:sp>
        <p:nvSpPr>
          <p:cNvPr id="7" name="text_228"/>
          <p:cNvSpPr txBox="1"/>
          <p:nvPr/>
        </p:nvSpPr>
        <p:spPr>
          <a:xfrm>
            <a:off x="713232" y="2167128"/>
            <a:ext cx="229285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Revise Methods</a:t>
            </a:r>
            <a:endParaRPr lang="en-US" sz="1600" dirty="0"/>
          </a:p>
        </p:txBody>
      </p:sp>
      <p:sp>
        <p:nvSpPr>
          <p:cNvPr id="8" name="cardbody_229"/>
          <p:cNvSpPr txBox="1"/>
          <p:nvPr/>
        </p:nvSpPr>
        <p:spPr>
          <a:xfrm>
            <a:off x="713232" y="2807208"/>
            <a:ext cx="229285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Fix every item on your partner's guess list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Remove any code or interpretation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Stay within ~300 words</a:t>
            </a:r>
            <a:endParaRPr lang="en-US" sz="1350" dirty="0"/>
          </a:p>
        </p:txBody>
      </p:sp>
      <p:sp>
        <p:nvSpPr>
          <p:cNvPr id="9" name="card_230"/>
          <p:cNvSpPr/>
          <p:nvPr/>
        </p:nvSpPr>
        <p:spPr>
          <a:xfrm>
            <a:off x="3371850" y="1691640"/>
            <a:ext cx="2622042" cy="2971800"/>
          </a:xfrm>
          <a:prstGeom prst="roundRect">
            <a:avLst>
              <a:gd name="adj" fmla="val 2790"/>
            </a:avLst>
          </a:prstGeom>
          <a:solidFill>
            <a:srgbClr val="F7F4EE"/>
          </a:solidFill>
          <a:ln w="9525">
            <a:solidFill>
              <a:srgbClr val="D5DAE1"/>
            </a:solidFill>
            <a:prstDash val="solid"/>
          </a:ln>
        </p:spPr>
      </p:sp>
      <p:sp>
        <p:nvSpPr>
          <p:cNvPr id="10" name="tag_231"/>
          <p:cNvSpPr/>
          <p:nvPr/>
        </p:nvSpPr>
        <p:spPr>
          <a:xfrm>
            <a:off x="3536442" y="1819656"/>
            <a:ext cx="1156716" cy="256032"/>
          </a:xfrm>
          <a:prstGeom prst="roundRect">
            <a:avLst>
              <a:gd name="adj" fmla="val 21429"/>
            </a:avLst>
          </a:prstGeom>
          <a:solidFill>
            <a:srgbClr val="1B2A41"/>
          </a:solidFill>
          <a:ln w="12700">
            <a:solidFill>
              <a:srgbClr val="1B2A41"/>
            </a:solidFill>
            <a:prstDash val="solid"/>
          </a:ln>
        </p:spPr>
      </p:sp>
      <p:sp>
        <p:nvSpPr>
          <p:cNvPr id="11" name="text_232"/>
          <p:cNvSpPr txBox="1"/>
          <p:nvPr/>
        </p:nvSpPr>
        <p:spPr>
          <a:xfrm>
            <a:off x="353644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5B  ·  90 min</a:t>
            </a:r>
            <a:endParaRPr lang="en-US" sz="1050" dirty="0"/>
          </a:p>
        </p:txBody>
      </p:sp>
      <p:sp>
        <p:nvSpPr>
          <p:cNvPr id="12" name="text_233"/>
          <p:cNvSpPr txBox="1"/>
          <p:nvPr/>
        </p:nvSpPr>
        <p:spPr>
          <a:xfrm>
            <a:off x="3536442" y="2167128"/>
            <a:ext cx="229285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Results draft, ~550–650 words</a:t>
            </a:r>
            <a:endParaRPr lang="en-US" sz="1600" dirty="0"/>
          </a:p>
        </p:txBody>
      </p:sp>
      <p:sp>
        <p:nvSpPr>
          <p:cNvPr id="13" name="cardbody_234"/>
          <p:cNvSpPr txBox="1"/>
          <p:nvPr/>
        </p:nvSpPr>
        <p:spPr>
          <a:xfrm>
            <a:off x="3536442" y="2807208"/>
            <a:ext cx="229285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One paragraph per claim</a:t>
            </a:r>
            <a:r>
              <a:rPr lang="en-US" sz="1350" dirty="0">
                <a:solidFill>
                  <a:srgbClr val="222B36"/>
                </a:solidFill>
                <a:latin typeface="Calibri" pitchFamily="34" charset="0"/>
                <a:ea typeface="Calibri" pitchFamily="34" charset="-122"/>
                <a:cs typeface="Calibri" pitchFamily="34" charset="-120"/>
              </a:rPr>
              <a:t> from your storyboard</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Topic sentence = the finding; then quantified evidence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Numbers with </a:t>
            </a:r>
            <a:r>
              <a:rPr lang="en-US" sz="1350" b="1" dirty="0">
                <a:solidFill>
                  <a:srgbClr val="222B36"/>
                </a:solidFill>
                <a:latin typeface="Calibri" pitchFamily="34" charset="0"/>
                <a:ea typeface="Calibri" pitchFamily="34" charset="-122"/>
                <a:cs typeface="Calibri" pitchFamily="34" charset="-120"/>
              </a:rPr>
              <a:t>units, baseline and sample size</a:t>
            </a:r>
            <a:endParaRPr lang="en-US" sz="1350" dirty="0"/>
          </a:p>
        </p:txBody>
      </p:sp>
      <p:sp>
        <p:nvSpPr>
          <p:cNvPr id="14" name="card_235"/>
          <p:cNvSpPr/>
          <p:nvPr/>
        </p:nvSpPr>
        <p:spPr>
          <a:xfrm>
            <a:off x="6195060" y="1691640"/>
            <a:ext cx="2622042" cy="2971800"/>
          </a:xfrm>
          <a:prstGeom prst="roundRect">
            <a:avLst>
              <a:gd name="adj" fmla="val 2790"/>
            </a:avLst>
          </a:prstGeom>
          <a:solidFill>
            <a:srgbClr val="F7F4EE"/>
          </a:solidFill>
          <a:ln w="9525">
            <a:solidFill>
              <a:srgbClr val="D5DAE1"/>
            </a:solidFill>
            <a:prstDash val="solid"/>
          </a:ln>
        </p:spPr>
      </p:sp>
      <p:sp>
        <p:nvSpPr>
          <p:cNvPr id="15" name="tag_236"/>
          <p:cNvSpPr/>
          <p:nvPr/>
        </p:nvSpPr>
        <p:spPr>
          <a:xfrm>
            <a:off x="6359652" y="1819656"/>
            <a:ext cx="1156716" cy="256032"/>
          </a:xfrm>
          <a:prstGeom prst="roundRect">
            <a:avLst>
              <a:gd name="adj" fmla="val 21429"/>
            </a:avLst>
          </a:prstGeom>
          <a:solidFill>
            <a:srgbClr val="1B2A41"/>
          </a:solidFill>
          <a:ln w="12700">
            <a:solidFill>
              <a:srgbClr val="1B2A41"/>
            </a:solidFill>
            <a:prstDash val="solid"/>
          </a:ln>
        </p:spPr>
      </p:sp>
      <p:sp>
        <p:nvSpPr>
          <p:cNvPr id="16" name="text_237"/>
          <p:cNvSpPr txBox="1"/>
          <p:nvPr/>
        </p:nvSpPr>
        <p:spPr>
          <a:xfrm>
            <a:off x="635965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5C  ·  20 min</a:t>
            </a:r>
            <a:endParaRPr lang="en-US" sz="1050" dirty="0"/>
          </a:p>
        </p:txBody>
      </p:sp>
      <p:sp>
        <p:nvSpPr>
          <p:cNvPr id="17" name="text_238"/>
          <p:cNvSpPr txBox="1"/>
          <p:nvPr/>
        </p:nvSpPr>
        <p:spPr>
          <a:xfrm>
            <a:off x="6359652" y="2167128"/>
            <a:ext cx="229285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Final captions</a:t>
            </a:r>
            <a:endParaRPr lang="en-US" sz="1600" dirty="0"/>
          </a:p>
        </p:txBody>
      </p:sp>
      <p:sp>
        <p:nvSpPr>
          <p:cNvPr id="18" name="cardbody_239"/>
          <p:cNvSpPr txBox="1"/>
          <p:nvPr/>
        </p:nvSpPr>
        <p:spPr>
          <a:xfrm>
            <a:off x="6359652" y="2807208"/>
            <a:ext cx="229285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All 3–5 figures, one consistent format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Five-point check + attribution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Numbered in the order you cite them</a:t>
            </a:r>
            <a:endParaRPr lang="en-US" sz="1350" dirty="0"/>
          </a:p>
        </p:txBody>
      </p:sp>
      <p:sp>
        <p:nvSpPr>
          <p:cNvPr id="19" name="card_240"/>
          <p:cNvSpPr/>
          <p:nvPr/>
        </p:nvSpPr>
        <p:spPr>
          <a:xfrm>
            <a:off x="9018270" y="1691640"/>
            <a:ext cx="2622042" cy="2971800"/>
          </a:xfrm>
          <a:prstGeom prst="roundRect">
            <a:avLst>
              <a:gd name="adj" fmla="val 2790"/>
            </a:avLst>
          </a:prstGeom>
          <a:solidFill>
            <a:srgbClr val="F7F4EE"/>
          </a:solidFill>
          <a:ln w="9525">
            <a:solidFill>
              <a:srgbClr val="D5DAE1"/>
            </a:solidFill>
            <a:prstDash val="solid"/>
          </a:ln>
        </p:spPr>
      </p:sp>
      <p:sp>
        <p:nvSpPr>
          <p:cNvPr id="20" name="tag_241"/>
          <p:cNvSpPr/>
          <p:nvPr/>
        </p:nvSpPr>
        <p:spPr>
          <a:xfrm>
            <a:off x="9182862" y="1819656"/>
            <a:ext cx="1156716" cy="256032"/>
          </a:xfrm>
          <a:prstGeom prst="roundRect">
            <a:avLst>
              <a:gd name="adj" fmla="val 21429"/>
            </a:avLst>
          </a:prstGeom>
          <a:solidFill>
            <a:srgbClr val="1B2A41"/>
          </a:solidFill>
          <a:ln w="12700">
            <a:solidFill>
              <a:srgbClr val="1B2A41"/>
            </a:solidFill>
            <a:prstDash val="solid"/>
          </a:ln>
        </p:spPr>
      </p:sp>
      <p:sp>
        <p:nvSpPr>
          <p:cNvPr id="21" name="text_242"/>
          <p:cNvSpPr txBox="1"/>
          <p:nvPr/>
        </p:nvSpPr>
        <p:spPr>
          <a:xfrm>
            <a:off x="918286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5D  ·  20 min</a:t>
            </a:r>
            <a:endParaRPr lang="en-US" sz="1050" dirty="0"/>
          </a:p>
        </p:txBody>
      </p:sp>
      <p:sp>
        <p:nvSpPr>
          <p:cNvPr id="22" name="text_243"/>
          <p:cNvSpPr txBox="1"/>
          <p:nvPr/>
        </p:nvSpPr>
        <p:spPr>
          <a:xfrm>
            <a:off x="9182862" y="2167128"/>
            <a:ext cx="229285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Calculate a p-value</a:t>
            </a:r>
            <a:endParaRPr lang="en-US" sz="1600" dirty="0"/>
          </a:p>
        </p:txBody>
      </p:sp>
      <p:sp>
        <p:nvSpPr>
          <p:cNvPr id="23" name="cardbody_244"/>
          <p:cNvSpPr txBox="1"/>
          <p:nvPr/>
        </p:nvSpPr>
        <p:spPr>
          <a:xfrm>
            <a:off x="9182862" y="2807208"/>
            <a:ext cx="229285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Take </a:t>
            </a:r>
            <a:r>
              <a:rPr lang="en-US" sz="1350" b="1" dirty="0">
                <a:solidFill>
                  <a:srgbClr val="222B36"/>
                </a:solidFill>
                <a:latin typeface="Calibri" pitchFamily="34" charset="0"/>
                <a:ea typeface="Calibri" pitchFamily="34" charset="-122"/>
                <a:cs typeface="Calibri" pitchFamily="34" charset="-120"/>
              </a:rPr>
              <a:t>r and n</a:t>
            </a:r>
            <a:r>
              <a:rPr lang="en-US" sz="1350" dirty="0">
                <a:solidFill>
                  <a:srgbClr val="222B36"/>
                </a:solidFill>
                <a:latin typeface="Calibri" pitchFamily="34" charset="0"/>
                <a:ea typeface="Calibri" pitchFamily="34" charset="-122"/>
                <a:cs typeface="Calibri" pitchFamily="34" charset="-120"/>
              </a:rPr>
              <a:t> for your region from the §5 panel</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Compute t and p (workbook / methods_demos §4)</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Repeat with </a:t>
            </a:r>
            <a:r>
              <a:rPr lang="en-US" sz="1350" b="1" dirty="0">
                <a:solidFill>
                  <a:srgbClr val="222B36"/>
                </a:solidFill>
                <a:latin typeface="Calibri" pitchFamily="34" charset="0"/>
                <a:ea typeface="Calibri" pitchFamily="34" charset="-122"/>
                <a:cs typeface="Calibri" pitchFamily="34" charset="-120"/>
              </a:rPr>
              <a:t>n_eff</a:t>
            </a:r>
            <a:r>
              <a:rPr lang="en-US" sz="1350" dirty="0">
                <a:solidFill>
                  <a:srgbClr val="222B36"/>
                </a:solidFill>
                <a:latin typeface="Calibri" pitchFamily="34" charset="0"/>
                <a:ea typeface="Calibri" pitchFamily="34" charset="-122"/>
                <a:cs typeface="Calibri" pitchFamily="34" charset="-120"/>
              </a:rPr>
              <a:t> from §6. Which do you report?</a:t>
            </a:r>
            <a:endParaRPr lang="en-US" sz="1350" dirty="0"/>
          </a:p>
        </p:txBody>
      </p:sp>
      <p:sp>
        <p:nvSpPr>
          <p:cNvPr id="24" name="card_245"/>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5" name="tag_246"/>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6" name="text_247"/>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7" name="cardbody_248"/>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Finalise 3–5 figures (labels, units, centred colour scales); </a:t>
            </a:r>
            <a:r>
              <a:rPr lang="en-US" sz="1350" b="1" dirty="0">
                <a:solidFill>
                  <a:srgbClr val="222B36"/>
                </a:solidFill>
                <a:latin typeface="Calibri" pitchFamily="34" charset="0"/>
                <a:ea typeface="Calibri" pitchFamily="34" charset="-122"/>
                <a:cs typeface="Calibri" pitchFamily="34" charset="-120"/>
              </a:rPr>
              <a:t>save them outside Binder</a:t>
            </a:r>
            <a:r>
              <a:rPr lang="en-US" sz="1350" dirty="0">
                <a:solidFill>
                  <a:srgbClr val="222B36"/>
                </a:solidFill>
                <a:latin typeface="Calibri" pitchFamily="34" charset="0"/>
                <a:ea typeface="Calibri" pitchFamily="34" charset="-122"/>
                <a:cs typeface="Calibri" pitchFamily="34" charset="-120"/>
              </a:rPr>
              <a:t>. Optional: a ±1.0 °C sensitivity test.</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methods_demos.ipynb §3–6</a:t>
            </a:r>
            <a:r>
              <a:rPr lang="en-US" sz="1350" dirty="0">
                <a:solidFill>
                  <a:srgbClr val="222B36"/>
                </a:solidFill>
                <a:latin typeface="Calibri" pitchFamily="34" charset="0"/>
                <a:ea typeface="Calibri" pitchFamily="34" charset="-122"/>
                <a:cs typeface="Calibri" pitchFamily="34" charset="-120"/>
              </a:rPr>
              <a:t>; the shift test (§7) for your region; new </a:t>
            </a:r>
            <a:r>
              <a:rPr lang="en-US" sz="1350" b="1" dirty="0">
                <a:solidFill>
                  <a:srgbClr val="222B36"/>
                </a:solidFill>
                <a:latin typeface="Calibri" pitchFamily="34" charset="0"/>
                <a:ea typeface="Calibri" pitchFamily="34" charset="-122"/>
                <a:cs typeface="Calibri" pitchFamily="34" charset="-120"/>
              </a:rPr>
              <a:t>§3b</a:t>
            </a:r>
            <a:r>
              <a:rPr lang="en-US" sz="1350" dirty="0">
                <a:solidFill>
                  <a:srgbClr val="222B36"/>
                </a:solidFill>
                <a:latin typeface="Calibri" pitchFamily="34" charset="0"/>
                <a:ea typeface="Calibri" pitchFamily="34" charset="-122"/>
                <a:cs typeface="Calibri" pitchFamily="34" charset="-120"/>
              </a:rPr>
              <a:t> if you compare years.</a:t>
            </a:r>
            <a:endParaRPr lang="en-US" sz="1350" dirty="0"/>
          </a:p>
        </p:txBody>
      </p:sp>
      <p:sp>
        <p:nvSpPr>
          <p:cNvPr id="28" name="card_249"/>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9" name="tag_250"/>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30" name="text_251"/>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31" name="cardbody_252"/>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§11.10–11.14</a:t>
            </a:r>
            <a:r>
              <a:rPr lang="en-US" sz="1350" dirty="0">
                <a:solidFill>
                  <a:srgbClr val="222B36"/>
                </a:solidFill>
                <a:latin typeface="Calibri" pitchFamily="34" charset="0"/>
                <a:ea typeface="Calibri" pitchFamily="34" charset="-122"/>
                <a:cs typeface="Calibri" pitchFamily="34" charset="-120"/>
              </a:rPr>
              <a:t> Captions; discussing and citing figures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§10.1</a:t>
            </a:r>
            <a:r>
              <a:rPr lang="en-US" sz="1350" dirty="0">
                <a:solidFill>
                  <a:srgbClr val="222B36"/>
                </a:solidFill>
                <a:latin typeface="Calibri" pitchFamily="34" charset="0"/>
                <a:ea typeface="Calibri" pitchFamily="34" charset="-122"/>
                <a:cs typeface="Calibri" pitchFamily="34" charset="-120"/>
              </a:rPr>
              <a:t> Concision (and Table 10.2)</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5 — Make every figure earn its place</dc:title>
  <dc:subject>ENSO and cloud cover mini-project — writing strand</dc:subject>
  <dc:creator>EART29200 course team</dc:creator>
  <cp:lastModifiedBy>EART29200 course team</cp:lastModifiedBy>
  <cp:revision>1</cp:revision>
  <dcterms:created xsi:type="dcterms:W3CDTF">2026-10-03T17:07:49Z</dcterms:created>
  <dcterms:modified xsi:type="dcterms:W3CDTF">2026-10-03T17:07:49Z</dcterms:modified>
</cp:coreProperties>
</file>