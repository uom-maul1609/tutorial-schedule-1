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Look at each piece of the template. r is the strength; the 95% range is the uncertainty in r; n and n_eff say how much data, and how much independent data; p is the significance; the period says when; the slope gives the size of the effect in physical units. Each number answers a question a sceptical reader would ask. The notebook's section 6 table prints all of them. Use two decimal places for r, and only say 'significant' if you've done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A single El Niño minus La Niña number assumes both phases push equally in opposite directions. Often they don't: the atmosphere may respond strongly to El Niño and hardly at all to La Niña, or the response may sit in a different place. In this made-up example the difference is −1.9 percentage points, but all of it comes from El Niño; La Niña months look the same as neutral ones. The fix is simple: compare each phase with neutral months. The notebook prints mean anomalies for El Niño, neutral and La Niña months in sections 3 and 4. A one-sided response is a strong result and well worth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Schultz's chain runs data, results, interpretation, inference, speculation. Readers accept speculation only after they've seen the evidence, so speculation always comes last, flagged as speculation. This doesn't contradict 'assert first': the topic sentence of a Results paragraph states a finding, which is a result, not a speculation. So: finding first, evidence second, interpretation third, and 'we speculate that…' last, ideally in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Readers expect the start of a sentence to connect to what they already know and the end to deliver something new. If the end of one sentence becomes the start of the next, the paragraph reads as a chain. In the choppy version, the reader has to work out how three separate facts connect (and which months 'these months' are). In the linked version, each sentence hands on to the next: Niño 3.4 region → months → La Niña → cloud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B2A41"/>
          </a:solidFill>
          <a:ln/>
        </p:spPr>
      </p:sp>
      <p:sp>
        <p:nvSpPr>
          <p:cNvPr id="3" name="Text 1"/>
          <p:cNvSpPr/>
          <p:nvPr/>
        </p:nvSpPr>
        <p:spPr>
          <a:xfrm>
            <a:off x="548640" y="27432"/>
            <a:ext cx="6400800" cy="182880"/>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ENSO &amp; CLOUD COVER PROJECT  ·  WRITING STRAND</a:t>
            </a:r>
            <a:endParaRPr lang="en-US" sz="900" dirty="0"/>
          </a:p>
        </p:txBody>
      </p:sp>
      <p:sp>
        <p:nvSpPr>
          <p:cNvPr id="4" name="Text 2"/>
          <p:cNvSpPr/>
          <p:nvPr/>
        </p:nvSpPr>
        <p:spPr>
          <a:xfrm>
            <a:off x="7982712" y="27432"/>
            <a:ext cx="3657600" cy="18288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Tutorial 6  ·  Thu 19 Nov</a:t>
            </a:r>
            <a:endParaRPr lang="en-US" sz="900" dirty="0"/>
          </a:p>
        </p:txBody>
      </p:sp>
      <p:sp>
        <p:nvSpPr>
          <p:cNvPr id="5" name="Shape 3"/>
          <p:cNvSpPr/>
          <p:nvPr/>
        </p:nvSpPr>
        <p:spPr>
          <a:xfrm>
            <a:off x="548640" y="1024128"/>
            <a:ext cx="822960" cy="54864"/>
          </a:xfrm>
          <a:prstGeom prst="rect">
            <a:avLst/>
          </a:prstGeom>
          <a:solidFill>
            <a:srgbClr val="D98E1F"/>
          </a:solidFill>
          <a:ln/>
        </p:spPr>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S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_1"/>
          <p:cNvSpPr/>
          <p:nvPr/>
        </p:nvSpPr>
        <p:spPr>
          <a:xfrm>
            <a:off x="0" y="0"/>
            <a:ext cx="256032" cy="6858000"/>
          </a:xfrm>
          <a:prstGeom prst="rect">
            <a:avLst/>
          </a:prstGeom>
          <a:solidFill>
            <a:srgbClr val="D98E1F"/>
          </a:solidFill>
          <a:ln w="12700">
            <a:solidFill>
              <a:srgbClr val="D98E1F"/>
            </a:solidFill>
            <a:prstDash val="solid"/>
          </a:ln>
        </p:spPr>
      </p:sp>
      <p:sp>
        <p:nvSpPr>
          <p:cNvPr id="3" name="text_2"/>
          <p:cNvSpPr txBox="1"/>
          <p:nvPr/>
        </p:nvSpPr>
        <p:spPr>
          <a:xfrm>
            <a:off x="822960" y="960120"/>
            <a:ext cx="10058400"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F2C27A"/>
                </a:solidFill>
                <a:latin typeface="Calibri" pitchFamily="34" charset="0"/>
                <a:ea typeface="Calibri" pitchFamily="34" charset="-122"/>
                <a:cs typeface="Calibri" pitchFamily="34" charset="-120"/>
              </a:rPr>
              <a:t>TUTORIAL 6  ·  THURSDAY 19 NOVEMBER</a:t>
            </a:r>
            <a:endParaRPr lang="en-US" sz="1300" dirty="0"/>
          </a:p>
        </p:txBody>
      </p:sp>
      <p:sp>
        <p:nvSpPr>
          <p:cNvPr id="4" name="text_3"/>
          <p:cNvSpPr txBox="1"/>
          <p:nvPr/>
        </p:nvSpPr>
        <p:spPr>
          <a:xfrm>
            <a:off x="822960" y="1417320"/>
            <a:ext cx="10332720" cy="1737360"/>
          </a:xfrm>
          <a:prstGeom prst="rect">
            <a:avLst/>
          </a:prstGeom>
          <a:noFill/>
          <a:ln/>
        </p:spPr>
        <p:txBody>
          <a:bodyPr wrap="square" lIns="635" tIns="635" rIns="635" bIns="635" rtlCol="0" anchor="t"/>
          <a:lstStyle/>
          <a:p>
            <a:pPr algn="l" indent="0" marL="0">
              <a:lnSpc>
                <a:spcPct val="95000"/>
              </a:lnSpc>
              <a:buNone/>
            </a:pPr>
            <a:r>
              <a:rPr lang="en-US" sz="4200" b="1" dirty="0">
                <a:solidFill>
                  <a:srgbClr val="FFFFFF"/>
                </a:solidFill>
                <a:latin typeface="Georgia" pitchFamily="34" charset="0"/>
                <a:ea typeface="Georgia" pitchFamily="34" charset="-122"/>
                <a:cs typeface="Georgia" pitchFamily="34" charset="-120"/>
              </a:rPr>
              <a:t>Paragraphs that argue</a:t>
            </a:r>
            <a:endParaRPr lang="en-US" sz="4200" dirty="0"/>
          </a:p>
        </p:txBody>
      </p:sp>
      <p:sp>
        <p:nvSpPr>
          <p:cNvPr id="5" name="text_4"/>
          <p:cNvSpPr txBox="1"/>
          <p:nvPr/>
        </p:nvSpPr>
        <p:spPr>
          <a:xfrm>
            <a:off x="822960" y="3246120"/>
            <a:ext cx="10058400" cy="822960"/>
          </a:xfrm>
          <a:prstGeom prst="rect">
            <a:avLst/>
          </a:prstGeom>
          <a:noFill/>
          <a:ln/>
        </p:spPr>
        <p:txBody>
          <a:bodyPr wrap="square" lIns="635" tIns="635" rIns="635" bIns="635" rtlCol="0" anchor="t"/>
          <a:lstStyle/>
          <a:p>
            <a:pPr algn="l" indent="0" marL="0">
              <a:lnSpc>
                <a:spcPct val="100000"/>
              </a:lnSpc>
              <a:buNone/>
            </a:pPr>
            <a:r>
              <a:rPr lang="en-US" sz="2000" i="1" dirty="0">
                <a:solidFill>
                  <a:srgbClr val="C9D6E3"/>
                </a:solidFill>
                <a:latin typeface="Calibri" pitchFamily="34" charset="0"/>
                <a:ea typeface="Calibri" pitchFamily="34" charset="-122"/>
                <a:cs typeface="Calibri" pitchFamily="34" charset="-120"/>
              </a:rPr>
              <a:t>Turning a Results draft from description into evidence</a:t>
            </a:r>
            <a:endParaRPr lang="en-US" sz="2000" dirty="0"/>
          </a:p>
        </p:txBody>
      </p:sp>
      <p:sp>
        <p:nvSpPr>
          <p:cNvPr id="6" name="leave_5"/>
          <p:cNvSpPr/>
          <p:nvPr/>
        </p:nvSpPr>
        <p:spPr>
          <a:xfrm>
            <a:off x="822960" y="4343400"/>
            <a:ext cx="6949440" cy="960120"/>
          </a:xfrm>
          <a:prstGeom prst="roundRect">
            <a:avLst>
              <a:gd name="adj" fmla="val 7619"/>
            </a:avLst>
          </a:prstGeom>
          <a:solidFill>
            <a:srgbClr val="2E4A6B"/>
          </a:solidFill>
          <a:ln w="12700">
            <a:solidFill>
              <a:srgbClr val="2E4A6B"/>
            </a:solidFill>
            <a:prstDash val="solid"/>
          </a:ln>
        </p:spPr>
      </p:sp>
      <p:sp>
        <p:nvSpPr>
          <p:cNvPr id="7" name="text_6"/>
          <p:cNvSpPr txBox="1"/>
          <p:nvPr/>
        </p:nvSpPr>
        <p:spPr>
          <a:xfrm>
            <a:off x="1005840" y="4434840"/>
            <a:ext cx="274320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F2C27A"/>
                </a:solidFill>
                <a:latin typeface="Calibri" pitchFamily="34" charset="0"/>
                <a:ea typeface="Calibri" pitchFamily="34" charset="-122"/>
                <a:cs typeface="Calibri" pitchFamily="34" charset="-120"/>
              </a:rPr>
              <a:t>YOU LEAVE WITH</a:t>
            </a:r>
            <a:endParaRPr lang="en-US" sz="1050" dirty="0"/>
          </a:p>
        </p:txBody>
      </p:sp>
      <p:sp>
        <p:nvSpPr>
          <p:cNvPr id="8" name="text_7"/>
          <p:cNvSpPr txBox="1"/>
          <p:nvPr/>
        </p:nvSpPr>
        <p:spPr>
          <a:xfrm>
            <a:off x="1005840" y="4681728"/>
            <a:ext cx="658368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A Results section where every paragraph makes a claim, backs it with numbers, and links to the next.</a:t>
            </a:r>
            <a:endParaRPr lang="en-US" sz="1500" dirty="0"/>
          </a:p>
        </p:txBody>
      </p:sp>
      <p:sp>
        <p:nvSpPr>
          <p:cNvPr id="9" name="text_8"/>
          <p:cNvSpPr txBox="1"/>
          <p:nvPr/>
        </p:nvSpPr>
        <p:spPr>
          <a:xfrm>
            <a:off x="822960" y="6355080"/>
            <a:ext cx="8229600" cy="274320"/>
          </a:xfrm>
          <a:prstGeom prst="rect">
            <a:avLst/>
          </a:prstGeom>
          <a:noFill/>
          <a:ln/>
        </p:spPr>
        <p:txBody>
          <a:bodyPr wrap="square" lIns="635" tIns="635" rIns="635" bIns="635" rtlCol="0" anchor="t"/>
          <a:lstStyle/>
          <a:p>
            <a:pPr algn="l" indent="0" marL="0">
              <a:lnSpc>
                <a:spcPct val="100000"/>
              </a:lnSpc>
              <a:buNone/>
            </a:pPr>
            <a:r>
              <a:rPr lang="en-US" sz="1000" dirty="0">
                <a:solidFill>
                  <a:srgbClr val="8FA6BF"/>
                </a:solidFill>
                <a:latin typeface="Calibri" pitchFamily="34" charset="0"/>
                <a:ea typeface="Calibri" pitchFamily="34" charset="-122"/>
                <a:cs typeface="Calibri" pitchFamily="34" charset="-120"/>
              </a:rPr>
              <a:t>EART29200  ·  ENSO and cloud cover mini-project  ·  Writing strand</a:t>
            </a:r>
            <a:endParaRPr lang="en-US" sz="1000" dirty="0"/>
          </a:p>
        </p:txBody>
      </p:sp>
      <p:sp>
        <p:nvSpPr>
          <p:cNvPr id="10" name="dot_9"/>
          <p:cNvSpPr/>
          <p:nvPr/>
        </p:nvSpPr>
        <p:spPr>
          <a:xfrm>
            <a:off x="4852264" y="5715000"/>
            <a:ext cx="182880" cy="182880"/>
          </a:xfrm>
          <a:prstGeom prst="ellipse">
            <a:avLst/>
          </a:prstGeom>
          <a:solidFill>
            <a:srgbClr val="6C8EAD"/>
          </a:solidFill>
          <a:ln w="6350">
            <a:solidFill>
              <a:srgbClr val="6C8EAD"/>
            </a:solidFill>
            <a:prstDash val="solid"/>
          </a:ln>
        </p:spPr>
      </p:sp>
      <p:sp>
        <p:nvSpPr>
          <p:cNvPr id="11" name="dot_10"/>
          <p:cNvSpPr/>
          <p:nvPr/>
        </p:nvSpPr>
        <p:spPr>
          <a:xfrm>
            <a:off x="5181448" y="5715000"/>
            <a:ext cx="182880" cy="182880"/>
          </a:xfrm>
          <a:prstGeom prst="ellipse">
            <a:avLst/>
          </a:prstGeom>
          <a:solidFill>
            <a:srgbClr val="6C8EAD"/>
          </a:solidFill>
          <a:ln w="6350">
            <a:solidFill>
              <a:srgbClr val="6C8EAD"/>
            </a:solidFill>
            <a:prstDash val="solid"/>
          </a:ln>
        </p:spPr>
      </p:sp>
      <p:sp>
        <p:nvSpPr>
          <p:cNvPr id="12" name="dot_11"/>
          <p:cNvSpPr/>
          <p:nvPr/>
        </p:nvSpPr>
        <p:spPr>
          <a:xfrm>
            <a:off x="5510632" y="5715000"/>
            <a:ext cx="182880" cy="182880"/>
          </a:xfrm>
          <a:prstGeom prst="ellipse">
            <a:avLst/>
          </a:prstGeom>
          <a:solidFill>
            <a:srgbClr val="6C8EAD"/>
          </a:solidFill>
          <a:ln w="6350">
            <a:solidFill>
              <a:srgbClr val="6C8EAD"/>
            </a:solidFill>
            <a:prstDash val="solid"/>
          </a:ln>
        </p:spPr>
      </p:sp>
      <p:sp>
        <p:nvSpPr>
          <p:cNvPr id="13" name="dot_12"/>
          <p:cNvSpPr/>
          <p:nvPr/>
        </p:nvSpPr>
        <p:spPr>
          <a:xfrm>
            <a:off x="5839816" y="5715000"/>
            <a:ext cx="182880" cy="182880"/>
          </a:xfrm>
          <a:prstGeom prst="ellipse">
            <a:avLst/>
          </a:prstGeom>
          <a:solidFill>
            <a:srgbClr val="6C8EAD"/>
          </a:solidFill>
          <a:ln w="6350">
            <a:solidFill>
              <a:srgbClr val="6C8EAD"/>
            </a:solidFill>
            <a:prstDash val="solid"/>
          </a:ln>
        </p:spPr>
      </p:sp>
      <p:sp>
        <p:nvSpPr>
          <p:cNvPr id="14" name="dot_13"/>
          <p:cNvSpPr/>
          <p:nvPr/>
        </p:nvSpPr>
        <p:spPr>
          <a:xfrm>
            <a:off x="6169000" y="5715000"/>
            <a:ext cx="182880" cy="182880"/>
          </a:xfrm>
          <a:prstGeom prst="ellipse">
            <a:avLst/>
          </a:prstGeom>
          <a:solidFill>
            <a:srgbClr val="6C8EAD"/>
          </a:solidFill>
          <a:ln w="6350">
            <a:solidFill>
              <a:srgbClr val="6C8EAD"/>
            </a:solidFill>
            <a:prstDash val="solid"/>
          </a:ln>
        </p:spPr>
      </p:sp>
      <p:sp>
        <p:nvSpPr>
          <p:cNvPr id="15" name="dot_14"/>
          <p:cNvSpPr/>
          <p:nvPr/>
        </p:nvSpPr>
        <p:spPr>
          <a:xfrm>
            <a:off x="6498184" y="5715000"/>
            <a:ext cx="182880" cy="182880"/>
          </a:xfrm>
          <a:prstGeom prst="ellipse">
            <a:avLst/>
          </a:prstGeom>
          <a:solidFill>
            <a:srgbClr val="D98E1F"/>
          </a:solidFill>
          <a:ln w="6350">
            <a:solidFill>
              <a:srgbClr val="6C8EAD"/>
            </a:solidFill>
            <a:prstDash val="solid"/>
          </a:ln>
        </p:spPr>
      </p:sp>
      <p:sp>
        <p:nvSpPr>
          <p:cNvPr id="16" name="dot_15"/>
          <p:cNvSpPr/>
          <p:nvPr/>
        </p:nvSpPr>
        <p:spPr>
          <a:xfrm>
            <a:off x="6827368" y="5715000"/>
            <a:ext cx="182880" cy="182880"/>
          </a:xfrm>
          <a:prstGeom prst="ellipse">
            <a:avLst/>
          </a:prstGeom>
          <a:solidFill>
            <a:srgbClr val="2E4A6B"/>
          </a:solidFill>
          <a:ln w="6350">
            <a:solidFill>
              <a:srgbClr val="6C8EAD"/>
            </a:solidFill>
            <a:prstDash val="solid"/>
          </a:ln>
        </p:spPr>
      </p:sp>
      <p:sp>
        <p:nvSpPr>
          <p:cNvPr id="17" name="dot_16"/>
          <p:cNvSpPr/>
          <p:nvPr/>
        </p:nvSpPr>
        <p:spPr>
          <a:xfrm>
            <a:off x="7156552" y="5715000"/>
            <a:ext cx="182880" cy="182880"/>
          </a:xfrm>
          <a:prstGeom prst="ellipse">
            <a:avLst/>
          </a:prstGeom>
          <a:solidFill>
            <a:srgbClr val="2E4A6B"/>
          </a:solidFill>
          <a:ln w="6350">
            <a:solidFill>
              <a:srgbClr val="6C8EAD"/>
            </a:solidFill>
            <a:prstDash val="solid"/>
          </a:ln>
        </p:spPr>
      </p:sp>
      <p:sp>
        <p:nvSpPr>
          <p:cNvPr id="18" name="text_17"/>
          <p:cNvSpPr txBox="1"/>
          <p:nvPr/>
        </p:nvSpPr>
        <p:spPr>
          <a:xfrm>
            <a:off x="0" y="593445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AFC2D6"/>
                </a:solidFill>
                <a:latin typeface="Calibri" pitchFamily="34" charset="0"/>
                <a:ea typeface="Calibri" pitchFamily="34" charset="-122"/>
                <a:cs typeface="Calibri" pitchFamily="34" charset="-120"/>
              </a:rPr>
              <a:t>Tutorial 6 of 8  ·  Semester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_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Today's plan</a:t>
            </a:r>
            <a:endParaRPr lang="en-US" sz="2800" dirty="0"/>
          </a:p>
        </p:txBody>
      </p:sp>
      <p:sp>
        <p:nvSpPr>
          <p:cNvPr id="3" name="text_19"/>
          <p:cNvSpPr txBox="1"/>
          <p:nvPr/>
        </p:nvSpPr>
        <p:spPr>
          <a:xfrm>
            <a:off x="548640" y="1234440"/>
            <a:ext cx="11064240" cy="685800"/>
          </a:xfrm>
          <a:prstGeom prst="rect">
            <a:avLst/>
          </a:prstGeom>
          <a:noFill/>
          <a:ln/>
        </p:spPr>
        <p:txBody>
          <a:bodyPr wrap="square" lIns="635" tIns="635" rIns="635" bIns="635" rtlCol="0" anchor="t"/>
          <a:lstStyle/>
          <a:p>
            <a:pPr algn="l" indent="0" marL="0">
              <a:lnSpc>
                <a:spcPct val="100000"/>
              </a:lnSpc>
              <a:buNone/>
            </a:pPr>
            <a:r>
              <a:rPr lang="en-US" sz="1900" b="1" dirty="0">
                <a:solidFill>
                  <a:srgbClr val="D98E1F"/>
                </a:solidFill>
                <a:latin typeface="Calibri" pitchFamily="34" charset="0"/>
                <a:ea typeface="Calibri" pitchFamily="34" charset="-122"/>
                <a:cs typeface="Calibri" pitchFamily="34" charset="-120"/>
              </a:rPr>
              <a:t>Goal:  </a:t>
            </a:r>
            <a:r>
              <a:rPr lang="en-US" sz="1900" b="1" dirty="0">
                <a:solidFill>
                  <a:srgbClr val="1B2A41"/>
                </a:solidFill>
                <a:latin typeface="Calibri" pitchFamily="34" charset="0"/>
                <a:ea typeface="Calibri" pitchFamily="34" charset="-122"/>
                <a:cs typeface="Calibri" pitchFamily="34" charset="-120"/>
              </a:rPr>
              <a:t>Turn your Results draft into paragraphs that argue, not describe.</a:t>
            </a:r>
            <a:endParaRPr lang="en-US" sz="1900" dirty="0"/>
          </a:p>
        </p:txBody>
      </p:sp>
      <p:sp>
        <p:nvSpPr>
          <p:cNvPr id="4" name="num_20"/>
          <p:cNvSpPr/>
          <p:nvPr/>
        </p:nvSpPr>
        <p:spPr>
          <a:xfrm>
            <a:off x="685800" y="2057400"/>
            <a:ext cx="384048" cy="384048"/>
          </a:xfrm>
          <a:prstGeom prst="ellipse">
            <a:avLst/>
          </a:prstGeom>
          <a:solidFill>
            <a:srgbClr val="1B2A41"/>
          </a:solidFill>
          <a:ln w="12700">
            <a:solidFill>
              <a:srgbClr val="1B2A41"/>
            </a:solidFill>
            <a:prstDash val="solid"/>
          </a:ln>
        </p:spPr>
      </p:sp>
      <p:sp>
        <p:nvSpPr>
          <p:cNvPr id="5" name="text_21"/>
          <p:cNvSpPr txBox="1"/>
          <p:nvPr/>
        </p:nvSpPr>
        <p:spPr>
          <a:xfrm>
            <a:off x="685800" y="20574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_22"/>
          <p:cNvSpPr txBox="1"/>
          <p:nvPr/>
        </p:nvSpPr>
        <p:spPr>
          <a:xfrm>
            <a:off x="1234440" y="2039112"/>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Methods: reporting a correlation in full; asymmetry</a:t>
            </a:r>
            <a:endParaRPr lang="en-US" sz="1600" dirty="0"/>
          </a:p>
        </p:txBody>
      </p:sp>
      <p:sp>
        <p:nvSpPr>
          <p:cNvPr id="7" name="num_23"/>
          <p:cNvSpPr/>
          <p:nvPr/>
        </p:nvSpPr>
        <p:spPr>
          <a:xfrm>
            <a:off x="685800" y="2715768"/>
            <a:ext cx="384048" cy="384048"/>
          </a:xfrm>
          <a:prstGeom prst="ellipse">
            <a:avLst/>
          </a:prstGeom>
          <a:solidFill>
            <a:srgbClr val="1B2A41"/>
          </a:solidFill>
          <a:ln w="12700">
            <a:solidFill>
              <a:srgbClr val="1B2A41"/>
            </a:solidFill>
            <a:prstDash val="solid"/>
          </a:ln>
        </p:spPr>
      </p:sp>
      <p:sp>
        <p:nvSpPr>
          <p:cNvPr id="8" name="text_24"/>
          <p:cNvSpPr txBox="1"/>
          <p:nvPr/>
        </p:nvSpPr>
        <p:spPr>
          <a:xfrm>
            <a:off x="685800" y="2715768"/>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_25"/>
          <p:cNvSpPr txBox="1"/>
          <p:nvPr/>
        </p:nvSpPr>
        <p:spPr>
          <a:xfrm>
            <a:off x="1234440" y="2697480"/>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One paragraph, one job; the order of an argument</a:t>
            </a:r>
            <a:endParaRPr lang="en-US" sz="1600" dirty="0"/>
          </a:p>
        </p:txBody>
      </p:sp>
      <p:sp>
        <p:nvSpPr>
          <p:cNvPr id="10" name="num_26"/>
          <p:cNvSpPr/>
          <p:nvPr/>
        </p:nvSpPr>
        <p:spPr>
          <a:xfrm>
            <a:off x="685800" y="3374136"/>
            <a:ext cx="384048" cy="384048"/>
          </a:xfrm>
          <a:prstGeom prst="ellipse">
            <a:avLst/>
          </a:prstGeom>
          <a:solidFill>
            <a:srgbClr val="1B2A41"/>
          </a:solidFill>
          <a:ln w="12700">
            <a:solidFill>
              <a:srgbClr val="1B2A41"/>
            </a:solidFill>
            <a:prstDash val="solid"/>
          </a:ln>
        </p:spPr>
      </p:sp>
      <p:sp>
        <p:nvSpPr>
          <p:cNvPr id="11" name="text_27"/>
          <p:cNvSpPr txBox="1"/>
          <p:nvPr/>
        </p:nvSpPr>
        <p:spPr>
          <a:xfrm>
            <a:off x="685800" y="3374136"/>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_28"/>
          <p:cNvSpPr txBox="1"/>
          <p:nvPr/>
        </p:nvSpPr>
        <p:spPr>
          <a:xfrm>
            <a:off x="1234440" y="3355848"/>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Flow: old information → new information</a:t>
            </a:r>
            <a:endParaRPr lang="en-US" sz="1600" dirty="0"/>
          </a:p>
        </p:txBody>
      </p:sp>
      <p:sp>
        <p:nvSpPr>
          <p:cNvPr id="13" name="num_29"/>
          <p:cNvSpPr/>
          <p:nvPr/>
        </p:nvSpPr>
        <p:spPr>
          <a:xfrm>
            <a:off x="685800" y="4032504"/>
            <a:ext cx="384048" cy="384048"/>
          </a:xfrm>
          <a:prstGeom prst="ellipse">
            <a:avLst/>
          </a:prstGeom>
          <a:solidFill>
            <a:srgbClr val="1B2A41"/>
          </a:solidFill>
          <a:ln w="12700">
            <a:solidFill>
              <a:srgbClr val="1B2A41"/>
            </a:solidFill>
            <a:prstDash val="solid"/>
          </a:ln>
        </p:spPr>
      </p:sp>
      <p:sp>
        <p:nvSpPr>
          <p:cNvPr id="14" name="text_30"/>
          <p:cNvSpPr txBox="1"/>
          <p:nvPr/>
        </p:nvSpPr>
        <p:spPr>
          <a:xfrm>
            <a:off x="685800" y="4032504"/>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_31"/>
          <p:cNvSpPr txBox="1"/>
          <p:nvPr/>
        </p:nvSpPr>
        <p:spPr>
          <a:xfrm>
            <a:off x="1234440" y="4014216"/>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Numbers a sceptic would accept</a:t>
            </a:r>
            <a:endParaRPr lang="en-US" sz="1600" dirty="0"/>
          </a:p>
        </p:txBody>
      </p:sp>
      <p:sp>
        <p:nvSpPr>
          <p:cNvPr id="16" name="card_32"/>
          <p:cNvSpPr/>
          <p:nvPr/>
        </p:nvSpPr>
        <p:spPr>
          <a:xfrm>
            <a:off x="8092440" y="2011680"/>
            <a:ext cx="3520440" cy="3246120"/>
          </a:xfrm>
          <a:prstGeom prst="roundRect">
            <a:avLst>
              <a:gd name="adj" fmla="val 2254"/>
            </a:avLst>
          </a:prstGeom>
          <a:solidFill>
            <a:srgbClr val="FBEBD0"/>
          </a:solidFill>
          <a:ln w="9525">
            <a:solidFill>
              <a:srgbClr val="FBEBD0"/>
            </a:solidFill>
            <a:prstDash val="solid"/>
          </a:ln>
        </p:spPr>
      </p:sp>
      <p:sp>
        <p:nvSpPr>
          <p:cNvPr id="17" name="tag_33"/>
          <p:cNvSpPr/>
          <p:nvPr/>
        </p:nvSpPr>
        <p:spPr>
          <a:xfrm>
            <a:off x="8257032" y="2139696"/>
            <a:ext cx="1545336" cy="256032"/>
          </a:xfrm>
          <a:prstGeom prst="roundRect">
            <a:avLst>
              <a:gd name="adj" fmla="val 21429"/>
            </a:avLst>
          </a:prstGeom>
          <a:solidFill>
            <a:srgbClr val="D98E1F"/>
          </a:solidFill>
          <a:ln w="12700">
            <a:solidFill>
              <a:srgbClr val="D98E1F"/>
            </a:solidFill>
            <a:prstDash val="solid"/>
          </a:ln>
        </p:spPr>
      </p:sp>
      <p:sp>
        <p:nvSpPr>
          <p:cNvPr id="18" name="text_34"/>
          <p:cNvSpPr txBox="1"/>
          <p:nvPr/>
        </p:nvSpPr>
        <p:spPr>
          <a:xfrm>
            <a:off x="8257032" y="2139696"/>
            <a:ext cx="154533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BRING / HAVE READY</a:t>
            </a:r>
            <a:endParaRPr lang="en-US" sz="1050" dirty="0"/>
          </a:p>
        </p:txBody>
      </p:sp>
      <p:sp>
        <p:nvSpPr>
          <p:cNvPr id="19" name="cardbody_35"/>
          <p:cNvSpPr txBox="1"/>
          <p:nvPr/>
        </p:nvSpPr>
        <p:spPr>
          <a:xfrm>
            <a:off x="8257032" y="2487168"/>
            <a:ext cx="3191256" cy="2679192"/>
          </a:xfrm>
          <a:prstGeom prst="rect">
            <a:avLst/>
          </a:prstGeom>
          <a:noFill/>
          <a:ln/>
        </p:spPr>
        <p:txBody>
          <a:bodyPr wrap="square" lIns="381" tIns="381" rIns="381" bIns="381" rtlCol="0" anchor="t"/>
          <a:lstStyle/>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Task 5B Results draft (printed is best: you'll mark it up)</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Highlighters or coloured pens</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Your figures and captions</a:t>
            </a:r>
            <a:endParaRPr lang="en-US" sz="1400" dirty="0"/>
          </a:p>
        </p:txBody>
      </p:sp>
      <p:sp>
        <p:nvSpPr>
          <p:cNvPr id="20" name="dot_36"/>
          <p:cNvSpPr/>
          <p:nvPr/>
        </p:nvSpPr>
        <p:spPr>
          <a:xfrm>
            <a:off x="4852264" y="5897880"/>
            <a:ext cx="182880" cy="182880"/>
          </a:xfrm>
          <a:prstGeom prst="ellipse">
            <a:avLst/>
          </a:prstGeom>
          <a:solidFill>
            <a:srgbClr val="2E4A6B"/>
          </a:solidFill>
          <a:ln w="6350">
            <a:solidFill>
              <a:srgbClr val="D5DAE1"/>
            </a:solidFill>
            <a:prstDash val="solid"/>
          </a:ln>
        </p:spPr>
      </p:sp>
      <p:sp>
        <p:nvSpPr>
          <p:cNvPr id="21" name="dot_37"/>
          <p:cNvSpPr/>
          <p:nvPr/>
        </p:nvSpPr>
        <p:spPr>
          <a:xfrm>
            <a:off x="5181448" y="5897880"/>
            <a:ext cx="182880" cy="182880"/>
          </a:xfrm>
          <a:prstGeom prst="ellipse">
            <a:avLst/>
          </a:prstGeom>
          <a:solidFill>
            <a:srgbClr val="2E4A6B"/>
          </a:solidFill>
          <a:ln w="6350">
            <a:solidFill>
              <a:srgbClr val="D5DAE1"/>
            </a:solidFill>
            <a:prstDash val="solid"/>
          </a:ln>
        </p:spPr>
      </p:sp>
      <p:sp>
        <p:nvSpPr>
          <p:cNvPr id="22" name="dot_38"/>
          <p:cNvSpPr/>
          <p:nvPr/>
        </p:nvSpPr>
        <p:spPr>
          <a:xfrm>
            <a:off x="5510632" y="5897880"/>
            <a:ext cx="182880" cy="182880"/>
          </a:xfrm>
          <a:prstGeom prst="ellipse">
            <a:avLst/>
          </a:prstGeom>
          <a:solidFill>
            <a:srgbClr val="2E4A6B"/>
          </a:solidFill>
          <a:ln w="6350">
            <a:solidFill>
              <a:srgbClr val="D5DAE1"/>
            </a:solidFill>
            <a:prstDash val="solid"/>
          </a:ln>
        </p:spPr>
      </p:sp>
      <p:sp>
        <p:nvSpPr>
          <p:cNvPr id="23" name="dot_39"/>
          <p:cNvSpPr/>
          <p:nvPr/>
        </p:nvSpPr>
        <p:spPr>
          <a:xfrm>
            <a:off x="5839816" y="5897880"/>
            <a:ext cx="182880" cy="182880"/>
          </a:xfrm>
          <a:prstGeom prst="ellipse">
            <a:avLst/>
          </a:prstGeom>
          <a:solidFill>
            <a:srgbClr val="2E4A6B"/>
          </a:solidFill>
          <a:ln w="6350">
            <a:solidFill>
              <a:srgbClr val="D5DAE1"/>
            </a:solidFill>
            <a:prstDash val="solid"/>
          </a:ln>
        </p:spPr>
      </p:sp>
      <p:sp>
        <p:nvSpPr>
          <p:cNvPr id="24" name="dot_40"/>
          <p:cNvSpPr/>
          <p:nvPr/>
        </p:nvSpPr>
        <p:spPr>
          <a:xfrm>
            <a:off x="6169000" y="5897880"/>
            <a:ext cx="182880" cy="182880"/>
          </a:xfrm>
          <a:prstGeom prst="ellipse">
            <a:avLst/>
          </a:prstGeom>
          <a:solidFill>
            <a:srgbClr val="2E4A6B"/>
          </a:solidFill>
          <a:ln w="6350">
            <a:solidFill>
              <a:srgbClr val="D5DAE1"/>
            </a:solidFill>
            <a:prstDash val="solid"/>
          </a:ln>
        </p:spPr>
      </p:sp>
      <p:sp>
        <p:nvSpPr>
          <p:cNvPr id="25" name="dot_41"/>
          <p:cNvSpPr/>
          <p:nvPr/>
        </p:nvSpPr>
        <p:spPr>
          <a:xfrm>
            <a:off x="6498184" y="5897880"/>
            <a:ext cx="182880" cy="182880"/>
          </a:xfrm>
          <a:prstGeom prst="ellipse">
            <a:avLst/>
          </a:prstGeom>
          <a:solidFill>
            <a:srgbClr val="D98E1F"/>
          </a:solidFill>
          <a:ln w="6350">
            <a:solidFill>
              <a:srgbClr val="D5DAE1"/>
            </a:solidFill>
            <a:prstDash val="solid"/>
          </a:ln>
        </p:spPr>
      </p:sp>
      <p:sp>
        <p:nvSpPr>
          <p:cNvPr id="26" name="dot_42"/>
          <p:cNvSpPr/>
          <p:nvPr/>
        </p:nvSpPr>
        <p:spPr>
          <a:xfrm>
            <a:off x="6827368" y="5897880"/>
            <a:ext cx="182880" cy="182880"/>
          </a:xfrm>
          <a:prstGeom prst="ellipse">
            <a:avLst/>
          </a:prstGeom>
          <a:solidFill>
            <a:srgbClr val="D5DAE1"/>
          </a:solidFill>
          <a:ln w="6350">
            <a:solidFill>
              <a:srgbClr val="D5DAE1"/>
            </a:solidFill>
            <a:prstDash val="solid"/>
          </a:ln>
        </p:spPr>
      </p:sp>
      <p:sp>
        <p:nvSpPr>
          <p:cNvPr id="27" name="dot_43"/>
          <p:cNvSpPr/>
          <p:nvPr/>
        </p:nvSpPr>
        <p:spPr>
          <a:xfrm>
            <a:off x="7156552" y="5897880"/>
            <a:ext cx="182880" cy="182880"/>
          </a:xfrm>
          <a:prstGeom prst="ellipse">
            <a:avLst/>
          </a:prstGeom>
          <a:solidFill>
            <a:srgbClr val="D5DAE1"/>
          </a:solidFill>
          <a:ln w="6350">
            <a:solidFill>
              <a:srgbClr val="D5DAE1"/>
            </a:solidFill>
            <a:prstDash val="solid"/>
          </a:ln>
        </p:spPr>
      </p:sp>
      <p:sp>
        <p:nvSpPr>
          <p:cNvPr id="28" name="text_44"/>
          <p:cNvSpPr txBox="1"/>
          <p:nvPr/>
        </p:nvSpPr>
        <p:spPr>
          <a:xfrm>
            <a:off x="0" y="611733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8A93A0"/>
                </a:solidFill>
                <a:latin typeface="Calibri" pitchFamily="34" charset="0"/>
                <a:ea typeface="Calibri" pitchFamily="34" charset="-122"/>
                <a:cs typeface="Calibri" pitchFamily="34" charset="-120"/>
              </a:rPr>
              <a:t>Tutorial 6 of 8  ·  Semester 1</a:t>
            </a:r>
            <a:endParaRPr lang="en-US" sz="9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l_45"/>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46"/>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47"/>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Reporting a correlation in full</a:t>
            </a:r>
            <a:endParaRPr lang="en-US" sz="2800" dirty="0"/>
          </a:p>
        </p:txBody>
      </p:sp>
      <p:sp>
        <p:nvSpPr>
          <p:cNvPr id="5" name="bullets_48"/>
          <p:cNvSpPr txBox="1"/>
          <p:nvPr/>
        </p:nvSpPr>
        <p:spPr>
          <a:xfrm>
            <a:off x="548640" y="1325880"/>
            <a:ext cx="5486400" cy="4937760"/>
          </a:xfrm>
          <a:prstGeom prst="rect">
            <a:avLst/>
          </a:prstGeom>
          <a:noFill/>
          <a:ln/>
        </p:spPr>
        <p:txBody>
          <a:bodyPr wrap="square" lIns="635" tIns="635" rIns="635" bIns="635" rtlCol="0" anchor="t"/>
          <a:lstStyle/>
          <a:p>
            <a:pPr marL="342900" indent="-342900">
              <a:spcAft>
                <a:spcPts val="900"/>
              </a:spcAft>
              <a:buSzPct val="100000"/>
              <a:buChar char="■"/>
            </a:pPr>
            <a:r>
              <a:rPr lang="en-US" sz="1600" b="1" dirty="0">
                <a:solidFill>
                  <a:srgbClr val="1B2A41"/>
                </a:solidFill>
                <a:latin typeface="Calibri" pitchFamily="34" charset="0"/>
                <a:ea typeface="Calibri" pitchFamily="34" charset="-122"/>
                <a:cs typeface="Calibri" pitchFamily="34" charset="-120"/>
              </a:rPr>
              <a:t>A correlation in a report needs: </a:t>
            </a:r>
            <a:r>
              <a:rPr lang="en-US" sz="1600" b="1" dirty="0">
                <a:solidFill>
                  <a:srgbClr val="222B36"/>
                </a:solidFill>
                <a:latin typeface="Calibri" pitchFamily="34" charset="0"/>
                <a:ea typeface="Calibri" pitchFamily="34" charset="-122"/>
                <a:cs typeface="Calibri" pitchFamily="34" charset="-120"/>
              </a:rPr>
              <a:t>r</a:t>
            </a:r>
            <a:r>
              <a:rPr lang="en-US" sz="1600" dirty="0">
                <a:solidFill>
                  <a:srgbClr val="222B36"/>
                </a:solidFill>
                <a:latin typeface="Calibri" pitchFamily="34" charset="0"/>
                <a:ea typeface="Calibri" pitchFamily="34" charset="-122"/>
                <a:cs typeface="Calibri" pitchFamily="34" charset="-120"/>
              </a:rPr>
              <a:t>, </a:t>
            </a:r>
            <a:r>
              <a:rPr lang="en-US" sz="1600" b="1" dirty="0">
                <a:solidFill>
                  <a:srgbClr val="222B36"/>
                </a:solidFill>
                <a:latin typeface="Calibri" pitchFamily="34" charset="0"/>
                <a:ea typeface="Calibri" pitchFamily="34" charset="-122"/>
                <a:cs typeface="Calibri" pitchFamily="34" charset="-120"/>
              </a:rPr>
              <a:t>n</a:t>
            </a:r>
            <a:r>
              <a:rPr lang="en-US" sz="1600" dirty="0">
                <a:solidFill>
                  <a:srgbClr val="222B36"/>
                </a:solidFill>
                <a:latin typeface="Calibri" pitchFamily="34" charset="0"/>
                <a:ea typeface="Calibri" pitchFamily="34" charset="-122"/>
                <a:cs typeface="Calibri" pitchFamily="34" charset="-120"/>
              </a:rPr>
              <a:t> (and n_eff), </a:t>
            </a:r>
            <a:r>
              <a:rPr lang="en-US" sz="1600" b="1" dirty="0">
                <a:solidFill>
                  <a:srgbClr val="222B36"/>
                </a:solidFill>
                <a:latin typeface="Calibri" pitchFamily="34" charset="0"/>
                <a:ea typeface="Calibri" pitchFamily="34" charset="-122"/>
                <a:cs typeface="Calibri" pitchFamily="34" charset="-120"/>
              </a:rPr>
              <a:t>p</a:t>
            </a:r>
            <a:r>
              <a:rPr lang="en-US" sz="1600" dirty="0">
                <a:solidFill>
                  <a:srgbClr val="222B36"/>
                </a:solidFill>
                <a:latin typeface="Calibri" pitchFamily="34" charset="0"/>
                <a:ea typeface="Calibri" pitchFamily="34" charset="-122"/>
                <a:cs typeface="Calibri" pitchFamily="34" charset="-120"/>
              </a:rPr>
              <a:t> or a 95% range, the </a:t>
            </a:r>
            <a:r>
              <a:rPr lang="en-US" sz="1600" b="1" dirty="0">
                <a:solidFill>
                  <a:srgbClr val="222B36"/>
                </a:solidFill>
                <a:latin typeface="Calibri" pitchFamily="34" charset="0"/>
                <a:ea typeface="Calibri" pitchFamily="34" charset="-122"/>
                <a:cs typeface="Calibri" pitchFamily="34" charset="-120"/>
              </a:rPr>
              <a:t>period</a:t>
            </a:r>
            <a:r>
              <a:rPr lang="en-US" sz="1600" dirty="0">
                <a:solidFill>
                  <a:srgbClr val="222B36"/>
                </a:solidFill>
                <a:latin typeface="Calibri" pitchFamily="34" charset="0"/>
                <a:ea typeface="Calibri" pitchFamily="34" charset="-122"/>
                <a:cs typeface="Calibri" pitchFamily="34" charset="-120"/>
              </a:rPr>
              <a:t>, and </a:t>
            </a:r>
            <a:r>
              <a:rPr lang="en-US" sz="1600" b="1" dirty="0">
                <a:solidFill>
                  <a:srgbClr val="222B36"/>
                </a:solidFill>
                <a:latin typeface="Calibri" pitchFamily="34" charset="0"/>
                <a:ea typeface="Calibri" pitchFamily="34" charset="-122"/>
                <a:cs typeface="Calibri" pitchFamily="34" charset="-120"/>
              </a:rPr>
              <a:t>what</a:t>
            </a:r>
            <a:r>
              <a:rPr lang="en-US" sz="1600" dirty="0">
                <a:solidFill>
                  <a:srgbClr val="222B36"/>
                </a:solidFill>
                <a:latin typeface="Calibri" pitchFamily="34" charset="0"/>
                <a:ea typeface="Calibri" pitchFamily="34" charset="-122"/>
                <a:cs typeface="Calibri" pitchFamily="34" charset="-120"/>
              </a:rPr>
              <a:t> was correlated with what.</a:t>
            </a:r>
            <a:endParaRPr lang="en-US" sz="1600" dirty="0"/>
          </a:p>
          <a:p>
            <a:pPr marL="342900" indent="-342900">
              <a:spcAft>
                <a:spcPts val="900"/>
              </a:spcAft>
              <a:buSzPct val="100000"/>
              <a:buChar char="■"/>
            </a:pPr>
            <a:r>
              <a:rPr lang="en-US" sz="1600" dirty="0">
                <a:solidFill>
                  <a:srgbClr val="222B36"/>
                </a:solidFill>
                <a:latin typeface="Calibri" pitchFamily="34" charset="0"/>
                <a:ea typeface="Calibri" pitchFamily="34" charset="-122"/>
                <a:cs typeface="Calibri" pitchFamily="34" charset="-120"/>
              </a:rPr>
              <a:t>Add the </a:t>
            </a:r>
            <a:r>
              <a:rPr lang="en-US" sz="1600" b="1" dirty="0">
                <a:solidFill>
                  <a:srgbClr val="222B36"/>
                </a:solidFill>
                <a:latin typeface="Calibri" pitchFamily="34" charset="0"/>
                <a:ea typeface="Calibri" pitchFamily="34" charset="-122"/>
                <a:cs typeface="Calibri" pitchFamily="34" charset="-120"/>
              </a:rPr>
              <a:t>slope</a:t>
            </a:r>
            <a:r>
              <a:rPr lang="en-US" sz="1600" dirty="0">
                <a:solidFill>
                  <a:srgbClr val="222B36"/>
                </a:solidFill>
                <a:latin typeface="Calibri" pitchFamily="34" charset="0"/>
                <a:ea typeface="Calibri" pitchFamily="34" charset="-122"/>
                <a:cs typeface="Calibri" pitchFamily="34" charset="-120"/>
              </a:rPr>
              <a:t> for the size of the effect, with units (pp per °C).</a:t>
            </a:r>
            <a:endParaRPr lang="en-US" sz="1600" dirty="0"/>
          </a:p>
          <a:p>
            <a:pPr marL="342900" indent="-342900">
              <a:spcAft>
                <a:spcPts val="900"/>
              </a:spcAft>
              <a:buSzPct val="100000"/>
              <a:buChar char="■"/>
            </a:pPr>
            <a:r>
              <a:rPr lang="en-US" sz="1600" dirty="0">
                <a:solidFill>
                  <a:srgbClr val="222B36"/>
                </a:solidFill>
                <a:latin typeface="Calibri" pitchFamily="34" charset="0"/>
                <a:ea typeface="Calibri" pitchFamily="34" charset="-122"/>
                <a:cs typeface="Calibri" pitchFamily="34" charset="-120"/>
              </a:rPr>
              <a:t>Two decimal places for r; ‘≈’ for n_eff.</a:t>
            </a:r>
            <a:endParaRPr lang="en-US" sz="1600" dirty="0"/>
          </a:p>
          <a:p>
            <a:pPr marL="342900" indent="-342900">
              <a:spcAft>
                <a:spcPts val="900"/>
              </a:spcAft>
              <a:buSzPct val="100000"/>
              <a:buChar char="■"/>
            </a:pPr>
            <a:r>
              <a:rPr lang="en-US" sz="1600" dirty="0">
                <a:solidFill>
                  <a:srgbClr val="222B36"/>
                </a:solidFill>
                <a:latin typeface="Calibri" pitchFamily="34" charset="0"/>
                <a:ea typeface="Calibri" pitchFamily="34" charset="-122"/>
                <a:cs typeface="Calibri" pitchFamily="34" charset="-120"/>
              </a:rPr>
              <a:t>‘Significant’ only if you tested it, and say against what.</a:t>
            </a:r>
            <a:endParaRPr lang="en-US" sz="1600" dirty="0"/>
          </a:p>
          <a:p>
            <a:pPr marL="342900" indent="-342900">
              <a:spcAft>
                <a:spcPts val="900"/>
              </a:spcAft>
              <a:buSzPct val="100000"/>
              <a:buChar char="■"/>
            </a:pPr>
            <a:r>
              <a:rPr lang="en-US" sz="1600" dirty="0">
                <a:solidFill>
                  <a:srgbClr val="222B36"/>
                </a:solidFill>
                <a:latin typeface="Calibri" pitchFamily="34" charset="0"/>
                <a:ea typeface="Calibri" pitchFamily="34" charset="-122"/>
                <a:cs typeface="Calibri" pitchFamily="34" charset="-120"/>
              </a:rPr>
              <a:t>Notebook §6 prints every number you need: r, n, n_eff, r_lo95, r_hi95, slope_per_ONI, p_adj.</a:t>
            </a:r>
            <a:endParaRPr lang="en-US" sz="1600" dirty="0"/>
          </a:p>
        </p:txBody>
      </p:sp>
      <p:sp>
        <p:nvSpPr>
          <p:cNvPr id="6" name="card_49"/>
          <p:cNvSpPr/>
          <p:nvPr/>
        </p:nvSpPr>
        <p:spPr>
          <a:xfrm>
            <a:off x="6355080" y="1325880"/>
            <a:ext cx="5287975" cy="4754880"/>
          </a:xfrm>
          <a:prstGeom prst="roundRect">
            <a:avLst>
              <a:gd name="adj" fmla="val 1538"/>
            </a:avLst>
          </a:prstGeom>
          <a:solidFill>
            <a:srgbClr val="DCEFEA"/>
          </a:solidFill>
          <a:ln w="9525">
            <a:solidFill>
              <a:srgbClr val="DCEFEA"/>
            </a:solidFill>
            <a:prstDash val="solid"/>
          </a:ln>
        </p:spPr>
      </p:sp>
      <p:sp>
        <p:nvSpPr>
          <p:cNvPr id="7" name="tag_50"/>
          <p:cNvSpPr/>
          <p:nvPr/>
        </p:nvSpPr>
        <p:spPr>
          <a:xfrm>
            <a:off x="6519672" y="1453896"/>
            <a:ext cx="2555748" cy="256032"/>
          </a:xfrm>
          <a:prstGeom prst="roundRect">
            <a:avLst>
              <a:gd name="adj" fmla="val 21429"/>
            </a:avLst>
          </a:prstGeom>
          <a:solidFill>
            <a:srgbClr val="1F7A6E"/>
          </a:solidFill>
          <a:ln w="12700">
            <a:solidFill>
              <a:srgbClr val="1F7A6E"/>
            </a:solidFill>
            <a:prstDash val="solid"/>
          </a:ln>
        </p:spPr>
      </p:sp>
      <p:sp>
        <p:nvSpPr>
          <p:cNvPr id="8" name="text_51"/>
          <p:cNvSpPr txBox="1"/>
          <p:nvPr/>
        </p:nvSpPr>
        <p:spPr>
          <a:xfrm>
            <a:off x="6519672" y="1453896"/>
            <a:ext cx="25557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TEMPLATE (ILLUSTRATIVE NUMBERS)</a:t>
            </a:r>
            <a:endParaRPr lang="en-US" sz="1050" dirty="0"/>
          </a:p>
        </p:txBody>
      </p:sp>
      <p:sp>
        <p:nvSpPr>
          <p:cNvPr id="9" name="text_52"/>
          <p:cNvSpPr txBox="1"/>
          <p:nvPr/>
        </p:nvSpPr>
        <p:spPr>
          <a:xfrm>
            <a:off x="6519672" y="1801368"/>
            <a:ext cx="4958791" cy="418795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Calibri" pitchFamily="34" charset="0"/>
                <a:ea typeface="Calibri" pitchFamily="34" charset="-122"/>
                <a:cs typeface="Calibri" pitchFamily="34" charset="-120"/>
              </a:rPr>
              <a:t>“Monthly high-cloud anomalies over [region] are negatively correlated with the ONI (r = −0.45, 95% range −0.63 to −0.22; n = 247 months, n_eff ≈ 60; p &lt; 0.001; January 2005 – July 2025), a decrease of about 2.1 pp per °C of ONI.”</a:t>
            </a:r>
            <a:endParaRPr lang="en-US" sz="1500" dirty="0"/>
          </a:p>
          <a:p>
            <a:pPr algn="l" indent="0" marL="0">
              <a:lnSpc>
                <a:spcPct val="100000"/>
              </a:lnSpc>
              <a:buNone/>
            </a:pPr>
            <a:endParaRPr lang="en-US" sz="1500" dirty="0"/>
          </a:p>
          <a:p>
            <a:pPr algn="l" indent="0" marL="0">
              <a:lnSpc>
                <a:spcPct val="100000"/>
              </a:lnSpc>
              <a:buNone/>
            </a:pPr>
            <a:r>
              <a:rPr lang="en-US" sz="1500" i="1" dirty="0">
                <a:solidFill>
                  <a:srgbClr val="222B36"/>
                </a:solidFill>
                <a:latin typeface="Calibri" pitchFamily="34" charset="0"/>
                <a:ea typeface="Calibri" pitchFamily="34" charset="-122"/>
                <a:cs typeface="Calibri" pitchFamily="34" charset="-120"/>
              </a:rPr>
              <a:t>Every number earns its place: strength, uncertainty, sample, significance, period, size.</a:t>
            </a:r>
            <a:endParaRPr lang="en-US" sz="15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l_53"/>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54"/>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5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El Niño and La Niña are not mirror images</a:t>
            </a:r>
            <a:endParaRPr lang="en-US" sz="2800" dirty="0"/>
          </a:p>
        </p:txBody>
      </p:sp>
      <p:sp>
        <p:nvSpPr>
          <p:cNvPr id="5" name="mbul_56"/>
          <p:cNvSpPr txBox="1"/>
          <p:nvPr/>
        </p:nvSpPr>
        <p:spPr>
          <a:xfrm>
            <a:off x="548640" y="1280160"/>
            <a:ext cx="5852160" cy="3840480"/>
          </a:xfrm>
          <a:prstGeom prst="rect">
            <a:avLst/>
          </a:prstGeom>
          <a:noFill/>
          <a:ln/>
        </p:spPr>
        <p:txBody>
          <a:bodyPr wrap="square" lIns="635" tIns="635" rIns="635" bIns="635" rtlCol="0" anchor="t"/>
          <a:lstStyle/>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The atmosphere often responds more strongly, or in a different place, to one phase than the other.</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Both the El Niño − La Niña difference and r </a:t>
            </a:r>
            <a:r>
              <a:rPr lang="en-US" sz="1550" b="1" dirty="0">
                <a:solidFill>
                  <a:srgbClr val="222B36"/>
                </a:solidFill>
                <a:latin typeface="Calibri" pitchFamily="34" charset="0"/>
                <a:ea typeface="Calibri" pitchFamily="34" charset="-122"/>
                <a:cs typeface="Calibri" pitchFamily="34" charset="-120"/>
              </a:rPr>
              <a:t>hide</a:t>
            </a:r>
            <a:r>
              <a:rPr lang="en-US" sz="1550" dirty="0">
                <a:solidFill>
                  <a:srgbClr val="222B36"/>
                </a:solidFill>
                <a:latin typeface="Calibri" pitchFamily="34" charset="0"/>
                <a:ea typeface="Calibri" pitchFamily="34" charset="-122"/>
                <a:cs typeface="Calibri" pitchFamily="34" charset="-120"/>
              </a:rPr>
              <a:t> this.</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Compare </a:t>
            </a:r>
            <a:r>
              <a:rPr lang="en-US" sz="1550" b="1" dirty="0">
                <a:solidFill>
                  <a:srgbClr val="222B36"/>
                </a:solidFill>
                <a:latin typeface="Calibri" pitchFamily="34" charset="0"/>
                <a:ea typeface="Calibri" pitchFamily="34" charset="-122"/>
                <a:cs typeface="Calibri" pitchFamily="34" charset="-120"/>
              </a:rPr>
              <a:t>each phase against neutral</a:t>
            </a:r>
            <a:r>
              <a:rPr lang="en-US" sz="1550" dirty="0">
                <a:solidFill>
                  <a:srgbClr val="222B36"/>
                </a:solidFill>
                <a:latin typeface="Calibri" pitchFamily="34" charset="0"/>
                <a:ea typeface="Calibri" pitchFamily="34" charset="-122"/>
                <a:cs typeface="Calibri" pitchFamily="34" charset="-120"/>
              </a:rPr>
              <a:t>. The notebook prints mean anomalies for El Niño, Neutral and La Niña months (sections 3 and 4).</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 one-sided response is a strong Results sentence </a:t>
            </a:r>
            <a:r>
              <a:rPr lang="en-US" sz="1550" b="1" dirty="0">
                <a:solidFill>
                  <a:srgbClr val="222B36"/>
                </a:solidFill>
                <a:latin typeface="Calibri" pitchFamily="34" charset="0"/>
                <a:ea typeface="Calibri" pitchFamily="34" charset="-122"/>
                <a:cs typeface="Calibri" pitchFamily="34" charset="-120"/>
              </a:rPr>
              <a:t>and</a:t>
            </a:r>
            <a:r>
              <a:rPr lang="en-US" sz="1550" dirty="0">
                <a:solidFill>
                  <a:srgbClr val="222B36"/>
                </a:solidFill>
                <a:latin typeface="Calibri" pitchFamily="34" charset="0"/>
                <a:ea typeface="Calibri" pitchFamily="34" charset="-122"/>
                <a:cs typeface="Calibri" pitchFamily="34" charset="-120"/>
              </a:rPr>
              <a:t> a great Discussion point.</a:t>
            </a:r>
            <a:endParaRPr lang="en-US" sz="1550" dirty="0"/>
          </a:p>
        </p:txBody>
      </p:sp>
      <p:sp>
        <p:nvSpPr>
          <p:cNvPr id="6" name="sent_57"/>
          <p:cNvSpPr/>
          <p:nvPr/>
        </p:nvSpPr>
        <p:spPr>
          <a:xfrm>
            <a:off x="548640" y="5257800"/>
            <a:ext cx="5852160" cy="1051560"/>
          </a:xfrm>
          <a:prstGeom prst="roundRect">
            <a:avLst>
              <a:gd name="adj" fmla="val 5217"/>
            </a:avLst>
          </a:prstGeom>
          <a:solidFill>
            <a:srgbClr val="DCEFEA"/>
          </a:solidFill>
          <a:ln w="12700">
            <a:solidFill>
              <a:srgbClr val="1F7A6E"/>
            </a:solidFill>
            <a:prstDash val="solid"/>
          </a:ln>
        </p:spPr>
      </p:sp>
      <p:sp>
        <p:nvSpPr>
          <p:cNvPr id="7" name="text_58"/>
          <p:cNvSpPr txBox="1"/>
          <p:nvPr/>
        </p:nvSpPr>
        <p:spPr>
          <a:xfrm>
            <a:off x="685800" y="5330952"/>
            <a:ext cx="5577840"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RESULTS, THIS BECOMES</a:t>
            </a:r>
            <a:endParaRPr lang="en-US" sz="1000" dirty="0"/>
          </a:p>
        </p:txBody>
      </p:sp>
      <p:sp>
        <p:nvSpPr>
          <p:cNvPr id="8" name="text_59"/>
          <p:cNvSpPr txBox="1"/>
          <p:nvPr/>
        </p:nvSpPr>
        <p:spPr>
          <a:xfrm>
            <a:off x="685800" y="5568696"/>
            <a:ext cx="5577840" cy="6858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“The composite difference (−1.9 pp) comes almost entirely from El Niño months; La Niña months are close to neutral.”</a:t>
            </a:r>
            <a:endParaRPr lang="en-US" sz="1350" dirty="0"/>
          </a:p>
        </p:txBody>
      </p:sp>
      <p:pic>
        <p:nvPicPr>
          <p:cNvPr id="9" name="img_60" descr="/home/claude/work/build/figs/asymmetry.png">    </p:cNvPr>
          <p:cNvPicPr>
            <a:picLocks noChangeAspect="1"/>
          </p:cNvPicPr>
          <p:nvPr/>
        </p:nvPicPr>
        <p:blipFill>
          <a:blip r:embed="rId1"/>
          <a:stretch>
            <a:fillRect/>
          </a:stretch>
        </p:blipFill>
        <p:spPr>
          <a:xfrm>
            <a:off x="6675120" y="1280160"/>
            <a:ext cx="4967935" cy="4042176"/>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_61"/>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One paragraph, one job</a:t>
            </a:r>
            <a:endParaRPr lang="en-US" sz="2800" dirty="0"/>
          </a:p>
        </p:txBody>
      </p:sp>
      <p:sp>
        <p:nvSpPr>
          <p:cNvPr id="3" name="bullets_62"/>
          <p:cNvSpPr txBox="1"/>
          <p:nvPr/>
        </p:nvSpPr>
        <p:spPr>
          <a:xfrm>
            <a:off x="548640" y="1325880"/>
            <a:ext cx="5760720" cy="4937760"/>
          </a:xfrm>
          <a:prstGeom prst="rect">
            <a:avLst/>
          </a:prstGeom>
          <a:noFill/>
          <a:ln/>
        </p:spPr>
        <p:txBody>
          <a:bodyPr wrap="square" lIns="635" tIns="635" rIns="635" bIns="635" rtlCol="0" anchor="t"/>
          <a:lstStyle/>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Schultz: paragraphs are the ‘fundamental organisational unit’ of a paper. Each has </a:t>
            </a:r>
            <a:r>
              <a:rPr lang="en-US" sz="1650" b="1" dirty="0">
                <a:solidFill>
                  <a:srgbClr val="222B36"/>
                </a:solidFill>
                <a:latin typeface="Calibri" pitchFamily="34" charset="0"/>
                <a:ea typeface="Calibri" pitchFamily="34" charset="-122"/>
                <a:cs typeface="Calibri" pitchFamily="34" charset="-120"/>
              </a:rPr>
              <a:t>unity</a:t>
            </a:r>
            <a:r>
              <a:rPr lang="en-US" sz="1650" dirty="0">
                <a:solidFill>
                  <a:srgbClr val="222B36"/>
                </a:solidFill>
                <a:latin typeface="Calibri" pitchFamily="34" charset="0"/>
                <a:ea typeface="Calibri" pitchFamily="34" charset="-122"/>
                <a:cs typeface="Calibri" pitchFamily="34" charset="-120"/>
              </a:rPr>
              <a:t> (one theme) and </a:t>
            </a:r>
            <a:r>
              <a:rPr lang="en-US" sz="1650" b="1" dirty="0">
                <a:solidFill>
                  <a:srgbClr val="222B36"/>
                </a:solidFill>
                <a:latin typeface="Calibri" pitchFamily="34" charset="0"/>
                <a:ea typeface="Calibri" pitchFamily="34" charset="-122"/>
                <a:cs typeface="Calibri" pitchFamily="34" charset="-120"/>
              </a:rPr>
              <a:t>coherence</a:t>
            </a:r>
            <a:r>
              <a:rPr lang="en-US" sz="1650" dirty="0">
                <a:solidFill>
                  <a:srgbClr val="222B36"/>
                </a:solidFill>
                <a:latin typeface="Calibri" pitchFamily="34" charset="0"/>
                <a:ea typeface="Calibri" pitchFamily="34" charset="-122"/>
                <a:cs typeface="Calibri" pitchFamily="34" charset="-120"/>
              </a:rPr>
              <a:t> (sentences in a logical order).</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The </a:t>
            </a:r>
            <a:r>
              <a:rPr lang="en-US" sz="1650" b="1" dirty="0">
                <a:solidFill>
                  <a:srgbClr val="222B36"/>
                </a:solidFill>
                <a:latin typeface="Calibri" pitchFamily="34" charset="0"/>
                <a:ea typeface="Calibri" pitchFamily="34" charset="-122"/>
                <a:cs typeface="Calibri" pitchFamily="34" charset="-120"/>
              </a:rPr>
              <a:t>topic sentence</a:t>
            </a:r>
            <a:r>
              <a:rPr lang="en-US" sz="1650" dirty="0">
                <a:solidFill>
                  <a:srgbClr val="222B36"/>
                </a:solidFill>
                <a:latin typeface="Calibri" pitchFamily="34" charset="0"/>
                <a:ea typeface="Calibri" pitchFamily="34" charset="-122"/>
                <a:cs typeface="Calibri" pitchFamily="34" charset="-120"/>
              </a:rPr>
              <a:t> announces the job, usually first.</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Two themes in one paragraph? </a:t>
            </a:r>
            <a:r>
              <a:rPr lang="en-US" sz="1650" b="1" dirty="0">
                <a:solidFill>
                  <a:srgbClr val="222B36"/>
                </a:solidFill>
                <a:latin typeface="Calibri" pitchFamily="34" charset="0"/>
                <a:ea typeface="Calibri" pitchFamily="34" charset="-122"/>
                <a:cs typeface="Calibri" pitchFamily="34" charset="-120"/>
              </a:rPr>
              <a:t>Split</a:t>
            </a:r>
            <a:r>
              <a:rPr lang="en-US" sz="1650" dirty="0">
                <a:solidFill>
                  <a:srgbClr val="222B36"/>
                </a:solidFill>
                <a:latin typeface="Calibri" pitchFamily="34" charset="0"/>
                <a:ea typeface="Calibri" pitchFamily="34" charset="-122"/>
                <a:cs typeface="Calibri" pitchFamily="34" charset="-120"/>
              </a:rPr>
              <a:t> it, </a:t>
            </a:r>
            <a:r>
              <a:rPr lang="en-US" sz="1650" b="1" dirty="0">
                <a:solidFill>
                  <a:srgbClr val="222B36"/>
                </a:solidFill>
                <a:latin typeface="Calibri" pitchFamily="34" charset="0"/>
                <a:ea typeface="Calibri" pitchFamily="34" charset="-122"/>
                <a:cs typeface="Calibri" pitchFamily="34" charset="-120"/>
              </a:rPr>
              <a:t>widen</a:t>
            </a:r>
            <a:r>
              <a:rPr lang="en-US" sz="1650" dirty="0">
                <a:solidFill>
                  <a:srgbClr val="222B36"/>
                </a:solidFill>
                <a:latin typeface="Calibri" pitchFamily="34" charset="0"/>
                <a:ea typeface="Calibri" pitchFamily="34" charset="-122"/>
                <a:cs typeface="Calibri" pitchFamily="34" charset="-120"/>
              </a:rPr>
              <a:t> the topic sentence, or </a:t>
            </a:r>
            <a:r>
              <a:rPr lang="en-US" sz="1650" b="1" dirty="0">
                <a:solidFill>
                  <a:srgbClr val="222B36"/>
                </a:solidFill>
                <a:latin typeface="Calibri" pitchFamily="34" charset="0"/>
                <a:ea typeface="Calibri" pitchFamily="34" charset="-122"/>
                <a:cs typeface="Calibri" pitchFamily="34" charset="-120"/>
              </a:rPr>
              <a:t>delete</a:t>
            </a:r>
            <a:r>
              <a:rPr lang="en-US" sz="1650" dirty="0">
                <a:solidFill>
                  <a:srgbClr val="222B36"/>
                </a:solidFill>
                <a:latin typeface="Calibri" pitchFamily="34" charset="0"/>
                <a:ea typeface="Calibri" pitchFamily="34" charset="-122"/>
                <a:cs typeface="Calibri" pitchFamily="34" charset="-120"/>
              </a:rPr>
              <a:t> one theme.</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Aim for </a:t>
            </a:r>
            <a:r>
              <a:rPr lang="en-US" sz="1650" b="1" dirty="0">
                <a:solidFill>
                  <a:srgbClr val="222B36"/>
                </a:solidFill>
                <a:latin typeface="Calibri" pitchFamily="34" charset="0"/>
                <a:ea typeface="Calibri" pitchFamily="34" charset="-122"/>
                <a:cs typeface="Calibri" pitchFamily="34" charset="-120"/>
              </a:rPr>
              <a:t>4–8 sentences</a:t>
            </a:r>
            <a:r>
              <a:rPr lang="en-US" sz="1650" dirty="0">
                <a:solidFill>
                  <a:srgbClr val="222B36"/>
                </a:solidFill>
                <a:latin typeface="Calibri" pitchFamily="34" charset="0"/>
                <a:ea typeface="Calibri" pitchFamily="34" charset="-122"/>
                <a:cs typeface="Calibri" pitchFamily="34" charset="-120"/>
              </a:rPr>
              <a:t>; avoid one-sentence paragraphs.</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Speed-readers read first sentences (proposal tutorials). If your point is in sentence 5, many readers miss it.</a:t>
            </a:r>
            <a:endParaRPr lang="en-US" sz="1650" dirty="0"/>
          </a:p>
        </p:txBody>
      </p:sp>
      <p:sp>
        <p:nvSpPr>
          <p:cNvPr id="4" name="text_63"/>
          <p:cNvSpPr txBox="1"/>
          <p:nvPr/>
        </p:nvSpPr>
        <p:spPr>
          <a:xfrm>
            <a:off x="6629400" y="1280160"/>
            <a:ext cx="5013655"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D98E1F"/>
                </a:solidFill>
                <a:latin typeface="Calibri" pitchFamily="34" charset="0"/>
                <a:ea typeface="Calibri" pitchFamily="34" charset="-122"/>
                <a:cs typeface="Calibri" pitchFamily="34" charset="-120"/>
              </a:rPr>
              <a:t>ANATOMY OF A RESULTS PARAGRAPH</a:t>
            </a:r>
            <a:endParaRPr lang="en-US" sz="1050" dirty="0"/>
          </a:p>
        </p:txBody>
      </p:sp>
      <p:sp>
        <p:nvSpPr>
          <p:cNvPr id="5" name="an_64"/>
          <p:cNvSpPr/>
          <p:nvPr/>
        </p:nvSpPr>
        <p:spPr>
          <a:xfrm>
            <a:off x="6629400" y="1600200"/>
            <a:ext cx="5013655" cy="777240"/>
          </a:xfrm>
          <a:prstGeom prst="roundRect">
            <a:avLst>
              <a:gd name="adj" fmla="val 5882"/>
            </a:avLst>
          </a:prstGeom>
          <a:solidFill>
            <a:srgbClr val="1B2A41"/>
          </a:solidFill>
          <a:ln w="12700">
            <a:solidFill>
              <a:srgbClr val="1B2A41"/>
            </a:solidFill>
            <a:prstDash val="solid"/>
          </a:ln>
        </p:spPr>
      </p:sp>
      <p:sp>
        <p:nvSpPr>
          <p:cNvPr id="6" name="text_65"/>
          <p:cNvSpPr txBox="1"/>
          <p:nvPr/>
        </p:nvSpPr>
        <p:spPr>
          <a:xfrm>
            <a:off x="6766560" y="1600200"/>
            <a:ext cx="4373575" cy="777240"/>
          </a:xfrm>
          <a:prstGeom prst="rect">
            <a:avLst/>
          </a:prstGeom>
          <a:noFill/>
          <a:ln/>
        </p:spPr>
        <p:txBody>
          <a:bodyPr wrap="square" lIns="635" tIns="635" rIns="635" bIns="635" rtlCol="0" anchor="ctr"/>
          <a:lstStyle/>
          <a:p>
            <a:pPr algn="l" indent="0" marL="0">
              <a:lnSpc>
                <a:spcPct val="100000"/>
              </a:lnSpc>
              <a:buNone/>
            </a:pPr>
            <a:r>
              <a:rPr lang="en-US" sz="1400" b="1" dirty="0">
                <a:solidFill>
                  <a:srgbClr val="FFFFFF"/>
                </a:solidFill>
                <a:latin typeface="Calibri" pitchFamily="34" charset="0"/>
                <a:ea typeface="Calibri" pitchFamily="34" charset="-122"/>
                <a:cs typeface="Calibri" pitchFamily="34" charset="-120"/>
              </a:rPr>
              <a:t>Topic sentence: the claim</a:t>
            </a:r>
            <a:endParaRPr lang="en-US" sz="1400" dirty="0"/>
          </a:p>
        </p:txBody>
      </p:sp>
      <p:sp>
        <p:nvSpPr>
          <p:cNvPr id="7" name="an_66"/>
          <p:cNvSpPr/>
          <p:nvPr/>
        </p:nvSpPr>
        <p:spPr>
          <a:xfrm>
            <a:off x="6949440" y="2468880"/>
            <a:ext cx="4693615" cy="640080"/>
          </a:xfrm>
          <a:prstGeom prst="roundRect">
            <a:avLst>
              <a:gd name="adj" fmla="val 7143"/>
            </a:avLst>
          </a:prstGeom>
          <a:solidFill>
            <a:srgbClr val="2E4A6B"/>
          </a:solidFill>
          <a:ln w="12700">
            <a:solidFill>
              <a:srgbClr val="2E4A6B"/>
            </a:solidFill>
            <a:prstDash val="solid"/>
          </a:ln>
        </p:spPr>
      </p:sp>
      <p:sp>
        <p:nvSpPr>
          <p:cNvPr id="8" name="text_67"/>
          <p:cNvSpPr txBox="1"/>
          <p:nvPr/>
        </p:nvSpPr>
        <p:spPr>
          <a:xfrm>
            <a:off x="7086600" y="2468880"/>
            <a:ext cx="4373575" cy="640080"/>
          </a:xfrm>
          <a:prstGeom prst="rect">
            <a:avLst/>
          </a:prstGeom>
          <a:noFill/>
          <a:ln/>
        </p:spPr>
        <p:txBody>
          <a:bodyPr wrap="square" lIns="635" tIns="635" rIns="635" bIns="635" rtlCol="0" anchor="ctr"/>
          <a:lstStyle/>
          <a:p>
            <a:pPr algn="l" indent="0" marL="0">
              <a:lnSpc>
                <a:spcPct val="100000"/>
              </a:lnSpc>
              <a:buNone/>
            </a:pPr>
            <a:r>
              <a:rPr lang="en-US" sz="1400" dirty="0">
                <a:solidFill>
                  <a:srgbClr val="FFFFFF"/>
                </a:solidFill>
                <a:latin typeface="Calibri" pitchFamily="34" charset="0"/>
                <a:ea typeface="Calibri" pitchFamily="34" charset="-122"/>
                <a:cs typeface="Calibri" pitchFamily="34" charset="-120"/>
              </a:rPr>
              <a:t>Evidence: numbers, figure cited</a:t>
            </a:r>
            <a:endParaRPr lang="en-US" sz="1400" dirty="0"/>
          </a:p>
        </p:txBody>
      </p:sp>
      <p:sp>
        <p:nvSpPr>
          <p:cNvPr id="9" name="an_68"/>
          <p:cNvSpPr/>
          <p:nvPr/>
        </p:nvSpPr>
        <p:spPr>
          <a:xfrm>
            <a:off x="6949440" y="3200400"/>
            <a:ext cx="4693615" cy="640080"/>
          </a:xfrm>
          <a:prstGeom prst="roundRect">
            <a:avLst>
              <a:gd name="adj" fmla="val 7143"/>
            </a:avLst>
          </a:prstGeom>
          <a:solidFill>
            <a:srgbClr val="4F6F92"/>
          </a:solidFill>
          <a:ln w="12700">
            <a:solidFill>
              <a:srgbClr val="4F6F92"/>
            </a:solidFill>
            <a:prstDash val="solid"/>
          </a:ln>
        </p:spPr>
      </p:sp>
      <p:sp>
        <p:nvSpPr>
          <p:cNvPr id="10" name="text_69"/>
          <p:cNvSpPr txBox="1"/>
          <p:nvPr/>
        </p:nvSpPr>
        <p:spPr>
          <a:xfrm>
            <a:off x="7086600" y="3200400"/>
            <a:ext cx="4373575" cy="640080"/>
          </a:xfrm>
          <a:prstGeom prst="rect">
            <a:avLst/>
          </a:prstGeom>
          <a:noFill/>
          <a:ln/>
        </p:spPr>
        <p:txBody>
          <a:bodyPr wrap="square" lIns="635" tIns="635" rIns="635" bIns="635" rtlCol="0" anchor="ctr"/>
          <a:lstStyle/>
          <a:p>
            <a:pPr algn="l" indent="0" marL="0">
              <a:lnSpc>
                <a:spcPct val="100000"/>
              </a:lnSpc>
              <a:buNone/>
            </a:pPr>
            <a:r>
              <a:rPr lang="en-US" sz="1400" dirty="0">
                <a:solidFill>
                  <a:srgbClr val="FFFFFF"/>
                </a:solidFill>
                <a:latin typeface="Calibri" pitchFamily="34" charset="0"/>
                <a:ea typeface="Calibri" pitchFamily="34" charset="-122"/>
                <a:cs typeface="Calibri" pitchFamily="34" charset="-120"/>
              </a:rPr>
              <a:t>Evidence / comparison</a:t>
            </a:r>
            <a:endParaRPr lang="en-US" sz="1400" dirty="0"/>
          </a:p>
        </p:txBody>
      </p:sp>
      <p:sp>
        <p:nvSpPr>
          <p:cNvPr id="11" name="an_70"/>
          <p:cNvSpPr/>
          <p:nvPr/>
        </p:nvSpPr>
        <p:spPr>
          <a:xfrm>
            <a:off x="6949440" y="3931920"/>
            <a:ext cx="4693615" cy="640080"/>
          </a:xfrm>
          <a:prstGeom prst="roundRect">
            <a:avLst>
              <a:gd name="adj" fmla="val 7143"/>
            </a:avLst>
          </a:prstGeom>
          <a:solidFill>
            <a:srgbClr val="7C97B4"/>
          </a:solidFill>
          <a:ln w="12700">
            <a:solidFill>
              <a:srgbClr val="7C97B4"/>
            </a:solidFill>
            <a:prstDash val="solid"/>
          </a:ln>
        </p:spPr>
      </p:sp>
      <p:sp>
        <p:nvSpPr>
          <p:cNvPr id="12" name="text_71"/>
          <p:cNvSpPr txBox="1"/>
          <p:nvPr/>
        </p:nvSpPr>
        <p:spPr>
          <a:xfrm>
            <a:off x="7086600" y="3931920"/>
            <a:ext cx="4373575" cy="640080"/>
          </a:xfrm>
          <a:prstGeom prst="rect">
            <a:avLst/>
          </a:prstGeom>
          <a:noFill/>
          <a:ln/>
        </p:spPr>
        <p:txBody>
          <a:bodyPr wrap="square" lIns="635" tIns="635" rIns="635" bIns="635" rtlCol="0" anchor="ctr"/>
          <a:lstStyle/>
          <a:p>
            <a:pPr algn="l" indent="0" marL="0">
              <a:lnSpc>
                <a:spcPct val="100000"/>
              </a:lnSpc>
              <a:buNone/>
            </a:pPr>
            <a:r>
              <a:rPr lang="en-US" sz="1400" dirty="0">
                <a:solidFill>
                  <a:srgbClr val="FFFFFF"/>
                </a:solidFill>
                <a:latin typeface="Calibri" pitchFamily="34" charset="0"/>
                <a:ea typeface="Calibri" pitchFamily="34" charset="-122"/>
                <a:cs typeface="Calibri" pitchFamily="34" charset="-120"/>
              </a:rPr>
              <a:t>Qualification: where it doesn't hold</a:t>
            </a:r>
            <a:endParaRPr lang="en-US" sz="1400" dirty="0"/>
          </a:p>
        </p:txBody>
      </p:sp>
      <p:sp>
        <p:nvSpPr>
          <p:cNvPr id="13" name="an_72"/>
          <p:cNvSpPr/>
          <p:nvPr/>
        </p:nvSpPr>
        <p:spPr>
          <a:xfrm>
            <a:off x="6949440" y="4663440"/>
            <a:ext cx="4693615" cy="502920"/>
          </a:xfrm>
          <a:prstGeom prst="roundRect">
            <a:avLst>
              <a:gd name="adj" fmla="val 9091"/>
            </a:avLst>
          </a:prstGeom>
          <a:solidFill>
            <a:srgbClr val="A9B9CB"/>
          </a:solidFill>
          <a:ln w="12700">
            <a:solidFill>
              <a:srgbClr val="A9B9CB"/>
            </a:solidFill>
            <a:prstDash val="solid"/>
          </a:ln>
        </p:spPr>
      </p:sp>
      <p:sp>
        <p:nvSpPr>
          <p:cNvPr id="14" name="text_73"/>
          <p:cNvSpPr txBox="1"/>
          <p:nvPr/>
        </p:nvSpPr>
        <p:spPr>
          <a:xfrm>
            <a:off x="7086600" y="4663440"/>
            <a:ext cx="4373575" cy="502920"/>
          </a:xfrm>
          <a:prstGeom prst="rect">
            <a:avLst/>
          </a:prstGeom>
          <a:noFill/>
          <a:ln/>
        </p:spPr>
        <p:txBody>
          <a:bodyPr wrap="square" lIns="635" tIns="635" rIns="635" bIns="635" rtlCol="0" anchor="ctr"/>
          <a:lstStyle/>
          <a:p>
            <a:pPr algn="l" indent="0" marL="0">
              <a:lnSpc>
                <a:spcPct val="100000"/>
              </a:lnSpc>
              <a:buNone/>
            </a:pPr>
            <a:r>
              <a:rPr lang="en-US" sz="1400" dirty="0">
                <a:solidFill>
                  <a:srgbClr val="FFFFFF"/>
                </a:solidFill>
                <a:latin typeface="Calibri" pitchFamily="34" charset="0"/>
                <a:ea typeface="Calibri" pitchFamily="34" charset="-122"/>
                <a:cs typeface="Calibri" pitchFamily="34" charset="-120"/>
              </a:rPr>
              <a:t>Link onward (optional)</a:t>
            </a:r>
            <a:endParaRPr lang="en-US" sz="1400" dirty="0"/>
          </a:p>
        </p:txBody>
      </p:sp>
      <p:sp>
        <p:nvSpPr>
          <p:cNvPr id="15" name="text_74"/>
          <p:cNvSpPr txBox="1"/>
          <p:nvPr/>
        </p:nvSpPr>
        <p:spPr>
          <a:xfrm>
            <a:off x="6629400" y="5303520"/>
            <a:ext cx="5013655" cy="274320"/>
          </a:xfrm>
          <a:prstGeom prst="rect">
            <a:avLst/>
          </a:prstGeom>
          <a:noFill/>
          <a:ln/>
        </p:spPr>
        <p:txBody>
          <a:bodyPr wrap="square" lIns="635" tIns="635" rIns="635" bIns="635" rtlCol="0" anchor="t"/>
          <a:lstStyle/>
          <a:p>
            <a:pPr algn="r" indent="0" marL="0">
              <a:lnSpc>
                <a:spcPct val="100000"/>
              </a:lnSpc>
              <a:buNone/>
            </a:pPr>
            <a:r>
              <a:rPr lang="en-US" sz="1200" i="1" dirty="0">
                <a:solidFill>
                  <a:srgbClr val="5B6573"/>
                </a:solidFill>
                <a:latin typeface="Calibri" pitchFamily="34" charset="0"/>
                <a:ea typeface="Calibri" pitchFamily="34" charset="-122"/>
                <a:cs typeface="Calibri" pitchFamily="34" charset="-120"/>
              </a:rPr>
              <a:t>~110–140 words</a:t>
            </a:r>
            <a:endParaRPr lang="en-US" sz="1200" dirty="0"/>
          </a:p>
        </p:txBody>
      </p:sp>
      <p:sp>
        <p:nvSpPr>
          <p:cNvPr id="16" name="text_75"/>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ch. 8, §8.1 and §8.4.</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_7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order of an argument</a:t>
            </a:r>
            <a:endParaRPr lang="en-US" sz="2800" dirty="0"/>
          </a:p>
        </p:txBody>
      </p:sp>
      <p:sp>
        <p:nvSpPr>
          <p:cNvPr id="3" name="st_77"/>
          <p:cNvSpPr/>
          <p:nvPr/>
        </p:nvSpPr>
        <p:spPr>
          <a:xfrm>
            <a:off x="548640" y="1371600"/>
            <a:ext cx="1965960" cy="685800"/>
          </a:xfrm>
          <a:prstGeom prst="roundRect">
            <a:avLst>
              <a:gd name="adj" fmla="val 10667"/>
            </a:avLst>
          </a:prstGeom>
          <a:solidFill>
            <a:srgbClr val="1B2A41"/>
          </a:solidFill>
          <a:ln w="12700">
            <a:solidFill>
              <a:srgbClr val="1B2A41"/>
            </a:solidFill>
            <a:prstDash val="solid"/>
          </a:ln>
        </p:spPr>
      </p:sp>
      <p:sp>
        <p:nvSpPr>
          <p:cNvPr id="4" name="text_78"/>
          <p:cNvSpPr txBox="1"/>
          <p:nvPr/>
        </p:nvSpPr>
        <p:spPr>
          <a:xfrm>
            <a:off x="548640" y="1371600"/>
            <a:ext cx="1965960" cy="685800"/>
          </a:xfrm>
          <a:prstGeom prst="rect">
            <a:avLst/>
          </a:prstGeom>
          <a:noFill/>
          <a:ln/>
        </p:spPr>
        <p:txBody>
          <a:bodyPr wrap="square" lIns="635" tIns="635" rIns="635" bIns="635"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DATA</a:t>
            </a:r>
            <a:endParaRPr lang="en-US" sz="1400" dirty="0"/>
          </a:p>
        </p:txBody>
      </p:sp>
      <p:sp>
        <p:nvSpPr>
          <p:cNvPr id="5" name="arrow_79"/>
          <p:cNvSpPr/>
          <p:nvPr/>
        </p:nvSpPr>
        <p:spPr>
          <a:xfrm>
            <a:off x="2542032" y="1714500"/>
            <a:ext cx="256032" cy="914"/>
          </a:xfrm>
          <a:prstGeom prst="line">
            <a:avLst/>
          </a:prstGeom>
          <a:noFill/>
          <a:ln w="25400">
            <a:solidFill>
              <a:srgbClr val="5B6573"/>
            </a:solidFill>
            <a:prstDash val="solid"/>
            <a:tailEnd type="triangle"/>
          </a:ln>
        </p:spPr>
      </p:sp>
      <p:sp>
        <p:nvSpPr>
          <p:cNvPr id="6" name="st_80"/>
          <p:cNvSpPr/>
          <p:nvPr/>
        </p:nvSpPr>
        <p:spPr>
          <a:xfrm>
            <a:off x="2825496" y="1371600"/>
            <a:ext cx="1965960" cy="685800"/>
          </a:xfrm>
          <a:prstGeom prst="roundRect">
            <a:avLst>
              <a:gd name="adj" fmla="val 10667"/>
            </a:avLst>
          </a:prstGeom>
          <a:solidFill>
            <a:srgbClr val="2E4A6B"/>
          </a:solidFill>
          <a:ln w="12700">
            <a:solidFill>
              <a:srgbClr val="2E4A6B"/>
            </a:solidFill>
            <a:prstDash val="solid"/>
          </a:ln>
        </p:spPr>
      </p:sp>
      <p:sp>
        <p:nvSpPr>
          <p:cNvPr id="7" name="text_81"/>
          <p:cNvSpPr txBox="1"/>
          <p:nvPr/>
        </p:nvSpPr>
        <p:spPr>
          <a:xfrm>
            <a:off x="2825496" y="1371600"/>
            <a:ext cx="1965960" cy="685800"/>
          </a:xfrm>
          <a:prstGeom prst="rect">
            <a:avLst/>
          </a:prstGeom>
          <a:noFill/>
          <a:ln/>
        </p:spPr>
        <p:txBody>
          <a:bodyPr wrap="square" lIns="635" tIns="635" rIns="635" bIns="635"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RESULTS</a:t>
            </a:r>
            <a:endParaRPr lang="en-US" sz="1400" dirty="0"/>
          </a:p>
        </p:txBody>
      </p:sp>
      <p:sp>
        <p:nvSpPr>
          <p:cNvPr id="8" name="arrow_82"/>
          <p:cNvSpPr/>
          <p:nvPr/>
        </p:nvSpPr>
        <p:spPr>
          <a:xfrm>
            <a:off x="4818888" y="1714500"/>
            <a:ext cx="256032" cy="914"/>
          </a:xfrm>
          <a:prstGeom prst="line">
            <a:avLst/>
          </a:prstGeom>
          <a:noFill/>
          <a:ln w="25400">
            <a:solidFill>
              <a:srgbClr val="5B6573"/>
            </a:solidFill>
            <a:prstDash val="solid"/>
            <a:tailEnd type="triangle"/>
          </a:ln>
        </p:spPr>
      </p:sp>
      <p:sp>
        <p:nvSpPr>
          <p:cNvPr id="9" name="st_83"/>
          <p:cNvSpPr/>
          <p:nvPr/>
        </p:nvSpPr>
        <p:spPr>
          <a:xfrm>
            <a:off x="5102352" y="1371600"/>
            <a:ext cx="1965960" cy="685800"/>
          </a:xfrm>
          <a:prstGeom prst="roundRect">
            <a:avLst>
              <a:gd name="adj" fmla="val 10667"/>
            </a:avLst>
          </a:prstGeom>
          <a:solidFill>
            <a:srgbClr val="1F7A6E"/>
          </a:solidFill>
          <a:ln w="12700">
            <a:solidFill>
              <a:srgbClr val="1F7A6E"/>
            </a:solidFill>
            <a:prstDash val="solid"/>
          </a:ln>
        </p:spPr>
      </p:sp>
      <p:sp>
        <p:nvSpPr>
          <p:cNvPr id="10" name="text_84"/>
          <p:cNvSpPr txBox="1"/>
          <p:nvPr/>
        </p:nvSpPr>
        <p:spPr>
          <a:xfrm>
            <a:off x="5102352" y="1371600"/>
            <a:ext cx="1965960" cy="685800"/>
          </a:xfrm>
          <a:prstGeom prst="rect">
            <a:avLst/>
          </a:prstGeom>
          <a:noFill/>
          <a:ln/>
        </p:spPr>
        <p:txBody>
          <a:bodyPr wrap="square" lIns="635" tIns="635" rIns="635" bIns="635"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INTERPRETATION</a:t>
            </a:r>
            <a:endParaRPr lang="en-US" sz="1400" dirty="0"/>
          </a:p>
        </p:txBody>
      </p:sp>
      <p:sp>
        <p:nvSpPr>
          <p:cNvPr id="11" name="arrow_85"/>
          <p:cNvSpPr/>
          <p:nvPr/>
        </p:nvSpPr>
        <p:spPr>
          <a:xfrm>
            <a:off x="7095744" y="1714500"/>
            <a:ext cx="256032" cy="914"/>
          </a:xfrm>
          <a:prstGeom prst="line">
            <a:avLst/>
          </a:prstGeom>
          <a:noFill/>
          <a:ln w="25400">
            <a:solidFill>
              <a:srgbClr val="5B6573"/>
            </a:solidFill>
            <a:prstDash val="solid"/>
            <a:tailEnd type="triangle"/>
          </a:ln>
        </p:spPr>
      </p:sp>
      <p:sp>
        <p:nvSpPr>
          <p:cNvPr id="12" name="st_86"/>
          <p:cNvSpPr/>
          <p:nvPr/>
        </p:nvSpPr>
        <p:spPr>
          <a:xfrm>
            <a:off x="7379208" y="1371600"/>
            <a:ext cx="1965960" cy="685800"/>
          </a:xfrm>
          <a:prstGeom prst="roundRect">
            <a:avLst>
              <a:gd name="adj" fmla="val 10667"/>
            </a:avLst>
          </a:prstGeom>
          <a:solidFill>
            <a:srgbClr val="4F8F86"/>
          </a:solidFill>
          <a:ln w="12700">
            <a:solidFill>
              <a:srgbClr val="4F8F86"/>
            </a:solidFill>
            <a:prstDash val="solid"/>
          </a:ln>
        </p:spPr>
      </p:sp>
      <p:sp>
        <p:nvSpPr>
          <p:cNvPr id="13" name="text_87"/>
          <p:cNvSpPr txBox="1"/>
          <p:nvPr/>
        </p:nvSpPr>
        <p:spPr>
          <a:xfrm>
            <a:off x="7379208" y="1371600"/>
            <a:ext cx="1965960" cy="685800"/>
          </a:xfrm>
          <a:prstGeom prst="rect">
            <a:avLst/>
          </a:prstGeom>
          <a:noFill/>
          <a:ln/>
        </p:spPr>
        <p:txBody>
          <a:bodyPr wrap="square" lIns="635" tIns="635" rIns="635" bIns="635"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INFERENCE</a:t>
            </a:r>
            <a:endParaRPr lang="en-US" sz="1400" dirty="0"/>
          </a:p>
        </p:txBody>
      </p:sp>
      <p:sp>
        <p:nvSpPr>
          <p:cNvPr id="14" name="arrow_88"/>
          <p:cNvSpPr/>
          <p:nvPr/>
        </p:nvSpPr>
        <p:spPr>
          <a:xfrm>
            <a:off x="9372600" y="1714500"/>
            <a:ext cx="256032" cy="914"/>
          </a:xfrm>
          <a:prstGeom prst="line">
            <a:avLst/>
          </a:prstGeom>
          <a:noFill/>
          <a:ln w="25400">
            <a:solidFill>
              <a:srgbClr val="5B6573"/>
            </a:solidFill>
            <a:prstDash val="solid"/>
            <a:tailEnd type="triangle"/>
          </a:ln>
        </p:spPr>
      </p:sp>
      <p:sp>
        <p:nvSpPr>
          <p:cNvPr id="15" name="st_89"/>
          <p:cNvSpPr/>
          <p:nvPr/>
        </p:nvSpPr>
        <p:spPr>
          <a:xfrm>
            <a:off x="9656064" y="1371600"/>
            <a:ext cx="1965960" cy="685800"/>
          </a:xfrm>
          <a:prstGeom prst="roundRect">
            <a:avLst>
              <a:gd name="adj" fmla="val 10667"/>
            </a:avLst>
          </a:prstGeom>
          <a:solidFill>
            <a:srgbClr val="D98E1F"/>
          </a:solidFill>
          <a:ln w="12700">
            <a:solidFill>
              <a:srgbClr val="D98E1F"/>
            </a:solidFill>
            <a:prstDash val="solid"/>
          </a:ln>
        </p:spPr>
      </p:sp>
      <p:sp>
        <p:nvSpPr>
          <p:cNvPr id="16" name="text_90"/>
          <p:cNvSpPr txBox="1"/>
          <p:nvPr/>
        </p:nvSpPr>
        <p:spPr>
          <a:xfrm>
            <a:off x="9656064" y="1371600"/>
            <a:ext cx="1965960" cy="685800"/>
          </a:xfrm>
          <a:prstGeom prst="rect">
            <a:avLst/>
          </a:prstGeom>
          <a:noFill/>
          <a:ln/>
        </p:spPr>
        <p:txBody>
          <a:bodyPr wrap="square" lIns="635" tIns="635" rIns="635" bIns="635"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SPECULATION</a:t>
            </a:r>
            <a:endParaRPr lang="en-US" sz="1400" dirty="0"/>
          </a:p>
        </p:txBody>
      </p:sp>
      <p:sp>
        <p:nvSpPr>
          <p:cNvPr id="17" name="br_91"/>
          <p:cNvSpPr/>
          <p:nvPr/>
        </p:nvSpPr>
        <p:spPr>
          <a:xfrm>
            <a:off x="548640" y="2194560"/>
            <a:ext cx="4242816" cy="54864"/>
          </a:xfrm>
          <a:prstGeom prst="rect">
            <a:avLst/>
          </a:prstGeom>
          <a:solidFill>
            <a:srgbClr val="1B2A41"/>
          </a:solidFill>
          <a:ln w="12700">
            <a:solidFill>
              <a:srgbClr val="1B2A41"/>
            </a:solidFill>
            <a:prstDash val="solid"/>
          </a:ln>
        </p:spPr>
      </p:sp>
      <p:sp>
        <p:nvSpPr>
          <p:cNvPr id="18" name="text_92"/>
          <p:cNvSpPr txBox="1"/>
          <p:nvPr/>
        </p:nvSpPr>
        <p:spPr>
          <a:xfrm>
            <a:off x="548640" y="2286000"/>
            <a:ext cx="4242816" cy="274320"/>
          </a:xfrm>
          <a:prstGeom prst="rect">
            <a:avLst/>
          </a:prstGeom>
          <a:noFill/>
          <a:ln/>
        </p:spPr>
        <p:txBody>
          <a:bodyPr wrap="square" lIns="635" tIns="635" rIns="635" bIns="635" rtlCol="0" anchor="t"/>
          <a:lstStyle/>
          <a:p>
            <a:pPr algn="ctr" indent="0" marL="0">
              <a:lnSpc>
                <a:spcPct val="100000"/>
              </a:lnSpc>
              <a:buNone/>
            </a:pPr>
            <a:r>
              <a:rPr lang="en-US" sz="1100" b="1" dirty="0">
                <a:solidFill>
                  <a:srgbClr val="1B2A41"/>
                </a:solidFill>
                <a:latin typeface="Calibri" pitchFamily="34" charset="0"/>
                <a:ea typeface="Calibri" pitchFamily="34" charset="-122"/>
                <a:cs typeface="Calibri" pitchFamily="34" charset="-120"/>
              </a:rPr>
              <a:t>RESULTS SECTION</a:t>
            </a:r>
            <a:endParaRPr lang="en-US" sz="1100" dirty="0"/>
          </a:p>
        </p:txBody>
      </p:sp>
      <p:sp>
        <p:nvSpPr>
          <p:cNvPr id="19" name="br_93"/>
          <p:cNvSpPr/>
          <p:nvPr/>
        </p:nvSpPr>
        <p:spPr>
          <a:xfrm>
            <a:off x="5102352" y="2194560"/>
            <a:ext cx="6519672" cy="54864"/>
          </a:xfrm>
          <a:prstGeom prst="rect">
            <a:avLst/>
          </a:prstGeom>
          <a:solidFill>
            <a:srgbClr val="1F7A6E"/>
          </a:solidFill>
          <a:ln w="12700">
            <a:solidFill>
              <a:srgbClr val="1F7A6E"/>
            </a:solidFill>
            <a:prstDash val="solid"/>
          </a:ln>
        </p:spPr>
      </p:sp>
      <p:sp>
        <p:nvSpPr>
          <p:cNvPr id="20" name="text_94"/>
          <p:cNvSpPr txBox="1"/>
          <p:nvPr/>
        </p:nvSpPr>
        <p:spPr>
          <a:xfrm>
            <a:off x="5102352" y="2286000"/>
            <a:ext cx="6519672" cy="274320"/>
          </a:xfrm>
          <a:prstGeom prst="rect">
            <a:avLst/>
          </a:prstGeom>
          <a:noFill/>
          <a:ln/>
        </p:spPr>
        <p:txBody>
          <a:bodyPr wrap="square" lIns="635" tIns="635" rIns="635" bIns="635" rtlCol="0" anchor="t"/>
          <a:lstStyle/>
          <a:p>
            <a:pPr algn="ctr" indent="0" marL="0">
              <a:lnSpc>
                <a:spcPct val="100000"/>
              </a:lnSpc>
              <a:buNone/>
            </a:pPr>
            <a:r>
              <a:rPr lang="en-US" sz="1100" b="1" dirty="0">
                <a:solidFill>
                  <a:srgbClr val="1F7A6E"/>
                </a:solidFill>
                <a:latin typeface="Calibri" pitchFamily="34" charset="0"/>
                <a:ea typeface="Calibri" pitchFamily="34" charset="-122"/>
                <a:cs typeface="Calibri" pitchFamily="34" charset="-120"/>
              </a:rPr>
              <a:t>DISCUSSION SECTION</a:t>
            </a:r>
            <a:endParaRPr lang="en-US" sz="1100" dirty="0"/>
          </a:p>
        </p:txBody>
      </p:sp>
      <p:sp>
        <p:nvSpPr>
          <p:cNvPr id="21" name="card_95"/>
          <p:cNvSpPr/>
          <p:nvPr/>
        </p:nvSpPr>
        <p:spPr>
          <a:xfrm>
            <a:off x="548640" y="2834640"/>
            <a:ext cx="5440680" cy="3429000"/>
          </a:xfrm>
          <a:prstGeom prst="roundRect">
            <a:avLst>
              <a:gd name="adj" fmla="val 2133"/>
            </a:avLst>
          </a:prstGeom>
          <a:solidFill>
            <a:srgbClr val="F7F4EE"/>
          </a:solidFill>
          <a:ln w="9525">
            <a:solidFill>
              <a:srgbClr val="D5DAE1"/>
            </a:solidFill>
            <a:prstDash val="solid"/>
          </a:ln>
        </p:spPr>
      </p:sp>
      <p:sp>
        <p:nvSpPr>
          <p:cNvPr id="22" name="tag_96"/>
          <p:cNvSpPr/>
          <p:nvPr/>
        </p:nvSpPr>
        <p:spPr>
          <a:xfrm>
            <a:off x="713232" y="2962656"/>
            <a:ext cx="1467612" cy="256032"/>
          </a:xfrm>
          <a:prstGeom prst="roundRect">
            <a:avLst>
              <a:gd name="adj" fmla="val 21429"/>
            </a:avLst>
          </a:prstGeom>
          <a:solidFill>
            <a:srgbClr val="B04A35"/>
          </a:solidFill>
          <a:ln w="12700">
            <a:solidFill>
              <a:srgbClr val="B04A35"/>
            </a:solidFill>
            <a:prstDash val="solid"/>
          </a:ln>
        </p:spPr>
      </p:sp>
      <p:sp>
        <p:nvSpPr>
          <p:cNvPr id="23" name="text_97"/>
          <p:cNvSpPr txBox="1"/>
          <p:nvPr/>
        </p:nvSpPr>
        <p:spPr>
          <a:xfrm>
            <a:off x="713232" y="2962656"/>
            <a:ext cx="146761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SCHULTZ'S WARNING</a:t>
            </a:r>
            <a:endParaRPr lang="en-US" sz="1050" dirty="0"/>
          </a:p>
        </p:txBody>
      </p:sp>
      <p:sp>
        <p:nvSpPr>
          <p:cNvPr id="24" name="cardbody_98"/>
          <p:cNvSpPr txBox="1"/>
          <p:nvPr/>
        </p:nvSpPr>
        <p:spPr>
          <a:xfrm>
            <a:off x="713232" y="3310128"/>
            <a:ext cx="5111496" cy="286207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He gives a paragraph that opens with ‘We speculate that…’ and only then shows the data.</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Readers become </a:t>
            </a:r>
            <a:r>
              <a:rPr lang="en-US" sz="1400" b="1" dirty="0">
                <a:solidFill>
                  <a:srgbClr val="222B36"/>
                </a:solidFill>
                <a:latin typeface="Calibri" pitchFamily="34" charset="0"/>
                <a:ea typeface="Calibri" pitchFamily="34" charset="-122"/>
                <a:cs typeface="Calibri" pitchFamily="34" charset="-120"/>
              </a:rPr>
              <a:t>sceptical</a:t>
            </a:r>
            <a:r>
              <a:rPr lang="en-US" sz="1400" dirty="0">
                <a:solidFill>
                  <a:srgbClr val="222B36"/>
                </a:solidFill>
                <a:latin typeface="Calibri" pitchFamily="34" charset="0"/>
                <a:ea typeface="Calibri" pitchFamily="34" charset="-122"/>
                <a:cs typeface="Calibri" pitchFamily="34" charset="-120"/>
              </a:rPr>
              <a:t>: they've been asked to believe before seeing the evidence.</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Rewritten in the order data → results → interpretation → inference → speculation, the </a:t>
            </a:r>
            <a:r>
              <a:rPr lang="en-US" sz="1400" b="1" dirty="0">
                <a:solidFill>
                  <a:srgbClr val="222B36"/>
                </a:solidFill>
                <a:latin typeface="Calibri" pitchFamily="34" charset="0"/>
                <a:ea typeface="Calibri" pitchFamily="34" charset="-122"/>
                <a:cs typeface="Calibri" pitchFamily="34" charset="-120"/>
              </a:rPr>
              <a:t>same sentences</a:t>
            </a:r>
            <a:r>
              <a:rPr lang="en-US" sz="1400" dirty="0">
                <a:solidFill>
                  <a:srgbClr val="222B36"/>
                </a:solidFill>
                <a:latin typeface="Calibri" pitchFamily="34" charset="0"/>
                <a:ea typeface="Calibri" pitchFamily="34" charset="-122"/>
                <a:cs typeface="Calibri" pitchFamily="34" charset="-120"/>
              </a:rPr>
              <a:t> persuade.</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Flag speculation honestly: “We speculate that…”, “One possible explanation is…”.</a:t>
            </a:r>
            <a:endParaRPr lang="en-US" sz="1400" dirty="0"/>
          </a:p>
        </p:txBody>
      </p:sp>
      <p:sp>
        <p:nvSpPr>
          <p:cNvPr id="25" name="card_99"/>
          <p:cNvSpPr/>
          <p:nvPr/>
        </p:nvSpPr>
        <p:spPr>
          <a:xfrm>
            <a:off x="6199632" y="2834640"/>
            <a:ext cx="5440680" cy="3429000"/>
          </a:xfrm>
          <a:prstGeom prst="roundRect">
            <a:avLst>
              <a:gd name="adj" fmla="val 2133"/>
            </a:avLst>
          </a:prstGeom>
          <a:solidFill>
            <a:srgbClr val="DCE7F2"/>
          </a:solidFill>
          <a:ln w="9525">
            <a:solidFill>
              <a:srgbClr val="DCE7F2"/>
            </a:solidFill>
            <a:prstDash val="solid"/>
          </a:ln>
        </p:spPr>
      </p:sp>
      <p:sp>
        <p:nvSpPr>
          <p:cNvPr id="26" name="tag_100"/>
          <p:cNvSpPr/>
          <p:nvPr/>
        </p:nvSpPr>
        <p:spPr>
          <a:xfrm>
            <a:off x="6364224" y="2962656"/>
            <a:ext cx="1778508" cy="256032"/>
          </a:xfrm>
          <a:prstGeom prst="roundRect">
            <a:avLst>
              <a:gd name="adj" fmla="val 21429"/>
            </a:avLst>
          </a:prstGeom>
          <a:solidFill>
            <a:srgbClr val="2E4A6B"/>
          </a:solidFill>
          <a:ln w="12700">
            <a:solidFill>
              <a:srgbClr val="2E4A6B"/>
            </a:solidFill>
            <a:prstDash val="solid"/>
          </a:ln>
        </p:spPr>
      </p:sp>
      <p:sp>
        <p:nvSpPr>
          <p:cNvPr id="27" name="text_101"/>
          <p:cNvSpPr txBox="1"/>
          <p:nvPr/>
        </p:nvSpPr>
        <p:spPr>
          <a:xfrm>
            <a:off x="6364224" y="2962656"/>
            <a:ext cx="177850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SO WHICH COMES FIRST?</a:t>
            </a:r>
            <a:endParaRPr lang="en-US" sz="1050" dirty="0"/>
          </a:p>
        </p:txBody>
      </p:sp>
      <p:sp>
        <p:nvSpPr>
          <p:cNvPr id="28" name="cardbody_102"/>
          <p:cNvSpPr txBox="1"/>
          <p:nvPr/>
        </p:nvSpPr>
        <p:spPr>
          <a:xfrm>
            <a:off x="6364224" y="3310128"/>
            <a:ext cx="5111496" cy="2862072"/>
          </a:xfrm>
          <a:prstGeom prst="rect">
            <a:avLst/>
          </a:prstGeom>
          <a:noFill/>
          <a:ln/>
        </p:spPr>
        <p:txBody>
          <a:bodyPr wrap="square" lIns="381" tIns="381" rIns="381" bIns="381" rtlCol="0" anchor="t"/>
          <a:lstStyle/>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Assert the finding first</a:t>
            </a:r>
            <a:r>
              <a:rPr lang="en-US" sz="1400" dirty="0">
                <a:solidFill>
                  <a:srgbClr val="222B36"/>
                </a:solidFill>
                <a:latin typeface="Calibri" pitchFamily="34" charset="0"/>
                <a:ea typeface="Calibri" pitchFamily="34" charset="-122"/>
                <a:cs typeface="Calibri" pitchFamily="34" charset="-120"/>
              </a:rPr>
              <a:t> (topic sentence), then show the evidence: that's assert–justify, and it fits this chain.</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Never lead with speculation.</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It maps onto the handbook's pattern: </a:t>
            </a:r>
            <a:r>
              <a:rPr lang="en-US" sz="1400" b="1" dirty="0">
                <a:solidFill>
                  <a:srgbClr val="222B36"/>
                </a:solidFill>
                <a:latin typeface="Calibri" pitchFamily="34" charset="0"/>
                <a:ea typeface="Calibri" pitchFamily="34" charset="-122"/>
                <a:cs typeface="Calibri" pitchFamily="34" charset="-120"/>
              </a:rPr>
              <a:t>Claim → Evidence → Interpretation → Qualification</a:t>
            </a:r>
            <a:r>
              <a:rPr lang="en-US" sz="1400" dirty="0">
                <a:solidFill>
                  <a:srgbClr val="222B36"/>
                </a:solidFill>
                <a:latin typeface="Calibri" pitchFamily="34" charset="0"/>
                <a:ea typeface="Calibri" pitchFamily="34" charset="-122"/>
                <a:cs typeface="Calibri" pitchFamily="34" charset="-120"/>
              </a:rPr>
              <a:t>.</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In a short report, a light interpretation can follow a result; deeper mechanisms go in the Discussion.</a:t>
            </a:r>
            <a:endParaRPr lang="en-US" sz="1400" dirty="0"/>
          </a:p>
        </p:txBody>
      </p:sp>
      <p:sp>
        <p:nvSpPr>
          <p:cNvPr id="29" name="text_103"/>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§7.3 ‘Structuring logical arguments’.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_104"/>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From a list of numbers to an argument</a:t>
            </a:r>
            <a:endParaRPr lang="en-US" sz="2800" dirty="0"/>
          </a:p>
        </p:txBody>
      </p:sp>
      <p:sp>
        <p:nvSpPr>
          <p:cNvPr id="3" name="card_105"/>
          <p:cNvSpPr/>
          <p:nvPr/>
        </p:nvSpPr>
        <p:spPr>
          <a:xfrm>
            <a:off x="548640" y="1325880"/>
            <a:ext cx="5440680" cy="3246120"/>
          </a:xfrm>
          <a:prstGeom prst="roundRect">
            <a:avLst>
              <a:gd name="adj" fmla="val 2254"/>
            </a:avLst>
          </a:prstGeom>
          <a:solidFill>
            <a:srgbClr val="F5E0DA"/>
          </a:solidFill>
          <a:ln w="9525">
            <a:solidFill>
              <a:srgbClr val="F5E0DA"/>
            </a:solidFill>
            <a:prstDash val="solid"/>
          </a:ln>
        </p:spPr>
      </p:sp>
      <p:sp>
        <p:nvSpPr>
          <p:cNvPr id="4" name="tag_106"/>
          <p:cNvSpPr/>
          <p:nvPr/>
        </p:nvSpPr>
        <p:spPr>
          <a:xfrm>
            <a:off x="713232" y="1453896"/>
            <a:ext cx="612648" cy="256032"/>
          </a:xfrm>
          <a:prstGeom prst="roundRect">
            <a:avLst>
              <a:gd name="adj" fmla="val 21429"/>
            </a:avLst>
          </a:prstGeom>
          <a:solidFill>
            <a:srgbClr val="B04A35"/>
          </a:solidFill>
          <a:ln w="12700">
            <a:solidFill>
              <a:srgbClr val="B04A35"/>
            </a:solidFill>
            <a:prstDash val="solid"/>
          </a:ln>
        </p:spPr>
      </p:sp>
      <p:sp>
        <p:nvSpPr>
          <p:cNvPr id="5" name="text_107"/>
          <p:cNvSpPr txBox="1"/>
          <p:nvPr/>
        </p:nvSpPr>
        <p:spPr>
          <a:xfrm>
            <a:off x="713232" y="145389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 LIST</a:t>
            </a:r>
            <a:endParaRPr lang="en-US" sz="1050" dirty="0"/>
          </a:p>
        </p:txBody>
      </p:sp>
      <p:sp>
        <p:nvSpPr>
          <p:cNvPr id="6" name="text_108"/>
          <p:cNvSpPr txBox="1"/>
          <p:nvPr/>
        </p:nvSpPr>
        <p:spPr>
          <a:xfrm>
            <a:off x="713232" y="1801368"/>
            <a:ext cx="5111496" cy="2679192"/>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“The correlation between high-cloud anomaly and ONI over CP is 0.8. The El Niño composite is +14. The La Niña composite is −12. Over MC the correlation is −0.6. High cloud decreases in El Niño over MC. Some years do not follow this.”</a:t>
            </a:r>
            <a:endParaRPr lang="en-US" sz="1350" dirty="0"/>
          </a:p>
        </p:txBody>
      </p:sp>
      <p:sp>
        <p:nvSpPr>
          <p:cNvPr id="7" name="card_109"/>
          <p:cNvSpPr/>
          <p:nvPr/>
        </p:nvSpPr>
        <p:spPr>
          <a:xfrm>
            <a:off x="6199632" y="1325880"/>
            <a:ext cx="5440680" cy="3246120"/>
          </a:xfrm>
          <a:prstGeom prst="roundRect">
            <a:avLst>
              <a:gd name="adj" fmla="val 2254"/>
            </a:avLst>
          </a:prstGeom>
          <a:solidFill>
            <a:srgbClr val="DCEFEA"/>
          </a:solidFill>
          <a:ln w="9525">
            <a:solidFill>
              <a:srgbClr val="DCEFEA"/>
            </a:solidFill>
            <a:prstDash val="solid"/>
          </a:ln>
        </p:spPr>
      </p:sp>
      <p:sp>
        <p:nvSpPr>
          <p:cNvPr id="8" name="tag_110"/>
          <p:cNvSpPr/>
          <p:nvPr/>
        </p:nvSpPr>
        <p:spPr>
          <a:xfrm>
            <a:off x="6364224" y="1453896"/>
            <a:ext cx="1001268" cy="256032"/>
          </a:xfrm>
          <a:prstGeom prst="roundRect">
            <a:avLst>
              <a:gd name="adj" fmla="val 21429"/>
            </a:avLst>
          </a:prstGeom>
          <a:solidFill>
            <a:srgbClr val="1F7A6E"/>
          </a:solidFill>
          <a:ln w="12700">
            <a:solidFill>
              <a:srgbClr val="1F7A6E"/>
            </a:solidFill>
            <a:prstDash val="solid"/>
          </a:ln>
        </p:spPr>
      </p:sp>
      <p:sp>
        <p:nvSpPr>
          <p:cNvPr id="9" name="text_111"/>
          <p:cNvSpPr txBox="1"/>
          <p:nvPr/>
        </p:nvSpPr>
        <p:spPr>
          <a:xfrm>
            <a:off x="6364224" y="1453896"/>
            <a:ext cx="100126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AN ARGUMENT</a:t>
            </a:r>
            <a:endParaRPr lang="en-US" sz="1050" dirty="0"/>
          </a:p>
        </p:txBody>
      </p:sp>
      <p:sp>
        <p:nvSpPr>
          <p:cNvPr id="10" name="text_112"/>
          <p:cNvSpPr txBox="1"/>
          <p:nvPr/>
        </p:nvSpPr>
        <p:spPr>
          <a:xfrm>
            <a:off x="6364224" y="1801368"/>
            <a:ext cx="5111496" cy="2679192"/>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“High cloud responds to ENSO in opposite senses on either side of the Pacific warm pool (Figs 2–3). Over CP, high-cloud anomalies are positively correlated with the ONI (r = 0.8, n = 247 months); consistently, El Niño months average 14 percentage points above normal, whereas La Niña months average 12 points below. In contrast, high cloud over MC is negatively correlated with the ONI (r = −0.6). The MC relationship is weaker, however: [n] of [N] El Niño events show little response there.” (illustrative)</a:t>
            </a:r>
            <a:endParaRPr lang="en-US" sz="1350" dirty="0"/>
          </a:p>
        </p:txBody>
      </p:sp>
      <p:sp>
        <p:nvSpPr>
          <p:cNvPr id="11" name="text_113"/>
          <p:cNvSpPr txBox="1"/>
          <p:nvPr/>
        </p:nvSpPr>
        <p:spPr>
          <a:xfrm>
            <a:off x="548640" y="475488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2" name="changed_114"/>
          <p:cNvSpPr txBox="1"/>
          <p:nvPr/>
        </p:nvSpPr>
        <p:spPr>
          <a:xfrm>
            <a:off x="548640" y="5029200"/>
            <a:ext cx="11064240" cy="1325880"/>
          </a:xfrm>
          <a:prstGeom prst="rect">
            <a:avLst/>
          </a:prstGeom>
          <a:noFill/>
          <a:ln/>
        </p:spPr>
        <p:txBody>
          <a:bodyPr wrap="square" lIns="635" tIns="635" rIns="635" bIns="635" rtlCol="0" anchor="t"/>
          <a:lstStyle/>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A </a:t>
            </a:r>
            <a:r>
              <a:rPr lang="en-US" sz="1450" b="1" dirty="0">
                <a:solidFill>
                  <a:srgbClr val="222B36"/>
                </a:solidFill>
                <a:latin typeface="Calibri" pitchFamily="34" charset="0"/>
                <a:ea typeface="Calibri" pitchFamily="34" charset="-122"/>
                <a:cs typeface="Calibri" pitchFamily="34" charset="-120"/>
              </a:rPr>
              <a:t>topic sentence</a:t>
            </a:r>
            <a:r>
              <a:rPr lang="en-US" sz="1450" dirty="0">
                <a:solidFill>
                  <a:srgbClr val="222B36"/>
                </a:solidFill>
                <a:latin typeface="Calibri" pitchFamily="34" charset="0"/>
                <a:ea typeface="Calibri" pitchFamily="34" charset="-122"/>
                <a:cs typeface="Calibri" pitchFamily="34" charset="-120"/>
              </a:rPr>
              <a:t> states the claim; transitions (</a:t>
            </a:r>
            <a:r>
              <a:rPr lang="en-US" sz="1450" b="1" dirty="0">
                <a:solidFill>
                  <a:srgbClr val="222B36"/>
                </a:solidFill>
                <a:latin typeface="Calibri" pitchFamily="34" charset="0"/>
                <a:ea typeface="Calibri" pitchFamily="34" charset="-122"/>
                <a:cs typeface="Calibri" pitchFamily="34" charset="-120"/>
              </a:rPr>
              <a:t>consistently, whereas, in contrast, however</a:t>
            </a:r>
            <a:r>
              <a:rPr lang="en-US" sz="1450" dirty="0">
                <a:solidFill>
                  <a:srgbClr val="222B36"/>
                </a:solidFill>
                <a:latin typeface="Calibri" pitchFamily="34" charset="0"/>
                <a:ea typeface="Calibri" pitchFamily="34" charset="-122"/>
                <a:cs typeface="Calibri" pitchFamily="34" charset="-120"/>
              </a:rPr>
              <a:t>) show how each fact relates to the last.</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Numbers gain </a:t>
            </a:r>
            <a:r>
              <a:rPr lang="en-US" sz="1450" b="1" dirty="0">
                <a:solidFill>
                  <a:srgbClr val="222B36"/>
                </a:solidFill>
                <a:latin typeface="Calibri" pitchFamily="34" charset="0"/>
                <a:ea typeface="Calibri" pitchFamily="34" charset="-122"/>
                <a:cs typeface="Calibri" pitchFamily="34" charset="-120"/>
              </a:rPr>
              <a:t>units and sample size</a:t>
            </a:r>
            <a:r>
              <a:rPr lang="en-US" sz="1450" dirty="0">
                <a:solidFill>
                  <a:srgbClr val="222B36"/>
                </a:solidFill>
                <a:latin typeface="Calibri" pitchFamily="34" charset="0"/>
                <a:ea typeface="Calibri" pitchFamily="34" charset="-122"/>
                <a:cs typeface="Calibri" pitchFamily="34" charset="-120"/>
              </a:rPr>
              <a:t>: ‘percentage points’ and ‘n = 247 months’, not a bare ‘+14’.</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The exception becomes a </a:t>
            </a:r>
            <a:r>
              <a:rPr lang="en-US" sz="1450" b="1" dirty="0">
                <a:solidFill>
                  <a:srgbClr val="222B36"/>
                </a:solidFill>
                <a:latin typeface="Calibri" pitchFamily="34" charset="0"/>
                <a:ea typeface="Calibri" pitchFamily="34" charset="-122"/>
                <a:cs typeface="Calibri" pitchFamily="34" charset="-120"/>
              </a:rPr>
              <a:t>qualification</a:t>
            </a:r>
            <a:r>
              <a:rPr lang="en-US" sz="1450" dirty="0">
                <a:solidFill>
                  <a:srgbClr val="222B36"/>
                </a:solidFill>
                <a:latin typeface="Calibri" pitchFamily="34" charset="0"/>
                <a:ea typeface="Calibri" pitchFamily="34" charset="-122"/>
                <a:cs typeface="Calibri" pitchFamily="34" charset="-120"/>
              </a:rPr>
              <a:t> with a count, not a vague ‘some years’.</a:t>
            </a:r>
            <a:endParaRPr lang="en-US" sz="1450" dirty="0"/>
          </a:p>
        </p:txBody>
      </p:sp>
      <p:sp>
        <p:nvSpPr>
          <p:cNvPr id="13" name="text_115"/>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Modelled on Schultz (2009) §8.2.3, mammatus-lobe example (adding transitional devices to a list-like paragraph).</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_11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Flow: old information first, new information last</a:t>
            </a:r>
            <a:endParaRPr lang="en-US" sz="2800" dirty="0"/>
          </a:p>
        </p:txBody>
      </p:sp>
      <p:sp>
        <p:nvSpPr>
          <p:cNvPr id="3" name="text_117"/>
          <p:cNvSpPr txBox="1"/>
          <p:nvPr/>
        </p:nvSpPr>
        <p:spPr>
          <a:xfrm>
            <a:off x="548640" y="1188720"/>
            <a:ext cx="11064240" cy="685800"/>
          </a:xfrm>
          <a:prstGeom prst="rect">
            <a:avLst/>
          </a:prstGeom>
          <a:noFill/>
          <a:ln/>
        </p:spPr>
        <p:txBody>
          <a:bodyPr wrap="square" lIns="635" tIns="635" rIns="635" bIns="635" rtlCol="0" anchor="t"/>
          <a:lstStyle/>
          <a:p>
            <a:pPr algn="l" indent="0" marL="0">
              <a:lnSpc>
                <a:spcPct val="100000"/>
              </a:lnSpc>
              <a:buNone/>
            </a:pPr>
            <a:r>
              <a:rPr lang="en-US" sz="1450" i="1" dirty="0">
                <a:solidFill>
                  <a:srgbClr val="5B6573"/>
                </a:solidFill>
                <a:latin typeface="Calibri" pitchFamily="34" charset="0"/>
                <a:ea typeface="Calibri" pitchFamily="34" charset="-122"/>
                <a:cs typeface="Calibri" pitchFamily="34" charset="-120"/>
              </a:rPr>
              <a:t>Gopen &amp; Swan (via Schultz): the start of a sentence (topic position) holds information the reader already has; the end (stress position) holds what's new and important. The stress of one sentence becomes the topic of the next.</a:t>
            </a:r>
            <a:endParaRPr lang="en-US" sz="1450" dirty="0"/>
          </a:p>
        </p:txBody>
      </p:sp>
      <p:sp>
        <p:nvSpPr>
          <p:cNvPr id="4" name="tp_118"/>
          <p:cNvSpPr/>
          <p:nvPr/>
        </p:nvSpPr>
        <p:spPr>
          <a:xfrm>
            <a:off x="548640" y="2057400"/>
            <a:ext cx="1143000" cy="457200"/>
          </a:xfrm>
          <a:prstGeom prst="rect">
            <a:avLst/>
          </a:prstGeom>
          <a:solidFill>
            <a:srgbClr val="DCE7F2"/>
          </a:solidFill>
          <a:ln w="12700">
            <a:solidFill>
              <a:srgbClr val="2E4A6B"/>
            </a:solidFill>
            <a:prstDash val="solid"/>
          </a:ln>
        </p:spPr>
      </p:sp>
      <p:sp>
        <p:nvSpPr>
          <p:cNvPr id="5" name="text_119"/>
          <p:cNvSpPr txBox="1"/>
          <p:nvPr/>
        </p:nvSpPr>
        <p:spPr>
          <a:xfrm>
            <a:off x="548640" y="2057400"/>
            <a:ext cx="1143000" cy="457200"/>
          </a:xfrm>
          <a:prstGeom prst="rect">
            <a:avLst/>
          </a:prstGeom>
          <a:noFill/>
          <a:ln/>
        </p:spPr>
        <p:txBody>
          <a:bodyPr wrap="square" lIns="635" tIns="635" rIns="635" bIns="635" rtlCol="0" anchor="ctr"/>
          <a:lstStyle/>
          <a:p>
            <a:pPr algn="ctr" indent="0" marL="0">
              <a:lnSpc>
                <a:spcPct val="100000"/>
              </a:lnSpc>
              <a:buNone/>
            </a:pPr>
            <a:r>
              <a:rPr lang="en-US" sz="1200" dirty="0">
                <a:solidFill>
                  <a:srgbClr val="1B2A41"/>
                </a:solidFill>
                <a:latin typeface="Calibri" pitchFamily="34" charset="0"/>
                <a:ea typeface="Calibri" pitchFamily="34" charset="-122"/>
                <a:cs typeface="Calibri" pitchFamily="34" charset="-120"/>
              </a:rPr>
              <a:t>topic</a:t>
            </a:r>
            <a:endParaRPr lang="en-US" sz="1200" dirty="0"/>
          </a:p>
        </p:txBody>
      </p:sp>
      <p:sp>
        <p:nvSpPr>
          <p:cNvPr id="6" name="md_120"/>
          <p:cNvSpPr/>
          <p:nvPr/>
        </p:nvSpPr>
        <p:spPr>
          <a:xfrm>
            <a:off x="1691640" y="2057400"/>
            <a:ext cx="1188720" cy="457200"/>
          </a:xfrm>
          <a:prstGeom prst="rect">
            <a:avLst/>
          </a:prstGeom>
          <a:solidFill>
            <a:srgbClr val="FFFFFF"/>
          </a:solidFill>
          <a:ln w="12700">
            <a:solidFill>
              <a:srgbClr val="2E4A6B"/>
            </a:solidFill>
            <a:prstDash val="solid"/>
          </a:ln>
        </p:spPr>
      </p:sp>
      <p:sp>
        <p:nvSpPr>
          <p:cNvPr id="7" name="sp_121"/>
          <p:cNvSpPr/>
          <p:nvPr/>
        </p:nvSpPr>
        <p:spPr>
          <a:xfrm>
            <a:off x="2880360" y="2057400"/>
            <a:ext cx="1143000" cy="457200"/>
          </a:xfrm>
          <a:prstGeom prst="rect">
            <a:avLst/>
          </a:prstGeom>
          <a:solidFill>
            <a:srgbClr val="FBEBD0"/>
          </a:solidFill>
          <a:ln w="12700">
            <a:solidFill>
              <a:srgbClr val="D98E1F"/>
            </a:solidFill>
            <a:prstDash val="solid"/>
          </a:ln>
        </p:spPr>
      </p:sp>
      <p:sp>
        <p:nvSpPr>
          <p:cNvPr id="8" name="text_122"/>
          <p:cNvSpPr txBox="1"/>
          <p:nvPr/>
        </p:nvSpPr>
        <p:spPr>
          <a:xfrm>
            <a:off x="2880360" y="2057400"/>
            <a:ext cx="1143000" cy="457200"/>
          </a:xfrm>
          <a:prstGeom prst="rect">
            <a:avLst/>
          </a:prstGeom>
          <a:noFill/>
          <a:ln/>
        </p:spPr>
        <p:txBody>
          <a:bodyPr wrap="square" lIns="635" tIns="635" rIns="635" bIns="635" rtlCol="0" anchor="ctr"/>
          <a:lstStyle/>
          <a:p>
            <a:pPr algn="ctr" indent="0" marL="0">
              <a:lnSpc>
                <a:spcPct val="100000"/>
              </a:lnSpc>
              <a:buNone/>
            </a:pPr>
            <a:r>
              <a:rPr lang="en-US" sz="1200" dirty="0">
                <a:solidFill>
                  <a:srgbClr val="1B2A41"/>
                </a:solidFill>
                <a:latin typeface="Calibri" pitchFamily="34" charset="0"/>
                <a:ea typeface="Calibri" pitchFamily="34" charset="-122"/>
                <a:cs typeface="Calibri" pitchFamily="34" charset="-120"/>
              </a:rPr>
              <a:t>stress</a:t>
            </a:r>
            <a:endParaRPr lang="en-US" sz="1200" dirty="0"/>
          </a:p>
        </p:txBody>
      </p:sp>
      <p:sp>
        <p:nvSpPr>
          <p:cNvPr id="9" name="text_123"/>
          <p:cNvSpPr txBox="1"/>
          <p:nvPr/>
        </p:nvSpPr>
        <p:spPr>
          <a:xfrm>
            <a:off x="1691640" y="2057400"/>
            <a:ext cx="1188720" cy="457200"/>
          </a:xfrm>
          <a:prstGeom prst="rect">
            <a:avLst/>
          </a:prstGeom>
          <a:noFill/>
          <a:ln/>
        </p:spPr>
        <p:txBody>
          <a:bodyPr wrap="square" lIns="635" tIns="635" rIns="635" bIns="635" rtlCol="0" anchor="ctr"/>
          <a:lstStyle/>
          <a:p>
            <a:pPr algn="ctr" indent="0" marL="0">
              <a:lnSpc>
                <a:spcPct val="100000"/>
              </a:lnSpc>
              <a:buNone/>
            </a:pPr>
            <a:r>
              <a:rPr lang="en-US" sz="1100" dirty="0">
                <a:solidFill>
                  <a:srgbClr val="5B6573"/>
                </a:solidFill>
                <a:latin typeface="Calibri" pitchFamily="34" charset="0"/>
                <a:ea typeface="Calibri" pitchFamily="34" charset="-122"/>
                <a:cs typeface="Calibri" pitchFamily="34" charset="-120"/>
              </a:rPr>
              <a:t>sentence 1</a:t>
            </a:r>
            <a:endParaRPr lang="en-US" sz="1100" dirty="0"/>
          </a:p>
        </p:txBody>
      </p:sp>
      <p:sp>
        <p:nvSpPr>
          <p:cNvPr id="10" name="arrow_124"/>
          <p:cNvSpPr/>
          <p:nvPr/>
        </p:nvSpPr>
        <p:spPr>
          <a:xfrm>
            <a:off x="3703320" y="2560320"/>
            <a:ext cx="822960" cy="914"/>
          </a:xfrm>
          <a:prstGeom prst="line">
            <a:avLst/>
          </a:prstGeom>
          <a:noFill/>
          <a:ln w="25400">
            <a:solidFill>
              <a:srgbClr val="D98E1F"/>
            </a:solidFill>
            <a:prstDash val="solid"/>
            <a:tailEnd type="triangle"/>
          </a:ln>
        </p:spPr>
      </p:sp>
      <p:sp>
        <p:nvSpPr>
          <p:cNvPr id="11" name="tp_125"/>
          <p:cNvSpPr/>
          <p:nvPr/>
        </p:nvSpPr>
        <p:spPr>
          <a:xfrm>
            <a:off x="4343400" y="2057400"/>
            <a:ext cx="1143000" cy="457200"/>
          </a:xfrm>
          <a:prstGeom prst="rect">
            <a:avLst/>
          </a:prstGeom>
          <a:solidFill>
            <a:srgbClr val="DCE7F2"/>
          </a:solidFill>
          <a:ln w="12700">
            <a:solidFill>
              <a:srgbClr val="2E4A6B"/>
            </a:solidFill>
            <a:prstDash val="solid"/>
          </a:ln>
        </p:spPr>
      </p:sp>
      <p:sp>
        <p:nvSpPr>
          <p:cNvPr id="12" name="text_126"/>
          <p:cNvSpPr txBox="1"/>
          <p:nvPr/>
        </p:nvSpPr>
        <p:spPr>
          <a:xfrm>
            <a:off x="4343400" y="2057400"/>
            <a:ext cx="1143000" cy="457200"/>
          </a:xfrm>
          <a:prstGeom prst="rect">
            <a:avLst/>
          </a:prstGeom>
          <a:noFill/>
          <a:ln/>
        </p:spPr>
        <p:txBody>
          <a:bodyPr wrap="square" lIns="635" tIns="635" rIns="635" bIns="635" rtlCol="0" anchor="ctr"/>
          <a:lstStyle/>
          <a:p>
            <a:pPr algn="ctr" indent="0" marL="0">
              <a:lnSpc>
                <a:spcPct val="100000"/>
              </a:lnSpc>
              <a:buNone/>
            </a:pPr>
            <a:r>
              <a:rPr lang="en-US" sz="1200" dirty="0">
                <a:solidFill>
                  <a:srgbClr val="1B2A41"/>
                </a:solidFill>
                <a:latin typeface="Calibri" pitchFamily="34" charset="0"/>
                <a:ea typeface="Calibri" pitchFamily="34" charset="-122"/>
                <a:cs typeface="Calibri" pitchFamily="34" charset="-120"/>
              </a:rPr>
              <a:t>topic</a:t>
            </a:r>
            <a:endParaRPr lang="en-US" sz="1200" dirty="0"/>
          </a:p>
        </p:txBody>
      </p:sp>
      <p:sp>
        <p:nvSpPr>
          <p:cNvPr id="13" name="md_127"/>
          <p:cNvSpPr/>
          <p:nvPr/>
        </p:nvSpPr>
        <p:spPr>
          <a:xfrm>
            <a:off x="5486400" y="2057400"/>
            <a:ext cx="1188720" cy="457200"/>
          </a:xfrm>
          <a:prstGeom prst="rect">
            <a:avLst/>
          </a:prstGeom>
          <a:solidFill>
            <a:srgbClr val="FFFFFF"/>
          </a:solidFill>
          <a:ln w="12700">
            <a:solidFill>
              <a:srgbClr val="2E4A6B"/>
            </a:solidFill>
            <a:prstDash val="solid"/>
          </a:ln>
        </p:spPr>
      </p:sp>
      <p:sp>
        <p:nvSpPr>
          <p:cNvPr id="14" name="sp_128"/>
          <p:cNvSpPr/>
          <p:nvPr/>
        </p:nvSpPr>
        <p:spPr>
          <a:xfrm>
            <a:off x="6675120" y="2057400"/>
            <a:ext cx="1143000" cy="457200"/>
          </a:xfrm>
          <a:prstGeom prst="rect">
            <a:avLst/>
          </a:prstGeom>
          <a:solidFill>
            <a:srgbClr val="FBEBD0"/>
          </a:solidFill>
          <a:ln w="12700">
            <a:solidFill>
              <a:srgbClr val="D98E1F"/>
            </a:solidFill>
            <a:prstDash val="solid"/>
          </a:ln>
        </p:spPr>
      </p:sp>
      <p:sp>
        <p:nvSpPr>
          <p:cNvPr id="15" name="text_129"/>
          <p:cNvSpPr txBox="1"/>
          <p:nvPr/>
        </p:nvSpPr>
        <p:spPr>
          <a:xfrm>
            <a:off x="6675120" y="2057400"/>
            <a:ext cx="1143000" cy="457200"/>
          </a:xfrm>
          <a:prstGeom prst="rect">
            <a:avLst/>
          </a:prstGeom>
          <a:noFill/>
          <a:ln/>
        </p:spPr>
        <p:txBody>
          <a:bodyPr wrap="square" lIns="635" tIns="635" rIns="635" bIns="635" rtlCol="0" anchor="ctr"/>
          <a:lstStyle/>
          <a:p>
            <a:pPr algn="ctr" indent="0" marL="0">
              <a:lnSpc>
                <a:spcPct val="100000"/>
              </a:lnSpc>
              <a:buNone/>
            </a:pPr>
            <a:r>
              <a:rPr lang="en-US" sz="1200" dirty="0">
                <a:solidFill>
                  <a:srgbClr val="1B2A41"/>
                </a:solidFill>
                <a:latin typeface="Calibri" pitchFamily="34" charset="0"/>
                <a:ea typeface="Calibri" pitchFamily="34" charset="-122"/>
                <a:cs typeface="Calibri" pitchFamily="34" charset="-120"/>
              </a:rPr>
              <a:t>stress</a:t>
            </a:r>
            <a:endParaRPr lang="en-US" sz="1200" dirty="0"/>
          </a:p>
        </p:txBody>
      </p:sp>
      <p:sp>
        <p:nvSpPr>
          <p:cNvPr id="16" name="text_130"/>
          <p:cNvSpPr txBox="1"/>
          <p:nvPr/>
        </p:nvSpPr>
        <p:spPr>
          <a:xfrm>
            <a:off x="5486400" y="2057400"/>
            <a:ext cx="1188720" cy="457200"/>
          </a:xfrm>
          <a:prstGeom prst="rect">
            <a:avLst/>
          </a:prstGeom>
          <a:noFill/>
          <a:ln/>
        </p:spPr>
        <p:txBody>
          <a:bodyPr wrap="square" lIns="635" tIns="635" rIns="635" bIns="635" rtlCol="0" anchor="ctr"/>
          <a:lstStyle/>
          <a:p>
            <a:pPr algn="ctr" indent="0" marL="0">
              <a:lnSpc>
                <a:spcPct val="100000"/>
              </a:lnSpc>
              <a:buNone/>
            </a:pPr>
            <a:r>
              <a:rPr lang="en-US" sz="1100" dirty="0">
                <a:solidFill>
                  <a:srgbClr val="5B6573"/>
                </a:solidFill>
                <a:latin typeface="Calibri" pitchFamily="34" charset="0"/>
                <a:ea typeface="Calibri" pitchFamily="34" charset="-122"/>
                <a:cs typeface="Calibri" pitchFamily="34" charset="-120"/>
              </a:rPr>
              <a:t>sentence 2</a:t>
            </a:r>
            <a:endParaRPr lang="en-US" sz="1100" dirty="0"/>
          </a:p>
        </p:txBody>
      </p:sp>
      <p:sp>
        <p:nvSpPr>
          <p:cNvPr id="17" name="arrow_131"/>
          <p:cNvSpPr/>
          <p:nvPr/>
        </p:nvSpPr>
        <p:spPr>
          <a:xfrm>
            <a:off x="7498080" y="2560320"/>
            <a:ext cx="822960" cy="914"/>
          </a:xfrm>
          <a:prstGeom prst="line">
            <a:avLst/>
          </a:prstGeom>
          <a:noFill/>
          <a:ln w="25400">
            <a:solidFill>
              <a:srgbClr val="D98E1F"/>
            </a:solidFill>
            <a:prstDash val="solid"/>
            <a:tailEnd type="triangle"/>
          </a:ln>
        </p:spPr>
      </p:sp>
      <p:sp>
        <p:nvSpPr>
          <p:cNvPr id="18" name="tp_132"/>
          <p:cNvSpPr/>
          <p:nvPr/>
        </p:nvSpPr>
        <p:spPr>
          <a:xfrm>
            <a:off x="8138160" y="2057400"/>
            <a:ext cx="1143000" cy="457200"/>
          </a:xfrm>
          <a:prstGeom prst="rect">
            <a:avLst/>
          </a:prstGeom>
          <a:solidFill>
            <a:srgbClr val="DCE7F2"/>
          </a:solidFill>
          <a:ln w="12700">
            <a:solidFill>
              <a:srgbClr val="2E4A6B"/>
            </a:solidFill>
            <a:prstDash val="solid"/>
          </a:ln>
        </p:spPr>
      </p:sp>
      <p:sp>
        <p:nvSpPr>
          <p:cNvPr id="19" name="text_133"/>
          <p:cNvSpPr txBox="1"/>
          <p:nvPr/>
        </p:nvSpPr>
        <p:spPr>
          <a:xfrm>
            <a:off x="8138160" y="2057400"/>
            <a:ext cx="1143000" cy="457200"/>
          </a:xfrm>
          <a:prstGeom prst="rect">
            <a:avLst/>
          </a:prstGeom>
          <a:noFill/>
          <a:ln/>
        </p:spPr>
        <p:txBody>
          <a:bodyPr wrap="square" lIns="635" tIns="635" rIns="635" bIns="635" rtlCol="0" anchor="ctr"/>
          <a:lstStyle/>
          <a:p>
            <a:pPr algn="ctr" indent="0" marL="0">
              <a:lnSpc>
                <a:spcPct val="100000"/>
              </a:lnSpc>
              <a:buNone/>
            </a:pPr>
            <a:r>
              <a:rPr lang="en-US" sz="1200" dirty="0">
                <a:solidFill>
                  <a:srgbClr val="1B2A41"/>
                </a:solidFill>
                <a:latin typeface="Calibri" pitchFamily="34" charset="0"/>
                <a:ea typeface="Calibri" pitchFamily="34" charset="-122"/>
                <a:cs typeface="Calibri" pitchFamily="34" charset="-120"/>
              </a:rPr>
              <a:t>topic</a:t>
            </a:r>
            <a:endParaRPr lang="en-US" sz="1200" dirty="0"/>
          </a:p>
        </p:txBody>
      </p:sp>
      <p:sp>
        <p:nvSpPr>
          <p:cNvPr id="20" name="md_134"/>
          <p:cNvSpPr/>
          <p:nvPr/>
        </p:nvSpPr>
        <p:spPr>
          <a:xfrm>
            <a:off x="9281160" y="2057400"/>
            <a:ext cx="1188720" cy="457200"/>
          </a:xfrm>
          <a:prstGeom prst="rect">
            <a:avLst/>
          </a:prstGeom>
          <a:solidFill>
            <a:srgbClr val="FFFFFF"/>
          </a:solidFill>
          <a:ln w="12700">
            <a:solidFill>
              <a:srgbClr val="2E4A6B"/>
            </a:solidFill>
            <a:prstDash val="solid"/>
          </a:ln>
        </p:spPr>
      </p:sp>
      <p:sp>
        <p:nvSpPr>
          <p:cNvPr id="21" name="sp_135"/>
          <p:cNvSpPr/>
          <p:nvPr/>
        </p:nvSpPr>
        <p:spPr>
          <a:xfrm>
            <a:off x="10469880" y="2057400"/>
            <a:ext cx="1143000" cy="457200"/>
          </a:xfrm>
          <a:prstGeom prst="rect">
            <a:avLst/>
          </a:prstGeom>
          <a:solidFill>
            <a:srgbClr val="FBEBD0"/>
          </a:solidFill>
          <a:ln w="12700">
            <a:solidFill>
              <a:srgbClr val="D98E1F"/>
            </a:solidFill>
            <a:prstDash val="solid"/>
          </a:ln>
        </p:spPr>
      </p:sp>
      <p:sp>
        <p:nvSpPr>
          <p:cNvPr id="22" name="text_136"/>
          <p:cNvSpPr txBox="1"/>
          <p:nvPr/>
        </p:nvSpPr>
        <p:spPr>
          <a:xfrm>
            <a:off x="10469880" y="2057400"/>
            <a:ext cx="1143000" cy="457200"/>
          </a:xfrm>
          <a:prstGeom prst="rect">
            <a:avLst/>
          </a:prstGeom>
          <a:noFill/>
          <a:ln/>
        </p:spPr>
        <p:txBody>
          <a:bodyPr wrap="square" lIns="635" tIns="635" rIns="635" bIns="635" rtlCol="0" anchor="ctr"/>
          <a:lstStyle/>
          <a:p>
            <a:pPr algn="ctr" indent="0" marL="0">
              <a:lnSpc>
                <a:spcPct val="100000"/>
              </a:lnSpc>
              <a:buNone/>
            </a:pPr>
            <a:r>
              <a:rPr lang="en-US" sz="1200" dirty="0">
                <a:solidFill>
                  <a:srgbClr val="1B2A41"/>
                </a:solidFill>
                <a:latin typeface="Calibri" pitchFamily="34" charset="0"/>
                <a:ea typeface="Calibri" pitchFamily="34" charset="-122"/>
                <a:cs typeface="Calibri" pitchFamily="34" charset="-120"/>
              </a:rPr>
              <a:t>stress</a:t>
            </a:r>
            <a:endParaRPr lang="en-US" sz="1200" dirty="0"/>
          </a:p>
        </p:txBody>
      </p:sp>
      <p:sp>
        <p:nvSpPr>
          <p:cNvPr id="23" name="text_137"/>
          <p:cNvSpPr txBox="1"/>
          <p:nvPr/>
        </p:nvSpPr>
        <p:spPr>
          <a:xfrm>
            <a:off x="9281160" y="2057400"/>
            <a:ext cx="1188720" cy="457200"/>
          </a:xfrm>
          <a:prstGeom prst="rect">
            <a:avLst/>
          </a:prstGeom>
          <a:noFill/>
          <a:ln/>
        </p:spPr>
        <p:txBody>
          <a:bodyPr wrap="square" lIns="635" tIns="635" rIns="635" bIns="635" rtlCol="0" anchor="ctr"/>
          <a:lstStyle/>
          <a:p>
            <a:pPr algn="ctr" indent="0" marL="0">
              <a:lnSpc>
                <a:spcPct val="100000"/>
              </a:lnSpc>
              <a:buNone/>
            </a:pPr>
            <a:r>
              <a:rPr lang="en-US" sz="1100" dirty="0">
                <a:solidFill>
                  <a:srgbClr val="5B6573"/>
                </a:solidFill>
                <a:latin typeface="Calibri" pitchFamily="34" charset="0"/>
                <a:ea typeface="Calibri" pitchFamily="34" charset="-122"/>
                <a:cs typeface="Calibri" pitchFamily="34" charset="-120"/>
              </a:rPr>
              <a:t>sentence 3</a:t>
            </a:r>
            <a:endParaRPr lang="en-US" sz="1100" dirty="0"/>
          </a:p>
        </p:txBody>
      </p:sp>
      <p:sp>
        <p:nvSpPr>
          <p:cNvPr id="24" name="card_138"/>
          <p:cNvSpPr/>
          <p:nvPr/>
        </p:nvSpPr>
        <p:spPr>
          <a:xfrm>
            <a:off x="548640" y="2880360"/>
            <a:ext cx="5440680" cy="3383280"/>
          </a:xfrm>
          <a:prstGeom prst="roundRect">
            <a:avLst>
              <a:gd name="adj" fmla="val 2162"/>
            </a:avLst>
          </a:prstGeom>
          <a:solidFill>
            <a:srgbClr val="F5E0DA"/>
          </a:solidFill>
          <a:ln w="9525">
            <a:solidFill>
              <a:srgbClr val="F5E0DA"/>
            </a:solidFill>
            <a:prstDash val="solid"/>
          </a:ln>
        </p:spPr>
      </p:sp>
      <p:sp>
        <p:nvSpPr>
          <p:cNvPr id="25" name="tag_139"/>
          <p:cNvSpPr/>
          <p:nvPr/>
        </p:nvSpPr>
        <p:spPr>
          <a:xfrm>
            <a:off x="713232" y="3008376"/>
            <a:ext cx="612648" cy="256032"/>
          </a:xfrm>
          <a:prstGeom prst="roundRect">
            <a:avLst>
              <a:gd name="adj" fmla="val 21429"/>
            </a:avLst>
          </a:prstGeom>
          <a:solidFill>
            <a:srgbClr val="B04A35"/>
          </a:solidFill>
          <a:ln w="12700">
            <a:solidFill>
              <a:srgbClr val="B04A35"/>
            </a:solidFill>
            <a:prstDash val="solid"/>
          </a:ln>
        </p:spPr>
      </p:sp>
      <p:sp>
        <p:nvSpPr>
          <p:cNvPr id="26" name="text_140"/>
          <p:cNvSpPr txBox="1"/>
          <p:nvPr/>
        </p:nvSpPr>
        <p:spPr>
          <a:xfrm>
            <a:off x="713232" y="300837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CHOPPY</a:t>
            </a:r>
            <a:endParaRPr lang="en-US" sz="1050" dirty="0"/>
          </a:p>
        </p:txBody>
      </p:sp>
      <p:sp>
        <p:nvSpPr>
          <p:cNvPr id="27" name="text_141"/>
          <p:cNvSpPr txBox="1"/>
          <p:nvPr/>
        </p:nvSpPr>
        <p:spPr>
          <a:xfrm>
            <a:off x="713232" y="3355848"/>
            <a:ext cx="5111496" cy="281635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“ONI is a three-month running mean of SST anomalies in the Niño 3.4 region. Composites were constructed using a ±0.5 °C threshold. Cloud anomalies were averaged for these months.”</a:t>
            </a:r>
            <a:endParaRPr lang="en-US" sz="1500" dirty="0"/>
          </a:p>
        </p:txBody>
      </p:sp>
      <p:sp>
        <p:nvSpPr>
          <p:cNvPr id="28" name="card_142"/>
          <p:cNvSpPr/>
          <p:nvPr/>
        </p:nvSpPr>
        <p:spPr>
          <a:xfrm>
            <a:off x="6199632" y="2880360"/>
            <a:ext cx="5440680" cy="3383280"/>
          </a:xfrm>
          <a:prstGeom prst="roundRect">
            <a:avLst>
              <a:gd name="adj" fmla="val 2162"/>
            </a:avLst>
          </a:prstGeom>
          <a:solidFill>
            <a:srgbClr val="DCEFEA"/>
          </a:solidFill>
          <a:ln w="9525">
            <a:solidFill>
              <a:srgbClr val="DCEFEA"/>
            </a:solidFill>
            <a:prstDash val="solid"/>
          </a:ln>
        </p:spPr>
      </p:sp>
      <p:sp>
        <p:nvSpPr>
          <p:cNvPr id="29" name="tag_143"/>
          <p:cNvSpPr/>
          <p:nvPr/>
        </p:nvSpPr>
        <p:spPr>
          <a:xfrm>
            <a:off x="6364224" y="3008376"/>
            <a:ext cx="612648" cy="256032"/>
          </a:xfrm>
          <a:prstGeom prst="roundRect">
            <a:avLst>
              <a:gd name="adj" fmla="val 21429"/>
            </a:avLst>
          </a:prstGeom>
          <a:solidFill>
            <a:srgbClr val="1F7A6E"/>
          </a:solidFill>
          <a:ln w="12700">
            <a:solidFill>
              <a:srgbClr val="1F7A6E"/>
            </a:solidFill>
            <a:prstDash val="solid"/>
          </a:ln>
        </p:spPr>
      </p:sp>
      <p:sp>
        <p:nvSpPr>
          <p:cNvPr id="30" name="text_144"/>
          <p:cNvSpPr txBox="1"/>
          <p:nvPr/>
        </p:nvSpPr>
        <p:spPr>
          <a:xfrm>
            <a:off x="6364224" y="300837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LINKED</a:t>
            </a:r>
            <a:endParaRPr lang="en-US" sz="1050" dirty="0"/>
          </a:p>
        </p:txBody>
      </p:sp>
      <p:sp>
        <p:nvSpPr>
          <p:cNvPr id="31" name="text_145"/>
          <p:cNvSpPr txBox="1"/>
          <p:nvPr/>
        </p:nvSpPr>
        <p:spPr>
          <a:xfrm>
            <a:off x="6364224" y="3355848"/>
            <a:ext cx="5111496" cy="281635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“ENSO is represented by the Oceanic Niño Index (ONI), a three-month running mean of SST anomaly in the </a:t>
            </a:r>
            <a:r>
              <a:rPr lang="en-US" sz="1500" b="1" i="1" dirty="0">
                <a:solidFill>
                  <a:srgbClr val="222B36"/>
                </a:solidFill>
                <a:latin typeface="Georgia" pitchFamily="34" charset="0"/>
                <a:ea typeface="Georgia" pitchFamily="34" charset="-122"/>
                <a:cs typeface="Georgia" pitchFamily="34" charset="-120"/>
              </a:rPr>
              <a:t>Niño 3.4 region</a:t>
            </a:r>
            <a:r>
              <a:rPr lang="en-US" sz="1500" i="1" dirty="0">
                <a:solidFill>
                  <a:srgbClr val="222B36"/>
                </a:solidFill>
                <a:latin typeface="Georgia" pitchFamily="34" charset="0"/>
                <a:ea typeface="Georgia" pitchFamily="34" charset="-122"/>
                <a:cs typeface="Georgia" pitchFamily="34" charset="-120"/>
              </a:rPr>
              <a:t>. </a:t>
            </a:r>
            <a:r>
              <a:rPr lang="en-US" sz="1500" b="1" i="1" dirty="0">
                <a:solidFill>
                  <a:srgbClr val="222B36"/>
                </a:solidFill>
                <a:latin typeface="Georgia" pitchFamily="34" charset="0"/>
                <a:ea typeface="Georgia" pitchFamily="34" charset="-122"/>
                <a:cs typeface="Georgia" pitchFamily="34" charset="-120"/>
              </a:rPr>
              <a:t>Months</a:t>
            </a:r>
            <a:r>
              <a:rPr lang="en-US" sz="1500" i="1" dirty="0">
                <a:solidFill>
                  <a:srgbClr val="222B36"/>
                </a:solidFill>
                <a:latin typeface="Georgia" pitchFamily="34" charset="0"/>
                <a:ea typeface="Georgia" pitchFamily="34" charset="-122"/>
                <a:cs typeface="Georgia" pitchFamily="34" charset="-120"/>
              </a:rPr>
              <a:t> with ONI above +0.5 °C are classed as El Niño, and months below −0.5 °C as </a:t>
            </a:r>
            <a:r>
              <a:rPr lang="en-US" sz="1500" b="1" i="1" dirty="0">
                <a:solidFill>
                  <a:srgbClr val="222B36"/>
                </a:solidFill>
                <a:latin typeface="Georgia" pitchFamily="34" charset="0"/>
                <a:ea typeface="Georgia" pitchFamily="34" charset="-122"/>
                <a:cs typeface="Georgia" pitchFamily="34" charset="-120"/>
              </a:rPr>
              <a:t>La Niña</a:t>
            </a:r>
            <a:r>
              <a:rPr lang="en-US" sz="1500" i="1" dirty="0">
                <a:solidFill>
                  <a:srgbClr val="222B36"/>
                </a:solidFill>
                <a:latin typeface="Georgia" pitchFamily="34" charset="0"/>
                <a:ea typeface="Georgia" pitchFamily="34" charset="-122"/>
                <a:cs typeface="Georgia" pitchFamily="34" charset="-120"/>
              </a:rPr>
              <a:t>. </a:t>
            </a:r>
            <a:r>
              <a:rPr lang="en-US" sz="1500" b="1" i="1" dirty="0">
                <a:solidFill>
                  <a:srgbClr val="222B36"/>
                </a:solidFill>
                <a:latin typeface="Georgia" pitchFamily="34" charset="0"/>
                <a:ea typeface="Georgia" pitchFamily="34" charset="-122"/>
                <a:cs typeface="Georgia" pitchFamily="34" charset="-120"/>
              </a:rPr>
              <a:t>Cloud anomalies</a:t>
            </a:r>
            <a:r>
              <a:rPr lang="en-US" sz="1500" i="1" dirty="0">
                <a:solidFill>
                  <a:srgbClr val="222B36"/>
                </a:solidFill>
                <a:latin typeface="Georgia" pitchFamily="34" charset="0"/>
                <a:ea typeface="Georgia" pitchFamily="34" charset="-122"/>
                <a:cs typeface="Georgia" pitchFamily="34" charset="-120"/>
              </a:rPr>
              <a:t> are then averaged over each set of months to form the El Niño and La Niña composites.”</a:t>
            </a:r>
            <a:endParaRPr lang="en-US" sz="1500" dirty="0"/>
          </a:p>
        </p:txBody>
      </p:sp>
      <p:sp>
        <p:nvSpPr>
          <p:cNvPr id="32" name="text_146"/>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§8.1 ‘Coherence within paragraphs’ (after Gopen &amp; Swan 1990).</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147"/>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Numbers a sceptic would accept: spot the problem</a:t>
            </a:r>
            <a:endParaRPr lang="en-US" sz="2800" dirty="0"/>
          </a:p>
        </p:txBody>
      </p:sp>
      <p:sp>
        <p:nvSpPr>
          <p:cNvPr id="3" name="card_148"/>
          <p:cNvSpPr/>
          <p:nvPr/>
        </p:nvSpPr>
        <p:spPr>
          <a:xfrm>
            <a:off x="548640" y="1325880"/>
            <a:ext cx="5440680" cy="2286000"/>
          </a:xfrm>
          <a:prstGeom prst="roundRect">
            <a:avLst>
              <a:gd name="adj" fmla="val 3200"/>
            </a:avLst>
          </a:prstGeom>
          <a:solidFill>
            <a:srgbClr val="F7F4EE"/>
          </a:solidFill>
          <a:ln w="9525">
            <a:solidFill>
              <a:srgbClr val="D5DAE1"/>
            </a:solidFill>
            <a:prstDash val="solid"/>
          </a:ln>
        </p:spPr>
      </p:sp>
      <p:sp>
        <p:nvSpPr>
          <p:cNvPr id="4" name="tag_149"/>
          <p:cNvSpPr/>
          <p:nvPr/>
        </p:nvSpPr>
        <p:spPr>
          <a:xfrm>
            <a:off x="713232" y="1453896"/>
            <a:ext cx="923544" cy="256032"/>
          </a:xfrm>
          <a:prstGeom prst="roundRect">
            <a:avLst>
              <a:gd name="adj" fmla="val 21429"/>
            </a:avLst>
          </a:prstGeom>
          <a:solidFill>
            <a:srgbClr val="1B2A41"/>
          </a:solidFill>
          <a:ln w="12700">
            <a:solidFill>
              <a:srgbClr val="1B2A41"/>
            </a:solidFill>
            <a:prstDash val="solid"/>
          </a:ln>
        </p:spPr>
      </p:sp>
      <p:sp>
        <p:nvSpPr>
          <p:cNvPr id="5" name="text_150"/>
          <p:cNvSpPr txBox="1"/>
          <p:nvPr/>
        </p:nvSpPr>
        <p:spPr>
          <a:xfrm>
            <a:off x="713232" y="145389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SENTENCE A</a:t>
            </a:r>
            <a:endParaRPr lang="en-US" sz="1050" dirty="0"/>
          </a:p>
        </p:txBody>
      </p:sp>
      <p:sp>
        <p:nvSpPr>
          <p:cNvPr id="6" name="text_151"/>
          <p:cNvSpPr txBox="1"/>
          <p:nvPr/>
        </p:nvSpPr>
        <p:spPr>
          <a:xfrm>
            <a:off x="713232" y="1801368"/>
            <a:ext cx="5111496" cy="685800"/>
          </a:xfrm>
          <a:prstGeom prst="rect">
            <a:avLst/>
          </a:prstGeom>
          <a:noFill/>
          <a:ln/>
        </p:spPr>
        <p:txBody>
          <a:bodyPr wrap="square" lIns="635" tIns="635" rIns="635" bIns="635" rtlCol="0" anchor="t"/>
          <a:lstStyle/>
          <a:p>
            <a:pPr algn="l" indent="0" marL="0">
              <a:lnSpc>
                <a:spcPct val="100000"/>
              </a:lnSpc>
              <a:buNone/>
            </a:pPr>
            <a:r>
              <a:rPr lang="en-US" sz="1550" b="1" dirty="0">
                <a:solidFill>
                  <a:srgbClr val="1B2A41"/>
                </a:solidFill>
                <a:latin typeface="Georgia" pitchFamily="34" charset="0"/>
                <a:ea typeface="Georgia" pitchFamily="34" charset="-122"/>
                <a:cs typeface="Georgia" pitchFamily="34" charset="-120"/>
              </a:rPr>
              <a:t>“Cloud cover increased by 10% during El Niño.”</a:t>
            </a:r>
            <a:endParaRPr lang="en-US" sz="1550" dirty="0"/>
          </a:p>
        </p:txBody>
      </p:sp>
      <p:sp>
        <p:nvSpPr>
          <p:cNvPr id="7" name="text_152"/>
          <p:cNvSpPr txBox="1"/>
          <p:nvPr/>
        </p:nvSpPr>
        <p:spPr>
          <a:xfrm>
            <a:off x="713232" y="2487168"/>
            <a:ext cx="5111496" cy="1033272"/>
          </a:xfrm>
          <a:prstGeom prst="rect">
            <a:avLst/>
          </a:prstGeom>
          <a:noFill/>
          <a:ln/>
        </p:spPr>
        <p:txBody>
          <a:bodyPr wrap="square" lIns="635" tIns="635" rIns="635" bIns="635" rtlCol="0" anchor="t"/>
          <a:lstStyle/>
          <a:p>
            <a:pPr algn="l" indent="0" marL="0">
              <a:lnSpc>
                <a:spcPct val="100000"/>
              </a:lnSpc>
              <a:buNone/>
            </a:pPr>
            <a:r>
              <a:rPr lang="en-US" sz="1350" dirty="0">
                <a:solidFill>
                  <a:srgbClr val="5B6573"/>
                </a:solidFill>
                <a:latin typeface="Calibri" pitchFamily="34" charset="0"/>
                <a:ea typeface="Calibri" pitchFamily="34" charset="-122"/>
                <a:cs typeface="Calibri" pitchFamily="34" charset="-120"/>
              </a:rPr>
              <a:t>Percent or </a:t>
            </a:r>
            <a:r>
              <a:rPr lang="en-US" sz="1350" b="1" dirty="0">
                <a:solidFill>
                  <a:srgbClr val="5B6573"/>
                </a:solidFill>
                <a:latin typeface="Calibri" pitchFamily="34" charset="0"/>
                <a:ea typeface="Calibri" pitchFamily="34" charset="-122"/>
                <a:cs typeface="Calibri" pitchFamily="34" charset="-120"/>
              </a:rPr>
              <a:t>percentage points</a:t>
            </a:r>
            <a:r>
              <a:rPr lang="en-US" sz="1350" dirty="0">
                <a:solidFill>
                  <a:srgbClr val="5B6573"/>
                </a:solidFill>
                <a:latin typeface="Calibri" pitchFamily="34" charset="0"/>
                <a:ea typeface="Calibri" pitchFamily="34" charset="-122"/>
                <a:cs typeface="Calibri" pitchFamily="34" charset="-120"/>
              </a:rPr>
              <a:t>? Relative to what? Where, and in which months?</a:t>
            </a:r>
            <a:endParaRPr lang="en-US" sz="1350" dirty="0"/>
          </a:p>
        </p:txBody>
      </p:sp>
      <p:sp>
        <p:nvSpPr>
          <p:cNvPr id="8" name="card_153"/>
          <p:cNvSpPr/>
          <p:nvPr/>
        </p:nvSpPr>
        <p:spPr>
          <a:xfrm>
            <a:off x="6199632" y="1325880"/>
            <a:ext cx="5440680" cy="2286000"/>
          </a:xfrm>
          <a:prstGeom prst="roundRect">
            <a:avLst>
              <a:gd name="adj" fmla="val 3200"/>
            </a:avLst>
          </a:prstGeom>
          <a:solidFill>
            <a:srgbClr val="F7F4EE"/>
          </a:solidFill>
          <a:ln w="9525">
            <a:solidFill>
              <a:srgbClr val="D5DAE1"/>
            </a:solidFill>
            <a:prstDash val="solid"/>
          </a:ln>
        </p:spPr>
      </p:sp>
      <p:sp>
        <p:nvSpPr>
          <p:cNvPr id="9" name="tag_154"/>
          <p:cNvSpPr/>
          <p:nvPr/>
        </p:nvSpPr>
        <p:spPr>
          <a:xfrm>
            <a:off x="6364224" y="1453896"/>
            <a:ext cx="923544" cy="256032"/>
          </a:xfrm>
          <a:prstGeom prst="roundRect">
            <a:avLst>
              <a:gd name="adj" fmla="val 21429"/>
            </a:avLst>
          </a:prstGeom>
          <a:solidFill>
            <a:srgbClr val="1B2A41"/>
          </a:solidFill>
          <a:ln w="12700">
            <a:solidFill>
              <a:srgbClr val="1B2A41"/>
            </a:solidFill>
            <a:prstDash val="solid"/>
          </a:ln>
        </p:spPr>
      </p:sp>
      <p:sp>
        <p:nvSpPr>
          <p:cNvPr id="10" name="text_155"/>
          <p:cNvSpPr txBox="1"/>
          <p:nvPr/>
        </p:nvSpPr>
        <p:spPr>
          <a:xfrm>
            <a:off x="6364224" y="145389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SENTENCE B</a:t>
            </a:r>
            <a:endParaRPr lang="en-US" sz="1050" dirty="0"/>
          </a:p>
        </p:txBody>
      </p:sp>
      <p:sp>
        <p:nvSpPr>
          <p:cNvPr id="11" name="text_156"/>
          <p:cNvSpPr txBox="1"/>
          <p:nvPr/>
        </p:nvSpPr>
        <p:spPr>
          <a:xfrm>
            <a:off x="6364224" y="1801368"/>
            <a:ext cx="5111496" cy="685800"/>
          </a:xfrm>
          <a:prstGeom prst="rect">
            <a:avLst/>
          </a:prstGeom>
          <a:noFill/>
          <a:ln/>
        </p:spPr>
        <p:txBody>
          <a:bodyPr wrap="square" lIns="635" tIns="635" rIns="635" bIns="635" rtlCol="0" anchor="t"/>
          <a:lstStyle/>
          <a:p>
            <a:pPr algn="l" indent="0" marL="0">
              <a:lnSpc>
                <a:spcPct val="100000"/>
              </a:lnSpc>
              <a:buNone/>
            </a:pPr>
            <a:r>
              <a:rPr lang="en-US" sz="1550" b="1" dirty="0">
                <a:solidFill>
                  <a:srgbClr val="1B2A41"/>
                </a:solidFill>
                <a:latin typeface="Georgia" pitchFamily="34" charset="0"/>
                <a:ea typeface="Georgia" pitchFamily="34" charset="-122"/>
                <a:cs typeface="Georgia" pitchFamily="34" charset="-120"/>
              </a:rPr>
              <a:t>“The correlation was r = 0.4837261.”</a:t>
            </a:r>
            <a:endParaRPr lang="en-US" sz="1550" dirty="0"/>
          </a:p>
        </p:txBody>
      </p:sp>
      <p:sp>
        <p:nvSpPr>
          <p:cNvPr id="12" name="text_157"/>
          <p:cNvSpPr txBox="1"/>
          <p:nvPr/>
        </p:nvSpPr>
        <p:spPr>
          <a:xfrm>
            <a:off x="6364224" y="2487168"/>
            <a:ext cx="5111496" cy="1033272"/>
          </a:xfrm>
          <a:prstGeom prst="rect">
            <a:avLst/>
          </a:prstGeom>
          <a:noFill/>
          <a:ln/>
        </p:spPr>
        <p:txBody>
          <a:bodyPr wrap="square" lIns="635" tIns="635" rIns="635" bIns="635" rtlCol="0" anchor="t"/>
          <a:lstStyle/>
          <a:p>
            <a:pPr algn="l" indent="0" marL="0">
              <a:lnSpc>
                <a:spcPct val="100000"/>
              </a:lnSpc>
              <a:buNone/>
            </a:pPr>
            <a:r>
              <a:rPr lang="en-US" sz="1350" dirty="0">
                <a:solidFill>
                  <a:srgbClr val="5B6573"/>
                </a:solidFill>
                <a:latin typeface="Calibri" pitchFamily="34" charset="0"/>
                <a:ea typeface="Calibri" pitchFamily="34" charset="-122"/>
                <a:cs typeface="Calibri" pitchFamily="34" charset="-120"/>
              </a:rPr>
              <a:t>False precision. Give 2 d.p. Add the </a:t>
            </a:r>
            <a:r>
              <a:rPr lang="en-US" sz="1350" b="1" dirty="0">
                <a:solidFill>
                  <a:srgbClr val="5B6573"/>
                </a:solidFill>
                <a:latin typeface="Calibri" pitchFamily="34" charset="0"/>
                <a:ea typeface="Calibri" pitchFamily="34" charset="-122"/>
                <a:cs typeface="Calibri" pitchFamily="34" charset="-120"/>
              </a:rPr>
              <a:t>period, n</a:t>
            </a:r>
            <a:r>
              <a:rPr lang="en-US" sz="1350" dirty="0">
                <a:solidFill>
                  <a:srgbClr val="5B6573"/>
                </a:solidFill>
                <a:latin typeface="Calibri" pitchFamily="34" charset="0"/>
                <a:ea typeface="Calibri" pitchFamily="34" charset="-122"/>
                <a:cs typeface="Calibri" pitchFamily="34" charset="-120"/>
              </a:rPr>
              <a:t> and what was correlated with what.</a:t>
            </a:r>
            <a:endParaRPr lang="en-US" sz="1350" dirty="0"/>
          </a:p>
        </p:txBody>
      </p:sp>
      <p:sp>
        <p:nvSpPr>
          <p:cNvPr id="13" name="card_158"/>
          <p:cNvSpPr/>
          <p:nvPr/>
        </p:nvSpPr>
        <p:spPr>
          <a:xfrm>
            <a:off x="548640" y="3794760"/>
            <a:ext cx="5440680" cy="2286000"/>
          </a:xfrm>
          <a:prstGeom prst="roundRect">
            <a:avLst>
              <a:gd name="adj" fmla="val 3200"/>
            </a:avLst>
          </a:prstGeom>
          <a:solidFill>
            <a:srgbClr val="F7F4EE"/>
          </a:solidFill>
          <a:ln w="9525">
            <a:solidFill>
              <a:srgbClr val="D5DAE1"/>
            </a:solidFill>
            <a:prstDash val="solid"/>
          </a:ln>
        </p:spPr>
      </p:sp>
      <p:sp>
        <p:nvSpPr>
          <p:cNvPr id="14" name="tag_159"/>
          <p:cNvSpPr/>
          <p:nvPr/>
        </p:nvSpPr>
        <p:spPr>
          <a:xfrm>
            <a:off x="713232" y="3922776"/>
            <a:ext cx="923544" cy="256032"/>
          </a:xfrm>
          <a:prstGeom prst="roundRect">
            <a:avLst>
              <a:gd name="adj" fmla="val 21429"/>
            </a:avLst>
          </a:prstGeom>
          <a:solidFill>
            <a:srgbClr val="1B2A41"/>
          </a:solidFill>
          <a:ln w="12700">
            <a:solidFill>
              <a:srgbClr val="1B2A41"/>
            </a:solidFill>
            <a:prstDash val="solid"/>
          </a:ln>
        </p:spPr>
      </p:sp>
      <p:sp>
        <p:nvSpPr>
          <p:cNvPr id="15" name="text_160"/>
          <p:cNvSpPr txBox="1"/>
          <p:nvPr/>
        </p:nvSpPr>
        <p:spPr>
          <a:xfrm>
            <a:off x="713232" y="392277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SENTENCE C</a:t>
            </a:r>
            <a:endParaRPr lang="en-US" sz="1050" dirty="0"/>
          </a:p>
        </p:txBody>
      </p:sp>
      <p:sp>
        <p:nvSpPr>
          <p:cNvPr id="16" name="text_161"/>
          <p:cNvSpPr txBox="1"/>
          <p:nvPr/>
        </p:nvSpPr>
        <p:spPr>
          <a:xfrm>
            <a:off x="713232" y="4270248"/>
            <a:ext cx="5111496" cy="685800"/>
          </a:xfrm>
          <a:prstGeom prst="rect">
            <a:avLst/>
          </a:prstGeom>
          <a:noFill/>
          <a:ln/>
        </p:spPr>
        <p:txBody>
          <a:bodyPr wrap="square" lIns="635" tIns="635" rIns="635" bIns="635" rtlCol="0" anchor="t"/>
          <a:lstStyle/>
          <a:p>
            <a:pPr algn="l" indent="0" marL="0">
              <a:lnSpc>
                <a:spcPct val="100000"/>
              </a:lnSpc>
              <a:buNone/>
            </a:pPr>
            <a:r>
              <a:rPr lang="en-US" sz="1550" b="1" dirty="0">
                <a:solidFill>
                  <a:srgbClr val="1B2A41"/>
                </a:solidFill>
                <a:latin typeface="Georgia" pitchFamily="34" charset="0"/>
                <a:ea typeface="Georgia" pitchFamily="34" charset="-122"/>
                <a:cs typeface="Georgia" pitchFamily="34" charset="-120"/>
              </a:rPr>
              <a:t>“El Niño significantly reduces cloud over the Maritime Continent.”</a:t>
            </a:r>
            <a:endParaRPr lang="en-US" sz="1550" dirty="0"/>
          </a:p>
        </p:txBody>
      </p:sp>
      <p:sp>
        <p:nvSpPr>
          <p:cNvPr id="17" name="text_162"/>
          <p:cNvSpPr txBox="1"/>
          <p:nvPr/>
        </p:nvSpPr>
        <p:spPr>
          <a:xfrm>
            <a:off x="713232" y="4956048"/>
            <a:ext cx="5111496" cy="1033272"/>
          </a:xfrm>
          <a:prstGeom prst="rect">
            <a:avLst/>
          </a:prstGeom>
          <a:noFill/>
          <a:ln/>
        </p:spPr>
        <p:txBody>
          <a:bodyPr wrap="square" lIns="635" tIns="635" rIns="635" bIns="635" rtlCol="0" anchor="t"/>
          <a:lstStyle/>
          <a:p>
            <a:pPr algn="l" indent="0" marL="0">
              <a:lnSpc>
                <a:spcPct val="100000"/>
              </a:lnSpc>
              <a:buNone/>
            </a:pPr>
            <a:r>
              <a:rPr lang="en-US" sz="1350" dirty="0">
                <a:solidFill>
                  <a:srgbClr val="5B6573"/>
                </a:solidFill>
                <a:latin typeface="Calibri" pitchFamily="34" charset="0"/>
                <a:ea typeface="Calibri" pitchFamily="34" charset="-122"/>
                <a:cs typeface="Calibri" pitchFamily="34" charset="-120"/>
              </a:rPr>
              <a:t>Was a test done? If not, drop ‘significantly’. ‘Reduces’ is causal: say ‘is associated with lower…’ unless you argue the mechanism.</a:t>
            </a:r>
            <a:endParaRPr lang="en-US" sz="1350" dirty="0"/>
          </a:p>
        </p:txBody>
      </p:sp>
      <p:sp>
        <p:nvSpPr>
          <p:cNvPr id="18" name="card_163"/>
          <p:cNvSpPr/>
          <p:nvPr/>
        </p:nvSpPr>
        <p:spPr>
          <a:xfrm>
            <a:off x="6199632" y="3794760"/>
            <a:ext cx="5440680" cy="2286000"/>
          </a:xfrm>
          <a:prstGeom prst="roundRect">
            <a:avLst>
              <a:gd name="adj" fmla="val 3200"/>
            </a:avLst>
          </a:prstGeom>
          <a:solidFill>
            <a:srgbClr val="F7F4EE"/>
          </a:solidFill>
          <a:ln w="9525">
            <a:solidFill>
              <a:srgbClr val="D5DAE1"/>
            </a:solidFill>
            <a:prstDash val="solid"/>
          </a:ln>
        </p:spPr>
      </p:sp>
      <p:sp>
        <p:nvSpPr>
          <p:cNvPr id="19" name="tag_164"/>
          <p:cNvSpPr/>
          <p:nvPr/>
        </p:nvSpPr>
        <p:spPr>
          <a:xfrm>
            <a:off x="6364224" y="3922776"/>
            <a:ext cx="923544" cy="256032"/>
          </a:xfrm>
          <a:prstGeom prst="roundRect">
            <a:avLst>
              <a:gd name="adj" fmla="val 21429"/>
            </a:avLst>
          </a:prstGeom>
          <a:solidFill>
            <a:srgbClr val="1B2A41"/>
          </a:solidFill>
          <a:ln w="12700">
            <a:solidFill>
              <a:srgbClr val="1B2A41"/>
            </a:solidFill>
            <a:prstDash val="solid"/>
          </a:ln>
        </p:spPr>
      </p:sp>
      <p:sp>
        <p:nvSpPr>
          <p:cNvPr id="20" name="text_165"/>
          <p:cNvSpPr txBox="1"/>
          <p:nvPr/>
        </p:nvSpPr>
        <p:spPr>
          <a:xfrm>
            <a:off x="6364224" y="392277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SENTENCE D</a:t>
            </a:r>
            <a:endParaRPr lang="en-US" sz="1050" dirty="0"/>
          </a:p>
        </p:txBody>
      </p:sp>
      <p:sp>
        <p:nvSpPr>
          <p:cNvPr id="21" name="text_166"/>
          <p:cNvSpPr txBox="1"/>
          <p:nvPr/>
        </p:nvSpPr>
        <p:spPr>
          <a:xfrm>
            <a:off x="6364224" y="4270248"/>
            <a:ext cx="5111496" cy="685800"/>
          </a:xfrm>
          <a:prstGeom prst="rect">
            <a:avLst/>
          </a:prstGeom>
          <a:noFill/>
          <a:ln/>
        </p:spPr>
        <p:txBody>
          <a:bodyPr wrap="square" lIns="635" tIns="635" rIns="635" bIns="635" rtlCol="0" anchor="t"/>
          <a:lstStyle/>
          <a:p>
            <a:pPr algn="l" indent="0" marL="0">
              <a:lnSpc>
                <a:spcPct val="100000"/>
              </a:lnSpc>
              <a:buNone/>
            </a:pPr>
            <a:r>
              <a:rPr lang="en-US" sz="1550" b="1" dirty="0">
                <a:solidFill>
                  <a:srgbClr val="1B2A41"/>
                </a:solidFill>
                <a:latin typeface="Georgia" pitchFamily="34" charset="0"/>
                <a:ea typeface="Georgia" pitchFamily="34" charset="-122"/>
                <a:cs typeface="Georgia" pitchFamily="34" charset="-120"/>
              </a:rPr>
              <a:t>“Figure 4 clearly shows a strong relationship.”</a:t>
            </a:r>
            <a:endParaRPr lang="en-US" sz="1550" dirty="0"/>
          </a:p>
        </p:txBody>
      </p:sp>
      <p:sp>
        <p:nvSpPr>
          <p:cNvPr id="22" name="text_167"/>
          <p:cNvSpPr txBox="1"/>
          <p:nvPr/>
        </p:nvSpPr>
        <p:spPr>
          <a:xfrm>
            <a:off x="6364224" y="4956048"/>
            <a:ext cx="5111496" cy="1033272"/>
          </a:xfrm>
          <a:prstGeom prst="rect">
            <a:avLst/>
          </a:prstGeom>
          <a:noFill/>
          <a:ln/>
        </p:spPr>
        <p:txBody>
          <a:bodyPr wrap="square" lIns="635" tIns="635" rIns="635" bIns="635" rtlCol="0" anchor="t"/>
          <a:lstStyle/>
          <a:p>
            <a:pPr algn="l" indent="0" marL="0">
              <a:lnSpc>
                <a:spcPct val="100000"/>
              </a:lnSpc>
              <a:buNone/>
            </a:pPr>
            <a:r>
              <a:rPr lang="en-US" sz="1350" dirty="0">
                <a:solidFill>
                  <a:srgbClr val="5B6573"/>
                </a:solidFill>
                <a:latin typeface="Calibri" pitchFamily="34" charset="0"/>
                <a:ea typeface="Calibri" pitchFamily="34" charset="-122"/>
                <a:cs typeface="Calibri" pitchFamily="34" charset="-120"/>
              </a:rPr>
              <a:t>Describe the science, not the figure. ‘Clearly’ and ‘strong’ are unquantified: give r, the slope, or the size of the difference.</a:t>
            </a:r>
            <a:endParaRPr lang="en-US" sz="1350" dirty="0"/>
          </a:p>
        </p:txBody>
      </p:sp>
      <p:sp>
        <p:nvSpPr>
          <p:cNvPr id="23" name="text_168"/>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Builds on handbook §8 ‘Reporting numbers well’; Schultz (2009) §10.3.2 Numbers and units.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actband_169"/>
          <p:cNvSpPr/>
          <p:nvPr/>
        </p:nvSpPr>
        <p:spPr>
          <a:xfrm>
            <a:off x="0" y="237744"/>
            <a:ext cx="12191695" cy="914400"/>
          </a:xfrm>
          <a:prstGeom prst="rect">
            <a:avLst/>
          </a:prstGeom>
          <a:solidFill>
            <a:srgbClr val="FBEBD0"/>
          </a:solidFill>
          <a:ln w="12700">
            <a:solidFill>
              <a:srgbClr val="FBEBD0"/>
            </a:solidFill>
            <a:prstDash val="solid"/>
          </a:ln>
        </p:spPr>
      </p:sp>
      <p:sp>
        <p:nvSpPr>
          <p:cNvPr id="3" name="text_170"/>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16 MIN</a:t>
            </a:r>
            <a:endParaRPr lang="en-US" sz="1100" dirty="0"/>
          </a:p>
        </p:txBody>
      </p:sp>
      <p:sp>
        <p:nvSpPr>
          <p:cNvPr id="4" name="text_171"/>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Paragraph surgery on your own Results</a:t>
            </a:r>
            <a:endParaRPr lang="en-US" sz="2600" dirty="0"/>
          </a:p>
        </p:txBody>
      </p:sp>
      <p:sp>
        <p:nvSpPr>
          <p:cNvPr id="5" name="num_172"/>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173"/>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174"/>
          <p:cNvSpPr txBox="1"/>
          <p:nvPr/>
        </p:nvSpPr>
        <p:spPr>
          <a:xfrm>
            <a:off x="1097280" y="1417320"/>
            <a:ext cx="6126480" cy="658368"/>
          </a:xfrm>
          <a:prstGeom prst="rect">
            <a:avLst/>
          </a:prstGeom>
          <a:noFill/>
          <a:ln/>
        </p:spPr>
        <p:txBody>
          <a:bodyPr wrap="square" lIns="635" tIns="635" rIns="635" bIns="635" rtlCol="0" anchor="t"/>
          <a:lstStyle/>
          <a:p>
            <a:pPr algn="l" indent="0" marL="0">
              <a:lnSpc>
                <a:spcPct val="100000"/>
              </a:lnSpc>
              <a:buNone/>
            </a:pPr>
            <a:r>
              <a:rPr lang="en-US" sz="1500" b="1" dirty="0">
                <a:solidFill>
                  <a:srgbClr val="222B36"/>
                </a:solidFill>
                <a:latin typeface="Calibri" pitchFamily="34" charset="0"/>
                <a:ea typeface="Calibri" pitchFamily="34" charset="-122"/>
                <a:cs typeface="Calibri" pitchFamily="34" charset="-120"/>
              </a:rPr>
              <a:t>Highlight the first sentence</a:t>
            </a:r>
            <a:r>
              <a:rPr lang="en-US" sz="1500" dirty="0">
                <a:solidFill>
                  <a:srgbClr val="222B36"/>
                </a:solidFill>
                <a:latin typeface="Calibri" pitchFamily="34" charset="0"/>
                <a:ea typeface="Calibri" pitchFamily="34" charset="-122"/>
                <a:cs typeface="Calibri" pitchFamily="34" charset="-120"/>
              </a:rPr>
              <a:t> of each Results paragraph. Read only those, in order. Do they answer your question?</a:t>
            </a:r>
            <a:endParaRPr lang="en-US" sz="1500" dirty="0"/>
          </a:p>
        </p:txBody>
      </p:sp>
      <p:sp>
        <p:nvSpPr>
          <p:cNvPr id="8" name="num_175"/>
          <p:cNvSpPr/>
          <p:nvPr/>
        </p:nvSpPr>
        <p:spPr>
          <a:xfrm>
            <a:off x="594360" y="2221992"/>
            <a:ext cx="365760" cy="365760"/>
          </a:xfrm>
          <a:prstGeom prst="ellipse">
            <a:avLst/>
          </a:prstGeom>
          <a:solidFill>
            <a:srgbClr val="D98E1F"/>
          </a:solidFill>
          <a:ln w="12700">
            <a:solidFill>
              <a:srgbClr val="D98E1F"/>
            </a:solidFill>
            <a:prstDash val="solid"/>
          </a:ln>
        </p:spPr>
      </p:sp>
      <p:sp>
        <p:nvSpPr>
          <p:cNvPr id="9" name="text_176"/>
          <p:cNvSpPr txBox="1"/>
          <p:nvPr/>
        </p:nvSpPr>
        <p:spPr>
          <a:xfrm>
            <a:off x="594360" y="22219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177"/>
          <p:cNvSpPr txBox="1"/>
          <p:nvPr/>
        </p:nvSpPr>
        <p:spPr>
          <a:xfrm>
            <a:off x="1097280" y="22037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Label every sentence </a:t>
            </a:r>
            <a:r>
              <a:rPr lang="en-US" sz="1500" b="1" dirty="0">
                <a:solidFill>
                  <a:srgbClr val="222B36"/>
                </a:solidFill>
                <a:latin typeface="Calibri" pitchFamily="34" charset="0"/>
                <a:ea typeface="Calibri" pitchFamily="34" charset="-122"/>
                <a:cs typeface="Calibri" pitchFamily="34" charset="-120"/>
              </a:rPr>
              <a:t>C / E / I / Q</a:t>
            </a:r>
            <a:r>
              <a:rPr lang="en-US" sz="1500" dirty="0">
                <a:solidFill>
                  <a:srgbClr val="222B36"/>
                </a:solidFill>
                <a:latin typeface="Calibri" pitchFamily="34" charset="0"/>
                <a:ea typeface="Calibri" pitchFamily="34" charset="-122"/>
                <a:cs typeface="Calibri" pitchFamily="34" charset="-120"/>
              </a:rPr>
              <a:t> (claim, evidence, interpretation, qualification). Move deep interpretation to a ‘Discussion parking lot’.</a:t>
            </a:r>
            <a:endParaRPr lang="en-US" sz="1500" dirty="0"/>
          </a:p>
        </p:txBody>
      </p:sp>
      <p:sp>
        <p:nvSpPr>
          <p:cNvPr id="11" name="num_178"/>
          <p:cNvSpPr/>
          <p:nvPr/>
        </p:nvSpPr>
        <p:spPr>
          <a:xfrm>
            <a:off x="594360" y="3008376"/>
            <a:ext cx="365760" cy="365760"/>
          </a:xfrm>
          <a:prstGeom prst="ellipse">
            <a:avLst/>
          </a:prstGeom>
          <a:solidFill>
            <a:srgbClr val="D98E1F"/>
          </a:solidFill>
          <a:ln w="12700">
            <a:solidFill>
              <a:srgbClr val="D98E1F"/>
            </a:solidFill>
            <a:prstDash val="solid"/>
          </a:ln>
        </p:spPr>
      </p:sp>
      <p:sp>
        <p:nvSpPr>
          <p:cNvPr id="12" name="text_179"/>
          <p:cNvSpPr txBox="1"/>
          <p:nvPr/>
        </p:nvSpPr>
        <p:spPr>
          <a:xfrm>
            <a:off x="594360" y="30083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180"/>
          <p:cNvSpPr txBox="1"/>
          <p:nvPr/>
        </p:nvSpPr>
        <p:spPr>
          <a:xfrm>
            <a:off x="1097280" y="2990088"/>
            <a:ext cx="6126480" cy="658368"/>
          </a:xfrm>
          <a:prstGeom prst="rect">
            <a:avLst/>
          </a:prstGeom>
          <a:noFill/>
          <a:ln/>
        </p:spPr>
        <p:txBody>
          <a:bodyPr wrap="square" lIns="635" tIns="635" rIns="635" bIns="635" rtlCol="0" anchor="t"/>
          <a:lstStyle/>
          <a:p>
            <a:pPr algn="l" indent="0" marL="0">
              <a:lnSpc>
                <a:spcPct val="100000"/>
              </a:lnSpc>
              <a:buNone/>
            </a:pPr>
            <a:r>
              <a:rPr lang="en-US" sz="1500" b="1" dirty="0">
                <a:solidFill>
                  <a:srgbClr val="222B36"/>
                </a:solidFill>
                <a:latin typeface="Calibri" pitchFamily="34" charset="0"/>
                <a:ea typeface="Calibri" pitchFamily="34" charset="-122"/>
                <a:cs typeface="Calibri" pitchFamily="34" charset="-120"/>
              </a:rPr>
              <a:t>Circle every number.</a:t>
            </a:r>
            <a:r>
              <a:rPr lang="en-US" sz="1500" dirty="0">
                <a:solidFill>
                  <a:srgbClr val="222B36"/>
                </a:solidFill>
                <a:latin typeface="Calibri" pitchFamily="34" charset="0"/>
                <a:ea typeface="Calibri" pitchFamily="34" charset="-122"/>
                <a:cs typeface="Calibri" pitchFamily="34" charset="-120"/>
              </a:rPr>
              <a:t> Does each have units, a baseline, a period or n? Fix percent vs percentage points.</a:t>
            </a:r>
            <a:endParaRPr lang="en-US" sz="1500" dirty="0"/>
          </a:p>
        </p:txBody>
      </p:sp>
      <p:sp>
        <p:nvSpPr>
          <p:cNvPr id="14" name="num_181"/>
          <p:cNvSpPr/>
          <p:nvPr/>
        </p:nvSpPr>
        <p:spPr>
          <a:xfrm>
            <a:off x="594360" y="3794760"/>
            <a:ext cx="365760" cy="365760"/>
          </a:xfrm>
          <a:prstGeom prst="ellipse">
            <a:avLst/>
          </a:prstGeom>
          <a:solidFill>
            <a:srgbClr val="D98E1F"/>
          </a:solidFill>
          <a:ln w="12700">
            <a:solidFill>
              <a:srgbClr val="D98E1F"/>
            </a:solidFill>
            <a:prstDash val="solid"/>
          </a:ln>
        </p:spPr>
      </p:sp>
      <p:sp>
        <p:nvSpPr>
          <p:cNvPr id="15" name="text_182"/>
          <p:cNvSpPr txBox="1"/>
          <p:nvPr/>
        </p:nvSpPr>
        <p:spPr>
          <a:xfrm>
            <a:off x="594360" y="3794760"/>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183"/>
          <p:cNvSpPr txBox="1"/>
          <p:nvPr/>
        </p:nvSpPr>
        <p:spPr>
          <a:xfrm>
            <a:off x="1097280" y="3776472"/>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Find the </a:t>
            </a:r>
            <a:r>
              <a:rPr lang="en-US" sz="1500" b="1" dirty="0">
                <a:solidFill>
                  <a:srgbClr val="222B36"/>
                </a:solidFill>
                <a:latin typeface="Calibri" pitchFamily="34" charset="0"/>
                <a:ea typeface="Calibri" pitchFamily="34" charset="-122"/>
                <a:cs typeface="Calibri" pitchFamily="34" charset="-120"/>
              </a:rPr>
              <a:t>weakest link</a:t>
            </a:r>
            <a:r>
              <a:rPr lang="en-US" sz="1500" dirty="0">
                <a:solidFill>
                  <a:srgbClr val="222B36"/>
                </a:solidFill>
                <a:latin typeface="Calibri" pitchFamily="34" charset="0"/>
                <a:ea typeface="Calibri" pitchFamily="34" charset="-122"/>
                <a:cs typeface="Calibri" pitchFamily="34" charset="-120"/>
              </a:rPr>
              <a:t> between two sentences and repair it (repetition, transition or reordering).</a:t>
            </a:r>
            <a:endParaRPr lang="en-US" sz="1500" dirty="0"/>
          </a:p>
        </p:txBody>
      </p:sp>
      <p:sp>
        <p:nvSpPr>
          <p:cNvPr id="17" name="num_184"/>
          <p:cNvSpPr/>
          <p:nvPr/>
        </p:nvSpPr>
        <p:spPr>
          <a:xfrm>
            <a:off x="594360" y="4581144"/>
            <a:ext cx="365760" cy="365760"/>
          </a:xfrm>
          <a:prstGeom prst="ellipse">
            <a:avLst/>
          </a:prstGeom>
          <a:solidFill>
            <a:srgbClr val="D98E1F"/>
          </a:solidFill>
          <a:ln w="12700">
            <a:solidFill>
              <a:srgbClr val="D98E1F"/>
            </a:solidFill>
            <a:prstDash val="solid"/>
          </a:ln>
        </p:spPr>
      </p:sp>
      <p:sp>
        <p:nvSpPr>
          <p:cNvPr id="18" name="text_185"/>
          <p:cNvSpPr txBox="1"/>
          <p:nvPr/>
        </p:nvSpPr>
        <p:spPr>
          <a:xfrm>
            <a:off x="594360" y="4581144"/>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186"/>
          <p:cNvSpPr txBox="1"/>
          <p:nvPr/>
        </p:nvSpPr>
        <p:spPr>
          <a:xfrm>
            <a:off x="1097280" y="4562856"/>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Swap </a:t>
            </a:r>
            <a:r>
              <a:rPr lang="en-US" sz="1500" b="1" dirty="0">
                <a:solidFill>
                  <a:srgbClr val="222B36"/>
                </a:solidFill>
                <a:latin typeface="Calibri" pitchFamily="34" charset="0"/>
                <a:ea typeface="Calibri" pitchFamily="34" charset="-122"/>
                <a:cs typeface="Calibri" pitchFamily="34" charset="-120"/>
              </a:rPr>
              <a:t>one paragraph</a:t>
            </a:r>
            <a:r>
              <a:rPr lang="en-US" sz="1500" dirty="0">
                <a:solidFill>
                  <a:srgbClr val="222B36"/>
                </a:solidFill>
                <a:latin typeface="Calibri" pitchFamily="34" charset="0"/>
                <a:ea typeface="Calibri" pitchFamily="34" charset="-122"/>
                <a:cs typeface="Calibri" pitchFamily="34" charset="-120"/>
              </a:rPr>
              <a:t> with your partner, who marks where they got lost.</a:t>
            </a:r>
            <a:endParaRPr lang="en-US" sz="1500" dirty="0"/>
          </a:p>
        </p:txBody>
      </p:sp>
      <p:sp>
        <p:nvSpPr>
          <p:cNvPr id="20" name="card_187"/>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188"/>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189"/>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190"/>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A marked-up Results draft and a list of fixes (Task 6A)</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A ‘Discussion parking lot’: the start of Tutorial 7</a:t>
            </a:r>
            <a:endParaRPr lang="en-US" sz="1450" dirty="0"/>
          </a:p>
        </p:txBody>
      </p:sp>
      <p:sp>
        <p:nvSpPr>
          <p:cNvPr id="24" name="card_191"/>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192"/>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6" name="text_193"/>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7" name="cardbody_194"/>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Can you say the paragraph's claim in </a:t>
            </a:r>
            <a:r>
              <a:rPr lang="en-US" sz="1400" b="1" dirty="0">
                <a:solidFill>
                  <a:srgbClr val="222B36"/>
                </a:solidFill>
                <a:latin typeface="Calibri" pitchFamily="34" charset="0"/>
                <a:ea typeface="Calibri" pitchFamily="34" charset="-122"/>
                <a:cs typeface="Calibri" pitchFamily="34" charset="-120"/>
              </a:rPr>
              <a:t>one breath</a:t>
            </a:r>
            <a:r>
              <a:rPr lang="en-US" sz="1400" dirty="0">
                <a:solidFill>
                  <a:srgbClr val="222B36"/>
                </a:solidFill>
                <a:latin typeface="Calibri" pitchFamily="34" charset="0"/>
                <a:ea typeface="Calibri" pitchFamily="34" charset="-122"/>
                <a:cs typeface="Calibri" pitchFamily="34" charset="-120"/>
              </a:rPr>
              <a:t> after reading it?</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there any sentence that just </a:t>
            </a:r>
            <a:r>
              <a:rPr lang="en-US" sz="1400" b="1" dirty="0">
                <a:solidFill>
                  <a:srgbClr val="222B36"/>
                </a:solidFill>
                <a:latin typeface="Calibri" pitchFamily="34" charset="0"/>
                <a:ea typeface="Calibri" pitchFamily="34" charset="-122"/>
                <a:cs typeface="Calibri" pitchFamily="34" charset="-120"/>
              </a:rPr>
              <a:t>describes the plot</a:t>
            </a:r>
            <a:r>
              <a:rPr lang="en-US" sz="1400" dirty="0">
                <a:solidFill>
                  <a:srgbClr val="222B36"/>
                </a:solidFill>
                <a:latin typeface="Calibri" pitchFamily="34" charset="0"/>
                <a:ea typeface="Calibri" pitchFamily="34" charset="-122"/>
                <a:cs typeface="Calibri" pitchFamily="34" charset="-120"/>
              </a:rPr>
              <a:t>?</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 exception </a:t>
            </a:r>
            <a:r>
              <a:rPr lang="en-US" sz="1400" b="1" dirty="0">
                <a:solidFill>
                  <a:srgbClr val="222B36"/>
                </a:solidFill>
                <a:latin typeface="Calibri" pitchFamily="34" charset="0"/>
                <a:ea typeface="Calibri" pitchFamily="34" charset="-122"/>
                <a:cs typeface="Calibri" pitchFamily="34" charset="-120"/>
              </a:rPr>
              <a:t>counted</a:t>
            </a:r>
            <a:r>
              <a:rPr lang="en-US" sz="1400" dirty="0">
                <a:solidFill>
                  <a:srgbClr val="222B36"/>
                </a:solidFill>
                <a:latin typeface="Calibri" pitchFamily="34" charset="0"/>
                <a:ea typeface="Calibri" pitchFamily="34" charset="-122"/>
                <a:cs typeface="Calibri" pitchFamily="34" charset="-120"/>
              </a:rPr>
              <a:t>?</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_19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Before Tutorial 7  ·  Thu 26 Nov</a:t>
            </a:r>
            <a:endParaRPr lang="en-US" sz="2800" dirty="0"/>
          </a:p>
        </p:txBody>
      </p:sp>
      <p:sp>
        <p:nvSpPr>
          <p:cNvPr id="3" name="text_196"/>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One week. About 2½ hours. You'll then have Introduction, Methods and Results in draft.</a:t>
            </a:r>
            <a:endParaRPr lang="en-US" sz="1500" dirty="0"/>
          </a:p>
        </p:txBody>
      </p:sp>
      <p:sp>
        <p:nvSpPr>
          <p:cNvPr id="4" name="card_197"/>
          <p:cNvSpPr/>
          <p:nvPr/>
        </p:nvSpPr>
        <p:spPr>
          <a:xfrm>
            <a:off x="548640" y="1691640"/>
            <a:ext cx="3563112" cy="2971800"/>
          </a:xfrm>
          <a:prstGeom prst="roundRect">
            <a:avLst>
              <a:gd name="adj" fmla="val 2462"/>
            </a:avLst>
          </a:prstGeom>
          <a:solidFill>
            <a:srgbClr val="F7F4EE"/>
          </a:solidFill>
          <a:ln w="9525">
            <a:solidFill>
              <a:srgbClr val="D5DAE1"/>
            </a:solidFill>
            <a:prstDash val="solid"/>
          </a:ln>
        </p:spPr>
      </p:sp>
      <p:sp>
        <p:nvSpPr>
          <p:cNvPr id="5" name="tag_198"/>
          <p:cNvSpPr/>
          <p:nvPr/>
        </p:nvSpPr>
        <p:spPr>
          <a:xfrm>
            <a:off x="713232" y="1819656"/>
            <a:ext cx="1156716" cy="256032"/>
          </a:xfrm>
          <a:prstGeom prst="roundRect">
            <a:avLst>
              <a:gd name="adj" fmla="val 21429"/>
            </a:avLst>
          </a:prstGeom>
          <a:solidFill>
            <a:srgbClr val="1B2A41"/>
          </a:solidFill>
          <a:ln w="12700">
            <a:solidFill>
              <a:srgbClr val="1B2A41"/>
            </a:solidFill>
            <a:prstDash val="solid"/>
          </a:ln>
        </p:spPr>
      </p:sp>
      <p:sp>
        <p:nvSpPr>
          <p:cNvPr id="6" name="text_199"/>
          <p:cNvSpPr txBox="1"/>
          <p:nvPr/>
        </p:nvSpPr>
        <p:spPr>
          <a:xfrm>
            <a:off x="71323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6A  ·  45 min</a:t>
            </a:r>
            <a:endParaRPr lang="en-US" sz="1050" dirty="0"/>
          </a:p>
        </p:txBody>
      </p:sp>
      <p:sp>
        <p:nvSpPr>
          <p:cNvPr id="7" name="text_200"/>
          <p:cNvSpPr txBox="1"/>
          <p:nvPr/>
        </p:nvSpPr>
        <p:spPr>
          <a:xfrm>
            <a:off x="71323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Revise Results</a:t>
            </a:r>
            <a:endParaRPr lang="en-US" sz="1600" dirty="0"/>
          </a:p>
        </p:txBody>
      </p:sp>
      <p:sp>
        <p:nvSpPr>
          <p:cNvPr id="8" name="cardbody_201"/>
          <p:cNvSpPr txBox="1"/>
          <p:nvPr/>
        </p:nvSpPr>
        <p:spPr>
          <a:xfrm>
            <a:off x="71323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Apply today's surgery to </a:t>
            </a:r>
            <a:r>
              <a:rPr lang="en-US" sz="1350" b="1" dirty="0">
                <a:solidFill>
                  <a:srgbClr val="222B36"/>
                </a:solidFill>
                <a:latin typeface="Calibri" pitchFamily="34" charset="0"/>
                <a:ea typeface="Calibri" pitchFamily="34" charset="-122"/>
                <a:cs typeface="Calibri" pitchFamily="34" charset="-120"/>
              </a:rPr>
              <a:t>every</a:t>
            </a:r>
            <a:r>
              <a:rPr lang="en-US" sz="1350" dirty="0">
                <a:solidFill>
                  <a:srgbClr val="222B36"/>
                </a:solidFill>
                <a:latin typeface="Calibri" pitchFamily="34" charset="0"/>
                <a:ea typeface="Calibri" pitchFamily="34" charset="-122"/>
                <a:cs typeface="Calibri" pitchFamily="34" charset="-120"/>
              </a:rPr>
              <a:t> paragraph</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Topic sentences = findings, in order</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Within ~650 words</a:t>
            </a:r>
            <a:endParaRPr lang="en-US" sz="1350" dirty="0"/>
          </a:p>
        </p:txBody>
      </p:sp>
      <p:sp>
        <p:nvSpPr>
          <p:cNvPr id="9" name="card_202"/>
          <p:cNvSpPr/>
          <p:nvPr/>
        </p:nvSpPr>
        <p:spPr>
          <a:xfrm>
            <a:off x="4312920" y="1691640"/>
            <a:ext cx="3563112" cy="2971800"/>
          </a:xfrm>
          <a:prstGeom prst="roundRect">
            <a:avLst>
              <a:gd name="adj" fmla="val 2462"/>
            </a:avLst>
          </a:prstGeom>
          <a:solidFill>
            <a:srgbClr val="F7F4EE"/>
          </a:solidFill>
          <a:ln w="9525">
            <a:solidFill>
              <a:srgbClr val="D5DAE1"/>
            </a:solidFill>
            <a:prstDash val="solid"/>
          </a:ln>
        </p:spPr>
      </p:sp>
      <p:sp>
        <p:nvSpPr>
          <p:cNvPr id="10" name="tag_203"/>
          <p:cNvSpPr/>
          <p:nvPr/>
        </p:nvSpPr>
        <p:spPr>
          <a:xfrm>
            <a:off x="4477512" y="1819656"/>
            <a:ext cx="1156716" cy="256032"/>
          </a:xfrm>
          <a:prstGeom prst="roundRect">
            <a:avLst>
              <a:gd name="adj" fmla="val 21429"/>
            </a:avLst>
          </a:prstGeom>
          <a:solidFill>
            <a:srgbClr val="1B2A41"/>
          </a:solidFill>
          <a:ln w="12700">
            <a:solidFill>
              <a:srgbClr val="1B2A41"/>
            </a:solidFill>
            <a:prstDash val="solid"/>
          </a:ln>
        </p:spPr>
      </p:sp>
      <p:sp>
        <p:nvSpPr>
          <p:cNvPr id="11" name="text_204"/>
          <p:cNvSpPr txBox="1"/>
          <p:nvPr/>
        </p:nvSpPr>
        <p:spPr>
          <a:xfrm>
            <a:off x="447751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6B  ·  60 min</a:t>
            </a:r>
            <a:endParaRPr lang="en-US" sz="1050" dirty="0"/>
          </a:p>
        </p:txBody>
      </p:sp>
      <p:sp>
        <p:nvSpPr>
          <p:cNvPr id="12" name="text_205"/>
          <p:cNvSpPr txBox="1"/>
          <p:nvPr/>
        </p:nvSpPr>
        <p:spPr>
          <a:xfrm>
            <a:off x="447751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Introduction, full draft ~350 words</a:t>
            </a:r>
            <a:endParaRPr lang="en-US" sz="1600" dirty="0"/>
          </a:p>
        </p:txBody>
      </p:sp>
      <p:sp>
        <p:nvSpPr>
          <p:cNvPr id="13" name="cardbody_206"/>
          <p:cNvSpPr txBox="1"/>
          <p:nvPr/>
        </p:nvSpPr>
        <p:spPr>
          <a:xfrm>
            <a:off x="447751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Rewrite 3A </a:t>
            </a:r>
            <a:r>
              <a:rPr lang="en-US" sz="1350" b="1" dirty="0">
                <a:solidFill>
                  <a:srgbClr val="222B36"/>
                </a:solidFill>
                <a:latin typeface="Calibri" pitchFamily="34" charset="0"/>
                <a:ea typeface="Calibri" pitchFamily="34" charset="-122"/>
                <a:cs typeface="Calibri" pitchFamily="34" charset="-120"/>
              </a:rPr>
              <a:t>now that you know your results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Context → however → purpose (+ hypothesis)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Fold in your 3B synthesis paragraph</a:t>
            </a:r>
            <a:endParaRPr lang="en-US" sz="1350" dirty="0"/>
          </a:p>
        </p:txBody>
      </p:sp>
      <p:sp>
        <p:nvSpPr>
          <p:cNvPr id="14" name="card_207"/>
          <p:cNvSpPr/>
          <p:nvPr/>
        </p:nvSpPr>
        <p:spPr>
          <a:xfrm>
            <a:off x="8077200" y="1691640"/>
            <a:ext cx="3563112" cy="2971800"/>
          </a:xfrm>
          <a:prstGeom prst="roundRect">
            <a:avLst>
              <a:gd name="adj" fmla="val 2462"/>
            </a:avLst>
          </a:prstGeom>
          <a:solidFill>
            <a:srgbClr val="F7F4EE"/>
          </a:solidFill>
          <a:ln w="9525">
            <a:solidFill>
              <a:srgbClr val="D5DAE1"/>
            </a:solidFill>
            <a:prstDash val="solid"/>
          </a:ln>
        </p:spPr>
      </p:sp>
      <p:sp>
        <p:nvSpPr>
          <p:cNvPr id="15" name="tag_208"/>
          <p:cNvSpPr/>
          <p:nvPr/>
        </p:nvSpPr>
        <p:spPr>
          <a:xfrm>
            <a:off x="8241792" y="1819656"/>
            <a:ext cx="1156716" cy="256032"/>
          </a:xfrm>
          <a:prstGeom prst="roundRect">
            <a:avLst>
              <a:gd name="adj" fmla="val 21429"/>
            </a:avLst>
          </a:prstGeom>
          <a:solidFill>
            <a:srgbClr val="1B2A41"/>
          </a:solidFill>
          <a:ln w="12700">
            <a:solidFill>
              <a:srgbClr val="1B2A41"/>
            </a:solidFill>
            <a:prstDash val="solid"/>
          </a:ln>
        </p:spPr>
      </p:sp>
      <p:sp>
        <p:nvSpPr>
          <p:cNvPr id="16" name="text_209"/>
          <p:cNvSpPr txBox="1"/>
          <p:nvPr/>
        </p:nvSpPr>
        <p:spPr>
          <a:xfrm>
            <a:off x="824179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6C  ·  30 min</a:t>
            </a:r>
            <a:endParaRPr lang="en-US" sz="1050" dirty="0"/>
          </a:p>
        </p:txBody>
      </p:sp>
      <p:sp>
        <p:nvSpPr>
          <p:cNvPr id="17" name="text_210"/>
          <p:cNvSpPr txBox="1"/>
          <p:nvPr/>
        </p:nvSpPr>
        <p:spPr>
          <a:xfrm>
            <a:off x="824179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Discussion brainstorm</a:t>
            </a:r>
            <a:endParaRPr lang="en-US" sz="1600" dirty="0"/>
          </a:p>
        </p:txBody>
      </p:sp>
      <p:sp>
        <p:nvSpPr>
          <p:cNvPr id="18" name="cardbody_211"/>
          <p:cNvSpPr txBox="1"/>
          <p:nvPr/>
        </p:nvSpPr>
        <p:spPr>
          <a:xfrm>
            <a:off x="824179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List </a:t>
            </a:r>
            <a:r>
              <a:rPr lang="en-US" sz="1350" b="1" dirty="0">
                <a:solidFill>
                  <a:srgbClr val="222B36"/>
                </a:solidFill>
                <a:latin typeface="Calibri" pitchFamily="34" charset="0"/>
                <a:ea typeface="Calibri" pitchFamily="34" charset="-122"/>
                <a:cs typeface="Calibri" pitchFamily="34" charset="-120"/>
              </a:rPr>
              <a:t>3 possible physical explanations</a:t>
            </a:r>
            <a:r>
              <a:rPr lang="en-US" sz="1350" dirty="0">
                <a:solidFill>
                  <a:srgbClr val="222B36"/>
                </a:solidFill>
                <a:latin typeface="Calibri" pitchFamily="34" charset="0"/>
                <a:ea typeface="Calibri" pitchFamily="34" charset="-122"/>
                <a:cs typeface="Calibri" pitchFamily="34" charset="-120"/>
              </a:rPr>
              <a:t> for your main result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List </a:t>
            </a:r>
            <a:r>
              <a:rPr lang="en-US" sz="1350" b="1" dirty="0">
                <a:solidFill>
                  <a:srgbClr val="222B36"/>
                </a:solidFill>
                <a:latin typeface="Calibri" pitchFamily="34" charset="0"/>
                <a:ea typeface="Calibri" pitchFamily="34" charset="-122"/>
                <a:cs typeface="Calibri" pitchFamily="34" charset="-120"/>
              </a:rPr>
              <a:t>2 limitations that genuinely matter</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Play devil's advocate: what would a critic say?</a:t>
            </a:r>
            <a:endParaRPr lang="en-US" sz="1350" dirty="0"/>
          </a:p>
        </p:txBody>
      </p:sp>
      <p:sp>
        <p:nvSpPr>
          <p:cNvPr id="19" name="card_212"/>
          <p:cNvSpPr/>
          <p:nvPr/>
        </p:nvSpPr>
        <p:spPr>
          <a:xfrm>
            <a:off x="548640" y="4846320"/>
            <a:ext cx="5440680" cy="1463040"/>
          </a:xfrm>
          <a:prstGeom prst="roundRect">
            <a:avLst>
              <a:gd name="adj" fmla="val 5000"/>
            </a:avLst>
          </a:prstGeom>
          <a:solidFill>
            <a:srgbClr val="DCE7F2"/>
          </a:solidFill>
          <a:ln w="9525">
            <a:solidFill>
              <a:srgbClr val="DCE7F2"/>
            </a:solidFill>
            <a:prstDash val="solid"/>
          </a:ln>
        </p:spPr>
      </p:sp>
      <p:sp>
        <p:nvSpPr>
          <p:cNvPr id="20" name="tag_213"/>
          <p:cNvSpPr/>
          <p:nvPr/>
        </p:nvSpPr>
        <p:spPr>
          <a:xfrm>
            <a:off x="713232" y="4974336"/>
            <a:ext cx="1312164" cy="256032"/>
          </a:xfrm>
          <a:prstGeom prst="roundRect">
            <a:avLst>
              <a:gd name="adj" fmla="val 21429"/>
            </a:avLst>
          </a:prstGeom>
          <a:solidFill>
            <a:srgbClr val="2E4A6B"/>
          </a:solidFill>
          <a:ln w="12700">
            <a:solidFill>
              <a:srgbClr val="2E4A6B"/>
            </a:solidFill>
            <a:prstDash val="solid"/>
          </a:ln>
        </p:spPr>
      </p:sp>
      <p:sp>
        <p:nvSpPr>
          <p:cNvPr id="21" name="text_214"/>
          <p:cNvSpPr txBox="1"/>
          <p:nvPr/>
        </p:nvSpPr>
        <p:spPr>
          <a:xfrm>
            <a:off x="713232" y="497433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NOTEBOOK STRAND</a:t>
            </a:r>
            <a:endParaRPr lang="en-US" sz="1050" dirty="0"/>
          </a:p>
        </p:txBody>
      </p:sp>
      <p:sp>
        <p:nvSpPr>
          <p:cNvPr id="22" name="cardbody_215"/>
          <p:cNvSpPr txBox="1"/>
          <p:nvPr/>
        </p:nvSpPr>
        <p:spPr>
          <a:xfrm>
            <a:off x="713232"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Only what your Results need: fill any [ ] numbers; optional sensitivity check.</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No new directions now. Your question is fixed.</a:t>
            </a:r>
            <a:endParaRPr lang="en-US" sz="1350" dirty="0"/>
          </a:p>
        </p:txBody>
      </p:sp>
      <p:sp>
        <p:nvSpPr>
          <p:cNvPr id="23" name="card_216"/>
          <p:cNvSpPr/>
          <p:nvPr/>
        </p:nvSpPr>
        <p:spPr>
          <a:xfrm>
            <a:off x="6199632" y="4846320"/>
            <a:ext cx="5440680" cy="1463040"/>
          </a:xfrm>
          <a:prstGeom prst="roundRect">
            <a:avLst>
              <a:gd name="adj" fmla="val 5000"/>
            </a:avLst>
          </a:prstGeom>
          <a:solidFill>
            <a:srgbClr val="FBEBD0"/>
          </a:solidFill>
          <a:ln w="9525">
            <a:solidFill>
              <a:srgbClr val="FBEBD0"/>
            </a:solidFill>
            <a:prstDash val="solid"/>
          </a:ln>
        </p:spPr>
      </p:sp>
      <p:sp>
        <p:nvSpPr>
          <p:cNvPr id="24" name="tag_217"/>
          <p:cNvSpPr/>
          <p:nvPr/>
        </p:nvSpPr>
        <p:spPr>
          <a:xfrm>
            <a:off x="6364224" y="4974336"/>
            <a:ext cx="3255264" cy="256032"/>
          </a:xfrm>
          <a:prstGeom prst="roundRect">
            <a:avLst>
              <a:gd name="adj" fmla="val 21429"/>
            </a:avLst>
          </a:prstGeom>
          <a:solidFill>
            <a:srgbClr val="D98E1F"/>
          </a:solidFill>
          <a:ln w="12700">
            <a:solidFill>
              <a:srgbClr val="D98E1F"/>
            </a:solidFill>
            <a:prstDash val="solid"/>
          </a:ln>
        </p:spPr>
      </p:sp>
      <p:sp>
        <p:nvSpPr>
          <p:cNvPr id="25" name="text_218"/>
          <p:cNvSpPr txBox="1"/>
          <p:nvPr/>
        </p:nvSpPr>
        <p:spPr>
          <a:xfrm>
            <a:off x="6364224" y="4974336"/>
            <a:ext cx="32552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READ  ·  SCHULTZ (2009) ELOQUENT SCIENCE</a:t>
            </a:r>
            <a:endParaRPr lang="en-US" sz="1050" dirty="0"/>
          </a:p>
        </p:txBody>
      </p:sp>
      <p:sp>
        <p:nvSpPr>
          <p:cNvPr id="26" name="cardbody_219"/>
          <p:cNvSpPr txBox="1"/>
          <p:nvPr/>
        </p:nvSpPr>
        <p:spPr>
          <a:xfrm>
            <a:off x="6364224"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Ch. 8</a:t>
            </a:r>
            <a:r>
              <a:rPr lang="en-US" sz="1350" dirty="0">
                <a:solidFill>
                  <a:srgbClr val="222B36"/>
                </a:solidFill>
                <a:latin typeface="Calibri" pitchFamily="34" charset="0"/>
                <a:ea typeface="Calibri" pitchFamily="34" charset="-122"/>
                <a:cs typeface="Calibri" pitchFamily="34" charset="-120"/>
              </a:rPr>
              <a:t> Constructing effective paragraphs</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§7.3</a:t>
            </a:r>
            <a:r>
              <a:rPr lang="en-US" sz="1350" dirty="0">
                <a:solidFill>
                  <a:srgbClr val="222B36"/>
                </a:solidFill>
                <a:latin typeface="Calibri" pitchFamily="34" charset="0"/>
                <a:ea typeface="Calibri" pitchFamily="34" charset="-122"/>
                <a:cs typeface="Calibri" pitchFamily="34" charset="-120"/>
              </a:rPr>
              <a:t> Structuring logical arguments</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§9.1</a:t>
            </a:r>
            <a:r>
              <a:rPr lang="en-US" sz="1350" dirty="0">
                <a:solidFill>
                  <a:srgbClr val="222B36"/>
                </a:solidFill>
                <a:latin typeface="Calibri" pitchFamily="34" charset="0"/>
                <a:ea typeface="Calibri" pitchFamily="34" charset="-122"/>
                <a:cs typeface="Calibri" pitchFamily="34" charset="-120"/>
              </a:rPr>
              <a:t> Active vs passive voice</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EART29200 Writing Strand">
  <a:themeElements>
    <a:clrScheme name="EART29200 Writing Strand">
      <a:dk1>
        <a:srgbClr val="222B36"/>
      </a:dk1>
      <a:lt1>
        <a:srgbClr val="FFFFFF"/>
      </a:lt1>
      <a:dk2>
        <a:srgbClr val="1B2A41"/>
      </a:dk2>
      <a:lt2>
        <a:srgbClr val="F7F4EE"/>
      </a:lt2>
      <a:accent1>
        <a:srgbClr val="2E4A6B"/>
      </a:accent1>
      <a:accent2>
        <a:srgbClr val="D98E1F"/>
      </a:accent2>
      <a:accent3>
        <a:srgbClr val="1F7A6E"/>
      </a:accent3>
      <a:accent4>
        <a:srgbClr val="B04A35"/>
      </a:accent4>
      <a:accent5>
        <a:srgbClr val="6C8EAD"/>
      </a:accent5>
      <a:accent6>
        <a:srgbClr val="9AA5B1"/>
      </a:accent6>
      <a:hlink>
        <a:srgbClr val="2E4A6B"/>
      </a:hlink>
      <a:folHlink>
        <a:srgbClr val="5B6573"/>
      </a:folHlink>
    </a:clrScheme>
    <a:fontScheme name="EART29200 Writing Stran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6 — Paragraphs that argue</dc:title>
  <dc:subject>ENSO and cloud cover mini-project — writing strand</dc:subject>
  <dc:creator>EART29200 course team</dc:creator>
  <cp:lastModifiedBy>EART29200 course team</cp:lastModifiedBy>
  <cp:revision>1</cp:revision>
  <dcterms:created xsi:type="dcterms:W3CDTF">2026-10-03T16:00:38Z</dcterms:created>
  <dcterms:modified xsi:type="dcterms:W3CDTF">2026-10-03T16:00:38Z</dcterms:modified>
</cp:coreProperties>
</file>