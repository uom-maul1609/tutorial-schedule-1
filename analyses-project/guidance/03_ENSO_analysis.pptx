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497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Recap climatology/anomaly from last week -- today builds on it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Point at it, don't read it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ONI as a running SST anomaly; +-0.5C threshold. Mention RONI briefly as the modern operational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Composite = compare two groups of months. This is the simpler of the two ideas -- get it solid before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Correlation = continuous relationship. Contrast directly with the composite using the side-by-side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Frame the hands-on: they're looking at the maps to find a region/pattern, not to understand every number.</a:t>
            </a:r>
          </a:p>
          <a:p>
            <a:endParaRPr/>
          </a:p>
          <a:p>
            <a:r>
              <a:t>Sources: ERA5 (ECMWF/Copernicus) and ENSO/ONI (NOAA Climate.gov, NOAA CPC). Full source list is on the closing slide of Tutorial 1 -- it applies to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3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400" b="1">
                <a:solidFill>
                  <a:srgbClr val="660099"/>
                </a:solidFill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Tutorial 3 — Finding an ENSO signal</a:t>
            </a:r>
          </a:p>
          <a:p>
            <a:pPr algn="ctr">
              <a:defRPr sz="2000"/>
            </a:pPr>
            <a:r>
              <a:rPr sz="1800" b="0" i="1">
                <a:solidFill>
                  <a:srgbClr val="E9F1F6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788919"/>
            <a:ext cx="1143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34495" y="342900"/>
            <a:ext cx="27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Tutorial 3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8000"/>
            <a:ext cx="60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9F1F6"/>
                </a:solidFill>
                <a:latin typeface="Calibri"/>
              </a:rPr>
              <a:t>ENSO and cloud cover mini-project - tutorial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8A3607"/>
                </a:solidFill>
                <a:latin typeface="Calibri"/>
              </a:rPr>
              <a:t>Today's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3  ·  Slide 1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20000"/>
            <a:ext cx="10730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8A3607"/>
                </a:solidFill>
                <a:latin typeface="Calibri"/>
              </a:rPr>
              <a:t>Goal: </a:t>
            </a:r>
            <a:r>
              <a:rPr sz="2000" b="1">
                <a:solidFill>
                  <a:srgbClr val="222222"/>
                </a:solidFill>
                <a:latin typeface="Calibri"/>
              </a:rPr>
              <a:t>Find at least one region where cloud responds to ENSO.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0000"/>
            <a:ext cx="107308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Calibri"/>
              </a:rPr>
              <a:t>What you'll do today: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70000"/>
            <a:ext cx="420000" cy="420000"/>
          </a:xfrm>
          <a:prstGeom prst="ellipse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1520" y="256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Run the composite (El Niño vs. La Niña) and correlation-with-ONI sections.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10000"/>
            <a:ext cx="420000" cy="420000"/>
          </a:xfrm>
          <a:prstGeom prst="ellipse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1520" y="320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Compare what composite maps and correlation maps each tell you.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0000"/>
            <a:ext cx="420000" cy="420000"/>
          </a:xfrm>
          <a:prstGeom prst="ellipse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1520" y="384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Use the numbered regions on the maps to spot 2–3 candidate places/patterns.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90000"/>
            <a:ext cx="420000" cy="420000"/>
          </a:xfrm>
          <a:prstGeom prst="ellipse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1520" y="448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Start narrowing towards a question.</a:t>
            </a:r>
          </a:p>
        </p:txBody>
      </p:sp>
      <p:sp>
        <p:nvSpPr>
          <p:cNvPr id="17" name="Oval 16"/>
          <p:cNvSpPr/>
          <p:nvPr/>
        </p:nvSpPr>
        <p:spPr>
          <a:xfrm>
            <a:off x="4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5847" y="6298000"/>
            <a:ext cx="260000" cy="260000"/>
          </a:xfrm>
          <a:prstGeom prst="ellipse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6038000"/>
            <a:ext cx="1219169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Tutorial 3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8A3607"/>
                </a:solidFill>
                <a:latin typeface="Calibri"/>
              </a:rPr>
              <a:t>ONI gives us an ENSO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ONI is a 3-month running SST anomaly for Niño 3.4.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Positive values represent warm ENSO conditions; negative values cool conditions.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Historical ONI tables use ±0.5 °C plus persistence to identify warm/cold episodes.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For this project, ONI lets us compare ENSO with cloud anomalies.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Note: NOAA now uses ONI/RONI for official real-time ENSO monitoring -- the Nino 3.4 box shown here is the classic definition still used in most teaching materials and in this course's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3  ·  Slide 2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8da706d3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56867"/>
            <a:ext cx="5212080" cy="3161425"/>
          </a:xfrm>
          <a:prstGeom prst="rect">
            <a:avLst/>
          </a:prstGeom>
          <a:ln w="12700">
            <a:solidFill>
              <a:srgbClr val="8A360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989320" y="5379280"/>
            <a:ext cx="52120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Credit: NOAA Climate.gov image by Fiona Martin.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8A3607"/>
                </a:solidFill>
                <a:latin typeface="Calibri"/>
              </a:rPr>
              <a:t>Composite: compare El Niño and La Niña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Calculate cloud anomalies first.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Average the anomalies in warm ENSO conditions.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Average the anomalies in cool ENSO conditions.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Subtract El Niño − La Niña.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 sign tells you which ENSO phase is cloudier.</a:t>
            </a:r>
          </a:p>
        </p:txBody>
      </p:sp>
      <p:pic>
        <p:nvPicPr>
          <p:cNvPr id="4" name="Picture 3" descr="composite_vs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464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3  ·  Slide 3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8A3607"/>
                </a:solidFill>
                <a:latin typeface="Calibri"/>
              </a:rPr>
              <a:t>Correlation: use continuous variation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r = corr(cloud anomaly, ONI).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Positive r: cloud anomaly tends to increase with ONI.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Negative r: it tends to decrease.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 regression line/R² can quantify the simple linear relationship.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Correlation is not proof of causation.</a:t>
            </a:r>
          </a:p>
        </p:txBody>
      </p:sp>
      <p:pic>
        <p:nvPicPr>
          <p:cNvPr id="4" name="Picture 3" descr="composite_vs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464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3  ·  Slide 4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8A3607"/>
                </a:solidFill>
                <a:latin typeface="Calibri"/>
              </a:rPr>
              <a:t>Use the maps to discover a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Where are the strongest positive/negative patterns?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Do composite and correlation maps agree?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Does a tropical convective region behave differently from a low-cloud region?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Circle 2–3 places you might want to investigate.</a:t>
            </a:r>
          </a:p>
          <a:p>
            <a:r>
              <a:rPr sz="2000" i="1">
                <a:solidFill>
                  <a:srgbClr val="2B2B2B"/>
                </a:solidFill>
              </a:rPr>
              <a:t>Ask a neighbour which region caught their eye -- did you pick the same one?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3  ·  Slide 5 of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8A3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iscover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91590"/>
            <a:ext cx="5486400" cy="445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600</Words>
  <Application>Microsoft Macintosh PowerPoint</Application>
  <PresentationFormat>Widescreen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Paul Connolly</cp:lastModifiedBy>
  <cp:revision>2</cp:revision>
  <cp:lastPrinted>2026-09-17T21:01:59Z</cp:lastPrinted>
  <dcterms:created xsi:type="dcterms:W3CDTF">2013-01-27T09:14:16Z</dcterms:created>
  <dcterms:modified xsi:type="dcterms:W3CDTF">2026-09-17T21:02:13Z</dcterms:modified>
  <cp:category/>
</cp:coreProperties>
</file>