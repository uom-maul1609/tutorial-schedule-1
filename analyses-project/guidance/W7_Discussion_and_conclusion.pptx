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Lag correlation shifts one series against the other and recalculates r; in the notebook a positive lag means the ONI leads. If cloud responds a few months after the sea warms, the correlation peaks at a positive lag. Be careful with two things. Peaks are broad because both series change slowly, so the exact peak month is uncertain. And a lag is consistent with cause and effect but doesn't prove it: to argue cause you need a mechanism, the right order in time, and independent support, such as the sea-temperature pattern under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Cloud is the end of a chain: sea temperature → rising or sinking air → moisture → cloud. A correlation between ONI and cloud is more convincing if the links in between behave consistently, and the notebook can load them: set VARIABLE to skt (skin temperature, effectively sea-surface temperature over the ocean) or tcwv (water vapour). For the central Pacific in El Niño, warmer sea, more water vapour and more high cloud tell one consistent story of convection moving east. For low cloud, the important link is the strength of the inversion that caps the cloud layer; that isn't in this dataset, so state it as a limitation. One supporting figure from another variable can earn its place in a 3–5 figure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Results report what the data show, with numbers. The Discussion explains what that means physically, how certain it is, and how it compares with published work. It's easy to mix the two by explaining as you go; keep explanation for the Discussion. The phrases on the right are the Discussion's vocabulary. For example, 'If this relationship holds, the 2026–27 El Niño would be expected to bring more high cloud to the central Pacific' is a legitimate, clearly flagged speculative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7  ·  Thu 26 Nov</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7  ·  THURSDAY 26 NOVEMBER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What does it mean?</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Discussion, honest limitations, and a Conclusion that lands</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A Discussion plan built from three or four ‘moves’, and a Conclusion whose first sentence answers your question.</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6C8EAD"/>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6C8EAD"/>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6C8EAD"/>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6C8EAD"/>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6C8EAD"/>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6C8EAD"/>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D98E1F"/>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7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Leave with a Discussion plan and a Conclusion that answers your question.</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lags, causation and mechanisms</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Results vs Discussion; a menu of Discussion moves</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Limitations that build trust</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Conclusions that land, and the mirror test</a:t>
            </a:r>
            <a:endParaRPr lang="en-US" sz="1600" dirty="0"/>
          </a:p>
        </p:txBody>
      </p:sp>
      <p:sp>
        <p:nvSpPr>
          <p:cNvPr id="16" name="card_32"/>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17" name="tag_33"/>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18" name="text_34"/>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19" name="cardbody_35"/>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Revised Results (6A) and Introduction (6B)</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Task 6C Discussion brainstorm</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Your ‘Discussion parking lot’ from last week</a:t>
            </a:r>
            <a:endParaRPr lang="en-US" sz="1400" dirty="0"/>
          </a:p>
        </p:txBody>
      </p:sp>
      <p:sp>
        <p:nvSpPr>
          <p:cNvPr id="20" name="dot_36"/>
          <p:cNvSpPr/>
          <p:nvPr/>
        </p:nvSpPr>
        <p:spPr>
          <a:xfrm>
            <a:off x="4852264" y="5897880"/>
            <a:ext cx="182880" cy="182880"/>
          </a:xfrm>
          <a:prstGeom prst="ellipse">
            <a:avLst/>
          </a:prstGeom>
          <a:solidFill>
            <a:srgbClr val="2E4A6B"/>
          </a:solidFill>
          <a:ln w="6350">
            <a:solidFill>
              <a:srgbClr val="D5DAE1"/>
            </a:solidFill>
            <a:prstDash val="solid"/>
          </a:ln>
        </p:spPr>
      </p:sp>
      <p:sp>
        <p:nvSpPr>
          <p:cNvPr id="21" name="dot_37"/>
          <p:cNvSpPr/>
          <p:nvPr/>
        </p:nvSpPr>
        <p:spPr>
          <a:xfrm>
            <a:off x="5181448" y="5897880"/>
            <a:ext cx="182880" cy="182880"/>
          </a:xfrm>
          <a:prstGeom prst="ellipse">
            <a:avLst/>
          </a:prstGeom>
          <a:solidFill>
            <a:srgbClr val="2E4A6B"/>
          </a:solidFill>
          <a:ln w="6350">
            <a:solidFill>
              <a:srgbClr val="D5DAE1"/>
            </a:solidFill>
            <a:prstDash val="solid"/>
          </a:ln>
        </p:spPr>
      </p:sp>
      <p:sp>
        <p:nvSpPr>
          <p:cNvPr id="22" name="dot_38"/>
          <p:cNvSpPr/>
          <p:nvPr/>
        </p:nvSpPr>
        <p:spPr>
          <a:xfrm>
            <a:off x="5510632" y="5897880"/>
            <a:ext cx="182880" cy="182880"/>
          </a:xfrm>
          <a:prstGeom prst="ellipse">
            <a:avLst/>
          </a:prstGeom>
          <a:solidFill>
            <a:srgbClr val="2E4A6B"/>
          </a:solidFill>
          <a:ln w="6350">
            <a:solidFill>
              <a:srgbClr val="D5DAE1"/>
            </a:solidFill>
            <a:prstDash val="solid"/>
          </a:ln>
        </p:spPr>
      </p:sp>
      <p:sp>
        <p:nvSpPr>
          <p:cNvPr id="23" name="dot_39"/>
          <p:cNvSpPr/>
          <p:nvPr/>
        </p:nvSpPr>
        <p:spPr>
          <a:xfrm>
            <a:off x="5839816" y="5897880"/>
            <a:ext cx="182880" cy="182880"/>
          </a:xfrm>
          <a:prstGeom prst="ellipse">
            <a:avLst/>
          </a:prstGeom>
          <a:solidFill>
            <a:srgbClr val="2E4A6B"/>
          </a:solidFill>
          <a:ln w="6350">
            <a:solidFill>
              <a:srgbClr val="D5DAE1"/>
            </a:solidFill>
            <a:prstDash val="solid"/>
          </a:ln>
        </p:spPr>
      </p:sp>
      <p:sp>
        <p:nvSpPr>
          <p:cNvPr id="24" name="dot_40"/>
          <p:cNvSpPr/>
          <p:nvPr/>
        </p:nvSpPr>
        <p:spPr>
          <a:xfrm>
            <a:off x="6169000" y="5897880"/>
            <a:ext cx="182880" cy="182880"/>
          </a:xfrm>
          <a:prstGeom prst="ellipse">
            <a:avLst/>
          </a:prstGeom>
          <a:solidFill>
            <a:srgbClr val="2E4A6B"/>
          </a:solidFill>
          <a:ln w="6350">
            <a:solidFill>
              <a:srgbClr val="D5DAE1"/>
            </a:solidFill>
            <a:prstDash val="solid"/>
          </a:ln>
        </p:spPr>
      </p:sp>
      <p:sp>
        <p:nvSpPr>
          <p:cNvPr id="25" name="dot_41"/>
          <p:cNvSpPr/>
          <p:nvPr/>
        </p:nvSpPr>
        <p:spPr>
          <a:xfrm>
            <a:off x="6498184" y="5897880"/>
            <a:ext cx="182880" cy="182880"/>
          </a:xfrm>
          <a:prstGeom prst="ellipse">
            <a:avLst/>
          </a:prstGeom>
          <a:solidFill>
            <a:srgbClr val="2E4A6B"/>
          </a:solidFill>
          <a:ln w="6350">
            <a:solidFill>
              <a:srgbClr val="D5DAE1"/>
            </a:solidFill>
            <a:prstDash val="solid"/>
          </a:ln>
        </p:spPr>
      </p:sp>
      <p:sp>
        <p:nvSpPr>
          <p:cNvPr id="26" name="dot_42"/>
          <p:cNvSpPr/>
          <p:nvPr/>
        </p:nvSpPr>
        <p:spPr>
          <a:xfrm>
            <a:off x="6827368" y="5897880"/>
            <a:ext cx="182880" cy="182880"/>
          </a:xfrm>
          <a:prstGeom prst="ellipse">
            <a:avLst/>
          </a:prstGeom>
          <a:solidFill>
            <a:srgbClr val="D98E1F"/>
          </a:solidFill>
          <a:ln w="6350">
            <a:solidFill>
              <a:srgbClr val="D5DAE1"/>
            </a:solidFill>
            <a:prstDash val="solid"/>
          </a:ln>
        </p:spPr>
      </p:sp>
      <p:sp>
        <p:nvSpPr>
          <p:cNvPr id="27" name="dot_43"/>
          <p:cNvSpPr/>
          <p:nvPr/>
        </p:nvSpPr>
        <p:spPr>
          <a:xfrm>
            <a:off x="7156552" y="5897880"/>
            <a:ext cx="182880" cy="182880"/>
          </a:xfrm>
          <a:prstGeom prst="ellipse">
            <a:avLst/>
          </a:prstGeom>
          <a:solidFill>
            <a:srgbClr val="D5DAE1"/>
          </a:solidFill>
          <a:ln w="6350">
            <a:solidFill>
              <a:srgbClr val="D5DAE1"/>
            </a:solidFill>
            <a:prstDash val="solid"/>
          </a:ln>
        </p:spPr>
      </p:sp>
      <p:sp>
        <p:nvSpPr>
          <p:cNvPr id="28" name="text_44"/>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7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l_45"/>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46"/>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47"/>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Lags, timing and causation</a:t>
            </a:r>
            <a:endParaRPr lang="en-US" sz="2800" dirty="0"/>
          </a:p>
        </p:txBody>
      </p:sp>
      <p:sp>
        <p:nvSpPr>
          <p:cNvPr id="5" name="mbul_48"/>
          <p:cNvSpPr txBox="1"/>
          <p:nvPr/>
        </p:nvSpPr>
        <p:spPr>
          <a:xfrm>
            <a:off x="548640" y="1280160"/>
            <a:ext cx="5852160" cy="5029200"/>
          </a:xfrm>
          <a:prstGeom prst="rect">
            <a:avLst/>
          </a:prstGeom>
          <a:noFill/>
          <a:ln/>
        </p:spPr>
        <p:txBody>
          <a:bodyPr wrap="square" lIns="635" tIns="635" rIns="635" bIns="635" rtlCol="0" anchor="t"/>
          <a:lstStyle/>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Lag correlation: </a:t>
            </a:r>
            <a:r>
              <a:rPr lang="en-US" sz="1500" dirty="0">
                <a:solidFill>
                  <a:srgbClr val="222B36"/>
                </a:solidFill>
                <a:latin typeface="Calibri" pitchFamily="34" charset="0"/>
                <a:ea typeface="Calibri" pitchFamily="34" charset="-122"/>
                <a:cs typeface="Calibri" pitchFamily="34" charset="-120"/>
              </a:rPr>
              <a:t>shift the ONI against cloud and recompute r. In notebook §6, lag +3 pairs the ONI from </a:t>
            </a:r>
            <a:r>
              <a:rPr lang="en-US" sz="1500" b="1" dirty="0">
                <a:solidFill>
                  <a:srgbClr val="222B36"/>
                </a:solidFill>
                <a:latin typeface="Calibri" pitchFamily="34" charset="0"/>
                <a:ea typeface="Calibri" pitchFamily="34" charset="-122"/>
                <a:cs typeface="Calibri" pitchFamily="34" charset="-120"/>
              </a:rPr>
              <a:t>3 months earlier</a:t>
            </a:r>
            <a:r>
              <a:rPr lang="en-US" sz="1500" dirty="0">
                <a:solidFill>
                  <a:srgbClr val="222B36"/>
                </a:solidFill>
                <a:latin typeface="Calibri" pitchFamily="34" charset="0"/>
                <a:ea typeface="Calibri" pitchFamily="34" charset="-122"/>
                <a:cs typeface="Calibri" pitchFamily="34" charset="-120"/>
              </a:rPr>
              <a:t> with cloud now (</a:t>
            </a:r>
            <a:r>
              <a:rPr lang="en-US" sz="1500" b="1" dirty="0">
                <a:solidFill>
                  <a:srgbClr val="222B36"/>
                </a:solidFill>
                <a:latin typeface="Calibri" pitchFamily="34" charset="0"/>
                <a:ea typeface="Calibri" pitchFamily="34" charset="-122"/>
                <a:cs typeface="Calibri" pitchFamily="34" charset="-120"/>
              </a:rPr>
              <a:t>ONI leads</a:t>
            </a:r>
            <a:r>
              <a:rPr lang="en-US" sz="1500" dirty="0">
                <a:solidFill>
                  <a:srgbClr val="222B36"/>
                </a:solidFill>
                <a:latin typeface="Calibri" pitchFamily="34" charset="0"/>
                <a:ea typeface="Calibri" pitchFamily="34" charset="-122"/>
                <a:cs typeface="Calibri" pitchFamily="34" charset="-120"/>
              </a:rPr>
              <a:t>).</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Peaks are </a:t>
            </a:r>
            <a:r>
              <a:rPr lang="en-US" sz="1500" b="1" dirty="0">
                <a:solidFill>
                  <a:srgbClr val="222B36"/>
                </a:solidFill>
                <a:latin typeface="Calibri" pitchFamily="34" charset="0"/>
                <a:ea typeface="Calibri" pitchFamily="34" charset="-122"/>
                <a:cs typeface="Calibri" pitchFamily="34" charset="-120"/>
              </a:rPr>
              <a:t>broad</a:t>
            </a:r>
            <a:r>
              <a:rPr lang="en-US" sz="1500" dirty="0">
                <a:solidFill>
                  <a:srgbClr val="222B36"/>
                </a:solidFill>
                <a:latin typeface="Calibri" pitchFamily="34" charset="0"/>
                <a:ea typeface="Calibri" pitchFamily="34" charset="-122"/>
                <a:cs typeface="Calibri" pitchFamily="34" charset="-120"/>
              </a:rPr>
              <a:t> because both series have long memory: neighbouring lags give similar r.</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A peak at +3 months is </a:t>
            </a:r>
            <a:r>
              <a:rPr lang="en-US" sz="1500" b="1" dirty="0">
                <a:solidFill>
                  <a:srgbClr val="222B36"/>
                </a:solidFill>
                <a:latin typeface="Calibri" pitchFamily="34" charset="0"/>
                <a:ea typeface="Calibri" pitchFamily="34" charset="-122"/>
                <a:cs typeface="Calibri" pitchFamily="34" charset="-120"/>
              </a:rPr>
              <a:t>consistent with</a:t>
            </a:r>
            <a:r>
              <a:rPr lang="en-US" sz="1500" dirty="0">
                <a:solidFill>
                  <a:srgbClr val="222B36"/>
                </a:solidFill>
                <a:latin typeface="Calibri" pitchFamily="34" charset="0"/>
                <a:ea typeface="Calibri" pitchFamily="34" charset="-122"/>
                <a:cs typeface="Calibri" pitchFamily="34" charset="-120"/>
              </a:rPr>
              <a:t> a delayed response, but doesn't prove ENSO causes it, and the ONI is already a 3-month mean.</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From correlation to cause you need a </a:t>
            </a:r>
            <a:r>
              <a:rPr lang="en-US" sz="1500" b="1" dirty="0">
                <a:solidFill>
                  <a:srgbClr val="222B36"/>
                </a:solidFill>
                <a:latin typeface="Calibri" pitchFamily="34" charset="0"/>
                <a:ea typeface="Calibri" pitchFamily="34" charset="-122"/>
                <a:cs typeface="Calibri" pitchFamily="34" charset="-120"/>
              </a:rPr>
              <a:t>mechanism</a:t>
            </a:r>
            <a:r>
              <a:rPr lang="en-US" sz="1500" dirty="0">
                <a:solidFill>
                  <a:srgbClr val="222B36"/>
                </a:solidFill>
                <a:latin typeface="Calibri" pitchFamily="34" charset="0"/>
                <a:ea typeface="Calibri" pitchFamily="34" charset="-122"/>
                <a:cs typeface="Calibri" pitchFamily="34" charset="-120"/>
              </a:rPr>
              <a:t>, a </a:t>
            </a:r>
            <a:r>
              <a:rPr lang="en-US" sz="1500" b="1" dirty="0">
                <a:solidFill>
                  <a:srgbClr val="222B36"/>
                </a:solidFill>
                <a:latin typeface="Calibri" pitchFamily="34" charset="0"/>
                <a:ea typeface="Calibri" pitchFamily="34" charset="-122"/>
                <a:cs typeface="Calibri" pitchFamily="34" charset="-120"/>
              </a:rPr>
              <a:t>time order</a:t>
            </a:r>
            <a:r>
              <a:rPr lang="en-US" sz="1500" dirty="0">
                <a:solidFill>
                  <a:srgbClr val="222B36"/>
                </a:solidFill>
                <a:latin typeface="Calibri" pitchFamily="34" charset="0"/>
                <a:ea typeface="Calibri" pitchFamily="34" charset="-122"/>
                <a:cs typeface="Calibri" pitchFamily="34" charset="-120"/>
              </a:rPr>
              <a:t>, and </a:t>
            </a:r>
            <a:r>
              <a:rPr lang="en-US" sz="1500" b="1" dirty="0">
                <a:solidFill>
                  <a:srgbClr val="222B36"/>
                </a:solidFill>
                <a:latin typeface="Calibri" pitchFamily="34" charset="0"/>
                <a:ea typeface="Calibri" pitchFamily="34" charset="-122"/>
                <a:cs typeface="Calibri" pitchFamily="34" charset="-120"/>
              </a:rPr>
              <a:t>independent evidence</a:t>
            </a:r>
            <a:r>
              <a:rPr lang="en-US" sz="1500" dirty="0">
                <a:solidFill>
                  <a:srgbClr val="222B36"/>
                </a:solidFill>
                <a:latin typeface="Calibri" pitchFamily="34" charset="0"/>
                <a:ea typeface="Calibri" pitchFamily="34" charset="-122"/>
                <a:cs typeface="Calibri" pitchFamily="34" charset="-120"/>
              </a:rPr>
              <a:t> (another variable).</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Until then write ‘is associated with’ or ‘is consistent with’, not ‘causes’.</a:t>
            </a:r>
            <a:endParaRPr lang="en-US" sz="1500" dirty="0"/>
          </a:p>
        </p:txBody>
      </p:sp>
      <p:pic>
        <p:nvPicPr>
          <p:cNvPr id="6" name="img_49" descr="/home/claude/work/build/figs/lag_curve.png">    </p:cNvPr>
          <p:cNvPicPr>
            <a:picLocks noChangeAspect="1"/>
          </p:cNvPicPr>
          <p:nvPr/>
        </p:nvPicPr>
        <p:blipFill>
          <a:blip r:embed="rId1"/>
          <a:stretch>
            <a:fillRect/>
          </a:stretch>
        </p:blipFill>
        <p:spPr>
          <a:xfrm>
            <a:off x="6675120" y="1280160"/>
            <a:ext cx="4967935" cy="3819154"/>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l_50"/>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51"/>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5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From correlation to mechanism: cloud is a symptom</a:t>
            </a:r>
            <a:endParaRPr lang="en-US" sz="2800" dirty="0"/>
          </a:p>
        </p:txBody>
      </p:sp>
      <p:sp>
        <p:nvSpPr>
          <p:cNvPr id="5" name="bullets_53"/>
          <p:cNvSpPr txBox="1"/>
          <p:nvPr/>
        </p:nvSpPr>
        <p:spPr>
          <a:xfrm>
            <a:off x="548640" y="1325880"/>
            <a:ext cx="5852160" cy="4937760"/>
          </a:xfrm>
          <a:prstGeom prst="rect">
            <a:avLst/>
          </a:prstGeom>
          <a:noFill/>
          <a:ln/>
        </p:spPr>
        <p:txBody>
          <a:bodyPr wrap="square" lIns="635" tIns="635" rIns="635" bIns="635" rtlCol="0" anchor="t"/>
          <a:lstStyle/>
          <a:p>
            <a:pPr marL="342900" indent="-342900">
              <a:spcAft>
                <a:spcPts val="900"/>
              </a:spcAft>
              <a:buSzPct val="100000"/>
              <a:buChar char="■"/>
            </a:pPr>
            <a:r>
              <a:rPr lang="en-US" sz="1500" dirty="0">
                <a:solidFill>
                  <a:srgbClr val="222B36"/>
                </a:solidFill>
                <a:latin typeface="Calibri" pitchFamily="34" charset="0"/>
                <a:ea typeface="Calibri" pitchFamily="34" charset="-122"/>
                <a:cs typeface="Calibri" pitchFamily="34" charset="-120"/>
              </a:rPr>
              <a:t>The notebook can load other ERA5 fields: change VARIABLE to </a:t>
            </a:r>
            <a:r>
              <a:rPr lang="en-US" sz="1500" b="1" dirty="0">
                <a:solidFill>
                  <a:srgbClr val="222B36"/>
                </a:solidFill>
                <a:latin typeface="Calibri" pitchFamily="34" charset="0"/>
                <a:ea typeface="Calibri" pitchFamily="34" charset="-122"/>
                <a:cs typeface="Calibri" pitchFamily="34" charset="-120"/>
              </a:rPr>
              <a:t>skt</a:t>
            </a:r>
            <a:r>
              <a:rPr lang="en-US" sz="1500" dirty="0">
                <a:solidFill>
                  <a:srgbClr val="222B36"/>
                </a:solidFill>
                <a:latin typeface="Calibri" pitchFamily="34" charset="0"/>
                <a:ea typeface="Calibri" pitchFamily="34" charset="-122"/>
                <a:cs typeface="Calibri" pitchFamily="34" charset="-120"/>
              </a:rPr>
              <a:t> (skin temperature ≈ SST over the ocean), </a:t>
            </a:r>
            <a:r>
              <a:rPr lang="en-US" sz="1500" b="1" dirty="0">
                <a:solidFill>
                  <a:srgbClr val="222B36"/>
                </a:solidFill>
                <a:latin typeface="Calibri" pitchFamily="34" charset="0"/>
                <a:ea typeface="Calibri" pitchFamily="34" charset="-122"/>
                <a:cs typeface="Calibri" pitchFamily="34" charset="-120"/>
              </a:rPr>
              <a:t>tcwv</a:t>
            </a:r>
            <a:r>
              <a:rPr lang="en-US" sz="1500" dirty="0">
                <a:solidFill>
                  <a:srgbClr val="222B36"/>
                </a:solidFill>
                <a:latin typeface="Calibri" pitchFamily="34" charset="0"/>
                <a:ea typeface="Calibri" pitchFamily="34" charset="-122"/>
                <a:cs typeface="Calibri" pitchFamily="34" charset="-120"/>
              </a:rPr>
              <a:t> (water vapour), </a:t>
            </a:r>
            <a:r>
              <a:rPr lang="en-US" sz="1500" b="1" dirty="0">
                <a:solidFill>
                  <a:srgbClr val="222B36"/>
                </a:solidFill>
                <a:latin typeface="Calibri" pitchFamily="34" charset="0"/>
                <a:ea typeface="Calibri" pitchFamily="34" charset="-122"/>
                <a:cs typeface="Calibri" pitchFamily="34" charset="-120"/>
              </a:rPr>
              <a:t>tclw / tciw</a:t>
            </a:r>
            <a:r>
              <a:rPr lang="en-US" sz="1500" dirty="0">
                <a:solidFill>
                  <a:srgbClr val="222B36"/>
                </a:solidFill>
                <a:latin typeface="Calibri" pitchFamily="34" charset="0"/>
                <a:ea typeface="Calibri" pitchFamily="34" charset="-122"/>
                <a:cs typeface="Calibri" pitchFamily="34" charset="-120"/>
              </a:rPr>
              <a:t> (cloud liquid / ice).</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A consistent story across variables is strong evidence: </a:t>
            </a:r>
            <a:r>
              <a:rPr lang="en-US" sz="1500" dirty="0">
                <a:solidFill>
                  <a:srgbClr val="222B36"/>
                </a:solidFill>
                <a:latin typeface="Calibri" pitchFamily="34" charset="0"/>
                <a:ea typeface="Calibri" pitchFamily="34" charset="-122"/>
                <a:cs typeface="Calibri" pitchFamily="34" charset="-120"/>
              </a:rPr>
              <a:t>warmer SST + more water vapour + more high cloud over the central Pacific during El Niño → convection shifted east.</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Low cloud: </a:t>
            </a:r>
            <a:r>
              <a:rPr lang="en-US" sz="1500" dirty="0">
                <a:solidFill>
                  <a:srgbClr val="222B36"/>
                </a:solidFill>
                <a:latin typeface="Calibri" pitchFamily="34" charset="0"/>
                <a:ea typeface="Calibri" pitchFamily="34" charset="-122"/>
                <a:cs typeface="Calibri" pitchFamily="34" charset="-120"/>
              </a:rPr>
              <a:t>warmer SST under a stratocumulus deck tends to weaken the inversion and thin the cloud, but stability isn't in this dataset, so say so.</a:t>
            </a:r>
            <a:endParaRPr lang="en-US" sz="1500" dirty="0"/>
          </a:p>
          <a:p>
            <a:pPr marL="342900" indent="-342900">
              <a:spcAft>
                <a:spcPts val="900"/>
              </a:spcAft>
              <a:buSzPct val="100000"/>
              <a:buChar char="■"/>
            </a:pPr>
            <a:r>
              <a:rPr lang="en-US" sz="1500" dirty="0">
                <a:solidFill>
                  <a:srgbClr val="222B36"/>
                </a:solidFill>
                <a:latin typeface="Calibri" pitchFamily="34" charset="0"/>
                <a:ea typeface="Calibri" pitchFamily="34" charset="-122"/>
                <a:cs typeface="Calibri" pitchFamily="34" charset="-120"/>
              </a:rPr>
              <a:t>ENSO events differ in </a:t>
            </a:r>
            <a:r>
              <a:rPr lang="en-US" sz="1500" b="1" dirty="0">
                <a:solidFill>
                  <a:srgbClr val="222B36"/>
                </a:solidFill>
                <a:latin typeface="Calibri" pitchFamily="34" charset="0"/>
                <a:ea typeface="Calibri" pitchFamily="34" charset="-122"/>
                <a:cs typeface="Calibri" pitchFamily="34" charset="-120"/>
              </a:rPr>
              <a:t>where</a:t>
            </a:r>
            <a:r>
              <a:rPr lang="en-US" sz="1500" dirty="0">
                <a:solidFill>
                  <a:srgbClr val="222B36"/>
                </a:solidFill>
                <a:latin typeface="Calibri" pitchFamily="34" charset="0"/>
                <a:ea typeface="Calibri" pitchFamily="34" charset="-122"/>
                <a:cs typeface="Calibri" pitchFamily="34" charset="-120"/>
              </a:rPr>
              <a:t> the warming is strongest (central vs eastern Pacific ‘flavours’). Composites blend them.</a:t>
            </a:r>
            <a:endParaRPr lang="en-US" sz="1500" dirty="0"/>
          </a:p>
          <a:p>
            <a:pPr marL="342900" indent="-342900">
              <a:spcAft>
                <a:spcPts val="900"/>
              </a:spcAft>
              <a:buSzPct val="100000"/>
              <a:buChar char="■"/>
            </a:pPr>
            <a:r>
              <a:rPr lang="en-US" sz="1500" dirty="0">
                <a:solidFill>
                  <a:srgbClr val="222B36"/>
                </a:solidFill>
                <a:latin typeface="Calibri" pitchFamily="34" charset="0"/>
                <a:ea typeface="Calibri" pitchFamily="34" charset="-122"/>
                <a:cs typeface="Calibri" pitchFamily="34" charset="-120"/>
              </a:rPr>
              <a:t>One figure from another variable can earn its place, </a:t>
            </a:r>
            <a:r>
              <a:rPr lang="en-US" sz="1500" b="1" dirty="0">
                <a:solidFill>
                  <a:srgbClr val="222B36"/>
                </a:solidFill>
                <a:latin typeface="Calibri" pitchFamily="34" charset="0"/>
                <a:ea typeface="Calibri" pitchFamily="34" charset="-122"/>
                <a:cs typeface="Calibri" pitchFamily="34" charset="-120"/>
              </a:rPr>
              <a:t>if</a:t>
            </a:r>
            <a:r>
              <a:rPr lang="en-US" sz="1500" dirty="0">
                <a:solidFill>
                  <a:srgbClr val="222B36"/>
                </a:solidFill>
                <a:latin typeface="Calibri" pitchFamily="34" charset="0"/>
                <a:ea typeface="Calibri" pitchFamily="34" charset="-122"/>
                <a:cs typeface="Calibri" pitchFamily="34" charset="-120"/>
              </a:rPr>
              <a:t> it tests the mechanism.</a:t>
            </a:r>
            <a:endParaRPr lang="en-US" sz="1500" dirty="0"/>
          </a:p>
        </p:txBody>
      </p:sp>
      <p:sp>
        <p:nvSpPr>
          <p:cNvPr id="6" name="card_54"/>
          <p:cNvSpPr/>
          <p:nvPr/>
        </p:nvSpPr>
        <p:spPr>
          <a:xfrm>
            <a:off x="6720840" y="1325880"/>
            <a:ext cx="4922215" cy="4754880"/>
          </a:xfrm>
          <a:prstGeom prst="roundRect">
            <a:avLst>
              <a:gd name="adj" fmla="val 1538"/>
            </a:avLst>
          </a:prstGeom>
          <a:solidFill>
            <a:srgbClr val="DCE7F2"/>
          </a:solidFill>
          <a:ln w="9525">
            <a:solidFill>
              <a:srgbClr val="DCE7F2"/>
            </a:solidFill>
            <a:prstDash val="solid"/>
          </a:ln>
        </p:spPr>
      </p:sp>
      <p:sp>
        <p:nvSpPr>
          <p:cNvPr id="7" name="tag_55"/>
          <p:cNvSpPr/>
          <p:nvPr/>
        </p:nvSpPr>
        <p:spPr>
          <a:xfrm>
            <a:off x="6885432" y="1453896"/>
            <a:ext cx="2478024" cy="256032"/>
          </a:xfrm>
          <a:prstGeom prst="roundRect">
            <a:avLst>
              <a:gd name="adj" fmla="val 21429"/>
            </a:avLst>
          </a:prstGeom>
          <a:solidFill>
            <a:srgbClr val="2E4A6B"/>
          </a:solidFill>
          <a:ln w="12700">
            <a:solidFill>
              <a:srgbClr val="2E4A6B"/>
            </a:solidFill>
            <a:prstDash val="solid"/>
          </a:ln>
        </p:spPr>
      </p:sp>
      <p:sp>
        <p:nvSpPr>
          <p:cNvPr id="8" name="text_56"/>
          <p:cNvSpPr txBox="1"/>
          <p:nvPr/>
        </p:nvSpPr>
        <p:spPr>
          <a:xfrm>
            <a:off x="6885432" y="1453896"/>
            <a:ext cx="247802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TRY IT (5 MIN IN THE NOTEBOOK)</a:t>
            </a:r>
            <a:endParaRPr lang="en-US" sz="1050" dirty="0"/>
          </a:p>
        </p:txBody>
      </p:sp>
      <p:sp>
        <p:nvSpPr>
          <p:cNvPr id="9" name="text_57"/>
          <p:cNvSpPr txBox="1"/>
          <p:nvPr/>
        </p:nvSpPr>
        <p:spPr>
          <a:xfrm>
            <a:off x="6885432" y="1801368"/>
            <a:ext cx="4593031"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Set VARIABLE = "skt" and rerun §2</a:t>
            </a:r>
            <a:endParaRPr lang="en-US" sz="1700" dirty="0"/>
          </a:p>
        </p:txBody>
      </p:sp>
      <p:sp>
        <p:nvSpPr>
          <p:cNvPr id="10" name="cardbody_58"/>
          <p:cNvSpPr txBox="1"/>
          <p:nvPr/>
        </p:nvSpPr>
        <p:spPr>
          <a:xfrm>
            <a:off x="6885432" y="2258568"/>
            <a:ext cx="4593031" cy="373075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Does the El Niño − La Niña SST pattern line up with your cloud signal?</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In the real data, skin temperature over Niño 4 has r ≈ +0.9 with the ONI.</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If your region's cloud signal has </a:t>
            </a:r>
            <a:r>
              <a:rPr lang="en-US" sz="1450" b="1" dirty="0">
                <a:solidFill>
                  <a:srgbClr val="222B36"/>
                </a:solidFill>
                <a:latin typeface="Calibri" pitchFamily="34" charset="0"/>
                <a:ea typeface="Calibri" pitchFamily="34" charset="-122"/>
                <a:cs typeface="Calibri" pitchFamily="34" charset="-120"/>
              </a:rPr>
              <a:t>no</a:t>
            </a:r>
            <a:r>
              <a:rPr lang="en-US" sz="1450" dirty="0">
                <a:solidFill>
                  <a:srgbClr val="222B36"/>
                </a:solidFill>
                <a:latin typeface="Calibri" pitchFamily="34" charset="0"/>
                <a:ea typeface="Calibri" pitchFamily="34" charset="-122"/>
                <a:cs typeface="Calibri" pitchFamily="34" charset="-120"/>
              </a:rPr>
              <a:t> SST signal under it, what else could drive it?</a:t>
            </a:r>
            <a:endParaRPr lang="en-US" sz="14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_5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Results say what; Discussion says why and so what</a:t>
            </a:r>
            <a:endParaRPr lang="en-US" sz="2800" dirty="0"/>
          </a:p>
        </p:txBody>
      </p:sp>
      <p:sp>
        <p:nvSpPr>
          <p:cNvPr id="3" name="bullets_60"/>
          <p:cNvSpPr txBox="1"/>
          <p:nvPr/>
        </p:nvSpPr>
        <p:spPr>
          <a:xfrm>
            <a:off x="548640" y="1325880"/>
            <a:ext cx="5669280" cy="4937760"/>
          </a:xfrm>
          <a:prstGeom prst="rect">
            <a:avLst/>
          </a:prstGeom>
          <a:noFill/>
          <a:ln/>
        </p:spPr>
        <p:txBody>
          <a:bodyPr wrap="square" lIns="635" tIns="635" rIns="635" bIns="635" rtlCol="0" anchor="t"/>
          <a:lstStyle/>
          <a:p>
            <a:pPr marL="342900" indent="-342900">
              <a:spcAft>
                <a:spcPts val="900"/>
              </a:spcAft>
              <a:buSzPct val="100000"/>
              <a:buChar char="■"/>
            </a:pPr>
            <a:r>
              <a:rPr lang="en-US" sz="1650" b="1" dirty="0">
                <a:solidFill>
                  <a:srgbClr val="222B36"/>
                </a:solidFill>
                <a:latin typeface="Calibri" pitchFamily="34" charset="0"/>
                <a:ea typeface="Calibri" pitchFamily="34" charset="-122"/>
                <a:cs typeface="Calibri" pitchFamily="34" charset="-120"/>
              </a:rPr>
              <a:t>Results:</a:t>
            </a:r>
            <a:r>
              <a:rPr lang="en-US" sz="1650" dirty="0">
                <a:solidFill>
                  <a:srgbClr val="222B36"/>
                </a:solidFill>
                <a:latin typeface="Calibri" pitchFamily="34" charset="0"/>
                <a:ea typeface="Calibri" pitchFamily="34" charset="-122"/>
                <a:cs typeface="Calibri" pitchFamily="34" charset="-120"/>
              </a:rPr>
              <a:t> what pattern, sign, magnitude, relationship? (evidence)</a:t>
            </a:r>
            <a:endParaRPr lang="en-US" sz="1650" dirty="0"/>
          </a:p>
          <a:p>
            <a:pPr marL="342900" indent="-342900">
              <a:spcAft>
                <a:spcPts val="900"/>
              </a:spcAft>
              <a:buSzPct val="100000"/>
              <a:buChar char="■"/>
            </a:pPr>
            <a:r>
              <a:rPr lang="en-US" sz="1650" b="1" dirty="0">
                <a:solidFill>
                  <a:srgbClr val="222B36"/>
                </a:solidFill>
                <a:latin typeface="Calibri" pitchFamily="34" charset="0"/>
                <a:ea typeface="Calibri" pitchFamily="34" charset="-122"/>
                <a:cs typeface="Calibri" pitchFamily="34" charset="-120"/>
              </a:rPr>
              <a:t>Discussion:</a:t>
            </a:r>
            <a:r>
              <a:rPr lang="en-US" sz="1650" dirty="0">
                <a:solidFill>
                  <a:srgbClr val="222B36"/>
                </a:solidFill>
                <a:latin typeface="Calibri" pitchFamily="34" charset="0"/>
                <a:ea typeface="Calibri" pitchFamily="34" charset="-122"/>
                <a:cs typeface="Calibri" pitchFamily="34" charset="-120"/>
              </a:rPr>
              <a:t> what does it mean physically, how sure are we, and how does it fit what others found? (interpretation)</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Schultz: separate speculation explicitly, e.g. ‘We speculate that…’. It avoids reviewers concluding you can't tell results from speculation.</a:t>
            </a:r>
            <a:endParaRPr lang="en-US" sz="1650" dirty="0"/>
          </a:p>
          <a:p>
            <a:pPr marL="342900" indent="-342900">
              <a:spcAft>
                <a:spcPts val="900"/>
              </a:spcAft>
              <a:buSzPct val="100000"/>
              <a:buChar char="■"/>
            </a:pPr>
            <a:r>
              <a:rPr lang="en-US" sz="1650" dirty="0">
                <a:solidFill>
                  <a:srgbClr val="222B36"/>
                </a:solidFill>
                <a:latin typeface="Calibri" pitchFamily="34" charset="0"/>
                <a:ea typeface="Calibri" pitchFamily="34" charset="-122"/>
                <a:cs typeface="Calibri" pitchFamily="34" charset="-120"/>
              </a:rPr>
              <a:t>Don't </a:t>
            </a:r>
            <a:r>
              <a:rPr lang="en-US" sz="1650" b="1" dirty="0">
                <a:solidFill>
                  <a:srgbClr val="222B36"/>
                </a:solidFill>
                <a:latin typeface="Calibri" pitchFamily="34" charset="0"/>
                <a:ea typeface="Calibri" pitchFamily="34" charset="-122"/>
                <a:cs typeface="Calibri" pitchFamily="34" charset="-120"/>
              </a:rPr>
              <a:t>re-describe</a:t>
            </a:r>
            <a:r>
              <a:rPr lang="en-US" sz="1650" dirty="0">
                <a:solidFill>
                  <a:srgbClr val="222B36"/>
                </a:solidFill>
                <a:latin typeface="Calibri" pitchFamily="34" charset="0"/>
                <a:ea typeface="Calibri" pitchFamily="34" charset="-122"/>
                <a:cs typeface="Calibri" pitchFamily="34" charset="-120"/>
              </a:rPr>
              <a:t> results in the Discussion; refer back briefly (“the weaker MC relationship (Section 3)”) and </a:t>
            </a:r>
            <a:r>
              <a:rPr lang="en-US" sz="1650" b="1" dirty="0">
                <a:solidFill>
                  <a:srgbClr val="222B36"/>
                </a:solidFill>
                <a:latin typeface="Calibri" pitchFamily="34" charset="0"/>
                <a:ea typeface="Calibri" pitchFamily="34" charset="-122"/>
                <a:cs typeface="Calibri" pitchFamily="34" charset="-120"/>
              </a:rPr>
              <a:t>interpret</a:t>
            </a:r>
            <a:r>
              <a:rPr lang="en-US" sz="1650" dirty="0">
                <a:solidFill>
                  <a:srgbClr val="222B36"/>
                </a:solidFill>
                <a:latin typeface="Calibri" pitchFamily="34" charset="0"/>
                <a:ea typeface="Calibri" pitchFamily="34" charset="-122"/>
                <a:cs typeface="Calibri" pitchFamily="34" charset="-120"/>
              </a:rPr>
              <a:t>.</a:t>
            </a:r>
            <a:endParaRPr lang="en-US" sz="1650" dirty="0"/>
          </a:p>
        </p:txBody>
      </p:sp>
      <p:sp>
        <p:nvSpPr>
          <p:cNvPr id="4" name="card_61"/>
          <p:cNvSpPr/>
          <p:nvPr/>
        </p:nvSpPr>
        <p:spPr>
          <a:xfrm>
            <a:off x="6537960" y="1325880"/>
            <a:ext cx="5105095" cy="4754880"/>
          </a:xfrm>
          <a:prstGeom prst="roundRect">
            <a:avLst>
              <a:gd name="adj" fmla="val 1538"/>
            </a:avLst>
          </a:prstGeom>
          <a:solidFill>
            <a:srgbClr val="FFFFFF"/>
          </a:solidFill>
          <a:ln w="9525">
            <a:solidFill>
              <a:srgbClr val="FFFFFF"/>
            </a:solidFill>
            <a:prstDash val="solid"/>
          </a:ln>
        </p:spPr>
      </p:sp>
      <p:sp>
        <p:nvSpPr>
          <p:cNvPr id="5" name="tag_62"/>
          <p:cNvSpPr/>
          <p:nvPr/>
        </p:nvSpPr>
        <p:spPr>
          <a:xfrm>
            <a:off x="6702552" y="1453896"/>
            <a:ext cx="1234440" cy="256032"/>
          </a:xfrm>
          <a:prstGeom prst="roundRect">
            <a:avLst>
              <a:gd name="adj" fmla="val 21429"/>
            </a:avLst>
          </a:prstGeom>
          <a:solidFill>
            <a:srgbClr val="2E4A6B"/>
          </a:solidFill>
          <a:ln w="12700">
            <a:solidFill>
              <a:srgbClr val="2E4A6B"/>
            </a:solidFill>
            <a:prstDash val="solid"/>
          </a:ln>
        </p:spPr>
      </p:sp>
      <p:sp>
        <p:nvSpPr>
          <p:cNvPr id="6" name="text_63"/>
          <p:cNvSpPr txBox="1"/>
          <p:nvPr/>
        </p:nvSpPr>
        <p:spPr>
          <a:xfrm>
            <a:off x="6702552" y="145389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USEFUL PHRASES</a:t>
            </a:r>
            <a:endParaRPr lang="en-US" sz="1050" dirty="0"/>
          </a:p>
        </p:txBody>
      </p:sp>
      <p:sp>
        <p:nvSpPr>
          <p:cNvPr id="7" name="cardbody_64"/>
          <p:cNvSpPr txBox="1"/>
          <p:nvPr/>
        </p:nvSpPr>
        <p:spPr>
          <a:xfrm>
            <a:off x="6702552" y="1801368"/>
            <a:ext cx="4775911" cy="418795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This is consistent with…</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One explanation is…; an alternative is…</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This differs from [source], possibly because…</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We speculate that…</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This result does not hold for…, which suggests…</a:t>
            </a:r>
            <a:endParaRPr lang="en-US" sz="1450" dirty="0"/>
          </a:p>
          <a:p>
            <a:pPr marL="342900" indent="-342900">
              <a:spcAft>
                <a:spcPts val="500"/>
              </a:spcAft>
              <a:buSzPct val="100000"/>
              <a:buChar char="■"/>
            </a:pPr>
            <a:r>
              <a:rPr lang="en-US" sz="1450" dirty="0">
                <a:solidFill>
                  <a:srgbClr val="222B36"/>
                </a:solidFill>
                <a:latin typeface="Calibri" pitchFamily="34" charset="0"/>
                <a:ea typeface="Calibri" pitchFamily="34" charset="-122"/>
                <a:cs typeface="Calibri" pitchFamily="34" charset="-120"/>
              </a:rPr>
              <a:t>If this relationship holds, the 2026–27 El Niño would be expected to…</a:t>
            </a:r>
            <a:endParaRPr lang="en-US" sz="1450" dirty="0"/>
          </a:p>
        </p:txBody>
      </p:sp>
      <p:sp>
        <p:nvSpPr>
          <p:cNvPr id="8" name="text_65"/>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§4.10 Discussion; §4.11 on the Results/Discussion/Conclusion distinction.</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_6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 menu of Discussion moves: choose three or four</a:t>
            </a:r>
            <a:endParaRPr lang="en-US" sz="2800" dirty="0"/>
          </a:p>
        </p:txBody>
      </p:sp>
      <p:sp>
        <p:nvSpPr>
          <p:cNvPr id="3" name="card_67"/>
          <p:cNvSpPr/>
          <p:nvPr/>
        </p:nvSpPr>
        <p:spPr>
          <a:xfrm>
            <a:off x="548640" y="1325880"/>
            <a:ext cx="3566160" cy="1965960"/>
          </a:xfrm>
          <a:prstGeom prst="roundRect">
            <a:avLst>
              <a:gd name="adj" fmla="val 3721"/>
            </a:avLst>
          </a:prstGeom>
          <a:solidFill>
            <a:srgbClr val="DCE7F2"/>
          </a:solidFill>
          <a:ln w="9525">
            <a:solidFill>
              <a:srgbClr val="D5DAE1"/>
            </a:solidFill>
            <a:prstDash val="solid"/>
          </a:ln>
        </p:spPr>
      </p:sp>
      <p:sp>
        <p:nvSpPr>
          <p:cNvPr id="4" name="tag_68"/>
          <p:cNvSpPr/>
          <p:nvPr/>
        </p:nvSpPr>
        <p:spPr>
          <a:xfrm>
            <a:off x="713232" y="1453896"/>
            <a:ext cx="690372" cy="256032"/>
          </a:xfrm>
          <a:prstGeom prst="roundRect">
            <a:avLst>
              <a:gd name="adj" fmla="val 21429"/>
            </a:avLst>
          </a:prstGeom>
          <a:solidFill>
            <a:srgbClr val="1B2A41"/>
          </a:solidFill>
          <a:ln w="12700">
            <a:solidFill>
              <a:srgbClr val="1B2A41"/>
            </a:solidFill>
            <a:prstDash val="solid"/>
          </a:ln>
        </p:spPr>
      </p:sp>
      <p:sp>
        <p:nvSpPr>
          <p:cNvPr id="5" name="text_69"/>
          <p:cNvSpPr txBox="1"/>
          <p:nvPr/>
        </p:nvSpPr>
        <p:spPr>
          <a:xfrm>
            <a:off x="713232" y="1453896"/>
            <a:ext cx="69037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EXPLAIN</a:t>
            </a:r>
            <a:endParaRPr lang="en-US" sz="1050" dirty="0"/>
          </a:p>
        </p:txBody>
      </p:sp>
      <p:sp>
        <p:nvSpPr>
          <p:cNvPr id="6" name="text_70"/>
          <p:cNvSpPr txBox="1"/>
          <p:nvPr/>
        </p:nvSpPr>
        <p:spPr>
          <a:xfrm>
            <a:off x="713232" y="180136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Give a physical mechanism for the main result: Walker circulation, subsidence, stability, SST, convection.</a:t>
            </a:r>
            <a:endParaRPr lang="en-US" sz="1450" dirty="0"/>
          </a:p>
        </p:txBody>
      </p:sp>
      <p:sp>
        <p:nvSpPr>
          <p:cNvPr id="7" name="card_71"/>
          <p:cNvSpPr/>
          <p:nvPr/>
        </p:nvSpPr>
        <p:spPr>
          <a:xfrm>
            <a:off x="4306824" y="1325880"/>
            <a:ext cx="3566160" cy="1965960"/>
          </a:xfrm>
          <a:prstGeom prst="roundRect">
            <a:avLst>
              <a:gd name="adj" fmla="val 3721"/>
            </a:avLst>
          </a:prstGeom>
          <a:solidFill>
            <a:srgbClr val="F7F4EE"/>
          </a:solidFill>
          <a:ln w="9525">
            <a:solidFill>
              <a:srgbClr val="D5DAE1"/>
            </a:solidFill>
            <a:prstDash val="solid"/>
          </a:ln>
        </p:spPr>
      </p:sp>
      <p:sp>
        <p:nvSpPr>
          <p:cNvPr id="8" name="tag_72"/>
          <p:cNvSpPr/>
          <p:nvPr/>
        </p:nvSpPr>
        <p:spPr>
          <a:xfrm>
            <a:off x="4471416" y="1453896"/>
            <a:ext cx="690372" cy="256032"/>
          </a:xfrm>
          <a:prstGeom prst="roundRect">
            <a:avLst>
              <a:gd name="adj" fmla="val 21429"/>
            </a:avLst>
          </a:prstGeom>
          <a:solidFill>
            <a:srgbClr val="2E4A6B"/>
          </a:solidFill>
          <a:ln w="12700">
            <a:solidFill>
              <a:srgbClr val="2E4A6B"/>
            </a:solidFill>
            <a:prstDash val="solid"/>
          </a:ln>
        </p:spPr>
      </p:sp>
      <p:sp>
        <p:nvSpPr>
          <p:cNvPr id="9" name="text_73"/>
          <p:cNvSpPr txBox="1"/>
          <p:nvPr/>
        </p:nvSpPr>
        <p:spPr>
          <a:xfrm>
            <a:off x="4471416" y="1453896"/>
            <a:ext cx="69037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COMPARE</a:t>
            </a:r>
            <a:endParaRPr lang="en-US" sz="1050" dirty="0"/>
          </a:p>
        </p:txBody>
      </p:sp>
      <p:sp>
        <p:nvSpPr>
          <p:cNvPr id="10" name="text_74"/>
          <p:cNvSpPr txBox="1"/>
          <p:nvPr/>
        </p:nvSpPr>
        <p:spPr>
          <a:xfrm>
            <a:off x="4471416" y="180136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Agree or disagree with published work? If you disagree, say why that might be.</a:t>
            </a:r>
            <a:endParaRPr lang="en-US" sz="1450" dirty="0"/>
          </a:p>
        </p:txBody>
      </p:sp>
      <p:sp>
        <p:nvSpPr>
          <p:cNvPr id="11" name="card_75"/>
          <p:cNvSpPr/>
          <p:nvPr/>
        </p:nvSpPr>
        <p:spPr>
          <a:xfrm>
            <a:off x="8065008" y="1325880"/>
            <a:ext cx="3566160" cy="1965960"/>
          </a:xfrm>
          <a:prstGeom prst="roundRect">
            <a:avLst>
              <a:gd name="adj" fmla="val 3721"/>
            </a:avLst>
          </a:prstGeom>
          <a:solidFill>
            <a:srgbClr val="F7F4EE"/>
          </a:solidFill>
          <a:ln w="9525">
            <a:solidFill>
              <a:srgbClr val="D5DAE1"/>
            </a:solidFill>
            <a:prstDash val="solid"/>
          </a:ln>
        </p:spPr>
      </p:sp>
      <p:sp>
        <p:nvSpPr>
          <p:cNvPr id="12" name="tag_76"/>
          <p:cNvSpPr/>
          <p:nvPr/>
        </p:nvSpPr>
        <p:spPr>
          <a:xfrm>
            <a:off x="8229600" y="1453896"/>
            <a:ext cx="923544" cy="256032"/>
          </a:xfrm>
          <a:prstGeom prst="roundRect">
            <a:avLst>
              <a:gd name="adj" fmla="val 21429"/>
            </a:avLst>
          </a:prstGeom>
          <a:solidFill>
            <a:srgbClr val="2E4A6B"/>
          </a:solidFill>
          <a:ln w="12700">
            <a:solidFill>
              <a:srgbClr val="2E4A6B"/>
            </a:solidFill>
            <a:prstDash val="solid"/>
          </a:ln>
        </p:spPr>
      </p:sp>
      <p:sp>
        <p:nvSpPr>
          <p:cNvPr id="13" name="text_77"/>
          <p:cNvSpPr txBox="1"/>
          <p:nvPr/>
        </p:nvSpPr>
        <p:spPr>
          <a:xfrm>
            <a:off x="8229600" y="145389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EXCEPTIONS</a:t>
            </a:r>
            <a:endParaRPr lang="en-US" sz="1050" dirty="0"/>
          </a:p>
        </p:txBody>
      </p:sp>
      <p:sp>
        <p:nvSpPr>
          <p:cNvPr id="14" name="text_78"/>
          <p:cNvSpPr txBox="1"/>
          <p:nvPr/>
        </p:nvSpPr>
        <p:spPr>
          <a:xfrm>
            <a:off x="8229600" y="180136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Discuss events, regions or seasons that don't fit. They are often the most interesting part.</a:t>
            </a:r>
            <a:endParaRPr lang="en-US" sz="1450" dirty="0"/>
          </a:p>
        </p:txBody>
      </p:sp>
      <p:sp>
        <p:nvSpPr>
          <p:cNvPr id="15" name="card_79"/>
          <p:cNvSpPr/>
          <p:nvPr/>
        </p:nvSpPr>
        <p:spPr>
          <a:xfrm>
            <a:off x="548640" y="3474720"/>
            <a:ext cx="3566160" cy="1965960"/>
          </a:xfrm>
          <a:prstGeom prst="roundRect">
            <a:avLst>
              <a:gd name="adj" fmla="val 3721"/>
            </a:avLst>
          </a:prstGeom>
          <a:solidFill>
            <a:srgbClr val="F7F4EE"/>
          </a:solidFill>
          <a:ln w="9525">
            <a:solidFill>
              <a:srgbClr val="D5DAE1"/>
            </a:solidFill>
            <a:prstDash val="solid"/>
          </a:ln>
        </p:spPr>
      </p:sp>
      <p:sp>
        <p:nvSpPr>
          <p:cNvPr id="16" name="tag_80"/>
          <p:cNvSpPr/>
          <p:nvPr/>
        </p:nvSpPr>
        <p:spPr>
          <a:xfrm>
            <a:off x="713232" y="3602736"/>
            <a:ext cx="1078992" cy="256032"/>
          </a:xfrm>
          <a:prstGeom prst="roundRect">
            <a:avLst>
              <a:gd name="adj" fmla="val 21429"/>
            </a:avLst>
          </a:prstGeom>
          <a:solidFill>
            <a:srgbClr val="2E4A6B"/>
          </a:solidFill>
          <a:ln w="12700">
            <a:solidFill>
              <a:srgbClr val="2E4A6B"/>
            </a:solidFill>
            <a:prstDash val="solid"/>
          </a:ln>
        </p:spPr>
      </p:sp>
      <p:sp>
        <p:nvSpPr>
          <p:cNvPr id="17" name="text_81"/>
          <p:cNvSpPr txBox="1"/>
          <p:nvPr/>
        </p:nvSpPr>
        <p:spPr>
          <a:xfrm>
            <a:off x="713232" y="3602736"/>
            <a:ext cx="107899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ALTERNATIVES</a:t>
            </a:r>
            <a:endParaRPr lang="en-US" sz="1050" dirty="0"/>
          </a:p>
        </p:txBody>
      </p:sp>
      <p:sp>
        <p:nvSpPr>
          <p:cNvPr id="18" name="text_82"/>
          <p:cNvSpPr txBox="1"/>
          <p:nvPr/>
        </p:nvSpPr>
        <p:spPr>
          <a:xfrm>
            <a:off x="713232" y="395020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Could something other than your preferred explanation produce the same pattern?</a:t>
            </a:r>
            <a:endParaRPr lang="en-US" sz="1450" dirty="0"/>
          </a:p>
        </p:txBody>
      </p:sp>
      <p:sp>
        <p:nvSpPr>
          <p:cNvPr id="19" name="card_83"/>
          <p:cNvSpPr/>
          <p:nvPr/>
        </p:nvSpPr>
        <p:spPr>
          <a:xfrm>
            <a:off x="4306824" y="3474720"/>
            <a:ext cx="3566160" cy="1965960"/>
          </a:xfrm>
          <a:prstGeom prst="roundRect">
            <a:avLst>
              <a:gd name="adj" fmla="val 3721"/>
            </a:avLst>
          </a:prstGeom>
          <a:solidFill>
            <a:srgbClr val="F7F4EE"/>
          </a:solidFill>
          <a:ln w="9525">
            <a:solidFill>
              <a:srgbClr val="D5DAE1"/>
            </a:solidFill>
            <a:prstDash val="solid"/>
          </a:ln>
        </p:spPr>
      </p:sp>
      <p:sp>
        <p:nvSpPr>
          <p:cNvPr id="20" name="tag_84"/>
          <p:cNvSpPr/>
          <p:nvPr/>
        </p:nvSpPr>
        <p:spPr>
          <a:xfrm>
            <a:off x="4471416" y="3602736"/>
            <a:ext cx="1001268" cy="256032"/>
          </a:xfrm>
          <a:prstGeom prst="roundRect">
            <a:avLst>
              <a:gd name="adj" fmla="val 21429"/>
            </a:avLst>
          </a:prstGeom>
          <a:solidFill>
            <a:srgbClr val="2E4A6B"/>
          </a:solidFill>
          <a:ln w="12700">
            <a:solidFill>
              <a:srgbClr val="2E4A6B"/>
            </a:solidFill>
            <a:prstDash val="solid"/>
          </a:ln>
        </p:spPr>
      </p:sp>
      <p:sp>
        <p:nvSpPr>
          <p:cNvPr id="21" name="text_85"/>
          <p:cNvSpPr txBox="1"/>
          <p:nvPr/>
        </p:nvSpPr>
        <p:spPr>
          <a:xfrm>
            <a:off x="4471416" y="3602736"/>
            <a:ext cx="10012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LIMITATIONS</a:t>
            </a:r>
            <a:endParaRPr lang="en-US" sz="1050" dirty="0"/>
          </a:p>
        </p:txBody>
      </p:sp>
      <p:sp>
        <p:nvSpPr>
          <p:cNvPr id="22" name="text_86"/>
          <p:cNvSpPr txBox="1"/>
          <p:nvPr/>
        </p:nvSpPr>
        <p:spPr>
          <a:xfrm>
            <a:off x="4471416" y="395020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The ones that genuinely affect your answer, with their likely effect.</a:t>
            </a:r>
            <a:endParaRPr lang="en-US" sz="1450" dirty="0"/>
          </a:p>
        </p:txBody>
      </p:sp>
      <p:sp>
        <p:nvSpPr>
          <p:cNvPr id="23" name="card_87"/>
          <p:cNvSpPr/>
          <p:nvPr/>
        </p:nvSpPr>
        <p:spPr>
          <a:xfrm>
            <a:off x="8065008" y="3474720"/>
            <a:ext cx="3566160" cy="1965960"/>
          </a:xfrm>
          <a:prstGeom prst="roundRect">
            <a:avLst>
              <a:gd name="adj" fmla="val 3721"/>
            </a:avLst>
          </a:prstGeom>
          <a:solidFill>
            <a:srgbClr val="DCE7F2"/>
          </a:solidFill>
          <a:ln w="9525">
            <a:solidFill>
              <a:srgbClr val="D5DAE1"/>
            </a:solidFill>
            <a:prstDash val="solid"/>
          </a:ln>
        </p:spPr>
      </p:sp>
      <p:sp>
        <p:nvSpPr>
          <p:cNvPr id="24" name="tag_88"/>
          <p:cNvSpPr/>
          <p:nvPr/>
        </p:nvSpPr>
        <p:spPr>
          <a:xfrm>
            <a:off x="8229600" y="3602736"/>
            <a:ext cx="1700784" cy="256032"/>
          </a:xfrm>
          <a:prstGeom prst="roundRect">
            <a:avLst>
              <a:gd name="adj" fmla="val 21429"/>
            </a:avLst>
          </a:prstGeom>
          <a:solidFill>
            <a:srgbClr val="1B2A41"/>
          </a:solidFill>
          <a:ln w="12700">
            <a:solidFill>
              <a:srgbClr val="1B2A41"/>
            </a:solidFill>
            <a:prstDash val="solid"/>
          </a:ln>
        </p:spPr>
      </p:sp>
      <p:sp>
        <p:nvSpPr>
          <p:cNvPr id="25" name="text_89"/>
          <p:cNvSpPr txBox="1"/>
          <p:nvPr/>
        </p:nvSpPr>
        <p:spPr>
          <a:xfrm>
            <a:off x="8229600" y="3602736"/>
            <a:ext cx="170078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BACK TO THE QUESTION</a:t>
            </a:r>
            <a:endParaRPr lang="en-US" sz="1050" dirty="0"/>
          </a:p>
        </p:txBody>
      </p:sp>
      <p:sp>
        <p:nvSpPr>
          <p:cNvPr id="26" name="text_90"/>
          <p:cNvSpPr txBox="1"/>
          <p:nvPr/>
        </p:nvSpPr>
        <p:spPr>
          <a:xfrm>
            <a:off x="8229600" y="3950208"/>
            <a:ext cx="3236976" cy="1399032"/>
          </a:xfrm>
          <a:prstGeom prst="rect">
            <a:avLst/>
          </a:prstGeom>
          <a:noFill/>
          <a:ln/>
        </p:spPr>
        <p:txBody>
          <a:bodyPr wrap="square" lIns="635" tIns="635" rIns="635" bIns="635" rtlCol="0" anchor="t"/>
          <a:lstStyle/>
          <a:p>
            <a:pPr algn="l" indent="0" marL="0">
              <a:lnSpc>
                <a:spcPct val="100000"/>
              </a:lnSpc>
              <a:buNone/>
            </a:pPr>
            <a:r>
              <a:rPr lang="en-US" sz="1450" dirty="0">
                <a:solidFill>
                  <a:srgbClr val="222B36"/>
                </a:solidFill>
                <a:latin typeface="Calibri" pitchFamily="34" charset="0"/>
                <a:ea typeface="Calibri" pitchFamily="34" charset="-122"/>
                <a:cs typeface="Calibri" pitchFamily="34" charset="-120"/>
              </a:rPr>
              <a:t>Return to the Introduction's question: did you answer it? What remains open?</a:t>
            </a:r>
            <a:endParaRPr lang="en-US" sz="1450" dirty="0"/>
          </a:p>
        </p:txBody>
      </p:sp>
      <p:sp>
        <p:nvSpPr>
          <p:cNvPr id="27" name="text_91"/>
          <p:cNvSpPr txBox="1"/>
          <p:nvPr/>
        </p:nvSpPr>
        <p:spPr>
          <a:xfrm>
            <a:off x="548640" y="5715000"/>
            <a:ext cx="11064240" cy="548640"/>
          </a:xfrm>
          <a:prstGeom prst="rect">
            <a:avLst/>
          </a:prstGeom>
          <a:noFill/>
          <a:ln/>
        </p:spPr>
        <p:txBody>
          <a:bodyPr wrap="square" lIns="635" tIns="635" rIns="635" bIns="635" rtlCol="0" anchor="t"/>
          <a:lstStyle/>
          <a:p>
            <a:pPr algn="l" indent="0" marL="0">
              <a:lnSpc>
                <a:spcPct val="100000"/>
              </a:lnSpc>
              <a:buNone/>
            </a:pPr>
            <a:r>
              <a:rPr lang="en-US" sz="1450" b="1" dirty="0">
                <a:solidFill>
                  <a:srgbClr val="1B2A41"/>
                </a:solidFill>
                <a:latin typeface="Calibri" pitchFamily="34" charset="0"/>
                <a:ea typeface="Calibri" pitchFamily="34" charset="-122"/>
                <a:cs typeface="Calibri" pitchFamily="34" charset="-120"/>
              </a:rPr>
              <a:t>~450 words is room for 3–4 moves done well. EXPLAIN and BACK TO THE QUESTION are essential; pick the others that fit your result.</a:t>
            </a:r>
            <a:endParaRPr lang="en-US" sz="1450" dirty="0"/>
          </a:p>
        </p:txBody>
      </p:sp>
      <p:sp>
        <p:nvSpPr>
          <p:cNvPr id="28" name="text_92"/>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§4.10, Table 4.6 (adapted from Perelman et al. 1998; Day &amp; Gastel 2006).</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_93"/>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Limitations that build trust</a:t>
            </a:r>
            <a:endParaRPr lang="en-US" sz="2800" dirty="0"/>
          </a:p>
        </p:txBody>
      </p:sp>
      <p:sp>
        <p:nvSpPr>
          <p:cNvPr id="3" name="text_94"/>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Schultz: being forthright about limitations ‘will enhance, not reduce, your credibility’. Astute readers will spot them anyway.</a:t>
            </a:r>
            <a:endParaRPr lang="en-US" sz="1500" dirty="0"/>
          </a:p>
        </p:txBody>
      </p:sp>
      <p:sp>
        <p:nvSpPr>
          <p:cNvPr id="4" name="card_95"/>
          <p:cNvSpPr/>
          <p:nvPr/>
        </p:nvSpPr>
        <p:spPr>
          <a:xfrm>
            <a:off x="548640" y="1691640"/>
            <a:ext cx="5440680" cy="3017520"/>
          </a:xfrm>
          <a:prstGeom prst="roundRect">
            <a:avLst>
              <a:gd name="adj" fmla="val 2424"/>
            </a:avLst>
          </a:prstGeom>
          <a:solidFill>
            <a:srgbClr val="F5E0DA"/>
          </a:solidFill>
          <a:ln w="9525">
            <a:solidFill>
              <a:srgbClr val="F5E0DA"/>
            </a:solidFill>
            <a:prstDash val="solid"/>
          </a:ln>
        </p:spPr>
      </p:sp>
      <p:sp>
        <p:nvSpPr>
          <p:cNvPr id="5" name="tag_96"/>
          <p:cNvSpPr/>
          <p:nvPr/>
        </p:nvSpPr>
        <p:spPr>
          <a:xfrm>
            <a:off x="713232" y="1819656"/>
            <a:ext cx="457200" cy="256032"/>
          </a:xfrm>
          <a:prstGeom prst="roundRect">
            <a:avLst>
              <a:gd name="adj" fmla="val 21429"/>
            </a:avLst>
          </a:prstGeom>
          <a:solidFill>
            <a:srgbClr val="B04A35"/>
          </a:solidFill>
          <a:ln w="12700">
            <a:solidFill>
              <a:srgbClr val="B04A35"/>
            </a:solidFill>
            <a:prstDash val="solid"/>
          </a:ln>
        </p:spPr>
      </p:sp>
      <p:sp>
        <p:nvSpPr>
          <p:cNvPr id="6" name="text_97"/>
          <p:cNvSpPr txBox="1"/>
          <p:nvPr/>
        </p:nvSpPr>
        <p:spPr>
          <a:xfrm>
            <a:off x="713232" y="1819656"/>
            <a:ext cx="45720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WEAK</a:t>
            </a:r>
            <a:endParaRPr lang="en-US" sz="1050" dirty="0"/>
          </a:p>
        </p:txBody>
      </p:sp>
      <p:sp>
        <p:nvSpPr>
          <p:cNvPr id="7" name="text_98"/>
          <p:cNvSpPr txBox="1"/>
          <p:nvPr/>
        </p:nvSpPr>
        <p:spPr>
          <a:xfrm>
            <a:off x="713232" y="2167128"/>
            <a:ext cx="5111496" cy="2450592"/>
          </a:xfrm>
          <a:prstGeom prst="rect">
            <a:avLst/>
          </a:prstGeom>
          <a:noFill/>
          <a:ln/>
        </p:spPr>
        <p:txBody>
          <a:bodyPr wrap="square" lIns="635" tIns="635" rIns="635" bIns="635" rtlCol="0" anchor="t"/>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“There are some limitations to this study, such as the short dataset. More data would improve the results and further research is needed.”</a:t>
            </a:r>
            <a:endParaRPr lang="en-US" sz="1400" dirty="0"/>
          </a:p>
        </p:txBody>
      </p:sp>
      <p:sp>
        <p:nvSpPr>
          <p:cNvPr id="8" name="card_99"/>
          <p:cNvSpPr/>
          <p:nvPr/>
        </p:nvSpPr>
        <p:spPr>
          <a:xfrm>
            <a:off x="6199632" y="1691640"/>
            <a:ext cx="5440680" cy="3017520"/>
          </a:xfrm>
          <a:prstGeom prst="roundRect">
            <a:avLst>
              <a:gd name="adj" fmla="val 2424"/>
            </a:avLst>
          </a:prstGeom>
          <a:solidFill>
            <a:srgbClr val="DCEFEA"/>
          </a:solidFill>
          <a:ln w="9525">
            <a:solidFill>
              <a:srgbClr val="DCEFEA"/>
            </a:solidFill>
            <a:prstDash val="solid"/>
          </a:ln>
        </p:spPr>
      </p:sp>
      <p:sp>
        <p:nvSpPr>
          <p:cNvPr id="9" name="tag_100"/>
          <p:cNvSpPr/>
          <p:nvPr/>
        </p:nvSpPr>
        <p:spPr>
          <a:xfrm>
            <a:off x="6364224" y="1819656"/>
            <a:ext cx="612648" cy="256032"/>
          </a:xfrm>
          <a:prstGeom prst="roundRect">
            <a:avLst>
              <a:gd name="adj" fmla="val 21429"/>
            </a:avLst>
          </a:prstGeom>
          <a:solidFill>
            <a:srgbClr val="1F7A6E"/>
          </a:solidFill>
          <a:ln w="12700">
            <a:solidFill>
              <a:srgbClr val="1F7A6E"/>
            </a:solidFill>
            <a:prstDash val="solid"/>
          </a:ln>
        </p:spPr>
      </p:sp>
      <p:sp>
        <p:nvSpPr>
          <p:cNvPr id="10" name="text_101"/>
          <p:cNvSpPr txBox="1"/>
          <p:nvPr/>
        </p:nvSpPr>
        <p:spPr>
          <a:xfrm>
            <a:off x="6364224" y="1819656"/>
            <a:ext cx="61264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STRONG</a:t>
            </a:r>
            <a:endParaRPr lang="en-US" sz="1050" dirty="0"/>
          </a:p>
        </p:txBody>
      </p:sp>
      <p:sp>
        <p:nvSpPr>
          <p:cNvPr id="11" name="text_102"/>
          <p:cNvSpPr txBox="1"/>
          <p:nvPr/>
        </p:nvSpPr>
        <p:spPr>
          <a:xfrm>
            <a:off x="6364224" y="2167128"/>
            <a:ext cx="5111496" cy="2450592"/>
          </a:xfrm>
          <a:prstGeom prst="rect">
            <a:avLst/>
          </a:prstGeom>
          <a:noFill/>
          <a:ln/>
        </p:spPr>
        <p:txBody>
          <a:bodyPr wrap="square" lIns="635" tIns="635" rIns="635" bIns="635" rtlCol="0" anchor="t"/>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“The 54 El Niño months come from only about six events, and 14 of them belong to the exceptionally strong 2015–16 event. Recomputing the composite without 2015–16 would show whether the CP signal is a property of El Niño in general or of one extreme event. In addition, ERA5 cloud cover comes from the model's cloud scheme rather than direct observation, so the magnitude (though probably not the sign) of the response should be treated with caution.”</a:t>
            </a:r>
            <a:endParaRPr lang="en-US" sz="1400" dirty="0"/>
          </a:p>
        </p:txBody>
      </p:sp>
      <p:sp>
        <p:nvSpPr>
          <p:cNvPr id="12" name="text_103"/>
          <p:cNvSpPr txBox="1"/>
          <p:nvPr/>
        </p:nvSpPr>
        <p:spPr>
          <a:xfrm>
            <a:off x="548640" y="489204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3" name="changed_104"/>
          <p:cNvSpPr txBox="1"/>
          <p:nvPr/>
        </p:nvSpPr>
        <p:spPr>
          <a:xfrm>
            <a:off x="548640" y="5166360"/>
            <a:ext cx="11064240" cy="1188720"/>
          </a:xfrm>
          <a:prstGeom prst="rect">
            <a:avLst/>
          </a:prstGeom>
          <a:noFill/>
          <a:ln/>
        </p:spPr>
        <p:txBody>
          <a:bodyPr wrap="square" lIns="635" tIns="635" rIns="635" bIns="635" rtlCol="0" anchor="t"/>
          <a:lstStyle/>
          <a:p>
            <a:pPr marL="342900" indent="-342900">
              <a:spcAft>
                <a:spcPts val="300"/>
              </a:spcAft>
              <a:buSzPct val="100000"/>
              <a:buChar char="■"/>
            </a:pPr>
            <a:r>
              <a:rPr lang="en-US" sz="1450" b="1" dirty="0">
                <a:solidFill>
                  <a:srgbClr val="222B36"/>
                </a:solidFill>
                <a:latin typeface="Calibri" pitchFamily="34" charset="0"/>
                <a:ea typeface="Calibri" pitchFamily="34" charset="-122"/>
                <a:cs typeface="Calibri" pitchFamily="34" charset="-120"/>
              </a:rPr>
              <a:t>Specific:</a:t>
            </a:r>
            <a:r>
              <a:rPr lang="en-US" sz="1450" dirty="0">
                <a:solidFill>
                  <a:srgbClr val="222B36"/>
                </a:solidFill>
                <a:latin typeface="Calibri" pitchFamily="34" charset="0"/>
                <a:ea typeface="Calibri" pitchFamily="34" charset="-122"/>
                <a:cs typeface="Calibri" pitchFamily="34" charset="-120"/>
              </a:rPr>
              <a:t> says exactly what is limited, how much, and its likely </a:t>
            </a:r>
            <a:r>
              <a:rPr lang="en-US" sz="1450" b="1" dirty="0">
                <a:solidFill>
                  <a:srgbClr val="222B36"/>
                </a:solidFill>
                <a:latin typeface="Calibri" pitchFamily="34" charset="0"/>
                <a:ea typeface="Calibri" pitchFamily="34" charset="-122"/>
                <a:cs typeface="Calibri" pitchFamily="34" charset="-120"/>
              </a:rPr>
              <a:t>effect on the answer</a:t>
            </a:r>
            <a:r>
              <a:rPr lang="en-US" sz="1450" dirty="0">
                <a:solidFill>
                  <a:srgbClr val="222B36"/>
                </a:solidFill>
                <a:latin typeface="Calibri" pitchFamily="34" charset="0"/>
                <a:ea typeface="Calibri" pitchFamily="34" charset="-122"/>
                <a:cs typeface="Calibri" pitchFamily="34" charset="-120"/>
              </a:rPr>
              <a:t>.</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Suggests a </a:t>
            </a:r>
            <a:r>
              <a:rPr lang="en-US" sz="1450" b="1" dirty="0">
                <a:solidFill>
                  <a:srgbClr val="222B36"/>
                </a:solidFill>
                <a:latin typeface="Calibri" pitchFamily="34" charset="0"/>
                <a:ea typeface="Calibri" pitchFamily="34" charset="-122"/>
                <a:cs typeface="Calibri" pitchFamily="34" charset="-120"/>
              </a:rPr>
              <a:t>concrete check</a:t>
            </a:r>
            <a:r>
              <a:rPr lang="en-US" sz="1450" dirty="0">
                <a:solidFill>
                  <a:srgbClr val="222B36"/>
                </a:solidFill>
                <a:latin typeface="Calibri" pitchFamily="34" charset="0"/>
                <a:ea typeface="Calibri" pitchFamily="34" charset="-122"/>
                <a:cs typeface="Calibri" pitchFamily="34" charset="-120"/>
              </a:rPr>
              <a:t> instead of ‘more research is needed’.</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Picks limitations that </a:t>
            </a:r>
            <a:r>
              <a:rPr lang="en-US" sz="1450" b="1" dirty="0">
                <a:solidFill>
                  <a:srgbClr val="222B36"/>
                </a:solidFill>
                <a:latin typeface="Calibri" pitchFamily="34" charset="0"/>
                <a:ea typeface="Calibri" pitchFamily="34" charset="-122"/>
                <a:cs typeface="Calibri" pitchFamily="34" charset="-120"/>
              </a:rPr>
              <a:t>matter</a:t>
            </a:r>
            <a:r>
              <a:rPr lang="en-US" sz="1450" dirty="0">
                <a:solidFill>
                  <a:srgbClr val="222B36"/>
                </a:solidFill>
                <a:latin typeface="Calibri" pitchFamily="34" charset="0"/>
                <a:ea typeface="Calibri" pitchFamily="34" charset="-122"/>
                <a:cs typeface="Calibri" pitchFamily="34" charset="-120"/>
              </a:rPr>
              <a:t> for this question, not a generic list.</a:t>
            </a:r>
            <a:endParaRPr lang="en-US" sz="1450" dirty="0"/>
          </a:p>
        </p:txBody>
      </p:sp>
      <p:sp>
        <p:nvSpPr>
          <p:cNvPr id="14" name="text_105"/>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§7.2 ‘Making writing more accessible’ (justify assumptions; explain limitations).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_10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Conclusions that land</a:t>
            </a:r>
            <a:endParaRPr lang="en-US" sz="2800" dirty="0"/>
          </a:p>
        </p:txBody>
      </p:sp>
      <p:sp>
        <p:nvSpPr>
          <p:cNvPr id="3" name="text_107"/>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Schultz: answer the question; two or three take-home findings; nothing new; end ‘forcefully, not on a whimper’.</a:t>
            </a:r>
            <a:endParaRPr lang="en-US" sz="1500" dirty="0"/>
          </a:p>
        </p:txBody>
      </p:sp>
      <p:sp>
        <p:nvSpPr>
          <p:cNvPr id="4" name="card_108"/>
          <p:cNvSpPr/>
          <p:nvPr/>
        </p:nvSpPr>
        <p:spPr>
          <a:xfrm>
            <a:off x="548640" y="1691640"/>
            <a:ext cx="5440680" cy="2926080"/>
          </a:xfrm>
          <a:prstGeom prst="roundRect">
            <a:avLst>
              <a:gd name="adj" fmla="val 2500"/>
            </a:avLst>
          </a:prstGeom>
          <a:solidFill>
            <a:srgbClr val="F5E0DA"/>
          </a:solidFill>
          <a:ln w="9525">
            <a:solidFill>
              <a:srgbClr val="F5E0DA"/>
            </a:solidFill>
            <a:prstDash val="solid"/>
          </a:ln>
        </p:spPr>
      </p:sp>
      <p:sp>
        <p:nvSpPr>
          <p:cNvPr id="5" name="tag_109"/>
          <p:cNvSpPr/>
          <p:nvPr/>
        </p:nvSpPr>
        <p:spPr>
          <a:xfrm>
            <a:off x="713232" y="1819656"/>
            <a:ext cx="845820" cy="256032"/>
          </a:xfrm>
          <a:prstGeom prst="roundRect">
            <a:avLst>
              <a:gd name="adj" fmla="val 21429"/>
            </a:avLst>
          </a:prstGeom>
          <a:solidFill>
            <a:srgbClr val="B04A35"/>
          </a:solidFill>
          <a:ln w="12700">
            <a:solidFill>
              <a:srgbClr val="B04A35"/>
            </a:solidFill>
            <a:prstDash val="solid"/>
          </a:ln>
        </p:spPr>
      </p:sp>
      <p:sp>
        <p:nvSpPr>
          <p:cNvPr id="6" name="text_110"/>
          <p:cNvSpPr txBox="1"/>
          <p:nvPr/>
        </p:nvSpPr>
        <p:spPr>
          <a:xfrm>
            <a:off x="713232" y="1819656"/>
            <a:ext cx="84582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 WHIMPER</a:t>
            </a:r>
            <a:endParaRPr lang="en-US" sz="1050" dirty="0"/>
          </a:p>
        </p:txBody>
      </p:sp>
      <p:sp>
        <p:nvSpPr>
          <p:cNvPr id="7" name="text_111"/>
          <p:cNvSpPr txBox="1"/>
          <p:nvPr/>
        </p:nvSpPr>
        <p:spPr>
          <a:xfrm>
            <a:off x="713232" y="2167128"/>
            <a:ext cx="5111496" cy="2359152"/>
          </a:xfrm>
          <a:prstGeom prst="rect">
            <a:avLst/>
          </a:prstGeom>
          <a:noFill/>
          <a:ln/>
        </p:spPr>
        <p:txBody>
          <a:bodyPr wrap="square" lIns="635" tIns="635" rIns="635" bIns="635" rtlCol="0" anchor="t"/>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“In conclusion, ENSO affects clouds in many different ways and it is a complicated system. More research is needed to understand this further.”</a:t>
            </a:r>
            <a:endParaRPr lang="en-US" sz="1400" dirty="0"/>
          </a:p>
        </p:txBody>
      </p:sp>
      <p:sp>
        <p:nvSpPr>
          <p:cNvPr id="8" name="card_112"/>
          <p:cNvSpPr/>
          <p:nvPr/>
        </p:nvSpPr>
        <p:spPr>
          <a:xfrm>
            <a:off x="6199632" y="1691640"/>
            <a:ext cx="5440680" cy="2926080"/>
          </a:xfrm>
          <a:prstGeom prst="roundRect">
            <a:avLst>
              <a:gd name="adj" fmla="val 2500"/>
            </a:avLst>
          </a:prstGeom>
          <a:solidFill>
            <a:srgbClr val="DCEFEA"/>
          </a:solidFill>
          <a:ln w="9525">
            <a:solidFill>
              <a:srgbClr val="DCEFEA"/>
            </a:solidFill>
            <a:prstDash val="solid"/>
          </a:ln>
        </p:spPr>
      </p:sp>
      <p:sp>
        <p:nvSpPr>
          <p:cNvPr id="9" name="tag_113"/>
          <p:cNvSpPr/>
          <p:nvPr/>
        </p:nvSpPr>
        <p:spPr>
          <a:xfrm>
            <a:off x="6364224" y="1819656"/>
            <a:ext cx="845820" cy="256032"/>
          </a:xfrm>
          <a:prstGeom prst="roundRect">
            <a:avLst>
              <a:gd name="adj" fmla="val 21429"/>
            </a:avLst>
          </a:prstGeom>
          <a:solidFill>
            <a:srgbClr val="1F7A6E"/>
          </a:solidFill>
          <a:ln w="12700">
            <a:solidFill>
              <a:srgbClr val="1F7A6E"/>
            </a:solidFill>
            <a:prstDash val="solid"/>
          </a:ln>
        </p:spPr>
      </p:sp>
      <p:sp>
        <p:nvSpPr>
          <p:cNvPr id="10" name="text_114"/>
          <p:cNvSpPr txBox="1"/>
          <p:nvPr/>
        </p:nvSpPr>
        <p:spPr>
          <a:xfrm>
            <a:off x="6364224" y="1819656"/>
            <a:ext cx="84582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 LANDING</a:t>
            </a:r>
            <a:endParaRPr lang="en-US" sz="1050" dirty="0"/>
          </a:p>
        </p:txBody>
      </p:sp>
      <p:sp>
        <p:nvSpPr>
          <p:cNvPr id="11" name="text_115"/>
          <p:cNvSpPr txBox="1"/>
          <p:nvPr/>
        </p:nvSpPr>
        <p:spPr>
          <a:xfrm>
            <a:off x="6364224" y="2167128"/>
            <a:ext cx="5111496" cy="2359152"/>
          </a:xfrm>
          <a:prstGeom prst="rect">
            <a:avLst/>
          </a:prstGeom>
          <a:noFill/>
          <a:ln/>
        </p:spPr>
        <p:txBody>
          <a:bodyPr wrap="square" lIns="635" tIns="635" rIns="635" bIns="635" rtlCol="0" anchor="t"/>
          <a:lstStyle/>
          <a:p>
            <a:pPr algn="l" indent="0" marL="0">
              <a:lnSpc>
                <a:spcPct val="100000"/>
              </a:lnSpc>
              <a:buNone/>
            </a:pPr>
            <a:r>
              <a:rPr lang="en-US" sz="1400" i="1" dirty="0">
                <a:solidFill>
                  <a:srgbClr val="222B36"/>
                </a:solidFill>
                <a:latin typeface="Georgia" pitchFamily="34" charset="0"/>
                <a:ea typeface="Georgia" pitchFamily="34" charset="-122"/>
                <a:cs typeface="Georgia" pitchFamily="34" charset="-120"/>
              </a:rPr>
              <a:t>“High cloud responds to ENSO in opposite senses on either side of the Pacific warm pool: over CP it increases by about [X] percentage points during El Niño, while over MC it decreases by about [Y]. The MC response is weaker and less consistent between events, so a single ‘ENSO cloud response’ is misleading. Compositing central- and eastern-Pacific El Niño events separately would test whether event type explains the inconsistency.” (illustrative)</a:t>
            </a:r>
            <a:endParaRPr lang="en-US" sz="1400" dirty="0"/>
          </a:p>
        </p:txBody>
      </p:sp>
      <p:sp>
        <p:nvSpPr>
          <p:cNvPr id="12" name="text_116"/>
          <p:cNvSpPr txBox="1"/>
          <p:nvPr/>
        </p:nvSpPr>
        <p:spPr>
          <a:xfrm>
            <a:off x="548640" y="4800600"/>
            <a:ext cx="27432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WHAT CHANGED</a:t>
            </a:r>
            <a:endParaRPr lang="en-US" sz="1100" dirty="0"/>
          </a:p>
        </p:txBody>
      </p:sp>
      <p:sp>
        <p:nvSpPr>
          <p:cNvPr id="13" name="changed_117"/>
          <p:cNvSpPr txBox="1"/>
          <p:nvPr/>
        </p:nvSpPr>
        <p:spPr>
          <a:xfrm>
            <a:off x="548640" y="5074920"/>
            <a:ext cx="11064240" cy="1280160"/>
          </a:xfrm>
          <a:prstGeom prst="rect">
            <a:avLst/>
          </a:prstGeom>
          <a:noFill/>
          <a:ln/>
        </p:spPr>
        <p:txBody>
          <a:bodyPr wrap="square" lIns="635" tIns="635" rIns="635" bIns="635" rtlCol="0" anchor="t"/>
          <a:lstStyle/>
          <a:p>
            <a:pPr marL="342900" indent="-342900">
              <a:spcAft>
                <a:spcPts val="300"/>
              </a:spcAft>
              <a:buSzPct val="100000"/>
              <a:buChar char="■"/>
            </a:pPr>
            <a:r>
              <a:rPr lang="en-US" sz="1450" b="1" dirty="0">
                <a:solidFill>
                  <a:srgbClr val="222B36"/>
                </a:solidFill>
                <a:latin typeface="Calibri" pitchFamily="34" charset="0"/>
                <a:ea typeface="Calibri" pitchFamily="34" charset="-122"/>
                <a:cs typeface="Calibri" pitchFamily="34" charset="-120"/>
              </a:rPr>
              <a:t>Sentence 1 answers the question</a:t>
            </a:r>
            <a:r>
              <a:rPr lang="en-US" sz="1450" dirty="0">
                <a:solidFill>
                  <a:srgbClr val="222B36"/>
                </a:solidFill>
                <a:latin typeface="Calibri" pitchFamily="34" charset="0"/>
                <a:ea typeface="Calibri" pitchFamily="34" charset="-122"/>
                <a:cs typeface="Calibri" pitchFamily="34" charset="-120"/>
              </a:rPr>
              <a:t> in the same words and tags as the purpose statement.</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Findings carry their </a:t>
            </a:r>
            <a:r>
              <a:rPr lang="en-US" sz="1450" b="1" dirty="0">
                <a:solidFill>
                  <a:srgbClr val="222B36"/>
                </a:solidFill>
                <a:latin typeface="Calibri" pitchFamily="34" charset="0"/>
                <a:ea typeface="Calibri" pitchFamily="34" charset="-122"/>
                <a:cs typeface="Calibri" pitchFamily="34" charset="-120"/>
              </a:rPr>
              <a:t>key number</a:t>
            </a:r>
            <a:r>
              <a:rPr lang="en-US" sz="1450" dirty="0">
                <a:solidFill>
                  <a:srgbClr val="222B36"/>
                </a:solidFill>
                <a:latin typeface="Calibri" pitchFamily="34" charset="0"/>
                <a:ea typeface="Calibri" pitchFamily="34" charset="-122"/>
                <a:cs typeface="Calibri" pitchFamily="34" charset="-120"/>
              </a:rPr>
              <a:t>. No new results, figures or citations.</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‘Further research’ becomes a </a:t>
            </a:r>
            <a:r>
              <a:rPr lang="en-US" sz="1450" b="1" dirty="0">
                <a:solidFill>
                  <a:srgbClr val="222B36"/>
                </a:solidFill>
                <a:latin typeface="Calibri" pitchFamily="34" charset="0"/>
                <a:ea typeface="Calibri" pitchFamily="34" charset="-122"/>
                <a:cs typeface="Calibri" pitchFamily="34" charset="-120"/>
              </a:rPr>
              <a:t>specific, testable next step</a:t>
            </a:r>
            <a:r>
              <a:rPr lang="en-US" sz="1450" dirty="0">
                <a:solidFill>
                  <a:srgbClr val="222B36"/>
                </a:solidFill>
                <a:latin typeface="Calibri" pitchFamily="34" charset="0"/>
                <a:ea typeface="Calibri" pitchFamily="34" charset="-122"/>
                <a:cs typeface="Calibri" pitchFamily="34" charset="-120"/>
              </a:rPr>
              <a:t>, or is left out.</a:t>
            </a:r>
            <a:endParaRPr lang="en-US" sz="1450" dirty="0"/>
          </a:p>
        </p:txBody>
      </p:sp>
      <p:sp>
        <p:nvSpPr>
          <p:cNvPr id="14" name="text_118"/>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§4.11 Conclusion, conclusions or summary.</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1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mirror test</a:t>
            </a:r>
            <a:endParaRPr lang="en-US" sz="2800" dirty="0"/>
          </a:p>
        </p:txBody>
      </p:sp>
      <p:sp>
        <p:nvSpPr>
          <p:cNvPr id="3" name="card_120"/>
          <p:cNvSpPr/>
          <p:nvPr/>
        </p:nvSpPr>
        <p:spPr>
          <a:xfrm>
            <a:off x="548640" y="1371600"/>
            <a:ext cx="5120640" cy="3017520"/>
          </a:xfrm>
          <a:prstGeom prst="roundRect">
            <a:avLst>
              <a:gd name="adj" fmla="val 2424"/>
            </a:avLst>
          </a:prstGeom>
          <a:solidFill>
            <a:srgbClr val="DCE7F2"/>
          </a:solidFill>
          <a:ln w="9525">
            <a:solidFill>
              <a:srgbClr val="DCE7F2"/>
            </a:solidFill>
            <a:prstDash val="solid"/>
          </a:ln>
        </p:spPr>
      </p:sp>
      <p:sp>
        <p:nvSpPr>
          <p:cNvPr id="4" name="tag_121"/>
          <p:cNvSpPr/>
          <p:nvPr/>
        </p:nvSpPr>
        <p:spPr>
          <a:xfrm>
            <a:off x="713232" y="1499616"/>
            <a:ext cx="1623060" cy="256032"/>
          </a:xfrm>
          <a:prstGeom prst="roundRect">
            <a:avLst>
              <a:gd name="adj" fmla="val 21429"/>
            </a:avLst>
          </a:prstGeom>
          <a:solidFill>
            <a:srgbClr val="1B2A41"/>
          </a:solidFill>
          <a:ln w="12700">
            <a:solidFill>
              <a:srgbClr val="1B2A41"/>
            </a:solidFill>
            <a:prstDash val="solid"/>
          </a:ln>
        </p:spPr>
      </p:sp>
      <p:sp>
        <p:nvSpPr>
          <p:cNvPr id="5" name="text_122"/>
          <p:cNvSpPr txBox="1"/>
          <p:nvPr/>
        </p:nvSpPr>
        <p:spPr>
          <a:xfrm>
            <a:off x="713232" y="1499616"/>
            <a:ext cx="162306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END OF INTRODUCTION</a:t>
            </a:r>
            <a:endParaRPr lang="en-US" sz="1050" dirty="0"/>
          </a:p>
        </p:txBody>
      </p:sp>
      <p:sp>
        <p:nvSpPr>
          <p:cNvPr id="6" name="text_123"/>
          <p:cNvSpPr txBox="1"/>
          <p:nvPr/>
        </p:nvSpPr>
        <p:spPr>
          <a:xfrm>
            <a:off x="713232" y="1847088"/>
            <a:ext cx="4791456" cy="245059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“The purpose of this report is to test whether high cloud over the central Pacific (CP) and the Maritime Continent (MC) responds to ENSO in opposite senses, and to compare the strength of each relationship with the ONI.”</a:t>
            </a:r>
            <a:endParaRPr lang="en-US" sz="1500" dirty="0"/>
          </a:p>
        </p:txBody>
      </p:sp>
      <p:sp>
        <p:nvSpPr>
          <p:cNvPr id="7" name="card_124"/>
          <p:cNvSpPr/>
          <p:nvPr/>
        </p:nvSpPr>
        <p:spPr>
          <a:xfrm>
            <a:off x="6519672" y="1371600"/>
            <a:ext cx="5120640" cy="3017520"/>
          </a:xfrm>
          <a:prstGeom prst="roundRect">
            <a:avLst>
              <a:gd name="adj" fmla="val 2424"/>
            </a:avLst>
          </a:prstGeom>
          <a:solidFill>
            <a:srgbClr val="DCEFEA"/>
          </a:solidFill>
          <a:ln w="9525">
            <a:solidFill>
              <a:srgbClr val="DCEFEA"/>
            </a:solidFill>
            <a:prstDash val="solid"/>
          </a:ln>
        </p:spPr>
      </p:sp>
      <p:sp>
        <p:nvSpPr>
          <p:cNvPr id="8" name="tag_125"/>
          <p:cNvSpPr/>
          <p:nvPr/>
        </p:nvSpPr>
        <p:spPr>
          <a:xfrm>
            <a:off x="6684264" y="1499616"/>
            <a:ext cx="1623060" cy="256032"/>
          </a:xfrm>
          <a:prstGeom prst="roundRect">
            <a:avLst>
              <a:gd name="adj" fmla="val 21429"/>
            </a:avLst>
          </a:prstGeom>
          <a:solidFill>
            <a:srgbClr val="1F7A6E"/>
          </a:solidFill>
          <a:ln w="12700">
            <a:solidFill>
              <a:srgbClr val="1F7A6E"/>
            </a:solidFill>
            <a:prstDash val="solid"/>
          </a:ln>
        </p:spPr>
      </p:sp>
      <p:sp>
        <p:nvSpPr>
          <p:cNvPr id="9" name="text_126"/>
          <p:cNvSpPr txBox="1"/>
          <p:nvPr/>
        </p:nvSpPr>
        <p:spPr>
          <a:xfrm>
            <a:off x="6684264" y="1499616"/>
            <a:ext cx="162306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START OF CONCLUSION</a:t>
            </a:r>
            <a:endParaRPr lang="en-US" sz="1050" dirty="0"/>
          </a:p>
        </p:txBody>
      </p:sp>
      <p:sp>
        <p:nvSpPr>
          <p:cNvPr id="10" name="text_127"/>
          <p:cNvSpPr txBox="1"/>
          <p:nvPr/>
        </p:nvSpPr>
        <p:spPr>
          <a:xfrm>
            <a:off x="6684264" y="1847088"/>
            <a:ext cx="4791456" cy="245059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Georgia" pitchFamily="34" charset="0"/>
                <a:ea typeface="Georgia" pitchFamily="34" charset="-122"/>
                <a:cs typeface="Georgia" pitchFamily="34" charset="-120"/>
              </a:rPr>
              <a:t>“High cloud over CP and MC responds to ENSO in opposite senses, and the MC relationship with the ONI is the weaker of the two (r = [ ] vs [ ]).”</a:t>
            </a:r>
            <a:endParaRPr lang="en-US" sz="1500" dirty="0"/>
          </a:p>
        </p:txBody>
      </p:sp>
      <p:sp>
        <p:nvSpPr>
          <p:cNvPr id="11" name="arrow_128"/>
          <p:cNvSpPr/>
          <p:nvPr/>
        </p:nvSpPr>
        <p:spPr>
          <a:xfrm>
            <a:off x="5760720" y="2743200"/>
            <a:ext cx="667512" cy="914"/>
          </a:xfrm>
          <a:prstGeom prst="line">
            <a:avLst/>
          </a:prstGeom>
          <a:noFill/>
          <a:ln w="31750">
            <a:solidFill>
              <a:srgbClr val="D98E1F"/>
            </a:solidFill>
            <a:prstDash val="solid"/>
            <a:tailEnd type="triangle"/>
          </a:ln>
        </p:spPr>
      </p:sp>
      <p:sp>
        <p:nvSpPr>
          <p:cNvPr id="12" name="arrow_129"/>
          <p:cNvSpPr/>
          <p:nvPr/>
        </p:nvSpPr>
        <p:spPr>
          <a:xfrm flipH="1">
            <a:off x="5760720" y="3017520"/>
            <a:ext cx="667512" cy="914"/>
          </a:xfrm>
          <a:prstGeom prst="line">
            <a:avLst/>
          </a:prstGeom>
          <a:noFill/>
          <a:ln w="31750">
            <a:solidFill>
              <a:srgbClr val="D98E1F"/>
            </a:solidFill>
            <a:prstDash val="solid"/>
            <a:tailEnd type="triangle"/>
          </a:ln>
        </p:spPr>
      </p:sp>
      <p:sp>
        <p:nvSpPr>
          <p:cNvPr id="13" name="card_130"/>
          <p:cNvSpPr/>
          <p:nvPr/>
        </p:nvSpPr>
        <p:spPr>
          <a:xfrm>
            <a:off x="548640" y="4572000"/>
            <a:ext cx="11091672" cy="1691640"/>
          </a:xfrm>
          <a:prstGeom prst="roundRect">
            <a:avLst>
              <a:gd name="adj" fmla="val 4324"/>
            </a:avLst>
          </a:prstGeom>
          <a:solidFill>
            <a:srgbClr val="F7F4EE"/>
          </a:solidFill>
          <a:ln w="9525">
            <a:solidFill>
              <a:srgbClr val="D5DAE1"/>
            </a:solidFill>
            <a:prstDash val="solid"/>
          </a:ln>
        </p:spPr>
      </p:sp>
      <p:sp>
        <p:nvSpPr>
          <p:cNvPr id="14" name="tag_131"/>
          <p:cNvSpPr/>
          <p:nvPr/>
        </p:nvSpPr>
        <p:spPr>
          <a:xfrm>
            <a:off x="713232" y="4700016"/>
            <a:ext cx="2400300" cy="256032"/>
          </a:xfrm>
          <a:prstGeom prst="roundRect">
            <a:avLst>
              <a:gd name="adj" fmla="val 21429"/>
            </a:avLst>
          </a:prstGeom>
          <a:solidFill>
            <a:srgbClr val="D98E1F"/>
          </a:solidFill>
          <a:ln w="12700">
            <a:solidFill>
              <a:srgbClr val="D98E1F"/>
            </a:solidFill>
            <a:prstDash val="solid"/>
          </a:ln>
        </p:spPr>
      </p:sp>
      <p:sp>
        <p:nvSpPr>
          <p:cNvPr id="15" name="text_132"/>
          <p:cNvSpPr txBox="1"/>
          <p:nvPr/>
        </p:nvSpPr>
        <p:spPr>
          <a:xfrm>
            <a:off x="713232" y="4700016"/>
            <a:ext cx="240030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PUT THEM SIDE BY SIDE AND ASK</a:t>
            </a:r>
            <a:endParaRPr lang="en-US" sz="1050" dirty="0"/>
          </a:p>
        </p:txBody>
      </p:sp>
      <p:sp>
        <p:nvSpPr>
          <p:cNvPr id="16" name="cardbody_133"/>
          <p:cNvSpPr txBox="1"/>
          <p:nvPr/>
        </p:nvSpPr>
        <p:spPr>
          <a:xfrm>
            <a:off x="713232" y="5047488"/>
            <a:ext cx="10762488" cy="1124712"/>
          </a:xfrm>
          <a:prstGeom prst="rect">
            <a:avLst/>
          </a:prstGeom>
          <a:noFill/>
          <a:ln/>
        </p:spPr>
        <p:txBody>
          <a:bodyPr wrap="square" lIns="381" tIns="381" rIns="381" bIns="381" rtlCol="0" anchor="t"/>
          <a:lstStyle/>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Does the conclusion answer </a:t>
            </a:r>
            <a:r>
              <a:rPr lang="en-US" sz="1450" b="1" dirty="0">
                <a:solidFill>
                  <a:srgbClr val="222B36"/>
                </a:solidFill>
                <a:latin typeface="Calibri" pitchFamily="34" charset="0"/>
                <a:ea typeface="Calibri" pitchFamily="34" charset="-122"/>
                <a:cs typeface="Calibri" pitchFamily="34" charset="-120"/>
              </a:rPr>
              <a:t>exactly</a:t>
            </a:r>
            <a:r>
              <a:rPr lang="en-US" sz="1450" dirty="0">
                <a:solidFill>
                  <a:srgbClr val="222B36"/>
                </a:solidFill>
                <a:latin typeface="Calibri" pitchFamily="34" charset="0"/>
                <a:ea typeface="Calibri" pitchFamily="34" charset="-122"/>
                <a:cs typeface="Calibri" pitchFamily="34" charset="-120"/>
              </a:rPr>
              <a:t> what the purpose promised: not more, not less?</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Are the </a:t>
            </a:r>
            <a:r>
              <a:rPr lang="en-US" sz="1450" b="1" dirty="0">
                <a:solidFill>
                  <a:srgbClr val="222B36"/>
                </a:solidFill>
                <a:latin typeface="Calibri" pitchFamily="34" charset="0"/>
                <a:ea typeface="Calibri" pitchFamily="34" charset="-122"/>
                <a:cs typeface="Calibri" pitchFamily="34" charset="-120"/>
              </a:rPr>
              <a:t>same tag-phrases</a:t>
            </a:r>
            <a:r>
              <a:rPr lang="en-US" sz="1450" dirty="0">
                <a:solidFill>
                  <a:srgbClr val="222B36"/>
                </a:solidFill>
                <a:latin typeface="Calibri" pitchFamily="34" charset="0"/>
                <a:ea typeface="Calibri" pitchFamily="34" charset="-122"/>
                <a:cs typeface="Calibri" pitchFamily="34" charset="-120"/>
              </a:rPr>
              <a:t> used (CP, MC, ONI)?</a:t>
            </a:r>
            <a:endParaRPr lang="en-US" sz="1450" dirty="0"/>
          </a:p>
          <a:p>
            <a:pPr marL="342900" indent="-342900">
              <a:spcAft>
                <a:spcPts val="300"/>
              </a:spcAft>
              <a:buSzPct val="100000"/>
              <a:buChar char="■"/>
            </a:pPr>
            <a:r>
              <a:rPr lang="en-US" sz="1450" dirty="0">
                <a:solidFill>
                  <a:srgbClr val="222B36"/>
                </a:solidFill>
                <a:latin typeface="Calibri" pitchFamily="34" charset="0"/>
                <a:ea typeface="Calibri" pitchFamily="34" charset="-122"/>
                <a:cs typeface="Calibri" pitchFamily="34" charset="-120"/>
              </a:rPr>
              <a:t>Would a reader who read only these two boxes know your question </a:t>
            </a:r>
            <a:r>
              <a:rPr lang="en-US" sz="1450" b="1" dirty="0">
                <a:solidFill>
                  <a:srgbClr val="222B36"/>
                </a:solidFill>
                <a:latin typeface="Calibri" pitchFamily="34" charset="0"/>
                <a:ea typeface="Calibri" pitchFamily="34" charset="-122"/>
                <a:cs typeface="Calibri" pitchFamily="34" charset="-120"/>
              </a:rPr>
              <a:t>and</a:t>
            </a:r>
            <a:r>
              <a:rPr lang="en-US" sz="1450" dirty="0">
                <a:solidFill>
                  <a:srgbClr val="222B36"/>
                </a:solidFill>
                <a:latin typeface="Calibri" pitchFamily="34" charset="0"/>
                <a:ea typeface="Calibri" pitchFamily="34" charset="-122"/>
                <a:cs typeface="Calibri" pitchFamily="34" charset="-120"/>
              </a:rPr>
              <a:t> your answer? (Many will read only these.)</a:t>
            </a:r>
            <a:endParaRPr lang="en-US" sz="1450" dirty="0"/>
          </a:p>
        </p:txBody>
      </p:sp>
      <p:sp>
        <p:nvSpPr>
          <p:cNvPr id="17" name="text_134"/>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§4.11; final checks sidebar in §13.6 (abstract and conclusions consistent).</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ctband_135"/>
          <p:cNvSpPr/>
          <p:nvPr/>
        </p:nvSpPr>
        <p:spPr>
          <a:xfrm>
            <a:off x="0" y="237744"/>
            <a:ext cx="12191695" cy="914400"/>
          </a:xfrm>
          <a:prstGeom prst="rect">
            <a:avLst/>
          </a:prstGeom>
          <a:solidFill>
            <a:srgbClr val="FBEBD0"/>
          </a:solidFill>
          <a:ln w="12700">
            <a:solidFill>
              <a:srgbClr val="FBEBD0"/>
            </a:solidFill>
            <a:prstDash val="solid"/>
          </a:ln>
        </p:spPr>
      </p:sp>
      <p:sp>
        <p:nvSpPr>
          <p:cNvPr id="3" name="text_136"/>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16 MIN</a:t>
            </a:r>
            <a:endParaRPr lang="en-US" sz="1100" dirty="0"/>
          </a:p>
        </p:txBody>
      </p:sp>
      <p:sp>
        <p:nvSpPr>
          <p:cNvPr id="4" name="text_137"/>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Plan the Discussion, draft the landing</a:t>
            </a:r>
            <a:endParaRPr lang="en-US" sz="2600" dirty="0"/>
          </a:p>
        </p:txBody>
      </p:sp>
      <p:sp>
        <p:nvSpPr>
          <p:cNvPr id="5" name="num_138"/>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139"/>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140"/>
          <p:cNvSpPr txBox="1"/>
          <p:nvPr/>
        </p:nvSpPr>
        <p:spPr>
          <a:xfrm>
            <a:off x="1097280" y="14173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From your parking lot and brainstorm, choose </a:t>
            </a:r>
            <a:r>
              <a:rPr lang="en-US" sz="1500" b="1" dirty="0">
                <a:solidFill>
                  <a:srgbClr val="222B36"/>
                </a:solidFill>
                <a:latin typeface="Calibri" pitchFamily="34" charset="0"/>
                <a:ea typeface="Calibri" pitchFamily="34" charset="-122"/>
                <a:cs typeface="Calibri" pitchFamily="34" charset="-120"/>
              </a:rPr>
              <a:t>3–4 moves</a:t>
            </a:r>
            <a:r>
              <a:rPr lang="en-US" sz="1500" dirty="0">
                <a:solidFill>
                  <a:srgbClr val="222B36"/>
                </a:solidFill>
                <a:latin typeface="Calibri" pitchFamily="34" charset="0"/>
                <a:ea typeface="Calibri" pitchFamily="34" charset="-122"/>
                <a:cs typeface="Calibri" pitchFamily="34" charset="-120"/>
              </a:rPr>
              <a:t> from the menu. EXPLAIN and BACK TO THE QUESTION are compulsory.</a:t>
            </a:r>
            <a:endParaRPr lang="en-US" sz="1500" dirty="0"/>
          </a:p>
        </p:txBody>
      </p:sp>
      <p:sp>
        <p:nvSpPr>
          <p:cNvPr id="8" name="num_141"/>
          <p:cNvSpPr/>
          <p:nvPr/>
        </p:nvSpPr>
        <p:spPr>
          <a:xfrm>
            <a:off x="594360" y="2221992"/>
            <a:ext cx="365760" cy="365760"/>
          </a:xfrm>
          <a:prstGeom prst="ellipse">
            <a:avLst/>
          </a:prstGeom>
          <a:solidFill>
            <a:srgbClr val="D98E1F"/>
          </a:solidFill>
          <a:ln w="12700">
            <a:solidFill>
              <a:srgbClr val="D98E1F"/>
            </a:solidFill>
            <a:prstDash val="solid"/>
          </a:ln>
        </p:spPr>
      </p:sp>
      <p:sp>
        <p:nvSpPr>
          <p:cNvPr id="9" name="text_142"/>
          <p:cNvSpPr txBox="1"/>
          <p:nvPr/>
        </p:nvSpPr>
        <p:spPr>
          <a:xfrm>
            <a:off x="594360" y="22219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143"/>
          <p:cNvSpPr txBox="1"/>
          <p:nvPr/>
        </p:nvSpPr>
        <p:spPr>
          <a:xfrm>
            <a:off x="1097280" y="2203704"/>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Write the </a:t>
            </a:r>
            <a:r>
              <a:rPr lang="en-US" sz="1500" b="1" dirty="0">
                <a:solidFill>
                  <a:srgbClr val="222B36"/>
                </a:solidFill>
                <a:latin typeface="Calibri" pitchFamily="34" charset="0"/>
                <a:ea typeface="Calibri" pitchFamily="34" charset="-122"/>
                <a:cs typeface="Calibri" pitchFamily="34" charset="-120"/>
              </a:rPr>
              <a:t>topic sentence</a:t>
            </a:r>
            <a:r>
              <a:rPr lang="en-US" sz="1500" dirty="0">
                <a:solidFill>
                  <a:srgbClr val="222B36"/>
                </a:solidFill>
                <a:latin typeface="Calibri" pitchFamily="34" charset="0"/>
                <a:ea typeface="Calibri" pitchFamily="34" charset="-122"/>
                <a:cs typeface="Calibri" pitchFamily="34" charset="-120"/>
              </a:rPr>
              <a:t> for each Discussion paragraph.</a:t>
            </a:r>
            <a:endParaRPr lang="en-US" sz="1500" dirty="0"/>
          </a:p>
        </p:txBody>
      </p:sp>
      <p:sp>
        <p:nvSpPr>
          <p:cNvPr id="11" name="num_144"/>
          <p:cNvSpPr/>
          <p:nvPr/>
        </p:nvSpPr>
        <p:spPr>
          <a:xfrm>
            <a:off x="594360" y="2807208"/>
            <a:ext cx="365760" cy="365760"/>
          </a:xfrm>
          <a:prstGeom prst="ellipse">
            <a:avLst/>
          </a:prstGeom>
          <a:solidFill>
            <a:srgbClr val="D98E1F"/>
          </a:solidFill>
          <a:ln w="12700">
            <a:solidFill>
              <a:srgbClr val="D98E1F"/>
            </a:solidFill>
            <a:prstDash val="solid"/>
          </a:ln>
        </p:spPr>
      </p:sp>
      <p:sp>
        <p:nvSpPr>
          <p:cNvPr id="12" name="text_145"/>
          <p:cNvSpPr txBox="1"/>
          <p:nvPr/>
        </p:nvSpPr>
        <p:spPr>
          <a:xfrm>
            <a:off x="594360" y="28072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146"/>
          <p:cNvSpPr txBox="1"/>
          <p:nvPr/>
        </p:nvSpPr>
        <p:spPr>
          <a:xfrm>
            <a:off x="1097280" y="27889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For your best limitation, write it the ‘strong’ way: </a:t>
            </a:r>
            <a:r>
              <a:rPr lang="en-US" sz="1500" b="1" dirty="0">
                <a:solidFill>
                  <a:srgbClr val="222B36"/>
                </a:solidFill>
                <a:latin typeface="Calibri" pitchFamily="34" charset="0"/>
                <a:ea typeface="Calibri" pitchFamily="34" charset="-122"/>
                <a:cs typeface="Calibri" pitchFamily="34" charset="-120"/>
              </a:rPr>
              <a:t>what, how much, effect on the answer, a check</a:t>
            </a:r>
            <a:r>
              <a:rPr lang="en-US" sz="1500" dirty="0">
                <a:solidFill>
                  <a:srgbClr val="222B36"/>
                </a:solidFill>
                <a:latin typeface="Calibri" pitchFamily="34" charset="0"/>
                <a:ea typeface="Calibri" pitchFamily="34" charset="-122"/>
                <a:cs typeface="Calibri" pitchFamily="34" charset="-120"/>
              </a:rPr>
              <a:t>.</a:t>
            </a:r>
            <a:endParaRPr lang="en-US" sz="1500" dirty="0"/>
          </a:p>
        </p:txBody>
      </p:sp>
      <p:sp>
        <p:nvSpPr>
          <p:cNvPr id="14" name="num_147"/>
          <p:cNvSpPr/>
          <p:nvPr/>
        </p:nvSpPr>
        <p:spPr>
          <a:xfrm>
            <a:off x="594360" y="3593592"/>
            <a:ext cx="365760" cy="365760"/>
          </a:xfrm>
          <a:prstGeom prst="ellipse">
            <a:avLst/>
          </a:prstGeom>
          <a:solidFill>
            <a:srgbClr val="D98E1F"/>
          </a:solidFill>
          <a:ln w="12700">
            <a:solidFill>
              <a:srgbClr val="D98E1F"/>
            </a:solidFill>
            <a:prstDash val="solid"/>
          </a:ln>
        </p:spPr>
      </p:sp>
      <p:sp>
        <p:nvSpPr>
          <p:cNvPr id="15" name="text_148"/>
          <p:cNvSpPr txBox="1"/>
          <p:nvPr/>
        </p:nvSpPr>
        <p:spPr>
          <a:xfrm>
            <a:off x="594360" y="35935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149"/>
          <p:cNvSpPr txBox="1"/>
          <p:nvPr/>
        </p:nvSpPr>
        <p:spPr>
          <a:xfrm>
            <a:off x="1097280" y="35753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Draft the </a:t>
            </a:r>
            <a:r>
              <a:rPr lang="en-US" sz="1500" b="1" dirty="0">
                <a:solidFill>
                  <a:srgbClr val="222B36"/>
                </a:solidFill>
                <a:latin typeface="Calibri" pitchFamily="34" charset="0"/>
                <a:ea typeface="Calibri" pitchFamily="34" charset="-122"/>
                <a:cs typeface="Calibri" pitchFamily="34" charset="-120"/>
              </a:rPr>
              <a:t>first sentence of your Conclusion</a:t>
            </a:r>
            <a:r>
              <a:rPr lang="en-US" sz="1500" dirty="0">
                <a:solidFill>
                  <a:srgbClr val="222B36"/>
                </a:solidFill>
                <a:latin typeface="Calibri" pitchFamily="34" charset="0"/>
                <a:ea typeface="Calibri" pitchFamily="34" charset="-122"/>
                <a:cs typeface="Calibri" pitchFamily="34" charset="-120"/>
              </a:rPr>
              <a:t>: it must answer your question.</a:t>
            </a:r>
            <a:endParaRPr lang="en-US" sz="1500" dirty="0"/>
          </a:p>
        </p:txBody>
      </p:sp>
      <p:sp>
        <p:nvSpPr>
          <p:cNvPr id="17" name="num_150"/>
          <p:cNvSpPr/>
          <p:nvPr/>
        </p:nvSpPr>
        <p:spPr>
          <a:xfrm>
            <a:off x="594360" y="4379976"/>
            <a:ext cx="365760" cy="365760"/>
          </a:xfrm>
          <a:prstGeom prst="ellipse">
            <a:avLst/>
          </a:prstGeom>
          <a:solidFill>
            <a:srgbClr val="D98E1F"/>
          </a:solidFill>
          <a:ln w="12700">
            <a:solidFill>
              <a:srgbClr val="D98E1F"/>
            </a:solidFill>
            <a:prstDash val="solid"/>
          </a:ln>
        </p:spPr>
      </p:sp>
      <p:sp>
        <p:nvSpPr>
          <p:cNvPr id="18" name="text_151"/>
          <p:cNvSpPr txBox="1"/>
          <p:nvPr/>
        </p:nvSpPr>
        <p:spPr>
          <a:xfrm>
            <a:off x="594360" y="43799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152"/>
          <p:cNvSpPr txBox="1"/>
          <p:nvPr/>
        </p:nvSpPr>
        <p:spPr>
          <a:xfrm>
            <a:off x="1097280" y="4361688"/>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With a partner, run the </a:t>
            </a:r>
            <a:r>
              <a:rPr lang="en-US" sz="1500" b="1" dirty="0">
                <a:solidFill>
                  <a:srgbClr val="222B36"/>
                </a:solidFill>
                <a:latin typeface="Calibri" pitchFamily="34" charset="0"/>
                <a:ea typeface="Calibri" pitchFamily="34" charset="-122"/>
                <a:cs typeface="Calibri" pitchFamily="34" charset="-120"/>
              </a:rPr>
              <a:t>mirror test</a:t>
            </a:r>
            <a:r>
              <a:rPr lang="en-US" sz="1500" dirty="0">
                <a:solidFill>
                  <a:srgbClr val="222B36"/>
                </a:solidFill>
                <a:latin typeface="Calibri" pitchFamily="34" charset="0"/>
                <a:ea typeface="Calibri" pitchFamily="34" charset="-122"/>
                <a:cs typeface="Calibri" pitchFamily="34" charset="-120"/>
              </a:rPr>
              <a:t> on your purpose statement and that sentence.</a:t>
            </a:r>
            <a:endParaRPr lang="en-US" sz="1500" dirty="0"/>
          </a:p>
        </p:txBody>
      </p:sp>
      <p:sp>
        <p:nvSpPr>
          <p:cNvPr id="20" name="card_153"/>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154"/>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155"/>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156"/>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Discussion topic sentences + one strong limitation</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Conclusion sentence 1, mirror-tested</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Everything you need to finish the draft by next week</a:t>
            </a:r>
            <a:endParaRPr lang="en-US" sz="1450" dirty="0"/>
          </a:p>
        </p:txBody>
      </p:sp>
      <p:sp>
        <p:nvSpPr>
          <p:cNvPr id="24" name="card_157"/>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158"/>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159"/>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160"/>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EXPLAIN paragraph a </a:t>
            </a:r>
            <a:r>
              <a:rPr lang="en-US" sz="1400" b="1" dirty="0">
                <a:solidFill>
                  <a:srgbClr val="222B36"/>
                </a:solidFill>
                <a:latin typeface="Calibri" pitchFamily="34" charset="0"/>
                <a:ea typeface="Calibri" pitchFamily="34" charset="-122"/>
                <a:cs typeface="Calibri" pitchFamily="34" charset="-120"/>
              </a:rPr>
              <a:t>mechanism</a:t>
            </a:r>
            <a:r>
              <a:rPr lang="en-US" sz="1400" dirty="0">
                <a:solidFill>
                  <a:srgbClr val="222B36"/>
                </a:solidFill>
                <a:latin typeface="Calibri" pitchFamily="34" charset="0"/>
                <a:ea typeface="Calibri" pitchFamily="34" charset="-122"/>
                <a:cs typeface="Calibri" pitchFamily="34" charset="-120"/>
              </a:rPr>
              <a:t>, or just ‘ENSO affects…’?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Is the limitation tied to its </a:t>
            </a:r>
            <a:r>
              <a:rPr lang="en-US" sz="1400" b="1" dirty="0">
                <a:solidFill>
                  <a:srgbClr val="222B36"/>
                </a:solidFill>
                <a:latin typeface="Calibri" pitchFamily="34" charset="0"/>
                <a:ea typeface="Calibri" pitchFamily="34" charset="-122"/>
                <a:cs typeface="Calibri" pitchFamily="34" charset="-120"/>
              </a:rPr>
              <a:t>effect on the answer</a:t>
            </a:r>
            <a:r>
              <a:rPr lang="en-US" sz="1400" dirty="0">
                <a:solidFill>
                  <a:srgbClr val="222B36"/>
                </a:solidFill>
                <a:latin typeface="Calibri" pitchFamily="34" charset="0"/>
                <a:ea typeface="Calibri" pitchFamily="34" charset="-122"/>
                <a:cs typeface="Calibri" pitchFamily="34" charset="-120"/>
              </a:rPr>
              <a:t>?</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Mirror test: same question, same tags?</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_161"/>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8  ·  Thu 3 Dec</a:t>
            </a:r>
            <a:endParaRPr lang="en-US" sz="2800" dirty="0"/>
          </a:p>
        </p:txBody>
      </p:sp>
      <p:sp>
        <p:nvSpPr>
          <p:cNvPr id="3" name="text_162"/>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One week. About 3 hours. Next week you bring a COMPLETE first draft: the natural end of this term's writing.</a:t>
            </a:r>
            <a:endParaRPr lang="en-US" sz="1500" dirty="0"/>
          </a:p>
        </p:txBody>
      </p:sp>
      <p:sp>
        <p:nvSpPr>
          <p:cNvPr id="4" name="card_163"/>
          <p:cNvSpPr/>
          <p:nvPr/>
        </p:nvSpPr>
        <p:spPr>
          <a:xfrm>
            <a:off x="548640" y="1691640"/>
            <a:ext cx="3563112" cy="2971800"/>
          </a:xfrm>
          <a:prstGeom prst="roundRect">
            <a:avLst>
              <a:gd name="adj" fmla="val 2462"/>
            </a:avLst>
          </a:prstGeom>
          <a:solidFill>
            <a:srgbClr val="F7F4EE"/>
          </a:solidFill>
          <a:ln w="9525">
            <a:solidFill>
              <a:srgbClr val="D5DAE1"/>
            </a:solidFill>
            <a:prstDash val="solid"/>
          </a:ln>
        </p:spPr>
      </p:sp>
      <p:sp>
        <p:nvSpPr>
          <p:cNvPr id="5" name="tag_164"/>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165"/>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7A  ·  75 min</a:t>
            </a:r>
            <a:endParaRPr lang="en-US" sz="1050" dirty="0"/>
          </a:p>
        </p:txBody>
      </p:sp>
      <p:sp>
        <p:nvSpPr>
          <p:cNvPr id="7" name="text_166"/>
          <p:cNvSpPr txBox="1"/>
          <p:nvPr/>
        </p:nvSpPr>
        <p:spPr>
          <a:xfrm>
            <a:off x="71323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Discussion draft, ~450 words</a:t>
            </a:r>
            <a:endParaRPr lang="en-US" sz="1600" dirty="0"/>
          </a:p>
        </p:txBody>
      </p:sp>
      <p:sp>
        <p:nvSpPr>
          <p:cNvPr id="8" name="cardbody_167"/>
          <p:cNvSpPr txBox="1"/>
          <p:nvPr/>
        </p:nvSpPr>
        <p:spPr>
          <a:xfrm>
            <a:off x="71323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Your 3–4 moves, one paragraph each</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Mechanism + honest limitation + back to the question</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Flag speculation as speculation</a:t>
            </a:r>
            <a:endParaRPr lang="en-US" sz="1350" dirty="0"/>
          </a:p>
        </p:txBody>
      </p:sp>
      <p:sp>
        <p:nvSpPr>
          <p:cNvPr id="9" name="card_168"/>
          <p:cNvSpPr/>
          <p:nvPr/>
        </p:nvSpPr>
        <p:spPr>
          <a:xfrm>
            <a:off x="4312920" y="1691640"/>
            <a:ext cx="3563112" cy="2971800"/>
          </a:xfrm>
          <a:prstGeom prst="roundRect">
            <a:avLst>
              <a:gd name="adj" fmla="val 2462"/>
            </a:avLst>
          </a:prstGeom>
          <a:solidFill>
            <a:srgbClr val="F7F4EE"/>
          </a:solidFill>
          <a:ln w="9525">
            <a:solidFill>
              <a:srgbClr val="D5DAE1"/>
            </a:solidFill>
            <a:prstDash val="solid"/>
          </a:ln>
        </p:spPr>
      </p:sp>
      <p:sp>
        <p:nvSpPr>
          <p:cNvPr id="10" name="tag_169"/>
          <p:cNvSpPr/>
          <p:nvPr/>
        </p:nvSpPr>
        <p:spPr>
          <a:xfrm>
            <a:off x="4477512" y="1819656"/>
            <a:ext cx="1156716" cy="256032"/>
          </a:xfrm>
          <a:prstGeom prst="roundRect">
            <a:avLst>
              <a:gd name="adj" fmla="val 21429"/>
            </a:avLst>
          </a:prstGeom>
          <a:solidFill>
            <a:srgbClr val="1B2A41"/>
          </a:solidFill>
          <a:ln w="12700">
            <a:solidFill>
              <a:srgbClr val="1B2A41"/>
            </a:solidFill>
            <a:prstDash val="solid"/>
          </a:ln>
        </p:spPr>
      </p:sp>
      <p:sp>
        <p:nvSpPr>
          <p:cNvPr id="11" name="text_170"/>
          <p:cNvSpPr txBox="1"/>
          <p:nvPr/>
        </p:nvSpPr>
        <p:spPr>
          <a:xfrm>
            <a:off x="447751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7B  ·  25 min</a:t>
            </a:r>
            <a:endParaRPr lang="en-US" sz="1050" dirty="0"/>
          </a:p>
        </p:txBody>
      </p:sp>
      <p:sp>
        <p:nvSpPr>
          <p:cNvPr id="12" name="text_171"/>
          <p:cNvSpPr txBox="1"/>
          <p:nvPr/>
        </p:nvSpPr>
        <p:spPr>
          <a:xfrm>
            <a:off x="447751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Conclusion, 100–150 words</a:t>
            </a:r>
            <a:endParaRPr lang="en-US" sz="1600" dirty="0"/>
          </a:p>
        </p:txBody>
      </p:sp>
      <p:sp>
        <p:nvSpPr>
          <p:cNvPr id="13" name="cardbody_172"/>
          <p:cNvSpPr txBox="1"/>
          <p:nvPr/>
        </p:nvSpPr>
        <p:spPr>
          <a:xfrm>
            <a:off x="447751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Sentence 1 answers the question</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2–3 findings with key numbers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No new material; a strong last sentence</a:t>
            </a:r>
            <a:endParaRPr lang="en-US" sz="1350" dirty="0"/>
          </a:p>
        </p:txBody>
      </p:sp>
      <p:sp>
        <p:nvSpPr>
          <p:cNvPr id="14" name="card_173"/>
          <p:cNvSpPr/>
          <p:nvPr/>
        </p:nvSpPr>
        <p:spPr>
          <a:xfrm>
            <a:off x="8077200" y="1691640"/>
            <a:ext cx="3563112" cy="2971800"/>
          </a:xfrm>
          <a:prstGeom prst="roundRect">
            <a:avLst>
              <a:gd name="adj" fmla="val 2462"/>
            </a:avLst>
          </a:prstGeom>
          <a:solidFill>
            <a:srgbClr val="F7F4EE"/>
          </a:solidFill>
          <a:ln w="9525">
            <a:solidFill>
              <a:srgbClr val="D5DAE1"/>
            </a:solidFill>
            <a:prstDash val="solid"/>
          </a:ln>
        </p:spPr>
      </p:sp>
      <p:sp>
        <p:nvSpPr>
          <p:cNvPr id="15" name="tag_174"/>
          <p:cNvSpPr/>
          <p:nvPr/>
        </p:nvSpPr>
        <p:spPr>
          <a:xfrm>
            <a:off x="8241792" y="1819656"/>
            <a:ext cx="1156716" cy="256032"/>
          </a:xfrm>
          <a:prstGeom prst="roundRect">
            <a:avLst>
              <a:gd name="adj" fmla="val 21429"/>
            </a:avLst>
          </a:prstGeom>
          <a:solidFill>
            <a:srgbClr val="1B2A41"/>
          </a:solidFill>
          <a:ln w="12700">
            <a:solidFill>
              <a:srgbClr val="1B2A41"/>
            </a:solidFill>
            <a:prstDash val="solid"/>
          </a:ln>
        </p:spPr>
      </p:sp>
      <p:sp>
        <p:nvSpPr>
          <p:cNvPr id="16" name="text_175"/>
          <p:cNvSpPr txBox="1"/>
          <p:nvPr/>
        </p:nvSpPr>
        <p:spPr>
          <a:xfrm>
            <a:off x="824179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7C  ·  60 min</a:t>
            </a:r>
            <a:endParaRPr lang="en-US" sz="1050" dirty="0"/>
          </a:p>
        </p:txBody>
      </p:sp>
      <p:sp>
        <p:nvSpPr>
          <p:cNvPr id="17" name="text_176"/>
          <p:cNvSpPr txBox="1"/>
          <p:nvPr/>
        </p:nvSpPr>
        <p:spPr>
          <a:xfrm>
            <a:off x="824179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Assemble the full draft</a:t>
            </a:r>
            <a:endParaRPr lang="en-US" sz="1600" dirty="0"/>
          </a:p>
        </p:txBody>
      </p:sp>
      <p:sp>
        <p:nvSpPr>
          <p:cNvPr id="18" name="cardbody_177"/>
          <p:cNvSpPr txBox="1"/>
          <p:nvPr/>
        </p:nvSpPr>
        <p:spPr>
          <a:xfrm>
            <a:off x="824179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Title · all five sections · captions · references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Word count (≤ ~2,200 is fine for now)</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Bring it printed or as a PDF</a:t>
            </a:r>
            <a:r>
              <a:rPr lang="en-US" sz="1350" dirty="0">
                <a:solidFill>
                  <a:srgbClr val="222B36"/>
                </a:solidFill>
                <a:latin typeface="Calibri" pitchFamily="34" charset="0"/>
                <a:ea typeface="Calibri" pitchFamily="34" charset="-122"/>
                <a:cs typeface="Calibri" pitchFamily="34" charset="-120"/>
              </a:rPr>
              <a:t> on 3 Dec</a:t>
            </a:r>
            <a:endParaRPr lang="en-US" sz="1350" dirty="0"/>
          </a:p>
        </p:txBody>
      </p:sp>
      <p:sp>
        <p:nvSpPr>
          <p:cNvPr id="19" name="card_178"/>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0" name="tag_179"/>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1" name="text_180"/>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2" name="cardbody_181"/>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Freeze the analysis.</a:t>
            </a:r>
            <a:r>
              <a:rPr lang="en-US" sz="1350" dirty="0">
                <a:solidFill>
                  <a:srgbClr val="222B36"/>
                </a:solidFill>
                <a:latin typeface="Calibri" pitchFamily="34" charset="0"/>
                <a:ea typeface="Calibri" pitchFamily="34" charset="-122"/>
                <a:cs typeface="Calibri" pitchFamily="34" charset="-120"/>
              </a:rPr>
              <a:t> Polish figures only (labels, units, legibility).</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Make sure every number in the text matches the figures.</a:t>
            </a:r>
            <a:endParaRPr lang="en-US" sz="1350" dirty="0"/>
          </a:p>
        </p:txBody>
      </p:sp>
      <p:sp>
        <p:nvSpPr>
          <p:cNvPr id="23" name="card_182"/>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4" name="tag_183"/>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25" name="text_184"/>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26" name="cardbody_185"/>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§4.9–4.11</a:t>
            </a:r>
            <a:r>
              <a:rPr lang="en-US" sz="1350" dirty="0">
                <a:solidFill>
                  <a:srgbClr val="222B36"/>
                </a:solidFill>
                <a:latin typeface="Calibri" pitchFamily="34" charset="0"/>
                <a:ea typeface="Calibri" pitchFamily="34" charset="-122"/>
                <a:cs typeface="Calibri" pitchFamily="34" charset="-120"/>
              </a:rPr>
              <a:t> Results, Discussion, Conclusion</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§7.2</a:t>
            </a:r>
            <a:r>
              <a:rPr lang="en-US" sz="1350" dirty="0">
                <a:solidFill>
                  <a:srgbClr val="222B36"/>
                </a:solidFill>
                <a:latin typeface="Calibri" pitchFamily="34" charset="0"/>
                <a:ea typeface="Calibri" pitchFamily="34" charset="-122"/>
                <a:cs typeface="Calibri" pitchFamily="34" charset="-120"/>
              </a:rPr>
              <a:t> Making writing accessible (limitations)</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7 — What does it mean?</dc:title>
  <dc:subject>ENSO and cloud cover mini-project — writing strand</dc:subject>
  <dc:creator>EART29200 course team</dc:creator>
  <cp:lastModifiedBy>EART29200 course team</cp:lastModifiedBy>
  <cp:revision>1</cp:revision>
  <dcterms:created xsi:type="dcterms:W3CDTF">2026-10-03T17:07:50Z</dcterms:created>
  <dcterms:modified xsi:type="dcterms:W3CDTF">2026-10-03T17:07:50Z</dcterms:modified>
</cp:coreProperties>
</file>