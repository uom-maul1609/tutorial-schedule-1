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
Edit in the order a forecaster analyses the weather: largest scales first. First check the sections: does each one do its job for your question? Then the paragraphs: are the topic sentences in a sensible order? Then sentences, then words; there's no point fixing commas in a paragraph you later delete. At each level, use CPR: concision (cut what isn't needed), precision (make what's left exact), revision (fix the links). Leave the draft alone for a few days first: fresh eyes find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
A result is robust if it survives reasonable changes to the choices you made: a stricter threshold, a slightly moved box, leaving out the one giant event, removing a trend, or a proper significance test. You don't need all of these; one or two done well, each reported in a sentence, is what lifts a report into the top bands. Reproducible means a classmate could remake every figure from the settings you wrote down: variable, threshold, baseline, region bounds and notebook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 &amp; CLOUD COVER PROJECT  ·  WRITING STRAND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274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8  ·  Thu 3 Dec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822960" cy="54864"/>
          </a:xfrm>
          <a:prstGeom prst="rect">
            <a:avLst/>
          </a:prstGeom>
          <a:solidFill>
            <a:srgbClr val="D98E1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S_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3" name="text_2"/>
          <p:cNvSpPr txBox="1"/>
          <p:nvPr/>
        </p:nvSpPr>
        <p:spPr>
          <a:xfrm>
            <a:off x="82296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8  ·  THURSDAY 3 DECEMBER</a:t>
            </a:r>
            <a:endParaRPr lang="en-US" sz="1300" dirty="0"/>
          </a:p>
        </p:txBody>
      </p:sp>
      <p:sp>
        <p:nvSpPr>
          <p:cNvPr id="4" name="text_3"/>
          <p:cNvSpPr txBox="1"/>
          <p:nvPr/>
        </p:nvSpPr>
        <p:spPr>
          <a:xfrm>
            <a:off x="822960" y="1417320"/>
            <a:ext cx="103327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complete: from writer to editor</a:t>
            </a:r>
            <a:endParaRPr lang="en-US" sz="4200" dirty="0"/>
          </a:p>
        </p:txBody>
      </p:sp>
      <p:sp>
        <p:nvSpPr>
          <p:cNvPr id="5" name="text_4"/>
          <p:cNvSpPr txBox="1"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reviewer, edit top-down, and plan the road to 5 February</a:t>
            </a:r>
            <a:endParaRPr lang="en-US" sz="2000" dirty="0"/>
          </a:p>
        </p:txBody>
      </p:sp>
      <p:sp>
        <p:nvSpPr>
          <p:cNvPr id="6" name="leave_5"/>
          <p:cNvSpPr/>
          <p:nvPr/>
        </p:nvSpPr>
        <p:spPr>
          <a:xfrm>
            <a:off x="822960" y="434340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7" name="text_6"/>
          <p:cNvSpPr txBox="1"/>
          <p:nvPr/>
        </p:nvSpPr>
        <p:spPr>
          <a:xfrm>
            <a:off x="10058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050" dirty="0"/>
          </a:p>
        </p:txBody>
      </p:sp>
      <p:sp>
        <p:nvSpPr>
          <p:cNvPr id="8" name="text_7"/>
          <p:cNvSpPr txBox="1"/>
          <p:nvPr/>
        </p:nvSpPr>
        <p:spPr>
          <a:xfrm>
            <a:off x="1005840" y="4681728"/>
            <a:ext cx="6583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first draft, a structured peer read using the four propositions, and your revision plan to 5 February.</a:t>
            </a:r>
            <a:endParaRPr lang="en-US" sz="1500" dirty="0"/>
          </a:p>
        </p:txBody>
      </p:sp>
      <p:sp>
        <p:nvSpPr>
          <p:cNvPr id="9" name="text_8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EART29200  ·  ENSO and cloud cover mini-project  ·  Writing strand</a:t>
            </a:r>
            <a:endParaRPr lang="en-US" sz="1000" dirty="0"/>
          </a:p>
        </p:txBody>
      </p:sp>
      <p:sp>
        <p:nvSpPr>
          <p:cNvPr id="10" name="dot_9"/>
          <p:cNvSpPr/>
          <p:nvPr/>
        </p:nvSpPr>
        <p:spPr>
          <a:xfrm>
            <a:off x="4852264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1" name="dot_10"/>
          <p:cNvSpPr/>
          <p:nvPr/>
        </p:nvSpPr>
        <p:spPr>
          <a:xfrm>
            <a:off x="5181448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2" name="dot_11"/>
          <p:cNvSpPr/>
          <p:nvPr/>
        </p:nvSpPr>
        <p:spPr>
          <a:xfrm>
            <a:off x="5510632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3" name="dot_12"/>
          <p:cNvSpPr/>
          <p:nvPr/>
        </p:nvSpPr>
        <p:spPr>
          <a:xfrm>
            <a:off x="5839816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4" name="dot_13"/>
          <p:cNvSpPr/>
          <p:nvPr/>
        </p:nvSpPr>
        <p:spPr>
          <a:xfrm>
            <a:off x="6169000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5" name="dot_14"/>
          <p:cNvSpPr/>
          <p:nvPr/>
        </p:nvSpPr>
        <p:spPr>
          <a:xfrm>
            <a:off x="6498184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6" name="dot_15"/>
          <p:cNvSpPr/>
          <p:nvPr/>
        </p:nvSpPr>
        <p:spPr>
          <a:xfrm>
            <a:off x="6827368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7" name="dot_16"/>
          <p:cNvSpPr/>
          <p:nvPr/>
        </p:nvSpPr>
        <p:spPr>
          <a:xfrm>
            <a:off x="7156552" y="5715000"/>
            <a:ext cx="182880" cy="182880"/>
          </a:xfrm>
          <a:prstGeom prst="ellipse">
            <a:avLst/>
          </a:prstGeom>
          <a:solidFill>
            <a:srgbClr val="D98E1F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8" name="text_17"/>
          <p:cNvSpPr txBox="1"/>
          <p:nvPr/>
        </p:nvSpPr>
        <p:spPr>
          <a:xfrm>
            <a:off x="0" y="5934456"/>
            <a:ext cx="12191695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8 of 8  ·  Semester 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8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plan</a:t>
            </a:r>
            <a:endParaRPr lang="en-US" sz="2800" dirty="0"/>
          </a:p>
        </p:txBody>
      </p:sp>
      <p:sp>
        <p:nvSpPr>
          <p:cNvPr id="3" name="text_19"/>
          <p:cNvSpPr txBox="1"/>
          <p:nvPr/>
        </p:nvSpPr>
        <p:spPr>
          <a:xfrm>
            <a:off x="548640" y="1234440"/>
            <a:ext cx="11064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a complete draft, honest feedback on its structure, and a plan for the next nine weeks.</a:t>
            </a:r>
            <a:endParaRPr lang="en-US" sz="1900" dirty="0"/>
          </a:p>
        </p:txBody>
      </p:sp>
      <p:sp>
        <p:nvSpPr>
          <p:cNvPr id="4" name="num_20"/>
          <p:cNvSpPr/>
          <p:nvPr/>
        </p:nvSpPr>
        <p:spPr>
          <a:xfrm>
            <a:off x="685800" y="2057400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_21"/>
          <p:cNvSpPr txBox="1"/>
          <p:nvPr/>
        </p:nvSpPr>
        <p:spPr>
          <a:xfrm>
            <a:off x="6858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_22"/>
          <p:cNvSpPr txBox="1"/>
          <p:nvPr/>
        </p:nvSpPr>
        <p:spPr>
          <a:xfrm>
            <a:off x="1234440" y="2039112"/>
            <a:ext cx="6400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‘hit-by-the-bus’ moment: from writing to editing</a:t>
            </a:r>
            <a:endParaRPr lang="en-US" sz="1600" dirty="0"/>
          </a:p>
        </p:txBody>
      </p:sp>
      <p:sp>
        <p:nvSpPr>
          <p:cNvPr id="7" name="num_23"/>
          <p:cNvSpPr/>
          <p:nvPr/>
        </p:nvSpPr>
        <p:spPr>
          <a:xfrm>
            <a:off x="685800" y="2715768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_24"/>
          <p:cNvSpPr txBox="1"/>
          <p:nvPr/>
        </p:nvSpPr>
        <p:spPr>
          <a:xfrm>
            <a:off x="68580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_25"/>
          <p:cNvSpPr txBox="1"/>
          <p:nvPr/>
        </p:nvSpPr>
        <p:spPr>
          <a:xfrm>
            <a:off x="1234440" y="2697480"/>
            <a:ext cx="6400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top-down: reverse-outline your own draft</a:t>
            </a:r>
            <a:endParaRPr lang="en-US" sz="1600" dirty="0"/>
          </a:p>
        </p:txBody>
      </p:sp>
      <p:sp>
        <p:nvSpPr>
          <p:cNvPr id="10" name="num_26"/>
          <p:cNvSpPr/>
          <p:nvPr/>
        </p:nvSpPr>
        <p:spPr>
          <a:xfrm>
            <a:off x="685800" y="3374136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_27"/>
          <p:cNvSpPr txBox="1"/>
          <p:nvPr/>
        </p:nvSpPr>
        <p:spPr>
          <a:xfrm>
            <a:off x="68580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_28"/>
          <p:cNvSpPr txBox="1"/>
          <p:nvPr/>
        </p:nvSpPr>
        <p:spPr>
          <a:xfrm>
            <a:off x="1234440" y="3355848"/>
            <a:ext cx="6400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Concision and precision: the January toolkit</a:t>
            </a:r>
            <a:endParaRPr lang="en-US" sz="1600" dirty="0"/>
          </a:p>
        </p:txBody>
      </p:sp>
      <p:sp>
        <p:nvSpPr>
          <p:cNvPr id="13" name="num_29"/>
          <p:cNvSpPr/>
          <p:nvPr/>
        </p:nvSpPr>
        <p:spPr>
          <a:xfrm>
            <a:off x="685800" y="4032504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_30"/>
          <p:cNvSpPr txBox="1"/>
          <p:nvPr/>
        </p:nvSpPr>
        <p:spPr>
          <a:xfrm>
            <a:off x="68580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_31"/>
          <p:cNvSpPr txBox="1"/>
          <p:nvPr/>
        </p:nvSpPr>
        <p:spPr>
          <a:xfrm>
            <a:off x="1234440" y="4014216"/>
            <a:ext cx="6400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read: the four propositions</a:t>
            </a:r>
            <a:endParaRPr lang="en-US" sz="1600" dirty="0"/>
          </a:p>
        </p:txBody>
      </p:sp>
      <p:sp>
        <p:nvSpPr>
          <p:cNvPr id="16" name="num_32"/>
          <p:cNvSpPr/>
          <p:nvPr/>
        </p:nvSpPr>
        <p:spPr>
          <a:xfrm>
            <a:off x="685800" y="4690872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_33"/>
          <p:cNvSpPr txBox="1"/>
          <p:nvPr/>
        </p:nvSpPr>
        <p:spPr>
          <a:xfrm>
            <a:off x="68580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_34"/>
          <p:cNvSpPr txBox="1"/>
          <p:nvPr/>
        </p:nvSpPr>
        <p:spPr>
          <a:xfrm>
            <a:off x="1234440" y="4672584"/>
            <a:ext cx="6400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 to 5 February</a:t>
            </a:r>
            <a:endParaRPr lang="en-US" sz="1600" dirty="0"/>
          </a:p>
        </p:txBody>
      </p:sp>
      <p:sp>
        <p:nvSpPr>
          <p:cNvPr id="19" name="card_35"/>
          <p:cNvSpPr/>
          <p:nvPr/>
        </p:nvSpPr>
        <p:spPr>
          <a:xfrm>
            <a:off x="8092440" y="20116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BEBD0"/>
          </a:solidFill>
          <a:ln w="9525">
            <a:solidFill>
              <a:srgbClr val="FBEBD0"/>
            </a:solidFill>
            <a:prstDash val="solid"/>
          </a:ln>
        </p:spPr>
      </p:sp>
      <p:sp>
        <p:nvSpPr>
          <p:cNvPr id="20" name="tag_36"/>
          <p:cNvSpPr/>
          <p:nvPr/>
        </p:nvSpPr>
        <p:spPr>
          <a:xfrm>
            <a:off x="8257032" y="2139696"/>
            <a:ext cx="1545336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21" name="text_37"/>
          <p:cNvSpPr txBox="1"/>
          <p:nvPr/>
        </p:nvSpPr>
        <p:spPr>
          <a:xfrm>
            <a:off x="8257032" y="213969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/ HAVE READY</a:t>
            </a:r>
            <a:endParaRPr lang="en-US" sz="1050" dirty="0"/>
          </a:p>
        </p:txBody>
      </p:sp>
      <p:sp>
        <p:nvSpPr>
          <p:cNvPr id="22" name="cardbody_38"/>
          <p:cNvSpPr txBox="1"/>
          <p:nvPr/>
        </p:nvSpPr>
        <p:spPr>
          <a:xfrm>
            <a:off x="8257032" y="2487168"/>
            <a:ext cx="3191256" cy="2679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</a:t>
            </a: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first draft</a:t>
            </a: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printed or as PDF (Task 7C)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different-coloured pens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workbook (revision plan page)</a:t>
            </a:r>
            <a:endParaRPr lang="en-US" sz="1400" dirty="0"/>
          </a:p>
        </p:txBody>
      </p:sp>
      <p:sp>
        <p:nvSpPr>
          <p:cNvPr id="23" name="dot_39"/>
          <p:cNvSpPr/>
          <p:nvPr/>
        </p:nvSpPr>
        <p:spPr>
          <a:xfrm>
            <a:off x="4852264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4" name="dot_40"/>
          <p:cNvSpPr/>
          <p:nvPr/>
        </p:nvSpPr>
        <p:spPr>
          <a:xfrm>
            <a:off x="5181448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5" name="dot_41"/>
          <p:cNvSpPr/>
          <p:nvPr/>
        </p:nvSpPr>
        <p:spPr>
          <a:xfrm>
            <a:off x="5510632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6" name="dot_42"/>
          <p:cNvSpPr/>
          <p:nvPr/>
        </p:nvSpPr>
        <p:spPr>
          <a:xfrm>
            <a:off x="5839816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7" name="dot_43"/>
          <p:cNvSpPr/>
          <p:nvPr/>
        </p:nvSpPr>
        <p:spPr>
          <a:xfrm>
            <a:off x="6169000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8" name="dot_44"/>
          <p:cNvSpPr/>
          <p:nvPr/>
        </p:nvSpPr>
        <p:spPr>
          <a:xfrm>
            <a:off x="6498184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29" name="dot_45"/>
          <p:cNvSpPr/>
          <p:nvPr/>
        </p:nvSpPr>
        <p:spPr>
          <a:xfrm>
            <a:off x="6827368" y="5897880"/>
            <a:ext cx="182880" cy="182880"/>
          </a:xfrm>
          <a:prstGeom prst="ellipse">
            <a:avLst/>
          </a:prstGeom>
          <a:solidFill>
            <a:srgbClr val="2E4A6B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30" name="dot_46"/>
          <p:cNvSpPr/>
          <p:nvPr/>
        </p:nvSpPr>
        <p:spPr>
          <a:xfrm>
            <a:off x="7156552" y="5897880"/>
            <a:ext cx="182880" cy="182880"/>
          </a:xfrm>
          <a:prstGeom prst="ellipse">
            <a:avLst/>
          </a:prstGeom>
          <a:solidFill>
            <a:srgbClr val="D98E1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31" name="text_47"/>
          <p:cNvSpPr txBox="1"/>
          <p:nvPr/>
        </p:nvSpPr>
        <p:spPr>
          <a:xfrm>
            <a:off x="0" y="6117336"/>
            <a:ext cx="12191695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8 of 8  ·  Semester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48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‘hit-by-the-bus’ moment</a:t>
            </a:r>
            <a:endParaRPr lang="en-US" sz="2800" dirty="0"/>
          </a:p>
        </p:txBody>
      </p:sp>
      <p:sp>
        <p:nvSpPr>
          <p:cNvPr id="3" name="bullets_49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Schultz's name for the point when a complete draft exists: if you were hit by a bus, someone could submit it.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</a:t>
            </a:r>
            <a:r>
              <a:rPr lang="en-US" sz="17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Many authors submit at this point. Schultz says that's the mistake.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now on your job changes from </a:t>
            </a:r>
            <a:r>
              <a:rPr lang="en-US" sz="17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7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sentence structure, word choice, concision.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Schultz admires write </a:t>
            </a:r>
            <a:r>
              <a:rPr lang="en-US" sz="17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drafts</a:t>
            </a: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‘50 drafts would not be unreasonable’. You have nine weeks for three or four.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</a:t>
            </a:r>
            <a:r>
              <a:rPr lang="en-US" sz="17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celebrate.</a:t>
            </a:r>
            <a:r>
              <a:rPr lang="en-US" sz="17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Schultz: reward yourself for milestones; ‘carrots generally work better than sticks’.</a:t>
            </a:r>
            <a:endParaRPr lang="en-US" sz="1700" dirty="0"/>
          </a:p>
        </p:txBody>
      </p:sp>
      <p:sp>
        <p:nvSpPr>
          <p:cNvPr id="4" name="q_50"/>
          <p:cNvSpPr/>
          <p:nvPr/>
        </p:nvSpPr>
        <p:spPr>
          <a:xfrm>
            <a:off x="6537960" y="1325880"/>
            <a:ext cx="5105095" cy="4754880"/>
          </a:xfrm>
          <a:prstGeom prst="roundRect">
            <a:avLst>
              <a:gd name="adj" fmla="val 1538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_51"/>
          <p:cNvSpPr txBox="1"/>
          <p:nvPr/>
        </p:nvSpPr>
        <p:spPr>
          <a:xfrm>
            <a:off x="672084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D98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_52"/>
          <p:cNvSpPr txBox="1"/>
          <p:nvPr/>
        </p:nvSpPr>
        <p:spPr>
          <a:xfrm>
            <a:off x="6903720" y="2103120"/>
            <a:ext cx="4373575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hit-by-the-bus moment, the role of the author must evolve from one dominated by writing to one dominated by editing.</a:t>
            </a:r>
            <a:endParaRPr lang="en-US" sz="1900" dirty="0"/>
          </a:p>
        </p:txBody>
      </p:sp>
      <p:sp>
        <p:nvSpPr>
          <p:cNvPr id="7" name="text_53"/>
          <p:cNvSpPr txBox="1"/>
          <p:nvPr/>
        </p:nvSpPr>
        <p:spPr>
          <a:xfrm>
            <a:off x="6903720" y="5120640"/>
            <a:ext cx="437357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Schultz (2009), §13.1</a:t>
            </a:r>
            <a:endParaRPr lang="en-US" sz="1200" dirty="0"/>
          </a:p>
        </p:txBody>
      </p:sp>
      <p:sp>
        <p:nvSpPr>
          <p:cNvPr id="8" name="text_54"/>
          <p:cNvSpPr txBox="1"/>
          <p:nvPr/>
        </p:nvSpPr>
        <p:spPr>
          <a:xfrm>
            <a:off x="548640" y="64465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Schultz, D. M. (2009) Eloquent Science, American Meteorological Society, §13.1 ‘The process of revision’; §5.4.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5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top-down: the writing funnel, then CPR</a:t>
            </a:r>
            <a:endParaRPr lang="en-US" sz="2800" dirty="0"/>
          </a:p>
        </p:txBody>
      </p:sp>
      <p:sp>
        <p:nvSpPr>
          <p:cNvPr id="3" name="fun_56"/>
          <p:cNvSpPr/>
          <p:nvPr/>
        </p:nvSpPr>
        <p:spPr>
          <a:xfrm flipV="1">
            <a:off x="548640" y="1325880"/>
            <a:ext cx="5760720" cy="1145286"/>
          </a:xfrm>
          <a:prstGeom prst="trapezoid">
            <a:avLst/>
          </a:prstGeom>
          <a:solidFill>
            <a:srgbClr val="1B2A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_57"/>
          <p:cNvSpPr txBox="1"/>
          <p:nvPr/>
        </p:nvSpPr>
        <p:spPr>
          <a:xfrm>
            <a:off x="640080" y="1399032"/>
            <a:ext cx="5577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SECTIONS</a:t>
            </a:r>
            <a:endParaRPr lang="en-US" sz="1300" dirty="0"/>
          </a:p>
        </p:txBody>
      </p:sp>
      <p:sp>
        <p:nvSpPr>
          <p:cNvPr id="5" name="text_58"/>
          <p:cNvSpPr txBox="1"/>
          <p:nvPr/>
        </p:nvSpPr>
        <p:spPr>
          <a:xfrm>
            <a:off x="868680" y="1673352"/>
            <a:ext cx="5120640" cy="74295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each section do its job for the question? Anything to cut or move?</a:t>
            </a:r>
            <a:endParaRPr lang="en-US" sz="1150" dirty="0"/>
          </a:p>
        </p:txBody>
      </p:sp>
      <p:sp>
        <p:nvSpPr>
          <p:cNvPr id="6" name="fun_59"/>
          <p:cNvSpPr/>
          <p:nvPr/>
        </p:nvSpPr>
        <p:spPr>
          <a:xfrm flipV="1">
            <a:off x="1182319" y="2526030"/>
            <a:ext cx="4493362" cy="1145286"/>
          </a:xfrm>
          <a:prstGeom prst="trapezoid">
            <a:avLst/>
          </a:prstGeom>
          <a:solidFill>
            <a:srgbClr val="2E4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_60"/>
          <p:cNvSpPr txBox="1"/>
          <p:nvPr/>
        </p:nvSpPr>
        <p:spPr>
          <a:xfrm>
            <a:off x="1273759" y="2599182"/>
            <a:ext cx="431048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PARAGRAPHS</a:t>
            </a:r>
            <a:endParaRPr lang="en-US" sz="1300" dirty="0"/>
          </a:p>
        </p:txBody>
      </p:sp>
      <p:sp>
        <p:nvSpPr>
          <p:cNvPr id="8" name="text_61"/>
          <p:cNvSpPr txBox="1"/>
          <p:nvPr/>
        </p:nvSpPr>
        <p:spPr>
          <a:xfrm>
            <a:off x="1502359" y="2873502"/>
            <a:ext cx="3853282" cy="74295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sentences in order? One job each? Links?</a:t>
            </a:r>
            <a:endParaRPr lang="en-US" sz="1150" dirty="0"/>
          </a:p>
        </p:txBody>
      </p:sp>
      <p:sp>
        <p:nvSpPr>
          <p:cNvPr id="9" name="fun_62"/>
          <p:cNvSpPr/>
          <p:nvPr/>
        </p:nvSpPr>
        <p:spPr>
          <a:xfrm flipV="1">
            <a:off x="1815998" y="3726180"/>
            <a:ext cx="3226003" cy="1145286"/>
          </a:xfrm>
          <a:prstGeom prst="trapezoid">
            <a:avLst/>
          </a:prstGeom>
          <a:solidFill>
            <a:srgbClr val="4F6F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_63"/>
          <p:cNvSpPr txBox="1"/>
          <p:nvPr/>
        </p:nvSpPr>
        <p:spPr>
          <a:xfrm>
            <a:off x="1907438" y="3799332"/>
            <a:ext cx="3043123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SENTENCES</a:t>
            </a:r>
            <a:endParaRPr lang="en-US" sz="1300" dirty="0"/>
          </a:p>
        </p:txBody>
      </p:sp>
      <p:sp>
        <p:nvSpPr>
          <p:cNvPr id="11" name="text_64"/>
          <p:cNvSpPr txBox="1"/>
          <p:nvPr/>
        </p:nvSpPr>
        <p:spPr>
          <a:xfrm>
            <a:off x="2136038" y="4073652"/>
            <a:ext cx="2585923" cy="74295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→ new; active verbs; no buried subjects</a:t>
            </a:r>
            <a:endParaRPr lang="en-US" sz="1150" dirty="0"/>
          </a:p>
        </p:txBody>
      </p:sp>
      <p:sp>
        <p:nvSpPr>
          <p:cNvPr id="12" name="fun_65"/>
          <p:cNvSpPr/>
          <p:nvPr/>
        </p:nvSpPr>
        <p:spPr>
          <a:xfrm flipV="1">
            <a:off x="2449678" y="4926330"/>
            <a:ext cx="1958645" cy="1145286"/>
          </a:xfrm>
          <a:prstGeom prst="trapezoid">
            <a:avLst/>
          </a:prstGeom>
          <a:solidFill>
            <a:srgbClr val="7C9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_66"/>
          <p:cNvSpPr txBox="1"/>
          <p:nvPr/>
        </p:nvSpPr>
        <p:spPr>
          <a:xfrm>
            <a:off x="2541118" y="4999482"/>
            <a:ext cx="177576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WORDS</a:t>
            </a:r>
            <a:endParaRPr lang="en-US" sz="1300" dirty="0"/>
          </a:p>
        </p:txBody>
      </p:sp>
      <p:sp>
        <p:nvSpPr>
          <p:cNvPr id="14" name="text_67"/>
          <p:cNvSpPr txBox="1"/>
          <p:nvPr/>
        </p:nvSpPr>
        <p:spPr>
          <a:xfrm>
            <a:off x="2769718" y="5273802"/>
            <a:ext cx="1318565" cy="74295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Concision, precision, units, spelling</a:t>
            </a:r>
            <a:endParaRPr lang="en-US" sz="1150" dirty="0"/>
          </a:p>
        </p:txBody>
      </p:sp>
      <p:sp>
        <p:nvSpPr>
          <p:cNvPr id="15" name="card_68"/>
          <p:cNvSpPr/>
          <p:nvPr/>
        </p:nvSpPr>
        <p:spPr>
          <a:xfrm>
            <a:off x="6583680" y="1325880"/>
            <a:ext cx="5056632" cy="4800600"/>
          </a:xfrm>
          <a:prstGeom prst="roundRect">
            <a:avLst>
              <a:gd name="adj" fmla="val 1524"/>
            </a:avLst>
          </a:prstGeom>
          <a:solidFill>
            <a:srgbClr val="DCE7F2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16" name="tag_69"/>
          <p:cNvSpPr/>
          <p:nvPr/>
        </p:nvSpPr>
        <p:spPr>
          <a:xfrm>
            <a:off x="6748272" y="1453896"/>
            <a:ext cx="3255264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7" name="text_70"/>
          <p:cNvSpPr txBox="1"/>
          <p:nvPr/>
        </p:nvSpPr>
        <p:spPr>
          <a:xfrm>
            <a:off x="6748272" y="145389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SCALE: CPR (SCHALL, VIA SCHULTZ)</a:t>
            </a:r>
            <a:endParaRPr lang="en-US" sz="1050" dirty="0"/>
          </a:p>
        </p:txBody>
      </p:sp>
      <p:sp>
        <p:nvSpPr>
          <p:cNvPr id="18" name="cardbody_71"/>
          <p:cNvSpPr txBox="1"/>
          <p:nvPr/>
        </p:nvSpPr>
        <p:spPr>
          <a:xfrm>
            <a:off x="6748272" y="1801368"/>
            <a:ext cx="4727448" cy="4233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oncision: trim what isn't needed.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recision: make what's left exact.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evision: sharpen the links between pieces.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funnel. Fixing commas in a paragraph you then delete is wasted effort.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draft alone for a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days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first: Schultz's cure for being ‘blinded to your own writing’.</a:t>
            </a:r>
            <a:endParaRPr lang="en-US" sz="1500" dirty="0"/>
          </a:p>
        </p:txBody>
      </p:sp>
      <p:sp>
        <p:nvSpPr>
          <p:cNvPr id="19" name="text_72"/>
          <p:cNvSpPr txBox="1"/>
          <p:nvPr/>
        </p:nvSpPr>
        <p:spPr>
          <a:xfrm>
            <a:off x="548640" y="64465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Schultz, D. M. (2009) Eloquent Science, American Meteorological Society, §13.1 (CPR after Schall 2006); §7.4; §13.7.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band_73"/>
          <p:cNvSpPr/>
          <p:nvPr/>
        </p:nvSpPr>
        <p:spPr>
          <a:xfrm>
            <a:off x="0" y="237744"/>
            <a:ext cx="12191695" cy="914400"/>
          </a:xfrm>
          <a:prstGeom prst="rect">
            <a:avLst/>
          </a:prstGeom>
          <a:solidFill>
            <a:srgbClr val="FBEBD0"/>
          </a:solidFill>
          <a:ln w="12700">
            <a:solidFill>
              <a:srgbClr val="FBEBD0"/>
            </a:solidFill>
            <a:prstDash val="solid"/>
          </a:ln>
        </p:spPr>
      </p:sp>
      <p:sp>
        <p:nvSpPr>
          <p:cNvPr id="3" name="text_74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ACTIVITY  ·  5 MIN</a:t>
            </a:r>
            <a:endParaRPr lang="en-US" sz="1100" dirty="0"/>
          </a:p>
        </p:txBody>
      </p:sp>
      <p:sp>
        <p:nvSpPr>
          <p:cNvPr id="4" name="text_75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Reverse-outline your own draft</a:t>
            </a:r>
            <a:endParaRPr lang="en-US" sz="2600" dirty="0"/>
          </a:p>
        </p:txBody>
      </p:sp>
      <p:sp>
        <p:nvSpPr>
          <p:cNvPr id="5" name="num_76"/>
          <p:cNvSpPr/>
          <p:nvPr/>
        </p:nvSpPr>
        <p:spPr>
          <a:xfrm>
            <a:off x="594360" y="1435608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6" name="text_77"/>
          <p:cNvSpPr txBox="1"/>
          <p:nvPr/>
        </p:nvSpPr>
        <p:spPr>
          <a:xfrm>
            <a:off x="59436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_78"/>
          <p:cNvSpPr txBox="1"/>
          <p:nvPr/>
        </p:nvSpPr>
        <p:spPr>
          <a:xfrm>
            <a:off x="1097280" y="1417320"/>
            <a:ext cx="612648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margin beside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paragraph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write its job (context / problem / purpose / method / result / interpretation / limitation / answer) and its point in ≤ 6 words.</a:t>
            </a:r>
            <a:endParaRPr lang="en-US" sz="1500" dirty="0"/>
          </a:p>
        </p:txBody>
      </p:sp>
      <p:sp>
        <p:nvSpPr>
          <p:cNvPr id="8" name="num_79"/>
          <p:cNvSpPr/>
          <p:nvPr/>
        </p:nvSpPr>
        <p:spPr>
          <a:xfrm>
            <a:off x="594360" y="2496312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9" name="text_80"/>
          <p:cNvSpPr txBox="1"/>
          <p:nvPr/>
        </p:nvSpPr>
        <p:spPr>
          <a:xfrm>
            <a:off x="59436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_81"/>
          <p:cNvSpPr txBox="1"/>
          <p:nvPr/>
        </p:nvSpPr>
        <p:spPr>
          <a:xfrm>
            <a:off x="1097280" y="2478024"/>
            <a:ext cx="6126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the margin, top to bottom.</a:t>
            </a:r>
            <a:endParaRPr lang="en-US" sz="1500" dirty="0"/>
          </a:p>
        </p:txBody>
      </p:sp>
      <p:sp>
        <p:nvSpPr>
          <p:cNvPr id="11" name="num_82"/>
          <p:cNvSpPr/>
          <p:nvPr/>
        </p:nvSpPr>
        <p:spPr>
          <a:xfrm>
            <a:off x="594360" y="3081528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2" name="text_83"/>
          <p:cNvSpPr txBox="1"/>
          <p:nvPr/>
        </p:nvSpPr>
        <p:spPr>
          <a:xfrm>
            <a:off x="59436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_84"/>
          <p:cNvSpPr txBox="1"/>
          <p:nvPr/>
        </p:nvSpPr>
        <p:spPr>
          <a:xfrm>
            <a:off x="1097280" y="3063240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Mark: ✗ a paragraph with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→ one in the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section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? a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step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card_85"/>
          <p:cNvSpPr/>
          <p:nvPr/>
        </p:nvSpPr>
        <p:spPr>
          <a:xfrm>
            <a:off x="7680960" y="1417320"/>
            <a:ext cx="3959352" cy="2331720"/>
          </a:xfrm>
          <a:prstGeom prst="roundRect">
            <a:avLst>
              <a:gd name="adj" fmla="val 313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5" name="tag_86"/>
          <p:cNvSpPr/>
          <p:nvPr/>
        </p:nvSpPr>
        <p:spPr>
          <a:xfrm>
            <a:off x="7845552" y="1545336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6" name="text_87"/>
          <p:cNvSpPr txBox="1"/>
          <p:nvPr/>
        </p:nvSpPr>
        <p:spPr>
          <a:xfrm>
            <a:off x="7845552" y="15453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050" dirty="0"/>
          </a:p>
        </p:txBody>
      </p:sp>
      <p:sp>
        <p:nvSpPr>
          <p:cNvPr id="17" name="cardbody_88"/>
          <p:cNvSpPr txBox="1"/>
          <p:nvPr/>
        </p:nvSpPr>
        <p:spPr>
          <a:xfrm>
            <a:off x="7845552" y="1892808"/>
            <a:ext cx="363016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to-do list for January, at the planetary and synoptic scales</a:t>
            </a:r>
            <a:endParaRPr lang="en-US" sz="1450" dirty="0"/>
          </a:p>
        </p:txBody>
      </p:sp>
      <p:sp>
        <p:nvSpPr>
          <p:cNvPr id="18" name="card_89"/>
          <p:cNvSpPr/>
          <p:nvPr/>
        </p:nvSpPr>
        <p:spPr>
          <a:xfrm>
            <a:off x="7680960" y="3931920"/>
            <a:ext cx="3959352" cy="2377440"/>
          </a:xfrm>
          <a:prstGeom prst="roundRect">
            <a:avLst>
              <a:gd name="adj" fmla="val 3077"/>
            </a:avLst>
          </a:prstGeom>
          <a:solidFill>
            <a:srgbClr val="DCE7F2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19" name="tag_90"/>
          <p:cNvSpPr/>
          <p:nvPr/>
        </p:nvSpPr>
        <p:spPr>
          <a:xfrm>
            <a:off x="7845552" y="4059936"/>
            <a:ext cx="379476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0" name="text_91"/>
          <p:cNvSpPr txBox="1"/>
          <p:nvPr/>
        </p:nvSpPr>
        <p:spPr>
          <a:xfrm>
            <a:off x="7845552" y="4059936"/>
            <a:ext cx="379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21" name="cardbody_92"/>
          <p:cNvSpPr txBox="1"/>
          <p:nvPr/>
        </p:nvSpPr>
        <p:spPr>
          <a:xfrm>
            <a:off x="7845552" y="4407408"/>
            <a:ext cx="3630168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Schultz §13.2: ‘label the topics of the text in the margins… The weaknesses in the organisation of the text will likely become apparent.’</a:t>
            </a:r>
            <a:endParaRPr lang="en-US" sz="1400" dirty="0"/>
          </a:p>
        </p:txBody>
      </p:sp>
      <p:sp>
        <p:nvSpPr>
          <p:cNvPr id="22" name="text_93"/>
          <p:cNvSpPr txBox="1"/>
          <p:nvPr/>
        </p:nvSpPr>
        <p:spPr>
          <a:xfrm>
            <a:off x="548640" y="64465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Schultz, D. M. (2009) Eloquent Science, American Meteorological Society, §13.2 ‘Losing your way’.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9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Concision: the cheapest 200 words you'll ever cut</a:t>
            </a:r>
            <a:endParaRPr lang="en-US" sz="2800" dirty="0"/>
          </a:p>
        </p:txBody>
      </p:sp>
      <p:sp>
        <p:nvSpPr>
          <p:cNvPr id="3" name="bullets_95"/>
          <p:cNvSpPr txBox="1"/>
          <p:nvPr/>
        </p:nvSpPr>
        <p:spPr>
          <a:xfrm>
            <a:off x="548640" y="1325880"/>
            <a:ext cx="502920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first drafts over the limit are fixed by </a:t>
            </a: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concision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by cutting content.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Schultz: applying his sentence-level advice can shorten drafts by </a:t>
            </a: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20%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making them clearer.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</a:t>
            </a: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rewrite a passage in the fewest words that keep every point. His example goes from 292 to 119 words.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your draft for the phrases on the right. Most can simply go.</a:t>
            </a:r>
            <a:endParaRPr lang="en-US" sz="1600" dirty="0"/>
          </a:p>
        </p:txBody>
      </p:sp>
      <p:sp>
        <p:nvSpPr>
          <p:cNvPr id="4" name="text_96"/>
          <p:cNvSpPr txBox="1"/>
          <p:nvPr/>
        </p:nvSpPr>
        <p:spPr>
          <a:xfrm>
            <a:off x="598932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0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00" dirty="0"/>
          </a:p>
        </p:txBody>
      </p:sp>
      <p:sp>
        <p:nvSpPr>
          <p:cNvPr id="5" name="text_97"/>
          <p:cNvSpPr txBox="1"/>
          <p:nvPr/>
        </p:nvSpPr>
        <p:spPr>
          <a:xfrm>
            <a:off x="96469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100" dirty="0"/>
          </a:p>
        </p:txBody>
      </p:sp>
      <p:sp>
        <p:nvSpPr>
          <p:cNvPr id="6" name="row_98"/>
          <p:cNvSpPr/>
          <p:nvPr/>
        </p:nvSpPr>
        <p:spPr>
          <a:xfrm>
            <a:off x="5897880" y="1645920"/>
            <a:ext cx="5745175" cy="393192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7" name="text_99"/>
          <p:cNvSpPr txBox="1"/>
          <p:nvPr/>
        </p:nvSpPr>
        <p:spPr>
          <a:xfrm>
            <a:off x="5989320" y="1645920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can be seen that</a:t>
            </a:r>
            <a:endParaRPr lang="en-US" sz="1350" dirty="0"/>
          </a:p>
        </p:txBody>
      </p:sp>
      <p:sp>
        <p:nvSpPr>
          <p:cNvPr id="8" name="text_100"/>
          <p:cNvSpPr txBox="1"/>
          <p:nvPr/>
        </p:nvSpPr>
        <p:spPr>
          <a:xfrm>
            <a:off x="9646920" y="1645920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(omit)</a:t>
            </a:r>
            <a:endParaRPr lang="en-US" sz="1350" dirty="0"/>
          </a:p>
        </p:txBody>
      </p:sp>
      <p:sp>
        <p:nvSpPr>
          <p:cNvPr id="9" name="row_101"/>
          <p:cNvSpPr/>
          <p:nvPr/>
        </p:nvSpPr>
        <p:spPr>
          <a:xfrm>
            <a:off x="5897880" y="2075688"/>
            <a:ext cx="574517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_102"/>
          <p:cNvSpPr txBox="1"/>
          <p:nvPr/>
        </p:nvSpPr>
        <p:spPr>
          <a:xfrm>
            <a:off x="5989320" y="2075688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should be noted that</a:t>
            </a:r>
            <a:endParaRPr lang="en-US" sz="1350" dirty="0"/>
          </a:p>
        </p:txBody>
      </p:sp>
      <p:sp>
        <p:nvSpPr>
          <p:cNvPr id="11" name="text_103"/>
          <p:cNvSpPr txBox="1"/>
          <p:nvPr/>
        </p:nvSpPr>
        <p:spPr>
          <a:xfrm>
            <a:off x="9646920" y="2075688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(omit)</a:t>
            </a:r>
            <a:endParaRPr lang="en-US" sz="1350" dirty="0"/>
          </a:p>
        </p:txBody>
      </p:sp>
      <p:sp>
        <p:nvSpPr>
          <p:cNvPr id="12" name="row_104"/>
          <p:cNvSpPr/>
          <p:nvPr/>
        </p:nvSpPr>
        <p:spPr>
          <a:xfrm>
            <a:off x="5897880" y="2505456"/>
            <a:ext cx="5745175" cy="393192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3" name="text_105"/>
          <p:cNvSpPr txBox="1"/>
          <p:nvPr/>
        </p:nvSpPr>
        <p:spPr>
          <a:xfrm>
            <a:off x="5989320" y="2505456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results show that</a:t>
            </a:r>
            <a:endParaRPr lang="en-US" sz="1350" dirty="0"/>
          </a:p>
        </p:txBody>
      </p:sp>
      <p:sp>
        <p:nvSpPr>
          <p:cNvPr id="14" name="text_106"/>
          <p:cNvSpPr txBox="1"/>
          <p:nvPr/>
        </p:nvSpPr>
        <p:spPr>
          <a:xfrm>
            <a:off x="9646920" y="2505456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(omit)</a:t>
            </a:r>
            <a:endParaRPr lang="en-US" sz="1350" dirty="0"/>
          </a:p>
        </p:txBody>
      </p:sp>
      <p:sp>
        <p:nvSpPr>
          <p:cNvPr id="15" name="row_107"/>
          <p:cNvSpPr/>
          <p:nvPr/>
        </p:nvSpPr>
        <p:spPr>
          <a:xfrm>
            <a:off x="5897880" y="2935224"/>
            <a:ext cx="574517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_108"/>
          <p:cNvSpPr txBox="1"/>
          <p:nvPr/>
        </p:nvSpPr>
        <p:spPr>
          <a:xfrm>
            <a:off x="5989320" y="2935224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order to</a:t>
            </a:r>
            <a:endParaRPr lang="en-US" sz="1350" dirty="0"/>
          </a:p>
        </p:txBody>
      </p:sp>
      <p:sp>
        <p:nvSpPr>
          <p:cNvPr id="17" name="text_109"/>
          <p:cNvSpPr txBox="1"/>
          <p:nvPr/>
        </p:nvSpPr>
        <p:spPr>
          <a:xfrm>
            <a:off x="9646920" y="2935224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350" dirty="0"/>
          </a:p>
        </p:txBody>
      </p:sp>
      <p:sp>
        <p:nvSpPr>
          <p:cNvPr id="18" name="row_110"/>
          <p:cNvSpPr/>
          <p:nvPr/>
        </p:nvSpPr>
        <p:spPr>
          <a:xfrm>
            <a:off x="5897880" y="3364992"/>
            <a:ext cx="5745175" cy="393192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19" name="text_111"/>
          <p:cNvSpPr txBox="1"/>
          <p:nvPr/>
        </p:nvSpPr>
        <p:spPr>
          <a:xfrm>
            <a:off x="5989320" y="3364992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to the fact that</a:t>
            </a:r>
            <a:endParaRPr lang="en-US" sz="1350" dirty="0"/>
          </a:p>
        </p:txBody>
      </p:sp>
      <p:sp>
        <p:nvSpPr>
          <p:cNvPr id="20" name="text_112"/>
          <p:cNvSpPr txBox="1"/>
          <p:nvPr/>
        </p:nvSpPr>
        <p:spPr>
          <a:xfrm>
            <a:off x="9646920" y="3364992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endParaRPr lang="en-US" sz="1350" dirty="0"/>
          </a:p>
        </p:txBody>
      </p:sp>
      <p:sp>
        <p:nvSpPr>
          <p:cNvPr id="21" name="row_113"/>
          <p:cNvSpPr/>
          <p:nvPr/>
        </p:nvSpPr>
        <p:spPr>
          <a:xfrm>
            <a:off x="5897880" y="3794760"/>
            <a:ext cx="574517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_114"/>
          <p:cNvSpPr txBox="1"/>
          <p:nvPr/>
        </p:nvSpPr>
        <p:spPr>
          <a:xfrm>
            <a:off x="5989320" y="3794760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greater number of</a:t>
            </a:r>
            <a:endParaRPr lang="en-US" sz="1350" dirty="0"/>
          </a:p>
        </p:txBody>
      </p:sp>
      <p:sp>
        <p:nvSpPr>
          <p:cNvPr id="23" name="text_115"/>
          <p:cNvSpPr txBox="1"/>
          <p:nvPr/>
        </p:nvSpPr>
        <p:spPr>
          <a:xfrm>
            <a:off x="9646920" y="3794760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350" dirty="0"/>
          </a:p>
        </p:txBody>
      </p:sp>
      <p:sp>
        <p:nvSpPr>
          <p:cNvPr id="24" name="row_116"/>
          <p:cNvSpPr/>
          <p:nvPr/>
        </p:nvSpPr>
        <p:spPr>
          <a:xfrm>
            <a:off x="5897880" y="4224528"/>
            <a:ext cx="5745175" cy="393192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25" name="text_117"/>
          <p:cNvSpPr txBox="1"/>
          <p:nvPr/>
        </p:nvSpPr>
        <p:spPr>
          <a:xfrm>
            <a:off x="5989320" y="4224528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vicinity of</a:t>
            </a:r>
            <a:endParaRPr lang="en-US" sz="1350" dirty="0"/>
          </a:p>
        </p:txBody>
      </p:sp>
      <p:sp>
        <p:nvSpPr>
          <p:cNvPr id="26" name="text_118"/>
          <p:cNvSpPr txBox="1"/>
          <p:nvPr/>
        </p:nvSpPr>
        <p:spPr>
          <a:xfrm>
            <a:off x="9646920" y="4224528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1350" dirty="0"/>
          </a:p>
        </p:txBody>
      </p:sp>
      <p:sp>
        <p:nvSpPr>
          <p:cNvPr id="27" name="row_119"/>
          <p:cNvSpPr/>
          <p:nvPr/>
        </p:nvSpPr>
        <p:spPr>
          <a:xfrm>
            <a:off x="5897880" y="4654296"/>
            <a:ext cx="574517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_120"/>
          <p:cNvSpPr txBox="1"/>
          <p:nvPr/>
        </p:nvSpPr>
        <p:spPr>
          <a:xfrm>
            <a:off x="5989320" y="4654296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shown to be</a:t>
            </a:r>
            <a:endParaRPr lang="en-US" sz="1350" dirty="0"/>
          </a:p>
        </p:txBody>
      </p:sp>
      <p:sp>
        <p:nvSpPr>
          <p:cNvPr id="29" name="text_121"/>
          <p:cNvSpPr txBox="1"/>
          <p:nvPr/>
        </p:nvSpPr>
        <p:spPr>
          <a:xfrm>
            <a:off x="9646920" y="4654296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350" dirty="0"/>
          </a:p>
        </p:txBody>
      </p:sp>
      <p:sp>
        <p:nvSpPr>
          <p:cNvPr id="30" name="row_122"/>
          <p:cNvSpPr/>
          <p:nvPr/>
        </p:nvSpPr>
        <p:spPr>
          <a:xfrm>
            <a:off x="5897880" y="5084064"/>
            <a:ext cx="5745175" cy="393192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1" name="text_123"/>
          <p:cNvSpPr txBox="1"/>
          <p:nvPr/>
        </p:nvSpPr>
        <p:spPr>
          <a:xfrm>
            <a:off x="5989320" y="5084064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utilise</a:t>
            </a:r>
            <a:endParaRPr lang="en-US" sz="1350" dirty="0"/>
          </a:p>
        </p:txBody>
      </p:sp>
      <p:sp>
        <p:nvSpPr>
          <p:cNvPr id="32" name="text_124"/>
          <p:cNvSpPr txBox="1"/>
          <p:nvPr/>
        </p:nvSpPr>
        <p:spPr>
          <a:xfrm>
            <a:off x="9646920" y="5084064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350" dirty="0"/>
          </a:p>
        </p:txBody>
      </p:sp>
      <p:sp>
        <p:nvSpPr>
          <p:cNvPr id="33" name="row_125"/>
          <p:cNvSpPr/>
          <p:nvPr/>
        </p:nvSpPr>
        <p:spPr>
          <a:xfrm>
            <a:off x="5897880" y="5513832"/>
            <a:ext cx="574517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_126"/>
          <p:cNvSpPr txBox="1"/>
          <p:nvPr/>
        </p:nvSpPr>
        <p:spPr>
          <a:xfrm>
            <a:off x="5989320" y="5513832"/>
            <a:ext cx="356616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22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(time) evolution · period (of time)</a:t>
            </a:r>
            <a:endParaRPr lang="en-US" sz="1350" dirty="0"/>
          </a:p>
        </p:txBody>
      </p:sp>
      <p:sp>
        <p:nvSpPr>
          <p:cNvPr id="35" name="text_127"/>
          <p:cNvSpPr txBox="1"/>
          <p:nvPr/>
        </p:nvSpPr>
        <p:spPr>
          <a:xfrm>
            <a:off x="9646920" y="5513832"/>
            <a:ext cx="1904695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brackets</a:t>
            </a:r>
            <a:endParaRPr lang="en-US" sz="1350" dirty="0"/>
          </a:p>
        </p:txBody>
      </p:sp>
      <p:sp>
        <p:nvSpPr>
          <p:cNvPr id="36" name="text_128"/>
          <p:cNvSpPr txBox="1"/>
          <p:nvPr/>
        </p:nvSpPr>
        <p:spPr>
          <a:xfrm>
            <a:off x="548640" y="64465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Schultz, D. M. (2009) Eloquent Science, American Meteorological Society, ch. 9 introduction; §13.3 Précis; §10.1 and Tables 10.1–10.2.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29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give useful feedback</a:t>
            </a:r>
            <a:endParaRPr lang="en-US" sz="2800" dirty="0"/>
          </a:p>
        </p:txBody>
      </p:sp>
      <p:sp>
        <p:nvSpPr>
          <p:cNvPr id="3" name="bullets_130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Schultz: on an </a:t>
            </a:r>
            <a:r>
              <a:rPr lang="en-US" sz="16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draft</a:t>
            </a: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comment on the </a:t>
            </a:r>
            <a:r>
              <a:rPr lang="en-US" sz="16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issues first</a:t>
            </a: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don't line-edit sentences.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</a:t>
            </a:r>
            <a:r>
              <a:rPr lang="en-US" sz="16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point at the paragraph and say what happened to you as a reader (‘I lost the thread here’).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</a:t>
            </a:r>
            <a:r>
              <a:rPr lang="en-US" sz="16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well as what doesn't; the author needs to know what to keep.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useful reviewers </a:t>
            </a:r>
            <a:r>
              <a:rPr lang="en-US" sz="16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you. Schultz: ‘Least helpful are sycophants.’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</a:t>
            </a:r>
            <a:r>
              <a:rPr lang="en-US" sz="16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for February</a:t>
            </a:r>
            <a:r>
              <a:rPr lang="en-US" sz="16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when you swap your submitted drafts for peer feedback.</a:t>
            </a:r>
            <a:endParaRPr lang="en-US" sz="1650" dirty="0"/>
          </a:p>
        </p:txBody>
      </p:sp>
      <p:sp>
        <p:nvSpPr>
          <p:cNvPr id="4" name="card_131"/>
          <p:cNvSpPr/>
          <p:nvPr/>
        </p:nvSpPr>
        <p:spPr>
          <a:xfrm>
            <a:off x="6537960" y="1325880"/>
            <a:ext cx="5105095" cy="4754880"/>
          </a:xfrm>
          <a:prstGeom prst="roundRect">
            <a:avLst>
              <a:gd name="adj" fmla="val 1538"/>
            </a:avLst>
          </a:prstGeom>
          <a:solidFill>
            <a:srgbClr val="DCE7F2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5" name="tag_132"/>
          <p:cNvSpPr/>
          <p:nvPr/>
        </p:nvSpPr>
        <p:spPr>
          <a:xfrm>
            <a:off x="6702552" y="1453896"/>
            <a:ext cx="1778508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6" name="text_133"/>
          <p:cNvSpPr txBox="1"/>
          <p:nvPr/>
        </p:nvSpPr>
        <p:spPr>
          <a:xfrm>
            <a:off x="6702552" y="1453896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STRUCTURE ONLY</a:t>
            </a:r>
            <a:endParaRPr lang="en-US" sz="1050" dirty="0"/>
          </a:p>
        </p:txBody>
      </p:sp>
      <p:sp>
        <p:nvSpPr>
          <p:cNvPr id="7" name="text_134"/>
          <p:cNvSpPr txBox="1"/>
          <p:nvPr/>
        </p:nvSpPr>
        <p:spPr>
          <a:xfrm>
            <a:off x="6702552" y="1801368"/>
            <a:ext cx="4775911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grammar, no spelling</a:t>
            </a:r>
            <a:endParaRPr lang="en-US" sz="1700" dirty="0"/>
          </a:p>
        </p:txBody>
      </p:sp>
      <p:sp>
        <p:nvSpPr>
          <p:cNvPr id="8" name="text_135"/>
          <p:cNvSpPr txBox="1"/>
          <p:nvPr/>
        </p:nvSpPr>
        <p:spPr>
          <a:xfrm>
            <a:off x="6702552" y="2258568"/>
            <a:ext cx="4775911" cy="3730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microscale. Today we're at the planetary and synoptic scales: question, answer, evidence, trust.</a:t>
            </a:r>
            <a:endParaRPr lang="en-US" sz="1500" dirty="0"/>
          </a:p>
        </p:txBody>
      </p:sp>
      <p:sp>
        <p:nvSpPr>
          <p:cNvPr id="9" name="text_136"/>
          <p:cNvSpPr txBox="1"/>
          <p:nvPr/>
        </p:nvSpPr>
        <p:spPr>
          <a:xfrm>
            <a:off x="548640" y="64465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Schultz, D. M. (2009) Eloquent Science, American Meteorological Society, §20.7 ‘Providing comments to others’; §13.7 ‘Receiving feedback’.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band_137"/>
          <p:cNvSpPr/>
          <p:nvPr/>
        </p:nvSpPr>
        <p:spPr>
          <a:xfrm>
            <a:off x="0" y="237744"/>
            <a:ext cx="12191695" cy="914400"/>
          </a:xfrm>
          <a:prstGeom prst="rect">
            <a:avLst/>
          </a:prstGeom>
          <a:solidFill>
            <a:srgbClr val="FBEBD0"/>
          </a:solidFill>
          <a:ln w="12700">
            <a:solidFill>
              <a:srgbClr val="FBEBD0"/>
            </a:solidFill>
            <a:prstDash val="solid"/>
          </a:ln>
        </p:spPr>
      </p:sp>
      <p:sp>
        <p:nvSpPr>
          <p:cNvPr id="3" name="text_138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ACTIVITY  ·  16 MIN</a:t>
            </a:r>
            <a:endParaRPr lang="en-US" sz="1100" dirty="0"/>
          </a:p>
        </p:txBody>
      </p:sp>
      <p:sp>
        <p:nvSpPr>
          <p:cNvPr id="4" name="text_139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read: the four propositions</a:t>
            </a:r>
            <a:endParaRPr lang="en-US" sz="2600" dirty="0"/>
          </a:p>
        </p:txBody>
      </p:sp>
      <p:sp>
        <p:nvSpPr>
          <p:cNvPr id="5" name="num_140"/>
          <p:cNvSpPr/>
          <p:nvPr/>
        </p:nvSpPr>
        <p:spPr>
          <a:xfrm>
            <a:off x="594360" y="1435608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6" name="text_141"/>
          <p:cNvSpPr txBox="1"/>
          <p:nvPr/>
        </p:nvSpPr>
        <p:spPr>
          <a:xfrm>
            <a:off x="59436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_142"/>
          <p:cNvSpPr txBox="1"/>
          <p:nvPr/>
        </p:nvSpPr>
        <p:spPr>
          <a:xfrm>
            <a:off x="1097280" y="1417320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complete drafts. Read for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Use the peer-read form in the workbook.</a:t>
            </a:r>
            <a:endParaRPr lang="en-US" sz="1500" dirty="0"/>
          </a:p>
        </p:txBody>
      </p:sp>
      <p:sp>
        <p:nvSpPr>
          <p:cNvPr id="8" name="num_143"/>
          <p:cNvSpPr/>
          <p:nvPr/>
        </p:nvSpPr>
        <p:spPr>
          <a:xfrm>
            <a:off x="594360" y="2221992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9" name="text_144"/>
          <p:cNvSpPr txBox="1"/>
          <p:nvPr/>
        </p:nvSpPr>
        <p:spPr>
          <a:xfrm>
            <a:off x="59436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_145"/>
          <p:cNvSpPr txBox="1"/>
          <p:nvPr/>
        </p:nvSpPr>
        <p:spPr>
          <a:xfrm>
            <a:off x="1097280" y="2203704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the Introduction, write the author's question in your own words.</a:t>
            </a:r>
            <a:endParaRPr lang="en-US" sz="1500" dirty="0"/>
          </a:p>
        </p:txBody>
      </p:sp>
      <p:sp>
        <p:nvSpPr>
          <p:cNvPr id="11" name="num_146"/>
          <p:cNvSpPr/>
          <p:nvPr/>
        </p:nvSpPr>
        <p:spPr>
          <a:xfrm>
            <a:off x="594360" y="3008376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2" name="text_147"/>
          <p:cNvSpPr txBox="1"/>
          <p:nvPr/>
        </p:nvSpPr>
        <p:spPr>
          <a:xfrm>
            <a:off x="59436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_148"/>
          <p:cNvSpPr txBox="1"/>
          <p:nvPr/>
        </p:nvSpPr>
        <p:spPr>
          <a:xfrm>
            <a:off x="1097280" y="2990088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the Conclusion answer </a:t>
            </a: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question? Quote the sentence that does.</a:t>
            </a:r>
            <a:endParaRPr lang="en-US" sz="1500" dirty="0"/>
          </a:p>
        </p:txBody>
      </p:sp>
      <p:sp>
        <p:nvSpPr>
          <p:cNvPr id="14" name="num_149"/>
          <p:cNvSpPr/>
          <p:nvPr/>
        </p:nvSpPr>
        <p:spPr>
          <a:xfrm>
            <a:off x="594360" y="3794760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5" name="text_150"/>
          <p:cNvSpPr txBox="1"/>
          <p:nvPr/>
        </p:nvSpPr>
        <p:spPr>
          <a:xfrm>
            <a:off x="5943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_151"/>
          <p:cNvSpPr txBox="1"/>
          <p:nvPr/>
        </p:nvSpPr>
        <p:spPr>
          <a:xfrm>
            <a:off x="1097280" y="3776472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 one figure or paragraph that could go, or say why none could.</a:t>
            </a:r>
            <a:endParaRPr lang="en-US" sz="1500" dirty="0"/>
          </a:p>
        </p:txBody>
      </p:sp>
      <p:sp>
        <p:nvSpPr>
          <p:cNvPr id="17" name="num_152"/>
          <p:cNvSpPr/>
          <p:nvPr/>
        </p:nvSpPr>
        <p:spPr>
          <a:xfrm>
            <a:off x="594360" y="4581144"/>
            <a:ext cx="365760" cy="365760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8" name="text_153"/>
          <p:cNvSpPr txBox="1"/>
          <p:nvPr/>
        </p:nvSpPr>
        <p:spPr>
          <a:xfrm>
            <a:off x="59436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_154"/>
          <p:cNvSpPr txBox="1"/>
          <p:nvPr/>
        </p:nvSpPr>
        <p:spPr>
          <a:xfrm>
            <a:off x="1097280" y="4562856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Competence:</a:t>
            </a: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place where you doubted a method, number or claim. Then 6 minutes to talk it through.</a:t>
            </a:r>
            <a:endParaRPr lang="en-US" sz="1500" dirty="0"/>
          </a:p>
        </p:txBody>
      </p:sp>
      <p:sp>
        <p:nvSpPr>
          <p:cNvPr id="20" name="card_155"/>
          <p:cNvSpPr/>
          <p:nvPr/>
        </p:nvSpPr>
        <p:spPr>
          <a:xfrm>
            <a:off x="7680960" y="1417320"/>
            <a:ext cx="3959352" cy="2331720"/>
          </a:xfrm>
          <a:prstGeom prst="roundRect">
            <a:avLst>
              <a:gd name="adj" fmla="val 313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1" name="tag_156"/>
          <p:cNvSpPr/>
          <p:nvPr/>
        </p:nvSpPr>
        <p:spPr>
          <a:xfrm>
            <a:off x="7845552" y="1545336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22" name="text_157"/>
          <p:cNvSpPr txBox="1"/>
          <p:nvPr/>
        </p:nvSpPr>
        <p:spPr>
          <a:xfrm>
            <a:off x="7845552" y="15453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050" dirty="0"/>
          </a:p>
        </p:txBody>
      </p:sp>
      <p:sp>
        <p:nvSpPr>
          <p:cNvPr id="23" name="cardbody_158"/>
          <p:cNvSpPr txBox="1"/>
          <p:nvPr/>
        </p:nvSpPr>
        <p:spPr>
          <a:xfrm>
            <a:off x="7845552" y="1892808"/>
            <a:ext cx="363016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honest answers about your draft's structure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entries on your personal weakness list</a:t>
            </a:r>
            <a:endParaRPr lang="en-US" sz="1450" dirty="0"/>
          </a:p>
        </p:txBody>
      </p:sp>
      <p:sp>
        <p:nvSpPr>
          <p:cNvPr id="24" name="card_159"/>
          <p:cNvSpPr/>
          <p:nvPr/>
        </p:nvSpPr>
        <p:spPr>
          <a:xfrm>
            <a:off x="7680960" y="3931920"/>
            <a:ext cx="3959352" cy="2377440"/>
          </a:xfrm>
          <a:prstGeom prst="roundRect">
            <a:avLst>
              <a:gd name="adj" fmla="val 3077"/>
            </a:avLst>
          </a:prstGeom>
          <a:solidFill>
            <a:srgbClr val="DCE7F2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25" name="tag_160"/>
          <p:cNvSpPr/>
          <p:nvPr/>
        </p:nvSpPr>
        <p:spPr>
          <a:xfrm>
            <a:off x="7845552" y="4059936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6" name="text_161"/>
          <p:cNvSpPr txBox="1"/>
          <p:nvPr/>
        </p:nvSpPr>
        <p:spPr>
          <a:xfrm>
            <a:off x="7845552" y="40599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AUTHOR</a:t>
            </a:r>
            <a:endParaRPr lang="en-US" sz="1050" dirty="0"/>
          </a:p>
        </p:txBody>
      </p:sp>
      <p:sp>
        <p:nvSpPr>
          <p:cNvPr id="27" name="cardbody_162"/>
          <p:cNvSpPr txBox="1"/>
          <p:nvPr/>
        </p:nvSpPr>
        <p:spPr>
          <a:xfrm>
            <a:off x="7845552" y="4407408"/>
            <a:ext cx="3630168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reader's version of your question </a:t>
            </a: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differs</a:t>
            </a: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yours, that's the most important feedback you'll get today.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argue: ask ‘what made you think that?’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6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plan to 5 February</a:t>
            </a:r>
            <a:endParaRPr lang="en-US" sz="2800" dirty="0"/>
          </a:p>
        </p:txBody>
      </p:sp>
      <p:sp>
        <p:nvSpPr>
          <p:cNvPr id="3" name="card_164"/>
          <p:cNvSpPr/>
          <p:nvPr/>
        </p:nvSpPr>
        <p:spPr>
          <a:xfrm>
            <a:off x="548640" y="13716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" name="tag_165"/>
          <p:cNvSpPr/>
          <p:nvPr/>
        </p:nvSpPr>
        <p:spPr>
          <a:xfrm>
            <a:off x="713232" y="1499616"/>
            <a:ext cx="768096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5" name="text_166"/>
          <p:cNvSpPr txBox="1"/>
          <p:nvPr/>
        </p:nvSpPr>
        <p:spPr>
          <a:xfrm>
            <a:off x="713232" y="149961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050" dirty="0"/>
          </a:p>
        </p:txBody>
      </p:sp>
      <p:sp>
        <p:nvSpPr>
          <p:cNvPr id="6" name="text_167"/>
          <p:cNvSpPr txBox="1"/>
          <p:nvPr/>
        </p:nvSpPr>
        <p:spPr>
          <a:xfrm>
            <a:off x="713232" y="1847088"/>
            <a:ext cx="1773936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700" dirty="0"/>
          </a:p>
        </p:txBody>
      </p:sp>
      <p:sp>
        <p:nvSpPr>
          <p:cNvPr id="7" name="text_168"/>
          <p:cNvSpPr txBox="1"/>
          <p:nvPr/>
        </p:nvSpPr>
        <p:spPr>
          <a:xfrm>
            <a:off x="713232" y="2532888"/>
            <a:ext cx="1773936" cy="1856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draft alone for at least a week. Fresh eyes find more.</a:t>
            </a:r>
            <a:endParaRPr lang="en-US" sz="1350" dirty="0"/>
          </a:p>
        </p:txBody>
      </p:sp>
      <p:sp>
        <p:nvSpPr>
          <p:cNvPr id="8" name="card_169"/>
          <p:cNvSpPr/>
          <p:nvPr/>
        </p:nvSpPr>
        <p:spPr>
          <a:xfrm>
            <a:off x="2807208" y="13716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ag_170"/>
          <p:cNvSpPr/>
          <p:nvPr/>
        </p:nvSpPr>
        <p:spPr>
          <a:xfrm>
            <a:off x="2971800" y="1499616"/>
            <a:ext cx="845820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_171"/>
          <p:cNvSpPr txBox="1"/>
          <p:nvPr/>
        </p:nvSpPr>
        <p:spPr>
          <a:xfrm>
            <a:off x="2971800" y="149961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~8 JAN</a:t>
            </a:r>
            <a:endParaRPr lang="en-US" sz="1050" dirty="0"/>
          </a:p>
        </p:txBody>
      </p:sp>
      <p:sp>
        <p:nvSpPr>
          <p:cNvPr id="11" name="text_172"/>
          <p:cNvSpPr txBox="1"/>
          <p:nvPr/>
        </p:nvSpPr>
        <p:spPr>
          <a:xfrm>
            <a:off x="2971800" y="1847088"/>
            <a:ext cx="1773936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structure</a:t>
            </a:r>
            <a:endParaRPr lang="en-US" sz="1700" dirty="0"/>
          </a:p>
        </p:txBody>
      </p:sp>
      <p:sp>
        <p:nvSpPr>
          <p:cNvPr id="12" name="text_173"/>
          <p:cNvSpPr txBox="1"/>
          <p:nvPr/>
        </p:nvSpPr>
        <p:spPr>
          <a:xfrm>
            <a:off x="2971800" y="2532888"/>
            <a:ext cx="1773936" cy="1856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the reverse outline and peer read: sections and paragraphs.</a:t>
            </a:r>
            <a:endParaRPr lang="en-US" sz="1350" dirty="0"/>
          </a:p>
        </p:txBody>
      </p:sp>
      <p:sp>
        <p:nvSpPr>
          <p:cNvPr id="13" name="card_174"/>
          <p:cNvSpPr/>
          <p:nvPr/>
        </p:nvSpPr>
        <p:spPr>
          <a:xfrm>
            <a:off x="5065776" y="13716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ag_175"/>
          <p:cNvSpPr/>
          <p:nvPr/>
        </p:nvSpPr>
        <p:spPr>
          <a:xfrm>
            <a:off x="5230368" y="1499616"/>
            <a:ext cx="923544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5" name="text_176"/>
          <p:cNvSpPr txBox="1"/>
          <p:nvPr/>
        </p:nvSpPr>
        <p:spPr>
          <a:xfrm>
            <a:off x="5230368" y="14996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~22 JAN</a:t>
            </a:r>
            <a:endParaRPr lang="en-US" sz="1050" dirty="0"/>
          </a:p>
        </p:txBody>
      </p:sp>
      <p:sp>
        <p:nvSpPr>
          <p:cNvPr id="16" name="text_177"/>
          <p:cNvSpPr txBox="1"/>
          <p:nvPr/>
        </p:nvSpPr>
        <p:spPr>
          <a:xfrm>
            <a:off x="5230368" y="1847088"/>
            <a:ext cx="1773936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CPR</a:t>
            </a:r>
            <a:endParaRPr lang="en-US" sz="1700" dirty="0"/>
          </a:p>
        </p:txBody>
      </p:sp>
      <p:sp>
        <p:nvSpPr>
          <p:cNvPr id="17" name="text_178"/>
          <p:cNvSpPr txBox="1"/>
          <p:nvPr/>
        </p:nvSpPr>
        <p:spPr>
          <a:xfrm>
            <a:off x="5230368" y="2532888"/>
            <a:ext cx="1773936" cy="1856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and words: concision, precision, links. Get to ≤ 2,000.</a:t>
            </a:r>
            <a:endParaRPr lang="en-US" sz="1350" dirty="0"/>
          </a:p>
        </p:txBody>
      </p:sp>
      <p:sp>
        <p:nvSpPr>
          <p:cNvPr id="18" name="card_179"/>
          <p:cNvSpPr/>
          <p:nvPr/>
        </p:nvSpPr>
        <p:spPr>
          <a:xfrm>
            <a:off x="7324344" y="13716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7F4EE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ag_180"/>
          <p:cNvSpPr/>
          <p:nvPr/>
        </p:nvSpPr>
        <p:spPr>
          <a:xfrm>
            <a:off x="7488936" y="1499616"/>
            <a:ext cx="845820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0" name="text_181"/>
          <p:cNvSpPr txBox="1"/>
          <p:nvPr/>
        </p:nvSpPr>
        <p:spPr>
          <a:xfrm>
            <a:off x="7488936" y="149961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~2 FEB</a:t>
            </a:r>
            <a:endParaRPr lang="en-US" sz="1050" dirty="0"/>
          </a:p>
        </p:txBody>
      </p:sp>
      <p:sp>
        <p:nvSpPr>
          <p:cNvPr id="21" name="text_182"/>
          <p:cNvSpPr txBox="1"/>
          <p:nvPr/>
        </p:nvSpPr>
        <p:spPr>
          <a:xfrm>
            <a:off x="7488936" y="1847088"/>
            <a:ext cx="1773936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3: final checks</a:t>
            </a:r>
            <a:endParaRPr lang="en-US" sz="1700" dirty="0"/>
          </a:p>
        </p:txBody>
      </p:sp>
      <p:sp>
        <p:nvSpPr>
          <p:cNvPr id="22" name="text_183"/>
          <p:cNvSpPr txBox="1"/>
          <p:nvPr/>
        </p:nvSpPr>
        <p:spPr>
          <a:xfrm>
            <a:off x="7488936" y="2532888"/>
            <a:ext cx="1773936" cy="1856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final checklist on paper. Read it aloud once.</a:t>
            </a:r>
            <a:endParaRPr lang="en-US" sz="1350" dirty="0"/>
          </a:p>
        </p:txBody>
      </p:sp>
      <p:sp>
        <p:nvSpPr>
          <p:cNvPr id="23" name="card_184"/>
          <p:cNvSpPr/>
          <p:nvPr/>
        </p:nvSpPr>
        <p:spPr>
          <a:xfrm>
            <a:off x="9582912" y="13716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4" name="tag_185"/>
          <p:cNvSpPr/>
          <p:nvPr/>
        </p:nvSpPr>
        <p:spPr>
          <a:xfrm>
            <a:off x="9747504" y="1499616"/>
            <a:ext cx="845820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25" name="text_186"/>
          <p:cNvSpPr txBox="1"/>
          <p:nvPr/>
        </p:nvSpPr>
        <p:spPr>
          <a:xfrm>
            <a:off x="9747504" y="149961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5 FEB</a:t>
            </a:r>
            <a:endParaRPr lang="en-US" sz="1050" dirty="0"/>
          </a:p>
        </p:txBody>
      </p:sp>
      <p:sp>
        <p:nvSpPr>
          <p:cNvPr id="26" name="text_187"/>
          <p:cNvSpPr txBox="1"/>
          <p:nvPr/>
        </p:nvSpPr>
        <p:spPr>
          <a:xfrm>
            <a:off x="9747504" y="1847088"/>
            <a:ext cx="1773936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draft</a:t>
            </a:r>
            <a:endParaRPr lang="en-US" sz="1700" dirty="0"/>
          </a:p>
        </p:txBody>
      </p:sp>
      <p:sp>
        <p:nvSpPr>
          <p:cNvPr id="27" name="text_188"/>
          <p:cNvSpPr txBox="1"/>
          <p:nvPr/>
        </p:nvSpPr>
        <p:spPr>
          <a:xfrm>
            <a:off x="9747504" y="2532888"/>
            <a:ext cx="1773936" cy="1856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Formative: no marks, no DASS extensions. Tutor confirms the method.</a:t>
            </a:r>
            <a:endParaRPr lang="en-US" sz="1350" dirty="0"/>
          </a:p>
        </p:txBody>
      </p:sp>
      <p:sp>
        <p:nvSpPr>
          <p:cNvPr id="28" name="card_189"/>
          <p:cNvSpPr/>
          <p:nvPr/>
        </p:nvSpPr>
        <p:spPr>
          <a:xfrm>
            <a:off x="548640" y="466344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BEBD0"/>
          </a:solidFill>
          <a:ln w="9525">
            <a:solidFill>
              <a:srgbClr val="FBEBD0"/>
            </a:solidFill>
            <a:prstDash val="solid"/>
          </a:ln>
        </p:spPr>
      </p:sp>
      <p:sp>
        <p:nvSpPr>
          <p:cNvPr id="29" name="tag_190"/>
          <p:cNvSpPr/>
          <p:nvPr/>
        </p:nvSpPr>
        <p:spPr>
          <a:xfrm>
            <a:off x="713232" y="4791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30" name="text_191"/>
          <p:cNvSpPr txBox="1"/>
          <p:nvPr/>
        </p:nvSpPr>
        <p:spPr>
          <a:xfrm>
            <a:off x="713232" y="479145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PLAN NOW</a:t>
            </a:r>
            <a:endParaRPr lang="en-US" sz="1050" dirty="0"/>
          </a:p>
        </p:txBody>
      </p:sp>
      <p:sp>
        <p:nvSpPr>
          <p:cNvPr id="31" name="cardbody_192"/>
          <p:cNvSpPr txBox="1"/>
          <p:nvPr/>
        </p:nvSpPr>
        <p:spPr>
          <a:xfrm>
            <a:off x="713232" y="5138928"/>
            <a:ext cx="10762488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is exam season: three short, scheduled passes beat one panicked weekend.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Minimal still applies</a:t>
            </a: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every pass: grammar and spelling support only, on your own text. Keep dated versions.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in semester 2: </a:t>
            </a: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(w/c 8 or 15 Feb) → </a:t>
            </a: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</a:t>
            </a: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(w/c 1 Mar) → </a:t>
            </a:r>
            <a:r>
              <a:rPr lang="en-US" sz="140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(Fri 12 Mar, 12:00).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_193"/>
          <p:cNvSpPr/>
          <p:nvPr/>
        </p:nvSpPr>
        <p:spPr>
          <a:xfrm>
            <a:off x="548640" y="329184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3" name="text_194"/>
          <p:cNvSpPr txBox="1"/>
          <p:nvPr/>
        </p:nvSpPr>
        <p:spPr>
          <a:xfrm>
            <a:off x="548640" y="3291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4" name="text_195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submit: robustness and reproducibility</a:t>
            </a:r>
            <a:endParaRPr lang="en-US" sz="2800" dirty="0"/>
          </a:p>
        </p:txBody>
      </p:sp>
      <p:sp>
        <p:nvSpPr>
          <p:cNvPr id="5" name="bullets_196"/>
          <p:cNvSpPr txBox="1"/>
          <p:nvPr/>
        </p:nvSpPr>
        <p:spPr>
          <a:xfrm>
            <a:off x="548640" y="1325880"/>
            <a:ext cx="576072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 vs ±1.0 °C.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the box by 5°.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event: 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out 2015–16. Is the signal still there?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removing a linear trend change your answer?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n_eff, or the shift test (methods_demos §7).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setting (VARIABLE, ENSO_THRESH, CLIM_START/END, region bounds) so a classmate could remake each figure. Keep the notebook version you used.</a:t>
            </a:r>
            <a:endParaRPr lang="en-US" sz="1550" dirty="0"/>
          </a:p>
        </p:txBody>
      </p:sp>
      <p:sp>
        <p:nvSpPr>
          <p:cNvPr id="6" name="card_197"/>
          <p:cNvSpPr/>
          <p:nvPr/>
        </p:nvSpPr>
        <p:spPr>
          <a:xfrm>
            <a:off x="6629400" y="1325880"/>
            <a:ext cx="5013655" cy="4754880"/>
          </a:xfrm>
          <a:prstGeom prst="roundRect">
            <a:avLst>
              <a:gd name="adj" fmla="val 1538"/>
            </a:avLst>
          </a:prstGeom>
          <a:solidFill>
            <a:srgbClr val="DCEFEA"/>
          </a:solidFill>
          <a:ln w="9525">
            <a:solidFill>
              <a:srgbClr val="DCEFEA"/>
            </a:solidFill>
            <a:prstDash val="solid"/>
          </a:ln>
        </p:spPr>
      </p:sp>
      <p:sp>
        <p:nvSpPr>
          <p:cNvPr id="7" name="tag_198"/>
          <p:cNvSpPr/>
          <p:nvPr/>
        </p:nvSpPr>
        <p:spPr>
          <a:xfrm>
            <a:off x="6793992" y="1453896"/>
            <a:ext cx="3488436" cy="256032"/>
          </a:xfrm>
          <a:prstGeom prst="roundRect">
            <a:avLst>
              <a:gd name="adj" fmla="val 21429"/>
            </a:avLst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8" name="text_199"/>
          <p:cNvSpPr txBox="1"/>
          <p:nvPr/>
        </p:nvSpPr>
        <p:spPr>
          <a:xfrm>
            <a:off x="6793992" y="1453896"/>
            <a:ext cx="3488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EACH, IN RESULTS OR DISCUSSION</a:t>
            </a:r>
            <a:endParaRPr lang="en-US" sz="1050" dirty="0"/>
          </a:p>
        </p:txBody>
      </p:sp>
      <p:sp>
        <p:nvSpPr>
          <p:cNvPr id="9" name="text_200"/>
          <p:cNvSpPr txBox="1"/>
          <p:nvPr/>
        </p:nvSpPr>
        <p:spPr>
          <a:xfrm>
            <a:off x="6793992" y="1801368"/>
            <a:ext cx="4684471" cy="41879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sign and approximate size of the CP signal are unchanged when the 2015–16 event is excluded.”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“With a ±1.0 °C threshold the MC composite weakens to [ ] pp but keeps its sign.”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0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checks before you submit</a:t>
            </a:r>
            <a:endParaRPr lang="en-US" sz="2800" dirty="0"/>
          </a:p>
        </p:txBody>
      </p:sp>
      <p:sp>
        <p:nvSpPr>
          <p:cNvPr id="3" name="bullets_202"/>
          <p:cNvSpPr txBox="1"/>
          <p:nvPr/>
        </p:nvSpPr>
        <p:spPr>
          <a:xfrm>
            <a:off x="548640" y="1325880"/>
            <a:ext cx="576072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in the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answered in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1 of the Conclusion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terminology and tag-phrases; abbreviations defined at first use.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in order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a complete caption and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 is in the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list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every reference is cited;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 and ONI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cited.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has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baseline, period or n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no unearned ‘significant’.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words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spelling/grammar checked; your </a:t>
            </a:r>
            <a:r>
              <a:rPr lang="en-US" sz="1550" b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weakness list</a:t>
            </a:r>
            <a:r>
              <a:rPr lang="en-US" sz="15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checked.</a:t>
            </a:r>
            <a:endParaRPr lang="en-US" sz="1550" dirty="0"/>
          </a:p>
        </p:txBody>
      </p:sp>
      <p:sp>
        <p:nvSpPr>
          <p:cNvPr id="4" name="card_203"/>
          <p:cNvSpPr/>
          <p:nvPr/>
        </p:nvSpPr>
        <p:spPr>
          <a:xfrm>
            <a:off x="6629400" y="1325880"/>
            <a:ext cx="5013655" cy="4754880"/>
          </a:xfrm>
          <a:prstGeom prst="roundRect">
            <a:avLst>
              <a:gd name="adj" fmla="val 1538"/>
            </a:avLst>
          </a:prstGeom>
          <a:solidFill>
            <a:srgbClr val="DCE7F2"/>
          </a:solidFill>
          <a:ln w="9525">
            <a:solidFill>
              <a:srgbClr val="DCE7F2"/>
            </a:solidFill>
            <a:prstDash val="solid"/>
          </a:ln>
        </p:spPr>
      </p:sp>
      <p:sp>
        <p:nvSpPr>
          <p:cNvPr id="5" name="tag_204"/>
          <p:cNvSpPr/>
          <p:nvPr/>
        </p:nvSpPr>
        <p:spPr>
          <a:xfrm>
            <a:off x="6793992" y="1453896"/>
            <a:ext cx="1933956" cy="256032"/>
          </a:xfrm>
          <a:prstGeom prst="roundRect">
            <a:avLst>
              <a:gd name="adj" fmla="val 21429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6" name="text_205"/>
          <p:cNvSpPr txBox="1"/>
          <p:nvPr/>
        </p:nvSpPr>
        <p:spPr>
          <a:xfrm>
            <a:off x="6793992" y="1453896"/>
            <a:ext cx="19339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SCHULTZ'S STOPPING RULE</a:t>
            </a:r>
            <a:endParaRPr lang="en-US" sz="1050" dirty="0"/>
          </a:p>
        </p:txBody>
      </p:sp>
      <p:sp>
        <p:nvSpPr>
          <p:cNvPr id="7" name="text_206"/>
          <p:cNvSpPr txBox="1"/>
          <p:nvPr/>
        </p:nvSpPr>
        <p:spPr>
          <a:xfrm>
            <a:off x="6793992" y="1801368"/>
            <a:ext cx="4684471" cy="41879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average one minor revision per page or less, then the manuscript is probably ready to submit. If you find yourself making a change during one round of revisions and undoing that change during the next round, submit the damn thing, will ya?”</a:t>
            </a:r>
            <a:endParaRPr lang="en-US" sz="1500" dirty="0"/>
          </a:p>
        </p:txBody>
      </p:sp>
      <p:sp>
        <p:nvSpPr>
          <p:cNvPr id="8" name="text_207"/>
          <p:cNvSpPr txBox="1"/>
          <p:nvPr/>
        </p:nvSpPr>
        <p:spPr>
          <a:xfrm>
            <a:off x="548640" y="644652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Schultz, D. M. (2009) Eloquent Science, American Meteorological Society, §13.6 ‘Final checks of your manuscript’ sidebar; §13.10.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208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3" name="text_209"/>
          <p:cNvSpPr txBox="1"/>
          <p:nvPr/>
        </p:nvSpPr>
        <p:spPr>
          <a:xfrm>
            <a:off x="82296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SEMESTER 1 WRITING STRAND</a:t>
            </a:r>
            <a:endParaRPr lang="en-US" sz="1300" dirty="0"/>
          </a:p>
        </p:txBody>
      </p:sp>
      <p:sp>
        <p:nvSpPr>
          <p:cNvPr id="4" name="text_210"/>
          <p:cNvSpPr txBox="1"/>
          <p:nvPr/>
        </p:nvSpPr>
        <p:spPr>
          <a:xfrm>
            <a:off x="822960" y="1417320"/>
            <a:ext cx="103327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written a report.</a:t>
            </a:r>
            <a:endParaRPr lang="en-US" sz="4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make it good.</a:t>
            </a:r>
            <a:endParaRPr lang="en-US" sz="4200" dirty="0"/>
          </a:p>
        </p:txBody>
      </p:sp>
      <p:sp>
        <p:nvSpPr>
          <p:cNvPr id="5" name="text_211"/>
          <p:cNvSpPr txBox="1"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in February with your draft, ready to swap.</a:t>
            </a:r>
            <a:endParaRPr lang="en-US" sz="2000" dirty="0"/>
          </a:p>
        </p:txBody>
      </p:sp>
      <p:sp>
        <p:nvSpPr>
          <p:cNvPr id="6" name="text_212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EART29200  ·  ENSO and cloud cover mini-project  ·  Writing strand</a:t>
            </a:r>
            <a:endParaRPr lang="en-US" sz="1000" dirty="0"/>
          </a:p>
        </p:txBody>
      </p:sp>
      <p:sp>
        <p:nvSpPr>
          <p:cNvPr id="7" name="dot_213"/>
          <p:cNvSpPr/>
          <p:nvPr/>
        </p:nvSpPr>
        <p:spPr>
          <a:xfrm>
            <a:off x="4852264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8" name="dot_214"/>
          <p:cNvSpPr/>
          <p:nvPr/>
        </p:nvSpPr>
        <p:spPr>
          <a:xfrm>
            <a:off x="5181448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9" name="dot_215"/>
          <p:cNvSpPr/>
          <p:nvPr/>
        </p:nvSpPr>
        <p:spPr>
          <a:xfrm>
            <a:off x="5510632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0" name="dot_216"/>
          <p:cNvSpPr/>
          <p:nvPr/>
        </p:nvSpPr>
        <p:spPr>
          <a:xfrm>
            <a:off x="5839816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1" name="dot_217"/>
          <p:cNvSpPr/>
          <p:nvPr/>
        </p:nvSpPr>
        <p:spPr>
          <a:xfrm>
            <a:off x="6169000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2" name="dot_218"/>
          <p:cNvSpPr/>
          <p:nvPr/>
        </p:nvSpPr>
        <p:spPr>
          <a:xfrm>
            <a:off x="6498184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3" name="dot_219"/>
          <p:cNvSpPr/>
          <p:nvPr/>
        </p:nvSpPr>
        <p:spPr>
          <a:xfrm>
            <a:off x="6827368" y="5715000"/>
            <a:ext cx="182880" cy="182880"/>
          </a:xfrm>
          <a:prstGeom prst="ellipse">
            <a:avLst/>
          </a:prstGeom>
          <a:solidFill>
            <a:srgbClr val="6C8EAD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4" name="dot_220"/>
          <p:cNvSpPr/>
          <p:nvPr/>
        </p:nvSpPr>
        <p:spPr>
          <a:xfrm>
            <a:off x="7156552" y="5715000"/>
            <a:ext cx="182880" cy="182880"/>
          </a:xfrm>
          <a:prstGeom prst="ellipse">
            <a:avLst/>
          </a:prstGeom>
          <a:solidFill>
            <a:srgbClr val="D98E1F"/>
          </a:solidFill>
          <a:ln w="6350">
            <a:solidFill>
              <a:srgbClr val="6C8EAD"/>
            </a:solidFill>
            <a:prstDash val="solid"/>
          </a:ln>
        </p:spPr>
      </p:sp>
      <p:sp>
        <p:nvSpPr>
          <p:cNvPr id="15" name="text_221"/>
          <p:cNvSpPr txBox="1"/>
          <p:nvPr/>
        </p:nvSpPr>
        <p:spPr>
          <a:xfrm>
            <a:off x="0" y="5934456"/>
            <a:ext cx="12191695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8 of 8  ·  Semester 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RT29200 Writing Strand">
  <a:themeElements>
    <a:clrScheme name="EART29200 Writing Strand">
      <a:dk1>
        <a:srgbClr val="222B36"/>
      </a:dk1>
      <a:lt1>
        <a:srgbClr val="FFFFFF"/>
      </a:lt1>
      <a:dk2>
        <a:srgbClr val="1B2A41"/>
      </a:dk2>
      <a:lt2>
        <a:srgbClr val="F7F4EE"/>
      </a:lt2>
      <a:accent1>
        <a:srgbClr val="2E4A6B"/>
      </a:accent1>
      <a:accent2>
        <a:srgbClr val="D98E1F"/>
      </a:accent2>
      <a:accent3>
        <a:srgbClr val="1F7A6E"/>
      </a:accent3>
      <a:accent4>
        <a:srgbClr val="B04A35"/>
      </a:accent4>
      <a:accent5>
        <a:srgbClr val="6C8EAD"/>
      </a:accent5>
      <a:accent6>
        <a:srgbClr val="9AA5B1"/>
      </a:accent6>
      <a:hlink>
        <a:srgbClr val="2E4A6B"/>
      </a:hlink>
      <a:folHlink>
        <a:srgbClr val="5B6573"/>
      </a:folHlink>
    </a:clrScheme>
    <a:fontScheme name="EART29200 Writing Stran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8 — Draft complete: from writer to editor</dc:title>
  <dc:subject>ENSO and cloud cover mini-project — writing strand</dc:subject>
  <dc:creator>EART29200 course team</dc:creator>
  <cp:lastModifiedBy>EART29200 course team</cp:lastModifiedBy>
  <cp:revision>1</cp:revision>
  <dcterms:created xsi:type="dcterms:W3CDTF">2026-10-03T16:25:27Z</dcterms:created>
  <dcterms:modified xsi:type="dcterms:W3CDTF">2026-10-03T16:25:27Z</dcterms:modified>
</cp:coreProperties>
</file>