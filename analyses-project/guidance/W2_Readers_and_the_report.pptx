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As of late September 2026, NOAA has an El Niño Advisory in place and expects a very strong event through the northern winter. NOAA reports more convection and rain from the central to the eastern Pacific, and less over Indonesia. That's the same shape as the cloud maps in our notebook for past El Niños. Two things to remember: our dataset ends in 2025, so this event isn't in your analysis; and forecasts are updated every month, so treat this as context, not evidence. In a Discussion you can mention it as a flagged expectation ("if this relationship holds, the 2026–27 El Niño would be expected to…"), not as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Cloud cover is the fraction of a grid box covered by cloud. In ERA5 it's calculated by the model's cloud scheme rather than measured: the model predicts humidity, temperature and vertical motion, then works out how much cloud there should be. Observations steer the model's weather, so they shape the cloud only indirectly. That's why you can trust the sign of a change more than its exact size. Low, medium and high cloud each describe how much of the box has cloud at that level. Seen from above, layers hide each other, so total cover is less than the sum; ERA5 combines the layers using an overlap assumption. Cloud cover is already a percentage, so a change from 40% to 44% is 4 percentage points, not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Lines of longitude converge towards the poles, so a 1° × 1° box at 60° is half as wide as one at the equator, and so has half the area. If you simply average all the grid boxes, the many small high-latitude boxes count as much as the big tropical ones, and high latitudes get far too much influence. Weighting each box by cos(latitude) gives each one a say in proportion to its area. Quick check: for a box from 5°S to 5°N the weights are all between 0.996 and 1, so weighting barely matters; for a global mean it matters enormously.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The seasonal cycle is much bigger than the ENSO signal: comparing a January with a July mostly shows you the season. So for each calendar month we take the average over a baseline period (here 2010–2019): that's the climatology. The anomaly is this January minus the average January. A positive anomaly means cloudier than usual for that place and time of year, not that it's cloudy. Changing the baseline shifts every anomaly for that month by a constant, which is why your Methods must say which baseline you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Use two tools for two jobs. Google Scholar is the broad, quick search: it finds almost everything, including preprints and theses, and with library links set it opens full texts through your university login. Web of Science is the precise tool: only curated peer-reviewed journals, reliable citation counts, and filters such as 'review articles only'. The key skill is citation chasing. Find one good recent review; its reference list takes you back in time, and 'Times Cited' takes you forward to newer work. Set up a reference manager now, not in January. Under AI Minimal, don't use AI tools to find, choose or summarise papers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Go to Advanced Search with Web of Science Core Collection selected. The easiest route is the Fielded Search tab: use three Topic rows joined by AND, one idea per row, with no TS= tags. To use the tagged query instead, open the Query Builder tab and paste it straight into the Query Preview box at the bottom (not the term box above it). Then refine to Review Article, sort by Citations (highest first), open a key paper, and use Cited References (backward) and Times Cited (forward) to follow the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
Zotero runs on your computer and saves papers from your browser with one click. Once it's installed, Word gets a Zotero tab: Add/Edit Citation opens a search box where you type an author or keyword to insert a citation, and Add/Edit Bibliography builds the reference list and keeps it up to date. Follow the three rules to avoid problems later: don't hand-edit citations (Zotero overwrites them), choose your citation style once, and share PDFs rather than live Word files. The plugin doesn't work in Word in a web browser, so use desktop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S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37744"/>
          </a:xfrm>
          <a:prstGeom prst="rect">
            <a:avLst/>
          </a:prstGeom>
          <a:solidFill>
            <a:srgbClr val="1B2A41"/>
          </a:solidFill>
          <a:ln/>
        </p:spPr>
      </p:sp>
      <p:sp>
        <p:nvSpPr>
          <p:cNvPr id="3" name="Text 1"/>
          <p:cNvSpPr/>
          <p:nvPr/>
        </p:nvSpPr>
        <p:spPr>
          <a:xfrm>
            <a:off x="548640" y="27432"/>
            <a:ext cx="6400800" cy="182880"/>
          </a:xfrm>
          <a:prstGeom prst="rect">
            <a:avLst/>
          </a:prstGeom>
          <a:noFill/>
          <a:ln/>
        </p:spPr>
        <p:txBody>
          <a:bodyPr wrap="square"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ENSO &amp; CLOUD COVER PROJECT  ·  WRITING STRAND</a:t>
            </a:r>
            <a:endParaRPr lang="en-US" sz="900" dirty="0"/>
          </a:p>
        </p:txBody>
      </p:sp>
      <p:sp>
        <p:nvSpPr>
          <p:cNvPr id="4" name="Text 2"/>
          <p:cNvSpPr/>
          <p:nvPr/>
        </p:nvSpPr>
        <p:spPr>
          <a:xfrm>
            <a:off x="7982712" y="27432"/>
            <a:ext cx="3657600" cy="182880"/>
          </a:xfrm>
          <a:prstGeom prst="rect">
            <a:avLst/>
          </a:prstGeom>
          <a:noFill/>
          <a:ln/>
        </p:spPr>
        <p:txBody>
          <a:bodyPr wrap="square"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Tutorial 2  ·  Thu 8 Oct</a:t>
            </a:r>
            <a:endParaRPr lang="en-US" sz="900" dirty="0"/>
          </a:p>
        </p:txBody>
      </p:sp>
      <p:sp>
        <p:nvSpPr>
          <p:cNvPr id="5" name="Shape 3"/>
          <p:cNvSpPr/>
          <p:nvPr/>
        </p:nvSpPr>
        <p:spPr>
          <a:xfrm>
            <a:off x="548640" y="1024128"/>
            <a:ext cx="822960" cy="54864"/>
          </a:xfrm>
          <a:prstGeom prst="rect">
            <a:avLst/>
          </a:prstGeom>
          <a:solidFill>
            <a:srgbClr val="D98E1F"/>
          </a:solidFill>
          <a:ln/>
        </p:spPr>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S_DARK">
    <p:bg>
      <p:bgPr>
        <a:solidFill>
          <a:srgbClr val="1B2A4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dge_1"/>
          <p:cNvSpPr/>
          <p:nvPr/>
        </p:nvSpPr>
        <p:spPr>
          <a:xfrm>
            <a:off x="0" y="0"/>
            <a:ext cx="256032" cy="6858000"/>
          </a:xfrm>
          <a:prstGeom prst="rect">
            <a:avLst/>
          </a:prstGeom>
          <a:solidFill>
            <a:srgbClr val="D98E1F"/>
          </a:solidFill>
          <a:ln w="12700">
            <a:solidFill>
              <a:srgbClr val="D98E1F"/>
            </a:solidFill>
            <a:prstDash val="solid"/>
          </a:ln>
        </p:spPr>
      </p:sp>
      <p:sp>
        <p:nvSpPr>
          <p:cNvPr id="3" name="text_2"/>
          <p:cNvSpPr txBox="1"/>
          <p:nvPr/>
        </p:nvSpPr>
        <p:spPr>
          <a:xfrm>
            <a:off x="822960" y="960120"/>
            <a:ext cx="10058400" cy="320040"/>
          </a:xfrm>
          <a:prstGeom prst="rect">
            <a:avLst/>
          </a:prstGeom>
          <a:noFill/>
          <a:ln/>
        </p:spPr>
        <p:txBody>
          <a:bodyPr wrap="square" lIns="635" tIns="635" rIns="635" bIns="635" rtlCol="0" anchor="t"/>
          <a:lstStyle/>
          <a:p>
            <a:pPr algn="l" indent="0" marL="0">
              <a:lnSpc>
                <a:spcPct val="100000"/>
              </a:lnSpc>
              <a:buNone/>
            </a:pPr>
            <a:r>
              <a:rPr lang="en-US" sz="1300" b="1" dirty="0">
                <a:solidFill>
                  <a:srgbClr val="F2C27A"/>
                </a:solidFill>
                <a:latin typeface="Calibri" pitchFamily="34" charset="0"/>
                <a:ea typeface="Calibri" pitchFamily="34" charset="-122"/>
                <a:cs typeface="Calibri" pitchFamily="34" charset="-120"/>
              </a:rPr>
              <a:t>TUTORIAL 2  ·  THURSDAY 8 OCTOBER</a:t>
            </a:r>
            <a:endParaRPr lang="en-US" sz="1300" dirty="0"/>
          </a:p>
        </p:txBody>
      </p:sp>
      <p:sp>
        <p:nvSpPr>
          <p:cNvPr id="4" name="text_3"/>
          <p:cNvSpPr txBox="1"/>
          <p:nvPr/>
        </p:nvSpPr>
        <p:spPr>
          <a:xfrm>
            <a:off x="822960" y="1417320"/>
            <a:ext cx="10332720" cy="1737360"/>
          </a:xfrm>
          <a:prstGeom prst="rect">
            <a:avLst/>
          </a:prstGeom>
          <a:noFill/>
          <a:ln/>
        </p:spPr>
        <p:txBody>
          <a:bodyPr wrap="square" lIns="635" tIns="635" rIns="635" bIns="635" rtlCol="0" anchor="t"/>
          <a:lstStyle/>
          <a:p>
            <a:pPr algn="l" indent="0" marL="0">
              <a:lnSpc>
                <a:spcPct val="95000"/>
              </a:lnSpc>
              <a:buNone/>
            </a:pPr>
            <a:r>
              <a:rPr lang="en-US" sz="4200" b="1" dirty="0">
                <a:solidFill>
                  <a:srgbClr val="FFFFFF"/>
                </a:solidFill>
                <a:latin typeface="Georgia" pitchFamily="34" charset="0"/>
                <a:ea typeface="Georgia" pitchFamily="34" charset="-122"/>
                <a:cs typeface="Georgia" pitchFamily="34" charset="-120"/>
              </a:rPr>
              <a:t>Who reads your report, and how?</a:t>
            </a:r>
            <a:endParaRPr lang="en-US" sz="4200" dirty="0"/>
          </a:p>
        </p:txBody>
      </p:sp>
      <p:sp>
        <p:nvSpPr>
          <p:cNvPr id="5" name="text_4"/>
          <p:cNvSpPr txBox="1"/>
          <p:nvPr/>
        </p:nvSpPr>
        <p:spPr>
          <a:xfrm>
            <a:off x="822960" y="3246120"/>
            <a:ext cx="10058400" cy="822960"/>
          </a:xfrm>
          <a:prstGeom prst="rect">
            <a:avLst/>
          </a:prstGeom>
          <a:noFill/>
          <a:ln/>
        </p:spPr>
        <p:txBody>
          <a:bodyPr wrap="square" lIns="635" tIns="635" rIns="635" bIns="635" rtlCol="0" anchor="t"/>
          <a:lstStyle/>
          <a:p>
            <a:pPr algn="l" indent="0" marL="0">
              <a:lnSpc>
                <a:spcPct val="100000"/>
              </a:lnSpc>
              <a:buNone/>
            </a:pPr>
            <a:r>
              <a:rPr lang="en-US" sz="2000" i="1" dirty="0">
                <a:solidFill>
                  <a:srgbClr val="C9D6E3"/>
                </a:solidFill>
                <a:latin typeface="Calibri" pitchFamily="34" charset="0"/>
                <a:ea typeface="Calibri" pitchFamily="34" charset="-122"/>
                <a:cs typeface="Calibri" pitchFamily="34" charset="-120"/>
              </a:rPr>
              <a:t>Starting to write in week 2, not week 10</a:t>
            </a:r>
            <a:endParaRPr lang="en-US" sz="2000" dirty="0"/>
          </a:p>
        </p:txBody>
      </p:sp>
      <p:sp>
        <p:nvSpPr>
          <p:cNvPr id="6" name="leave_5"/>
          <p:cNvSpPr/>
          <p:nvPr/>
        </p:nvSpPr>
        <p:spPr>
          <a:xfrm>
            <a:off x="822960" y="4343400"/>
            <a:ext cx="6949440" cy="960120"/>
          </a:xfrm>
          <a:prstGeom prst="roundRect">
            <a:avLst>
              <a:gd name="adj" fmla="val 7619"/>
            </a:avLst>
          </a:prstGeom>
          <a:solidFill>
            <a:srgbClr val="2E4A6B"/>
          </a:solidFill>
          <a:ln w="12700">
            <a:solidFill>
              <a:srgbClr val="2E4A6B"/>
            </a:solidFill>
            <a:prstDash val="solid"/>
          </a:ln>
        </p:spPr>
      </p:sp>
      <p:sp>
        <p:nvSpPr>
          <p:cNvPr id="7" name="text_6"/>
          <p:cNvSpPr txBox="1"/>
          <p:nvPr/>
        </p:nvSpPr>
        <p:spPr>
          <a:xfrm>
            <a:off x="1005840" y="4434840"/>
            <a:ext cx="2743200" cy="274320"/>
          </a:xfrm>
          <a:prstGeom prst="rect">
            <a:avLst/>
          </a:prstGeom>
          <a:noFill/>
          <a:ln/>
        </p:spPr>
        <p:txBody>
          <a:bodyPr wrap="square" lIns="635" tIns="635" rIns="635" bIns="635" rtlCol="0" anchor="t"/>
          <a:lstStyle/>
          <a:p>
            <a:pPr algn="l" indent="0" marL="0">
              <a:lnSpc>
                <a:spcPct val="100000"/>
              </a:lnSpc>
              <a:buNone/>
            </a:pPr>
            <a:r>
              <a:rPr lang="en-US" sz="1050" b="1" dirty="0">
                <a:solidFill>
                  <a:srgbClr val="F2C27A"/>
                </a:solidFill>
                <a:latin typeface="Calibri" pitchFamily="34" charset="0"/>
                <a:ea typeface="Calibri" pitchFamily="34" charset="-122"/>
                <a:cs typeface="Calibri" pitchFamily="34" charset="-120"/>
              </a:rPr>
              <a:t>YOU LEAVE WITH</a:t>
            </a:r>
            <a:endParaRPr lang="en-US" sz="1050" dirty="0"/>
          </a:p>
        </p:txBody>
      </p:sp>
      <p:sp>
        <p:nvSpPr>
          <p:cNvPr id="8" name="text_7"/>
          <p:cNvSpPr txBox="1"/>
          <p:nvPr/>
        </p:nvSpPr>
        <p:spPr>
          <a:xfrm>
            <a:off x="1005840" y="4681728"/>
            <a:ext cx="6583680" cy="594360"/>
          </a:xfrm>
          <a:prstGeom prst="rect">
            <a:avLst/>
          </a:prstGeom>
          <a:noFill/>
          <a:ln/>
        </p:spPr>
        <p:txBody>
          <a:bodyPr wrap="square" lIns="635" tIns="635" rIns="635" bIns="635" rtlCol="0" anchor="t"/>
          <a:lstStyle/>
          <a:p>
            <a:pPr algn="l" indent="0" marL="0">
              <a:lnSpc>
                <a:spcPct val="100000"/>
              </a:lnSpc>
              <a:buNone/>
            </a:pPr>
            <a:r>
              <a:rPr lang="en-US" sz="1500" dirty="0">
                <a:solidFill>
                  <a:srgbClr val="FFFFFF"/>
                </a:solidFill>
                <a:latin typeface="Calibri" pitchFamily="34" charset="0"/>
                <a:ea typeface="Calibri" pitchFamily="34" charset="-122"/>
                <a:cs typeface="Calibri" pitchFamily="34" charset="-120"/>
              </a:rPr>
              <a:t>A plan to 5 February, the four things your marker must believe, and your first 150 words.</a:t>
            </a:r>
            <a:endParaRPr lang="en-US" sz="1500" dirty="0"/>
          </a:p>
        </p:txBody>
      </p:sp>
      <p:sp>
        <p:nvSpPr>
          <p:cNvPr id="9" name="text_8"/>
          <p:cNvSpPr txBox="1"/>
          <p:nvPr/>
        </p:nvSpPr>
        <p:spPr>
          <a:xfrm>
            <a:off x="822960" y="6355080"/>
            <a:ext cx="8229600" cy="274320"/>
          </a:xfrm>
          <a:prstGeom prst="rect">
            <a:avLst/>
          </a:prstGeom>
          <a:noFill/>
          <a:ln/>
        </p:spPr>
        <p:txBody>
          <a:bodyPr wrap="square" lIns="635" tIns="635" rIns="635" bIns="635" rtlCol="0" anchor="t"/>
          <a:lstStyle/>
          <a:p>
            <a:pPr algn="l" indent="0" marL="0">
              <a:lnSpc>
                <a:spcPct val="100000"/>
              </a:lnSpc>
              <a:buNone/>
            </a:pPr>
            <a:r>
              <a:rPr lang="en-US" sz="1000" dirty="0">
                <a:solidFill>
                  <a:srgbClr val="8FA6BF"/>
                </a:solidFill>
                <a:latin typeface="Calibri" pitchFamily="34" charset="0"/>
                <a:ea typeface="Calibri" pitchFamily="34" charset="-122"/>
                <a:cs typeface="Calibri" pitchFamily="34" charset="-120"/>
              </a:rPr>
              <a:t>EART29200  ·  ENSO and cloud cover mini-project  ·  Writing strand</a:t>
            </a:r>
            <a:endParaRPr lang="en-US" sz="1000" dirty="0"/>
          </a:p>
        </p:txBody>
      </p:sp>
      <p:sp>
        <p:nvSpPr>
          <p:cNvPr id="10" name="dot_9"/>
          <p:cNvSpPr/>
          <p:nvPr/>
        </p:nvSpPr>
        <p:spPr>
          <a:xfrm>
            <a:off x="4852264" y="5715000"/>
            <a:ext cx="182880" cy="182880"/>
          </a:xfrm>
          <a:prstGeom prst="ellipse">
            <a:avLst/>
          </a:prstGeom>
          <a:solidFill>
            <a:srgbClr val="6C8EAD"/>
          </a:solidFill>
          <a:ln w="6350">
            <a:solidFill>
              <a:srgbClr val="6C8EAD"/>
            </a:solidFill>
            <a:prstDash val="solid"/>
          </a:ln>
        </p:spPr>
      </p:sp>
      <p:sp>
        <p:nvSpPr>
          <p:cNvPr id="11" name="dot_10"/>
          <p:cNvSpPr/>
          <p:nvPr/>
        </p:nvSpPr>
        <p:spPr>
          <a:xfrm>
            <a:off x="5181448" y="5715000"/>
            <a:ext cx="182880" cy="182880"/>
          </a:xfrm>
          <a:prstGeom prst="ellipse">
            <a:avLst/>
          </a:prstGeom>
          <a:solidFill>
            <a:srgbClr val="D98E1F"/>
          </a:solidFill>
          <a:ln w="6350">
            <a:solidFill>
              <a:srgbClr val="6C8EAD"/>
            </a:solidFill>
            <a:prstDash val="solid"/>
          </a:ln>
        </p:spPr>
      </p:sp>
      <p:sp>
        <p:nvSpPr>
          <p:cNvPr id="12" name="dot_11"/>
          <p:cNvSpPr/>
          <p:nvPr/>
        </p:nvSpPr>
        <p:spPr>
          <a:xfrm>
            <a:off x="5510632" y="5715000"/>
            <a:ext cx="182880" cy="182880"/>
          </a:xfrm>
          <a:prstGeom prst="ellipse">
            <a:avLst/>
          </a:prstGeom>
          <a:solidFill>
            <a:srgbClr val="2E4A6B"/>
          </a:solidFill>
          <a:ln w="6350">
            <a:solidFill>
              <a:srgbClr val="6C8EAD"/>
            </a:solidFill>
            <a:prstDash val="solid"/>
          </a:ln>
        </p:spPr>
      </p:sp>
      <p:sp>
        <p:nvSpPr>
          <p:cNvPr id="13" name="dot_12"/>
          <p:cNvSpPr/>
          <p:nvPr/>
        </p:nvSpPr>
        <p:spPr>
          <a:xfrm>
            <a:off x="5839816" y="5715000"/>
            <a:ext cx="182880" cy="182880"/>
          </a:xfrm>
          <a:prstGeom prst="ellipse">
            <a:avLst/>
          </a:prstGeom>
          <a:solidFill>
            <a:srgbClr val="2E4A6B"/>
          </a:solidFill>
          <a:ln w="6350">
            <a:solidFill>
              <a:srgbClr val="6C8EAD"/>
            </a:solidFill>
            <a:prstDash val="solid"/>
          </a:ln>
        </p:spPr>
      </p:sp>
      <p:sp>
        <p:nvSpPr>
          <p:cNvPr id="14" name="dot_13"/>
          <p:cNvSpPr/>
          <p:nvPr/>
        </p:nvSpPr>
        <p:spPr>
          <a:xfrm>
            <a:off x="6169000" y="5715000"/>
            <a:ext cx="182880" cy="182880"/>
          </a:xfrm>
          <a:prstGeom prst="ellipse">
            <a:avLst/>
          </a:prstGeom>
          <a:solidFill>
            <a:srgbClr val="2E4A6B"/>
          </a:solidFill>
          <a:ln w="6350">
            <a:solidFill>
              <a:srgbClr val="6C8EAD"/>
            </a:solidFill>
            <a:prstDash val="solid"/>
          </a:ln>
        </p:spPr>
      </p:sp>
      <p:sp>
        <p:nvSpPr>
          <p:cNvPr id="15" name="dot_14"/>
          <p:cNvSpPr/>
          <p:nvPr/>
        </p:nvSpPr>
        <p:spPr>
          <a:xfrm>
            <a:off x="6498184" y="5715000"/>
            <a:ext cx="182880" cy="182880"/>
          </a:xfrm>
          <a:prstGeom prst="ellipse">
            <a:avLst/>
          </a:prstGeom>
          <a:solidFill>
            <a:srgbClr val="2E4A6B"/>
          </a:solidFill>
          <a:ln w="6350">
            <a:solidFill>
              <a:srgbClr val="6C8EAD"/>
            </a:solidFill>
            <a:prstDash val="solid"/>
          </a:ln>
        </p:spPr>
      </p:sp>
      <p:sp>
        <p:nvSpPr>
          <p:cNvPr id="16" name="dot_15"/>
          <p:cNvSpPr/>
          <p:nvPr/>
        </p:nvSpPr>
        <p:spPr>
          <a:xfrm>
            <a:off x="6827368" y="5715000"/>
            <a:ext cx="182880" cy="182880"/>
          </a:xfrm>
          <a:prstGeom prst="ellipse">
            <a:avLst/>
          </a:prstGeom>
          <a:solidFill>
            <a:srgbClr val="2E4A6B"/>
          </a:solidFill>
          <a:ln w="6350">
            <a:solidFill>
              <a:srgbClr val="6C8EAD"/>
            </a:solidFill>
            <a:prstDash val="solid"/>
          </a:ln>
        </p:spPr>
      </p:sp>
      <p:sp>
        <p:nvSpPr>
          <p:cNvPr id="17" name="dot_16"/>
          <p:cNvSpPr/>
          <p:nvPr/>
        </p:nvSpPr>
        <p:spPr>
          <a:xfrm>
            <a:off x="7156552" y="5715000"/>
            <a:ext cx="182880" cy="182880"/>
          </a:xfrm>
          <a:prstGeom prst="ellipse">
            <a:avLst/>
          </a:prstGeom>
          <a:solidFill>
            <a:srgbClr val="2E4A6B"/>
          </a:solidFill>
          <a:ln w="6350">
            <a:solidFill>
              <a:srgbClr val="6C8EAD"/>
            </a:solidFill>
            <a:prstDash val="solid"/>
          </a:ln>
        </p:spPr>
      </p:sp>
      <p:sp>
        <p:nvSpPr>
          <p:cNvPr id="18" name="text_17"/>
          <p:cNvSpPr txBox="1"/>
          <p:nvPr/>
        </p:nvSpPr>
        <p:spPr>
          <a:xfrm>
            <a:off x="0" y="5934456"/>
            <a:ext cx="12191695" cy="228600"/>
          </a:xfrm>
          <a:prstGeom prst="rect">
            <a:avLst/>
          </a:prstGeom>
          <a:noFill/>
          <a:ln/>
        </p:spPr>
        <p:txBody>
          <a:bodyPr wrap="square" lIns="635" tIns="635" rIns="635" bIns="635" rtlCol="0" anchor="t"/>
          <a:lstStyle/>
          <a:p>
            <a:pPr algn="ctr" indent="0" marL="0">
              <a:lnSpc>
                <a:spcPct val="100000"/>
              </a:lnSpc>
              <a:buNone/>
            </a:pPr>
            <a:r>
              <a:rPr lang="en-US" sz="950" dirty="0">
                <a:solidFill>
                  <a:srgbClr val="AFC2D6"/>
                </a:solidFill>
                <a:latin typeface="Calibri" pitchFamily="34" charset="0"/>
                <a:ea typeface="Calibri" pitchFamily="34" charset="-122"/>
                <a:cs typeface="Calibri" pitchFamily="34" charset="-120"/>
              </a:rPr>
              <a:t>Tutorial 2 of 8  ·  Semester 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_18"/>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Today's plan</a:t>
            </a:r>
            <a:endParaRPr lang="en-US" sz="2800" dirty="0"/>
          </a:p>
        </p:txBody>
      </p:sp>
      <p:sp>
        <p:nvSpPr>
          <p:cNvPr id="3" name="text_19"/>
          <p:cNvSpPr txBox="1"/>
          <p:nvPr/>
        </p:nvSpPr>
        <p:spPr>
          <a:xfrm>
            <a:off x="548640" y="1234440"/>
            <a:ext cx="11064240" cy="685800"/>
          </a:xfrm>
          <a:prstGeom prst="rect">
            <a:avLst/>
          </a:prstGeom>
          <a:noFill/>
          <a:ln/>
        </p:spPr>
        <p:txBody>
          <a:bodyPr wrap="square" lIns="635" tIns="635" rIns="635" bIns="635" rtlCol="0" anchor="t"/>
          <a:lstStyle/>
          <a:p>
            <a:pPr algn="l" indent="0" marL="0">
              <a:lnSpc>
                <a:spcPct val="100000"/>
              </a:lnSpc>
              <a:buNone/>
            </a:pPr>
            <a:r>
              <a:rPr lang="en-US" sz="1900" b="1" dirty="0">
                <a:solidFill>
                  <a:srgbClr val="D98E1F"/>
                </a:solidFill>
                <a:latin typeface="Calibri" pitchFamily="34" charset="0"/>
                <a:ea typeface="Calibri" pitchFamily="34" charset="-122"/>
                <a:cs typeface="Calibri" pitchFamily="34" charset="-120"/>
              </a:rPr>
              <a:t>Goal:  </a:t>
            </a:r>
            <a:r>
              <a:rPr lang="en-US" sz="1900" b="1" dirty="0">
                <a:solidFill>
                  <a:srgbClr val="1B2A41"/>
                </a:solidFill>
                <a:latin typeface="Calibri" pitchFamily="34" charset="0"/>
                <a:ea typeface="Calibri" pitchFamily="34" charset="-122"/>
                <a:cs typeface="Calibri" pitchFamily="34" charset="-120"/>
              </a:rPr>
              <a:t>Know what your report has to do for its reader, and start writing about your project this week.</a:t>
            </a:r>
            <a:endParaRPr lang="en-US" sz="1900" dirty="0"/>
          </a:p>
        </p:txBody>
      </p:sp>
      <p:sp>
        <p:nvSpPr>
          <p:cNvPr id="4" name="num_20"/>
          <p:cNvSpPr/>
          <p:nvPr/>
        </p:nvSpPr>
        <p:spPr>
          <a:xfrm>
            <a:off x="685800" y="2057400"/>
            <a:ext cx="384048" cy="384048"/>
          </a:xfrm>
          <a:prstGeom prst="ellipse">
            <a:avLst/>
          </a:prstGeom>
          <a:solidFill>
            <a:srgbClr val="1B2A41"/>
          </a:solidFill>
          <a:ln w="12700">
            <a:solidFill>
              <a:srgbClr val="1B2A41"/>
            </a:solidFill>
            <a:prstDash val="solid"/>
          </a:ln>
        </p:spPr>
      </p:sp>
      <p:sp>
        <p:nvSpPr>
          <p:cNvPr id="5" name="text_21"/>
          <p:cNvSpPr txBox="1"/>
          <p:nvPr/>
        </p:nvSpPr>
        <p:spPr>
          <a:xfrm>
            <a:off x="685800" y="2057400"/>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_22"/>
          <p:cNvSpPr txBox="1"/>
          <p:nvPr/>
        </p:nvSpPr>
        <p:spPr>
          <a:xfrm>
            <a:off x="1234440" y="2039112"/>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The road to 5 February: what you write each week</a:t>
            </a:r>
            <a:endParaRPr lang="en-US" sz="1600" dirty="0"/>
          </a:p>
        </p:txBody>
      </p:sp>
      <p:sp>
        <p:nvSpPr>
          <p:cNvPr id="7" name="num_23"/>
          <p:cNvSpPr/>
          <p:nvPr/>
        </p:nvSpPr>
        <p:spPr>
          <a:xfrm>
            <a:off x="685800" y="2715768"/>
            <a:ext cx="384048" cy="384048"/>
          </a:xfrm>
          <a:prstGeom prst="ellipse">
            <a:avLst/>
          </a:prstGeom>
          <a:solidFill>
            <a:srgbClr val="1B2A41"/>
          </a:solidFill>
          <a:ln w="12700">
            <a:solidFill>
              <a:srgbClr val="1B2A41"/>
            </a:solidFill>
            <a:prstDash val="solid"/>
          </a:ln>
        </p:spPr>
      </p:sp>
      <p:sp>
        <p:nvSpPr>
          <p:cNvPr id="8" name="text_24"/>
          <p:cNvSpPr txBox="1"/>
          <p:nvPr/>
        </p:nvSpPr>
        <p:spPr>
          <a:xfrm>
            <a:off x="685800" y="2715768"/>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_25"/>
          <p:cNvSpPr txBox="1"/>
          <p:nvPr/>
        </p:nvSpPr>
        <p:spPr>
          <a:xfrm>
            <a:off x="1234440" y="2697480"/>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Methods: ERA5 cloud, area weighting, anomalies</a:t>
            </a:r>
            <a:endParaRPr lang="en-US" sz="1600" dirty="0"/>
          </a:p>
        </p:txBody>
      </p:sp>
      <p:sp>
        <p:nvSpPr>
          <p:cNvPr id="10" name="num_26"/>
          <p:cNvSpPr/>
          <p:nvPr/>
        </p:nvSpPr>
        <p:spPr>
          <a:xfrm>
            <a:off x="685800" y="3374136"/>
            <a:ext cx="384048" cy="384048"/>
          </a:xfrm>
          <a:prstGeom prst="ellipse">
            <a:avLst/>
          </a:prstGeom>
          <a:solidFill>
            <a:srgbClr val="1B2A41"/>
          </a:solidFill>
          <a:ln w="12700">
            <a:solidFill>
              <a:srgbClr val="1B2A41"/>
            </a:solidFill>
            <a:prstDash val="solid"/>
          </a:ln>
        </p:spPr>
      </p:sp>
      <p:sp>
        <p:nvSpPr>
          <p:cNvPr id="11" name="text_27"/>
          <p:cNvSpPr txBox="1"/>
          <p:nvPr/>
        </p:nvSpPr>
        <p:spPr>
          <a:xfrm>
            <a:off x="685800" y="3374136"/>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_28"/>
          <p:cNvSpPr txBox="1"/>
          <p:nvPr/>
        </p:nvSpPr>
        <p:spPr>
          <a:xfrm>
            <a:off x="1234440" y="3355848"/>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How scientists read, and what your marker must believe</a:t>
            </a:r>
            <a:endParaRPr lang="en-US" sz="1600" dirty="0"/>
          </a:p>
        </p:txBody>
      </p:sp>
      <p:sp>
        <p:nvSpPr>
          <p:cNvPr id="13" name="num_29"/>
          <p:cNvSpPr/>
          <p:nvPr/>
        </p:nvSpPr>
        <p:spPr>
          <a:xfrm>
            <a:off x="685800" y="4032504"/>
            <a:ext cx="384048" cy="384048"/>
          </a:xfrm>
          <a:prstGeom prst="ellipse">
            <a:avLst/>
          </a:prstGeom>
          <a:solidFill>
            <a:srgbClr val="1B2A41"/>
          </a:solidFill>
          <a:ln w="12700">
            <a:solidFill>
              <a:srgbClr val="1B2A41"/>
            </a:solidFill>
            <a:prstDash val="solid"/>
          </a:ln>
        </p:spPr>
      </p:sp>
      <p:sp>
        <p:nvSpPr>
          <p:cNvPr id="14" name="text_30"/>
          <p:cNvSpPr txBox="1"/>
          <p:nvPr/>
        </p:nvSpPr>
        <p:spPr>
          <a:xfrm>
            <a:off x="685800" y="4032504"/>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_31"/>
          <p:cNvSpPr txBox="1"/>
          <p:nvPr/>
        </p:nvSpPr>
        <p:spPr>
          <a:xfrm>
            <a:off x="1234440" y="4014216"/>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Explain an anomaly to a friend: your first 150 words</a:t>
            </a:r>
            <a:endParaRPr lang="en-US" sz="1600" dirty="0"/>
          </a:p>
        </p:txBody>
      </p:sp>
      <p:sp>
        <p:nvSpPr>
          <p:cNvPr id="16" name="num_32"/>
          <p:cNvSpPr/>
          <p:nvPr/>
        </p:nvSpPr>
        <p:spPr>
          <a:xfrm>
            <a:off x="685800" y="4690872"/>
            <a:ext cx="384048" cy="384048"/>
          </a:xfrm>
          <a:prstGeom prst="ellipse">
            <a:avLst/>
          </a:prstGeom>
          <a:solidFill>
            <a:srgbClr val="1B2A41"/>
          </a:solidFill>
          <a:ln w="12700">
            <a:solidFill>
              <a:srgbClr val="1B2A41"/>
            </a:solidFill>
            <a:prstDash val="solid"/>
          </a:ln>
        </p:spPr>
      </p:sp>
      <p:sp>
        <p:nvSpPr>
          <p:cNvPr id="17" name="text_33"/>
          <p:cNvSpPr txBox="1"/>
          <p:nvPr/>
        </p:nvSpPr>
        <p:spPr>
          <a:xfrm>
            <a:off x="685800" y="4690872"/>
            <a:ext cx="384048" cy="384048"/>
          </a:xfrm>
          <a:prstGeom prst="rect">
            <a:avLst/>
          </a:prstGeom>
          <a:noFill/>
          <a:ln/>
        </p:spPr>
        <p:txBody>
          <a:bodyPr wrap="square" lIns="0" tIns="0" rIns="0" bIns="0" rtlCol="0" anchor="ctr"/>
          <a:lstStyle/>
          <a:p>
            <a:pPr algn="ctr" indent="0" marL="0">
              <a:lnSpc>
                <a:spcPct val="100000"/>
              </a:lnSpc>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_34"/>
          <p:cNvSpPr txBox="1"/>
          <p:nvPr/>
        </p:nvSpPr>
        <p:spPr>
          <a:xfrm>
            <a:off x="1234440" y="4672584"/>
            <a:ext cx="6400800" cy="566928"/>
          </a:xfrm>
          <a:prstGeom prst="rect">
            <a:avLst/>
          </a:prstGeom>
          <a:noFill/>
          <a:ln/>
        </p:spPr>
        <p:txBody>
          <a:bodyPr wrap="square" lIns="635" tIns="635" rIns="635" bIns="635" rtlCol="0" anchor="ctr"/>
          <a:lstStyle/>
          <a:p>
            <a:pPr algn="l" indent="0" marL="0">
              <a:lnSpc>
                <a:spcPct val="100000"/>
              </a:lnSpc>
              <a:buNone/>
            </a:pPr>
            <a:r>
              <a:rPr lang="en-US" sz="1600" dirty="0">
                <a:solidFill>
                  <a:srgbClr val="222B36"/>
                </a:solidFill>
                <a:latin typeface="Calibri" pitchFamily="34" charset="0"/>
                <a:ea typeface="Calibri" pitchFamily="34" charset="-122"/>
                <a:cs typeface="Calibri" pitchFamily="34" charset="-120"/>
              </a:rPr>
              <a:t>Finding sources and setting up a reference manager</a:t>
            </a:r>
            <a:endParaRPr lang="en-US" sz="1600" dirty="0"/>
          </a:p>
        </p:txBody>
      </p:sp>
      <p:sp>
        <p:nvSpPr>
          <p:cNvPr id="19" name="card_35"/>
          <p:cNvSpPr/>
          <p:nvPr/>
        </p:nvSpPr>
        <p:spPr>
          <a:xfrm>
            <a:off x="8092440" y="2011680"/>
            <a:ext cx="3520440" cy="3246120"/>
          </a:xfrm>
          <a:prstGeom prst="roundRect">
            <a:avLst>
              <a:gd name="adj" fmla="val 2254"/>
            </a:avLst>
          </a:prstGeom>
          <a:solidFill>
            <a:srgbClr val="FBEBD0"/>
          </a:solidFill>
          <a:ln w="9525">
            <a:solidFill>
              <a:srgbClr val="FBEBD0"/>
            </a:solidFill>
            <a:prstDash val="solid"/>
          </a:ln>
        </p:spPr>
      </p:sp>
      <p:sp>
        <p:nvSpPr>
          <p:cNvPr id="20" name="tag_36"/>
          <p:cNvSpPr/>
          <p:nvPr/>
        </p:nvSpPr>
        <p:spPr>
          <a:xfrm>
            <a:off x="8257032" y="2139696"/>
            <a:ext cx="1545336" cy="256032"/>
          </a:xfrm>
          <a:prstGeom prst="roundRect">
            <a:avLst>
              <a:gd name="adj" fmla="val 21429"/>
            </a:avLst>
          </a:prstGeom>
          <a:solidFill>
            <a:srgbClr val="D98E1F"/>
          </a:solidFill>
          <a:ln w="12700">
            <a:solidFill>
              <a:srgbClr val="D98E1F"/>
            </a:solidFill>
            <a:prstDash val="solid"/>
          </a:ln>
        </p:spPr>
      </p:sp>
      <p:sp>
        <p:nvSpPr>
          <p:cNvPr id="21" name="text_37"/>
          <p:cNvSpPr txBox="1"/>
          <p:nvPr/>
        </p:nvSpPr>
        <p:spPr>
          <a:xfrm>
            <a:off x="8257032" y="2139696"/>
            <a:ext cx="154533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BRING / HAVE READY</a:t>
            </a:r>
            <a:endParaRPr lang="en-US" sz="1050" dirty="0"/>
          </a:p>
        </p:txBody>
      </p:sp>
      <p:sp>
        <p:nvSpPr>
          <p:cNvPr id="22" name="cardbody_38"/>
          <p:cNvSpPr txBox="1"/>
          <p:nvPr/>
        </p:nvSpPr>
        <p:spPr>
          <a:xfrm>
            <a:off x="8257032" y="2487168"/>
            <a:ext cx="3191256" cy="2679192"/>
          </a:xfrm>
          <a:prstGeom prst="rect">
            <a:avLst/>
          </a:prstGeom>
          <a:noFill/>
          <a:ln/>
        </p:spPr>
        <p:txBody>
          <a:bodyPr wrap="square" lIns="381" tIns="381" rIns="381" bIns="381" rtlCol="0" anchor="t"/>
          <a:lstStyle/>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Your notebook open (Binder or downloaded copy)</a:t>
            </a:r>
            <a:endParaRPr lang="en-US" sz="1400" dirty="0"/>
          </a:p>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The two patterns you noted in Tutorial 1</a:t>
            </a:r>
            <a:endParaRPr lang="en-US" sz="1400" dirty="0"/>
          </a:p>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This term's </a:t>
            </a:r>
            <a:r>
              <a:rPr lang="en-US" sz="1400" b="1" dirty="0">
                <a:solidFill>
                  <a:srgbClr val="222B36"/>
                </a:solidFill>
                <a:latin typeface="Calibri" pitchFamily="34" charset="0"/>
                <a:ea typeface="Calibri" pitchFamily="34" charset="-122"/>
                <a:cs typeface="Calibri" pitchFamily="34" charset="-120"/>
              </a:rPr>
              <a:t>writing workbook</a:t>
            </a:r>
            <a:r>
              <a:rPr lang="en-US" sz="1400" dirty="0">
                <a:solidFill>
                  <a:srgbClr val="222B36"/>
                </a:solidFill>
                <a:latin typeface="Calibri" pitchFamily="34" charset="0"/>
                <a:ea typeface="Calibri" pitchFamily="34" charset="-122"/>
                <a:cs typeface="Calibri" pitchFamily="34" charset="-120"/>
              </a:rPr>
              <a:t> (Canvas)</a:t>
            </a:r>
            <a:endParaRPr lang="en-US" sz="1400" dirty="0"/>
          </a:p>
          <a:p>
            <a:pPr marL="342900" indent="-342900">
              <a:spcAft>
                <a:spcPts val="600"/>
              </a:spcAft>
              <a:buSzPct val="100000"/>
              <a:buChar char="■"/>
            </a:pPr>
            <a:r>
              <a:rPr lang="en-US" sz="1400" dirty="0">
                <a:solidFill>
                  <a:srgbClr val="222B36"/>
                </a:solidFill>
                <a:latin typeface="Calibri" pitchFamily="34" charset="0"/>
                <a:ea typeface="Calibri" pitchFamily="34" charset="-122"/>
                <a:cs typeface="Calibri" pitchFamily="34" charset="-120"/>
              </a:rPr>
              <a:t>Pen and paper: today you write by hand</a:t>
            </a:r>
            <a:endParaRPr lang="en-US" sz="1400" dirty="0"/>
          </a:p>
        </p:txBody>
      </p:sp>
      <p:sp>
        <p:nvSpPr>
          <p:cNvPr id="23" name="dot_39"/>
          <p:cNvSpPr/>
          <p:nvPr/>
        </p:nvSpPr>
        <p:spPr>
          <a:xfrm>
            <a:off x="4852264" y="5897880"/>
            <a:ext cx="182880" cy="182880"/>
          </a:xfrm>
          <a:prstGeom prst="ellipse">
            <a:avLst/>
          </a:prstGeom>
          <a:solidFill>
            <a:srgbClr val="2E4A6B"/>
          </a:solidFill>
          <a:ln w="6350">
            <a:solidFill>
              <a:srgbClr val="D5DAE1"/>
            </a:solidFill>
            <a:prstDash val="solid"/>
          </a:ln>
        </p:spPr>
      </p:sp>
      <p:sp>
        <p:nvSpPr>
          <p:cNvPr id="24" name="dot_40"/>
          <p:cNvSpPr/>
          <p:nvPr/>
        </p:nvSpPr>
        <p:spPr>
          <a:xfrm>
            <a:off x="5181448" y="5897880"/>
            <a:ext cx="182880" cy="182880"/>
          </a:xfrm>
          <a:prstGeom prst="ellipse">
            <a:avLst/>
          </a:prstGeom>
          <a:solidFill>
            <a:srgbClr val="D98E1F"/>
          </a:solidFill>
          <a:ln w="6350">
            <a:solidFill>
              <a:srgbClr val="D5DAE1"/>
            </a:solidFill>
            <a:prstDash val="solid"/>
          </a:ln>
        </p:spPr>
      </p:sp>
      <p:sp>
        <p:nvSpPr>
          <p:cNvPr id="25" name="dot_41"/>
          <p:cNvSpPr/>
          <p:nvPr/>
        </p:nvSpPr>
        <p:spPr>
          <a:xfrm>
            <a:off x="5510632" y="5897880"/>
            <a:ext cx="182880" cy="182880"/>
          </a:xfrm>
          <a:prstGeom prst="ellipse">
            <a:avLst/>
          </a:prstGeom>
          <a:solidFill>
            <a:srgbClr val="D5DAE1"/>
          </a:solidFill>
          <a:ln w="6350">
            <a:solidFill>
              <a:srgbClr val="D5DAE1"/>
            </a:solidFill>
            <a:prstDash val="solid"/>
          </a:ln>
        </p:spPr>
      </p:sp>
      <p:sp>
        <p:nvSpPr>
          <p:cNvPr id="26" name="dot_42"/>
          <p:cNvSpPr/>
          <p:nvPr/>
        </p:nvSpPr>
        <p:spPr>
          <a:xfrm>
            <a:off x="5839816" y="5897880"/>
            <a:ext cx="182880" cy="182880"/>
          </a:xfrm>
          <a:prstGeom prst="ellipse">
            <a:avLst/>
          </a:prstGeom>
          <a:solidFill>
            <a:srgbClr val="D5DAE1"/>
          </a:solidFill>
          <a:ln w="6350">
            <a:solidFill>
              <a:srgbClr val="D5DAE1"/>
            </a:solidFill>
            <a:prstDash val="solid"/>
          </a:ln>
        </p:spPr>
      </p:sp>
      <p:sp>
        <p:nvSpPr>
          <p:cNvPr id="27" name="dot_43"/>
          <p:cNvSpPr/>
          <p:nvPr/>
        </p:nvSpPr>
        <p:spPr>
          <a:xfrm>
            <a:off x="6169000" y="5897880"/>
            <a:ext cx="182880" cy="182880"/>
          </a:xfrm>
          <a:prstGeom prst="ellipse">
            <a:avLst/>
          </a:prstGeom>
          <a:solidFill>
            <a:srgbClr val="D5DAE1"/>
          </a:solidFill>
          <a:ln w="6350">
            <a:solidFill>
              <a:srgbClr val="D5DAE1"/>
            </a:solidFill>
            <a:prstDash val="solid"/>
          </a:ln>
        </p:spPr>
      </p:sp>
      <p:sp>
        <p:nvSpPr>
          <p:cNvPr id="28" name="dot_44"/>
          <p:cNvSpPr/>
          <p:nvPr/>
        </p:nvSpPr>
        <p:spPr>
          <a:xfrm>
            <a:off x="6498184" y="5897880"/>
            <a:ext cx="182880" cy="182880"/>
          </a:xfrm>
          <a:prstGeom prst="ellipse">
            <a:avLst/>
          </a:prstGeom>
          <a:solidFill>
            <a:srgbClr val="D5DAE1"/>
          </a:solidFill>
          <a:ln w="6350">
            <a:solidFill>
              <a:srgbClr val="D5DAE1"/>
            </a:solidFill>
            <a:prstDash val="solid"/>
          </a:ln>
        </p:spPr>
      </p:sp>
      <p:sp>
        <p:nvSpPr>
          <p:cNvPr id="29" name="dot_45"/>
          <p:cNvSpPr/>
          <p:nvPr/>
        </p:nvSpPr>
        <p:spPr>
          <a:xfrm>
            <a:off x="6827368" y="5897880"/>
            <a:ext cx="182880" cy="182880"/>
          </a:xfrm>
          <a:prstGeom prst="ellipse">
            <a:avLst/>
          </a:prstGeom>
          <a:solidFill>
            <a:srgbClr val="D5DAE1"/>
          </a:solidFill>
          <a:ln w="6350">
            <a:solidFill>
              <a:srgbClr val="D5DAE1"/>
            </a:solidFill>
            <a:prstDash val="solid"/>
          </a:ln>
        </p:spPr>
      </p:sp>
      <p:sp>
        <p:nvSpPr>
          <p:cNvPr id="30" name="dot_46"/>
          <p:cNvSpPr/>
          <p:nvPr/>
        </p:nvSpPr>
        <p:spPr>
          <a:xfrm>
            <a:off x="7156552" y="5897880"/>
            <a:ext cx="182880" cy="182880"/>
          </a:xfrm>
          <a:prstGeom prst="ellipse">
            <a:avLst/>
          </a:prstGeom>
          <a:solidFill>
            <a:srgbClr val="D5DAE1"/>
          </a:solidFill>
          <a:ln w="6350">
            <a:solidFill>
              <a:srgbClr val="D5DAE1"/>
            </a:solidFill>
            <a:prstDash val="solid"/>
          </a:ln>
        </p:spPr>
      </p:sp>
      <p:sp>
        <p:nvSpPr>
          <p:cNvPr id="31" name="text_47"/>
          <p:cNvSpPr txBox="1"/>
          <p:nvPr/>
        </p:nvSpPr>
        <p:spPr>
          <a:xfrm>
            <a:off x="0" y="6117336"/>
            <a:ext cx="12191695" cy="228600"/>
          </a:xfrm>
          <a:prstGeom prst="rect">
            <a:avLst/>
          </a:prstGeom>
          <a:noFill/>
          <a:ln/>
        </p:spPr>
        <p:txBody>
          <a:bodyPr wrap="square" lIns="635" tIns="635" rIns="635" bIns="635" rtlCol="0" anchor="t"/>
          <a:lstStyle/>
          <a:p>
            <a:pPr algn="ctr" indent="0" marL="0">
              <a:lnSpc>
                <a:spcPct val="100000"/>
              </a:lnSpc>
              <a:buNone/>
            </a:pPr>
            <a:r>
              <a:rPr lang="en-US" sz="950" dirty="0">
                <a:solidFill>
                  <a:srgbClr val="8A93A0"/>
                </a:solidFill>
                <a:latin typeface="Calibri" pitchFamily="34" charset="0"/>
                <a:ea typeface="Calibri" pitchFamily="34" charset="-122"/>
                <a:cs typeface="Calibri" pitchFamily="34" charset="-120"/>
              </a:rPr>
              <a:t>Tutorial 2 of 8  ·  Semester 1</a:t>
            </a:r>
            <a:endParaRPr lang="en-US" sz="9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_48"/>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The road to 5 February</a:t>
            </a:r>
            <a:endParaRPr lang="en-US" sz="2800" dirty="0"/>
          </a:p>
        </p:txBody>
      </p:sp>
      <p:sp>
        <p:nvSpPr>
          <p:cNvPr id="3" name="tl_49"/>
          <p:cNvSpPr/>
          <p:nvPr/>
        </p:nvSpPr>
        <p:spPr>
          <a:xfrm>
            <a:off x="777240" y="3063240"/>
            <a:ext cx="10652760" cy="0"/>
          </a:xfrm>
          <a:prstGeom prst="line">
            <a:avLst/>
          </a:prstGeom>
          <a:noFill/>
          <a:ln w="38100">
            <a:solidFill>
              <a:srgbClr val="D5DAE1"/>
            </a:solidFill>
            <a:prstDash val="solid"/>
          </a:ln>
        </p:spPr>
      </p:sp>
      <p:sp>
        <p:nvSpPr>
          <p:cNvPr id="4" name="tlseg_50"/>
          <p:cNvSpPr/>
          <p:nvPr/>
        </p:nvSpPr>
        <p:spPr>
          <a:xfrm>
            <a:off x="777240" y="3035808"/>
            <a:ext cx="1521823" cy="54864"/>
          </a:xfrm>
          <a:prstGeom prst="rect">
            <a:avLst/>
          </a:prstGeom>
          <a:solidFill>
            <a:srgbClr val="D98E1F"/>
          </a:solidFill>
          <a:ln w="12700">
            <a:solidFill>
              <a:srgbClr val="D98E1F"/>
            </a:solidFill>
            <a:prstDash val="solid"/>
          </a:ln>
        </p:spPr>
      </p:sp>
      <p:sp>
        <p:nvSpPr>
          <p:cNvPr id="5" name="tld_51"/>
          <p:cNvSpPr/>
          <p:nvPr/>
        </p:nvSpPr>
        <p:spPr>
          <a:xfrm>
            <a:off x="676656" y="2962656"/>
            <a:ext cx="201168" cy="201168"/>
          </a:xfrm>
          <a:prstGeom prst="ellipse">
            <a:avLst/>
          </a:prstGeom>
          <a:solidFill>
            <a:srgbClr val="2E4A6B"/>
          </a:solidFill>
          <a:ln w="19050">
            <a:solidFill>
              <a:srgbClr val="FFFFFF"/>
            </a:solidFill>
            <a:prstDash val="solid"/>
          </a:ln>
        </p:spPr>
      </p:sp>
      <p:sp>
        <p:nvSpPr>
          <p:cNvPr id="6" name="text_52"/>
          <p:cNvSpPr txBox="1"/>
          <p:nvPr/>
        </p:nvSpPr>
        <p:spPr>
          <a:xfrm>
            <a:off x="45720" y="1920240"/>
            <a:ext cx="1463040" cy="320040"/>
          </a:xfrm>
          <a:prstGeom prst="rect">
            <a:avLst/>
          </a:prstGeom>
          <a:noFill/>
          <a:ln/>
        </p:spPr>
        <p:txBody>
          <a:bodyPr wrap="square" lIns="635" tIns="635" rIns="635" bIns="635" rtlCol="0" anchor="t"/>
          <a:lstStyle/>
          <a:p>
            <a:pPr algn="ctr" indent="0" marL="0">
              <a:lnSpc>
                <a:spcPct val="100000"/>
              </a:lnSpc>
              <a:buNone/>
            </a:pPr>
            <a:r>
              <a:rPr lang="en-US" sz="1300" b="1" dirty="0">
                <a:solidFill>
                  <a:srgbClr val="2E4A6B"/>
                </a:solidFill>
                <a:latin typeface="Calibri" pitchFamily="34" charset="0"/>
                <a:ea typeface="Calibri" pitchFamily="34" charset="-122"/>
                <a:cs typeface="Calibri" pitchFamily="34" charset="-120"/>
              </a:rPr>
              <a:t>8 Oct – 26 Nov</a:t>
            </a:r>
            <a:endParaRPr lang="en-US" sz="1300" dirty="0"/>
          </a:p>
        </p:txBody>
      </p:sp>
      <p:sp>
        <p:nvSpPr>
          <p:cNvPr id="7" name="text_53"/>
          <p:cNvSpPr txBox="1"/>
          <p:nvPr/>
        </p:nvSpPr>
        <p:spPr>
          <a:xfrm>
            <a:off x="45720" y="2240280"/>
            <a:ext cx="1463040" cy="548640"/>
          </a:xfrm>
          <a:prstGeom prst="rect">
            <a:avLst/>
          </a:prstGeom>
          <a:noFill/>
          <a:ln/>
        </p:spPr>
        <p:txBody>
          <a:bodyPr wrap="square" lIns="635" tIns="635" rIns="635" bIns="635" rtlCol="0" anchor="t"/>
          <a:lstStyle/>
          <a:p>
            <a:pPr algn="ctr" indent="0" marL="0">
              <a:lnSpc>
                <a:spcPct val="100000"/>
              </a:lnSpc>
              <a:buNone/>
            </a:pPr>
            <a:r>
              <a:rPr lang="en-US" sz="1200" dirty="0">
                <a:solidFill>
                  <a:srgbClr val="222B36"/>
                </a:solidFill>
                <a:latin typeface="Calibri" pitchFamily="34" charset="0"/>
                <a:ea typeface="Calibri" pitchFamily="34" charset="-122"/>
                <a:cs typeface="Calibri" pitchFamily="34" charset="-120"/>
              </a:rPr>
              <a:t>Write a piece every week</a:t>
            </a:r>
            <a:endParaRPr lang="en-US" sz="1200" dirty="0"/>
          </a:p>
        </p:txBody>
      </p:sp>
      <p:sp>
        <p:nvSpPr>
          <p:cNvPr id="8" name="tld_54"/>
          <p:cNvSpPr/>
          <p:nvPr/>
        </p:nvSpPr>
        <p:spPr>
          <a:xfrm>
            <a:off x="2152759" y="2916936"/>
            <a:ext cx="292608" cy="292608"/>
          </a:xfrm>
          <a:prstGeom prst="ellipse">
            <a:avLst/>
          </a:prstGeom>
          <a:solidFill>
            <a:srgbClr val="D98E1F"/>
          </a:solidFill>
          <a:ln w="19050">
            <a:solidFill>
              <a:srgbClr val="FFFFFF"/>
            </a:solidFill>
            <a:prstDash val="solid"/>
          </a:ln>
        </p:spPr>
      </p:sp>
      <p:sp>
        <p:nvSpPr>
          <p:cNvPr id="9" name="text_55"/>
          <p:cNvSpPr txBox="1"/>
          <p:nvPr/>
        </p:nvSpPr>
        <p:spPr>
          <a:xfrm>
            <a:off x="1567543" y="3383280"/>
            <a:ext cx="1463040" cy="320040"/>
          </a:xfrm>
          <a:prstGeom prst="rect">
            <a:avLst/>
          </a:prstGeom>
          <a:noFill/>
          <a:ln/>
        </p:spPr>
        <p:txBody>
          <a:bodyPr wrap="square" lIns="635" tIns="635" rIns="635" bIns="635" rtlCol="0" anchor="t"/>
          <a:lstStyle/>
          <a:p>
            <a:pPr algn="ctr" indent="0" marL="0">
              <a:lnSpc>
                <a:spcPct val="100000"/>
              </a:lnSpc>
              <a:buNone/>
            </a:pPr>
            <a:r>
              <a:rPr lang="en-US" sz="1300" b="1" dirty="0">
                <a:solidFill>
                  <a:srgbClr val="D98E1F"/>
                </a:solidFill>
                <a:latin typeface="Calibri" pitchFamily="34" charset="0"/>
                <a:ea typeface="Calibri" pitchFamily="34" charset="-122"/>
                <a:cs typeface="Calibri" pitchFamily="34" charset="-120"/>
              </a:rPr>
              <a:t>3 Dec</a:t>
            </a:r>
            <a:endParaRPr lang="en-US" sz="1300" dirty="0"/>
          </a:p>
        </p:txBody>
      </p:sp>
      <p:sp>
        <p:nvSpPr>
          <p:cNvPr id="10" name="text_56"/>
          <p:cNvSpPr txBox="1"/>
          <p:nvPr/>
        </p:nvSpPr>
        <p:spPr>
          <a:xfrm>
            <a:off x="1567543" y="3685032"/>
            <a:ext cx="1463040" cy="548640"/>
          </a:xfrm>
          <a:prstGeom prst="rect">
            <a:avLst/>
          </a:prstGeom>
          <a:noFill/>
          <a:ln/>
        </p:spPr>
        <p:txBody>
          <a:bodyPr wrap="square" lIns="635" tIns="635" rIns="635" bIns="635" rtlCol="0" anchor="t"/>
          <a:lstStyle/>
          <a:p>
            <a:pPr algn="ctr" indent="0" marL="0">
              <a:lnSpc>
                <a:spcPct val="100000"/>
              </a:lnSpc>
              <a:buNone/>
            </a:pPr>
            <a:r>
              <a:rPr lang="en-US" sz="1200" dirty="0">
                <a:solidFill>
                  <a:srgbClr val="222B36"/>
                </a:solidFill>
                <a:latin typeface="Calibri" pitchFamily="34" charset="0"/>
                <a:ea typeface="Calibri" pitchFamily="34" charset="-122"/>
                <a:cs typeface="Calibri" pitchFamily="34" charset="-120"/>
              </a:rPr>
              <a:t>Complete first draft</a:t>
            </a:r>
            <a:endParaRPr lang="en-US" sz="1200" dirty="0"/>
          </a:p>
        </p:txBody>
      </p:sp>
      <p:sp>
        <p:nvSpPr>
          <p:cNvPr id="11" name="tld_57"/>
          <p:cNvSpPr/>
          <p:nvPr/>
        </p:nvSpPr>
        <p:spPr>
          <a:xfrm>
            <a:off x="3720302" y="2962656"/>
            <a:ext cx="201168" cy="201168"/>
          </a:xfrm>
          <a:prstGeom prst="ellipse">
            <a:avLst/>
          </a:prstGeom>
          <a:solidFill>
            <a:srgbClr val="2E4A6B"/>
          </a:solidFill>
          <a:ln w="19050">
            <a:solidFill>
              <a:srgbClr val="FFFFFF"/>
            </a:solidFill>
            <a:prstDash val="solid"/>
          </a:ln>
        </p:spPr>
      </p:sp>
      <p:sp>
        <p:nvSpPr>
          <p:cNvPr id="12" name="text_58"/>
          <p:cNvSpPr txBox="1"/>
          <p:nvPr/>
        </p:nvSpPr>
        <p:spPr>
          <a:xfrm>
            <a:off x="3089366" y="1920240"/>
            <a:ext cx="1463040" cy="320040"/>
          </a:xfrm>
          <a:prstGeom prst="rect">
            <a:avLst/>
          </a:prstGeom>
          <a:noFill/>
          <a:ln/>
        </p:spPr>
        <p:txBody>
          <a:bodyPr wrap="square" lIns="635" tIns="635" rIns="635" bIns="635" rtlCol="0" anchor="t"/>
          <a:lstStyle/>
          <a:p>
            <a:pPr algn="ctr" indent="0" marL="0">
              <a:lnSpc>
                <a:spcPct val="100000"/>
              </a:lnSpc>
              <a:buNone/>
            </a:pPr>
            <a:r>
              <a:rPr lang="en-US" sz="1300" b="1" dirty="0">
                <a:solidFill>
                  <a:srgbClr val="2E4A6B"/>
                </a:solidFill>
                <a:latin typeface="Calibri" pitchFamily="34" charset="0"/>
                <a:ea typeface="Calibri" pitchFamily="34" charset="-122"/>
                <a:cs typeface="Calibri" pitchFamily="34" charset="-120"/>
              </a:rPr>
              <a:t>Dec – Jan</a:t>
            </a:r>
            <a:endParaRPr lang="en-US" sz="1300" dirty="0"/>
          </a:p>
        </p:txBody>
      </p:sp>
      <p:sp>
        <p:nvSpPr>
          <p:cNvPr id="13" name="text_59"/>
          <p:cNvSpPr txBox="1"/>
          <p:nvPr/>
        </p:nvSpPr>
        <p:spPr>
          <a:xfrm>
            <a:off x="3089366" y="2240280"/>
            <a:ext cx="1463040" cy="548640"/>
          </a:xfrm>
          <a:prstGeom prst="rect">
            <a:avLst/>
          </a:prstGeom>
          <a:noFill/>
          <a:ln/>
        </p:spPr>
        <p:txBody>
          <a:bodyPr wrap="square" lIns="635" tIns="635" rIns="635" bIns="635" rtlCol="0" anchor="t"/>
          <a:lstStyle/>
          <a:p>
            <a:pPr algn="ctr" indent="0" marL="0">
              <a:lnSpc>
                <a:spcPct val="100000"/>
              </a:lnSpc>
              <a:buNone/>
            </a:pPr>
            <a:r>
              <a:rPr lang="en-US" sz="1200" dirty="0">
                <a:solidFill>
                  <a:srgbClr val="222B36"/>
                </a:solidFill>
                <a:latin typeface="Calibri" pitchFamily="34" charset="0"/>
                <a:ea typeface="Calibri" pitchFamily="34" charset="-122"/>
                <a:cs typeface="Calibri" pitchFamily="34" charset="-120"/>
              </a:rPr>
              <a:t>Rest, then edit (3 passes)</a:t>
            </a:r>
            <a:endParaRPr lang="en-US" sz="1200" dirty="0"/>
          </a:p>
        </p:txBody>
      </p:sp>
      <p:sp>
        <p:nvSpPr>
          <p:cNvPr id="14" name="tld_60"/>
          <p:cNvSpPr/>
          <p:nvPr/>
        </p:nvSpPr>
        <p:spPr>
          <a:xfrm>
            <a:off x="5196405" y="2916936"/>
            <a:ext cx="292608" cy="292608"/>
          </a:xfrm>
          <a:prstGeom prst="ellipse">
            <a:avLst/>
          </a:prstGeom>
          <a:solidFill>
            <a:srgbClr val="B04A35"/>
          </a:solidFill>
          <a:ln w="19050">
            <a:solidFill>
              <a:srgbClr val="FFFFFF"/>
            </a:solidFill>
            <a:prstDash val="solid"/>
          </a:ln>
        </p:spPr>
      </p:sp>
      <p:sp>
        <p:nvSpPr>
          <p:cNvPr id="15" name="text_61"/>
          <p:cNvSpPr txBox="1"/>
          <p:nvPr/>
        </p:nvSpPr>
        <p:spPr>
          <a:xfrm>
            <a:off x="4611189" y="3383280"/>
            <a:ext cx="1463040" cy="320040"/>
          </a:xfrm>
          <a:prstGeom prst="rect">
            <a:avLst/>
          </a:prstGeom>
          <a:noFill/>
          <a:ln/>
        </p:spPr>
        <p:txBody>
          <a:bodyPr wrap="square" lIns="635" tIns="635" rIns="635" bIns="635" rtlCol="0" anchor="t"/>
          <a:lstStyle/>
          <a:p>
            <a:pPr algn="ctr" indent="0" marL="0">
              <a:lnSpc>
                <a:spcPct val="100000"/>
              </a:lnSpc>
              <a:buNone/>
            </a:pPr>
            <a:r>
              <a:rPr lang="en-US" sz="1300" b="1" dirty="0">
                <a:solidFill>
                  <a:srgbClr val="B04A35"/>
                </a:solidFill>
                <a:latin typeface="Calibri" pitchFamily="34" charset="0"/>
                <a:ea typeface="Calibri" pitchFamily="34" charset="-122"/>
                <a:cs typeface="Calibri" pitchFamily="34" charset="-120"/>
              </a:rPr>
              <a:t>Fri 5 Feb</a:t>
            </a:r>
            <a:endParaRPr lang="en-US" sz="1300" dirty="0"/>
          </a:p>
        </p:txBody>
      </p:sp>
      <p:sp>
        <p:nvSpPr>
          <p:cNvPr id="16" name="text_62"/>
          <p:cNvSpPr txBox="1"/>
          <p:nvPr/>
        </p:nvSpPr>
        <p:spPr>
          <a:xfrm>
            <a:off x="4611189" y="3685032"/>
            <a:ext cx="1463040" cy="548640"/>
          </a:xfrm>
          <a:prstGeom prst="rect">
            <a:avLst/>
          </a:prstGeom>
          <a:noFill/>
          <a:ln/>
        </p:spPr>
        <p:txBody>
          <a:bodyPr wrap="square" lIns="635" tIns="635" rIns="635" bIns="635" rtlCol="0" anchor="t"/>
          <a:lstStyle/>
          <a:p>
            <a:pPr algn="ctr" indent="0" marL="0">
              <a:lnSpc>
                <a:spcPct val="100000"/>
              </a:lnSpc>
              <a:buNone/>
            </a:pPr>
            <a:r>
              <a:rPr lang="en-US" sz="1200" dirty="0">
                <a:solidFill>
                  <a:srgbClr val="222B36"/>
                </a:solidFill>
                <a:latin typeface="Calibri" pitchFamily="34" charset="0"/>
                <a:ea typeface="Calibri" pitchFamily="34" charset="-122"/>
                <a:cs typeface="Calibri" pitchFamily="34" charset="-120"/>
              </a:rPr>
              <a:t>Draft submitted (formative)</a:t>
            </a:r>
            <a:endParaRPr lang="en-US" sz="1200" dirty="0"/>
          </a:p>
        </p:txBody>
      </p:sp>
      <p:sp>
        <p:nvSpPr>
          <p:cNvPr id="17" name="tld_63"/>
          <p:cNvSpPr/>
          <p:nvPr/>
        </p:nvSpPr>
        <p:spPr>
          <a:xfrm>
            <a:off x="6763947" y="2962656"/>
            <a:ext cx="201168" cy="201168"/>
          </a:xfrm>
          <a:prstGeom prst="ellipse">
            <a:avLst/>
          </a:prstGeom>
          <a:solidFill>
            <a:srgbClr val="2E4A6B"/>
          </a:solidFill>
          <a:ln w="19050">
            <a:solidFill>
              <a:srgbClr val="FFFFFF"/>
            </a:solidFill>
            <a:prstDash val="solid"/>
          </a:ln>
        </p:spPr>
      </p:sp>
      <p:sp>
        <p:nvSpPr>
          <p:cNvPr id="18" name="text_64"/>
          <p:cNvSpPr txBox="1"/>
          <p:nvPr/>
        </p:nvSpPr>
        <p:spPr>
          <a:xfrm>
            <a:off x="6133011" y="1920240"/>
            <a:ext cx="1463040" cy="320040"/>
          </a:xfrm>
          <a:prstGeom prst="rect">
            <a:avLst/>
          </a:prstGeom>
          <a:noFill/>
          <a:ln/>
        </p:spPr>
        <p:txBody>
          <a:bodyPr wrap="square" lIns="635" tIns="635" rIns="635" bIns="635" rtlCol="0" anchor="t"/>
          <a:lstStyle/>
          <a:p>
            <a:pPr algn="ctr" indent="0" marL="0">
              <a:lnSpc>
                <a:spcPct val="100000"/>
              </a:lnSpc>
              <a:buNone/>
            </a:pPr>
            <a:r>
              <a:rPr lang="en-US" sz="1300" b="1" dirty="0">
                <a:solidFill>
                  <a:srgbClr val="2E4A6B"/>
                </a:solidFill>
                <a:latin typeface="Calibri" pitchFamily="34" charset="0"/>
                <a:ea typeface="Calibri" pitchFamily="34" charset="-122"/>
                <a:cs typeface="Calibri" pitchFamily="34" charset="-120"/>
              </a:rPr>
              <a:t>w/c 8 or 15 Feb</a:t>
            </a:r>
            <a:endParaRPr lang="en-US" sz="1300" dirty="0"/>
          </a:p>
        </p:txBody>
      </p:sp>
      <p:sp>
        <p:nvSpPr>
          <p:cNvPr id="19" name="text_65"/>
          <p:cNvSpPr txBox="1"/>
          <p:nvPr/>
        </p:nvSpPr>
        <p:spPr>
          <a:xfrm>
            <a:off x="6133011" y="2240280"/>
            <a:ext cx="1463040" cy="548640"/>
          </a:xfrm>
          <a:prstGeom prst="rect">
            <a:avLst/>
          </a:prstGeom>
          <a:noFill/>
          <a:ln/>
        </p:spPr>
        <p:txBody>
          <a:bodyPr wrap="square" lIns="635" tIns="635" rIns="635" bIns="635" rtlCol="0" anchor="t"/>
          <a:lstStyle/>
          <a:p>
            <a:pPr algn="ctr" indent="0" marL="0">
              <a:lnSpc>
                <a:spcPct val="100000"/>
              </a:lnSpc>
              <a:buNone/>
            </a:pPr>
            <a:r>
              <a:rPr lang="en-US" sz="1200" dirty="0">
                <a:solidFill>
                  <a:srgbClr val="222B36"/>
                </a:solidFill>
                <a:latin typeface="Calibri" pitchFamily="34" charset="0"/>
                <a:ea typeface="Calibri" pitchFamily="34" charset="-122"/>
                <a:cs typeface="Calibri" pitchFamily="34" charset="-120"/>
              </a:rPr>
              <a:t>Swap drafts: peer feedback</a:t>
            </a:r>
            <a:endParaRPr lang="en-US" sz="1200" dirty="0"/>
          </a:p>
        </p:txBody>
      </p:sp>
      <p:sp>
        <p:nvSpPr>
          <p:cNvPr id="20" name="tld_66"/>
          <p:cNvSpPr/>
          <p:nvPr/>
        </p:nvSpPr>
        <p:spPr>
          <a:xfrm>
            <a:off x="8285770" y="2962656"/>
            <a:ext cx="201168" cy="201168"/>
          </a:xfrm>
          <a:prstGeom prst="ellipse">
            <a:avLst/>
          </a:prstGeom>
          <a:solidFill>
            <a:srgbClr val="2E4A6B"/>
          </a:solidFill>
          <a:ln w="19050">
            <a:solidFill>
              <a:srgbClr val="FFFFFF"/>
            </a:solidFill>
            <a:prstDash val="solid"/>
          </a:ln>
        </p:spPr>
      </p:sp>
      <p:sp>
        <p:nvSpPr>
          <p:cNvPr id="21" name="text_67"/>
          <p:cNvSpPr txBox="1"/>
          <p:nvPr/>
        </p:nvSpPr>
        <p:spPr>
          <a:xfrm>
            <a:off x="7654834" y="3383280"/>
            <a:ext cx="1463040" cy="320040"/>
          </a:xfrm>
          <a:prstGeom prst="rect">
            <a:avLst/>
          </a:prstGeom>
          <a:noFill/>
          <a:ln/>
        </p:spPr>
        <p:txBody>
          <a:bodyPr wrap="square" lIns="635" tIns="635" rIns="635" bIns="635" rtlCol="0" anchor="t"/>
          <a:lstStyle/>
          <a:p>
            <a:pPr algn="ctr" indent="0" marL="0">
              <a:lnSpc>
                <a:spcPct val="100000"/>
              </a:lnSpc>
              <a:buNone/>
            </a:pPr>
            <a:r>
              <a:rPr lang="en-US" sz="1300" b="1" dirty="0">
                <a:solidFill>
                  <a:srgbClr val="2E4A6B"/>
                </a:solidFill>
                <a:latin typeface="Calibri" pitchFamily="34" charset="0"/>
                <a:ea typeface="Calibri" pitchFamily="34" charset="-122"/>
                <a:cs typeface="Calibri" pitchFamily="34" charset="-120"/>
              </a:rPr>
              <a:t>w/c 1 Mar</a:t>
            </a:r>
            <a:endParaRPr lang="en-US" sz="1300" dirty="0"/>
          </a:p>
        </p:txBody>
      </p:sp>
      <p:sp>
        <p:nvSpPr>
          <p:cNvPr id="22" name="text_68"/>
          <p:cNvSpPr txBox="1"/>
          <p:nvPr/>
        </p:nvSpPr>
        <p:spPr>
          <a:xfrm>
            <a:off x="7654834" y="3685032"/>
            <a:ext cx="1463040" cy="548640"/>
          </a:xfrm>
          <a:prstGeom prst="rect">
            <a:avLst/>
          </a:prstGeom>
          <a:noFill/>
          <a:ln/>
        </p:spPr>
        <p:txBody>
          <a:bodyPr wrap="square" lIns="635" tIns="635" rIns="635" bIns="635" rtlCol="0" anchor="t"/>
          <a:lstStyle/>
          <a:p>
            <a:pPr algn="ctr" indent="0" marL="0">
              <a:lnSpc>
                <a:spcPct val="100000"/>
              </a:lnSpc>
              <a:buNone/>
            </a:pPr>
            <a:r>
              <a:rPr lang="en-US" sz="1200" dirty="0">
                <a:solidFill>
                  <a:srgbClr val="222B36"/>
                </a:solidFill>
                <a:latin typeface="Calibri" pitchFamily="34" charset="0"/>
                <a:ea typeface="Calibri" pitchFamily="34" charset="-122"/>
                <a:cs typeface="Calibri" pitchFamily="34" charset="-120"/>
              </a:rPr>
              <a:t>Group presentation</a:t>
            </a:r>
            <a:endParaRPr lang="en-US" sz="1200" dirty="0"/>
          </a:p>
        </p:txBody>
      </p:sp>
      <p:sp>
        <p:nvSpPr>
          <p:cNvPr id="23" name="tld_69"/>
          <p:cNvSpPr/>
          <p:nvPr/>
        </p:nvSpPr>
        <p:spPr>
          <a:xfrm>
            <a:off x="9761873" y="2916936"/>
            <a:ext cx="292608" cy="292608"/>
          </a:xfrm>
          <a:prstGeom prst="ellipse">
            <a:avLst/>
          </a:prstGeom>
          <a:solidFill>
            <a:srgbClr val="B04A35"/>
          </a:solidFill>
          <a:ln w="19050">
            <a:solidFill>
              <a:srgbClr val="FFFFFF"/>
            </a:solidFill>
            <a:prstDash val="solid"/>
          </a:ln>
        </p:spPr>
      </p:sp>
      <p:sp>
        <p:nvSpPr>
          <p:cNvPr id="24" name="text_70"/>
          <p:cNvSpPr txBox="1"/>
          <p:nvPr/>
        </p:nvSpPr>
        <p:spPr>
          <a:xfrm>
            <a:off x="9176657" y="1920240"/>
            <a:ext cx="1463040" cy="320040"/>
          </a:xfrm>
          <a:prstGeom prst="rect">
            <a:avLst/>
          </a:prstGeom>
          <a:noFill/>
          <a:ln/>
        </p:spPr>
        <p:txBody>
          <a:bodyPr wrap="square" lIns="635" tIns="635" rIns="635" bIns="635" rtlCol="0" anchor="t"/>
          <a:lstStyle/>
          <a:p>
            <a:pPr algn="ctr" indent="0" marL="0">
              <a:lnSpc>
                <a:spcPct val="100000"/>
              </a:lnSpc>
              <a:buNone/>
            </a:pPr>
            <a:r>
              <a:rPr lang="en-US" sz="1300" b="1" dirty="0">
                <a:solidFill>
                  <a:srgbClr val="B04A35"/>
                </a:solidFill>
                <a:latin typeface="Calibri" pitchFamily="34" charset="0"/>
                <a:ea typeface="Calibri" pitchFamily="34" charset="-122"/>
                <a:cs typeface="Calibri" pitchFamily="34" charset="-120"/>
              </a:rPr>
              <a:t>Fri 12 Mar, 12:00</a:t>
            </a:r>
            <a:endParaRPr lang="en-US" sz="1300" dirty="0"/>
          </a:p>
        </p:txBody>
      </p:sp>
      <p:sp>
        <p:nvSpPr>
          <p:cNvPr id="25" name="text_71"/>
          <p:cNvSpPr txBox="1"/>
          <p:nvPr/>
        </p:nvSpPr>
        <p:spPr>
          <a:xfrm>
            <a:off x="9176657" y="2240280"/>
            <a:ext cx="1463040" cy="548640"/>
          </a:xfrm>
          <a:prstGeom prst="rect">
            <a:avLst/>
          </a:prstGeom>
          <a:noFill/>
          <a:ln/>
        </p:spPr>
        <p:txBody>
          <a:bodyPr wrap="square" lIns="635" tIns="635" rIns="635" bIns="635" rtlCol="0" anchor="t"/>
          <a:lstStyle/>
          <a:p>
            <a:pPr algn="ctr" indent="0" marL="0">
              <a:lnSpc>
                <a:spcPct val="100000"/>
              </a:lnSpc>
              <a:buNone/>
            </a:pPr>
            <a:r>
              <a:rPr lang="en-US" sz="1200" dirty="0">
                <a:solidFill>
                  <a:srgbClr val="222B36"/>
                </a:solidFill>
                <a:latin typeface="Calibri" pitchFamily="34" charset="0"/>
                <a:ea typeface="Calibri" pitchFamily="34" charset="-122"/>
                <a:cs typeface="Calibri" pitchFamily="34" charset="-120"/>
              </a:rPr>
              <a:t>Final report submitted</a:t>
            </a:r>
            <a:endParaRPr lang="en-US" sz="1200" dirty="0"/>
          </a:p>
        </p:txBody>
      </p:sp>
      <p:sp>
        <p:nvSpPr>
          <p:cNvPr id="26" name="tld_72"/>
          <p:cNvSpPr/>
          <p:nvPr/>
        </p:nvSpPr>
        <p:spPr>
          <a:xfrm>
            <a:off x="11329416" y="2962656"/>
            <a:ext cx="201168" cy="201168"/>
          </a:xfrm>
          <a:prstGeom prst="ellipse">
            <a:avLst/>
          </a:prstGeom>
          <a:solidFill>
            <a:srgbClr val="1F7A6E"/>
          </a:solidFill>
          <a:ln w="19050">
            <a:solidFill>
              <a:srgbClr val="FFFFFF"/>
            </a:solidFill>
            <a:prstDash val="solid"/>
          </a:ln>
        </p:spPr>
      </p:sp>
      <p:sp>
        <p:nvSpPr>
          <p:cNvPr id="27" name="text_73"/>
          <p:cNvSpPr txBox="1"/>
          <p:nvPr/>
        </p:nvSpPr>
        <p:spPr>
          <a:xfrm>
            <a:off x="10698480" y="3383280"/>
            <a:ext cx="1463040" cy="320040"/>
          </a:xfrm>
          <a:prstGeom prst="rect">
            <a:avLst/>
          </a:prstGeom>
          <a:noFill/>
          <a:ln/>
        </p:spPr>
        <p:txBody>
          <a:bodyPr wrap="square" lIns="635" tIns="635" rIns="635" bIns="635" rtlCol="0" anchor="t"/>
          <a:lstStyle/>
          <a:p>
            <a:pPr algn="ctr" indent="0" marL="0">
              <a:lnSpc>
                <a:spcPct val="100000"/>
              </a:lnSpc>
              <a:buNone/>
            </a:pPr>
            <a:r>
              <a:rPr lang="en-US" sz="1300" b="1" dirty="0">
                <a:solidFill>
                  <a:srgbClr val="1F7A6E"/>
                </a:solidFill>
                <a:latin typeface="Calibri" pitchFamily="34" charset="0"/>
                <a:ea typeface="Calibri" pitchFamily="34" charset="-122"/>
                <a:cs typeface="Calibri" pitchFamily="34" charset="-120"/>
              </a:rPr>
              <a:t>7 Apr</a:t>
            </a:r>
            <a:endParaRPr lang="en-US" sz="1300" dirty="0"/>
          </a:p>
        </p:txBody>
      </p:sp>
      <p:sp>
        <p:nvSpPr>
          <p:cNvPr id="28" name="text_74"/>
          <p:cNvSpPr txBox="1"/>
          <p:nvPr/>
        </p:nvSpPr>
        <p:spPr>
          <a:xfrm>
            <a:off x="10698480" y="3685032"/>
            <a:ext cx="1463040" cy="548640"/>
          </a:xfrm>
          <a:prstGeom prst="rect">
            <a:avLst/>
          </a:prstGeom>
          <a:noFill/>
          <a:ln/>
        </p:spPr>
        <p:txBody>
          <a:bodyPr wrap="square" lIns="635" tIns="635" rIns="635" bIns="635" rtlCol="0" anchor="t"/>
          <a:lstStyle/>
          <a:p>
            <a:pPr algn="ctr" indent="0" marL="0">
              <a:lnSpc>
                <a:spcPct val="100000"/>
              </a:lnSpc>
              <a:buNone/>
            </a:pPr>
            <a:r>
              <a:rPr lang="en-US" sz="1200" dirty="0">
                <a:solidFill>
                  <a:srgbClr val="222B36"/>
                </a:solidFill>
                <a:latin typeface="Calibri" pitchFamily="34" charset="0"/>
                <a:ea typeface="Calibri" pitchFamily="34" charset="-122"/>
                <a:cs typeface="Calibri" pitchFamily="34" charset="-120"/>
              </a:rPr>
              <a:t>Marks and feedback</a:t>
            </a:r>
            <a:endParaRPr lang="en-US" sz="1200" dirty="0"/>
          </a:p>
        </p:txBody>
      </p:sp>
      <p:sp>
        <p:nvSpPr>
          <p:cNvPr id="29" name="text_75"/>
          <p:cNvSpPr txBox="1"/>
          <p:nvPr/>
        </p:nvSpPr>
        <p:spPr>
          <a:xfrm>
            <a:off x="777240" y="1417320"/>
            <a:ext cx="4572000" cy="274320"/>
          </a:xfrm>
          <a:prstGeom prst="rect">
            <a:avLst/>
          </a:prstGeom>
          <a:noFill/>
          <a:ln/>
        </p:spPr>
        <p:txBody>
          <a:bodyPr wrap="square" lIns="635" tIns="635" rIns="635" bIns="635" rtlCol="0" anchor="t"/>
          <a:lstStyle/>
          <a:p>
            <a:pPr algn="l" indent="0" marL="0">
              <a:lnSpc>
                <a:spcPct val="100000"/>
              </a:lnSpc>
              <a:buNone/>
            </a:pPr>
            <a:r>
              <a:rPr lang="en-US" sz="1100" b="1" dirty="0">
                <a:solidFill>
                  <a:srgbClr val="D98E1F"/>
                </a:solidFill>
                <a:latin typeface="Calibri" pitchFamily="34" charset="0"/>
                <a:ea typeface="Calibri" pitchFamily="34" charset="-122"/>
                <a:cs typeface="Calibri" pitchFamily="34" charset="-120"/>
              </a:rPr>
              <a:t>SEMESTER 1  ·  THESE TUTORIALS</a:t>
            </a:r>
            <a:endParaRPr lang="en-US" sz="1100" dirty="0"/>
          </a:p>
        </p:txBody>
      </p:sp>
      <p:sp>
        <p:nvSpPr>
          <p:cNvPr id="30" name="text_76"/>
          <p:cNvSpPr txBox="1"/>
          <p:nvPr/>
        </p:nvSpPr>
        <p:spPr>
          <a:xfrm>
            <a:off x="6035040" y="1417320"/>
            <a:ext cx="4572000" cy="274320"/>
          </a:xfrm>
          <a:prstGeom prst="rect">
            <a:avLst/>
          </a:prstGeom>
          <a:noFill/>
          <a:ln/>
        </p:spPr>
        <p:txBody>
          <a:bodyPr wrap="square" lIns="635" tIns="635" rIns="635" bIns="635" rtlCol="0" anchor="t"/>
          <a:lstStyle/>
          <a:p>
            <a:pPr algn="l" indent="0" marL="0">
              <a:lnSpc>
                <a:spcPct val="100000"/>
              </a:lnSpc>
              <a:buNone/>
            </a:pPr>
            <a:r>
              <a:rPr lang="en-US" sz="1100" b="1" dirty="0">
                <a:solidFill>
                  <a:srgbClr val="5B6573"/>
                </a:solidFill>
                <a:latin typeface="Calibri" pitchFamily="34" charset="0"/>
                <a:ea typeface="Calibri" pitchFamily="34" charset="-122"/>
                <a:cs typeface="Calibri" pitchFamily="34" charset="-120"/>
              </a:rPr>
              <a:t>SEMESTER 2</a:t>
            </a:r>
            <a:endParaRPr lang="en-US" sz="1100" dirty="0"/>
          </a:p>
        </p:txBody>
      </p:sp>
      <p:sp>
        <p:nvSpPr>
          <p:cNvPr id="31" name="card_77"/>
          <p:cNvSpPr/>
          <p:nvPr/>
        </p:nvSpPr>
        <p:spPr>
          <a:xfrm>
            <a:off x="548640" y="4572000"/>
            <a:ext cx="11091672" cy="1691640"/>
          </a:xfrm>
          <a:prstGeom prst="roundRect">
            <a:avLst>
              <a:gd name="adj" fmla="val 4324"/>
            </a:avLst>
          </a:prstGeom>
          <a:solidFill>
            <a:srgbClr val="F7F4EE"/>
          </a:solidFill>
          <a:ln w="9525">
            <a:solidFill>
              <a:srgbClr val="D5DAE1"/>
            </a:solidFill>
            <a:prstDash val="solid"/>
          </a:ln>
        </p:spPr>
      </p:sp>
      <p:sp>
        <p:nvSpPr>
          <p:cNvPr id="32" name="cardbody_78"/>
          <p:cNvSpPr txBox="1"/>
          <p:nvPr/>
        </p:nvSpPr>
        <p:spPr>
          <a:xfrm>
            <a:off x="713232" y="4700016"/>
            <a:ext cx="10762488" cy="1472184"/>
          </a:xfrm>
          <a:prstGeom prst="rect">
            <a:avLst/>
          </a:prstGeom>
          <a:noFill/>
          <a:ln/>
        </p:spPr>
        <p:txBody>
          <a:bodyPr wrap="square" lIns="381" tIns="381" rIns="381" bIns="381" rtlCol="0" anchor="t"/>
          <a:lstStyle/>
          <a:p>
            <a:pPr marL="342900" indent="-342900">
              <a:spcAft>
                <a:spcPts val="400"/>
              </a:spcAft>
              <a:buSzPct val="100000"/>
              <a:buChar char="■"/>
            </a:pPr>
            <a:r>
              <a:rPr lang="en-US" sz="1450" dirty="0">
                <a:solidFill>
                  <a:srgbClr val="222B36"/>
                </a:solidFill>
                <a:latin typeface="Calibri" pitchFamily="34" charset="0"/>
                <a:ea typeface="Calibri" pitchFamily="34" charset="-122"/>
                <a:cs typeface="Calibri" pitchFamily="34" charset="-120"/>
              </a:rPr>
              <a:t>Every tutorial from today produces one </a:t>
            </a:r>
            <a:r>
              <a:rPr lang="en-US" sz="1450" b="1" dirty="0">
                <a:solidFill>
                  <a:srgbClr val="222B36"/>
                </a:solidFill>
                <a:latin typeface="Calibri" pitchFamily="34" charset="0"/>
                <a:ea typeface="Calibri" pitchFamily="34" charset="-122"/>
                <a:cs typeface="Calibri" pitchFamily="34" charset="-120"/>
              </a:rPr>
              <a:t>piece</a:t>
            </a:r>
            <a:r>
              <a:rPr lang="en-US" sz="1450" dirty="0">
                <a:solidFill>
                  <a:srgbClr val="222B36"/>
                </a:solidFill>
                <a:latin typeface="Calibri" pitchFamily="34" charset="0"/>
                <a:ea typeface="Calibri" pitchFamily="34" charset="-122"/>
                <a:cs typeface="Calibri" pitchFamily="34" charset="-120"/>
              </a:rPr>
              <a:t> of your report; the pieces add up to a full draft on </a:t>
            </a:r>
            <a:r>
              <a:rPr lang="en-US" sz="1450" b="1" dirty="0">
                <a:solidFill>
                  <a:srgbClr val="222B36"/>
                </a:solidFill>
                <a:latin typeface="Calibri" pitchFamily="34" charset="0"/>
                <a:ea typeface="Calibri" pitchFamily="34" charset="-122"/>
                <a:cs typeface="Calibri" pitchFamily="34" charset="-120"/>
              </a:rPr>
              <a:t>3 December</a:t>
            </a:r>
            <a:r>
              <a:rPr lang="en-US" sz="1450" dirty="0">
                <a:solidFill>
                  <a:srgbClr val="222B36"/>
                </a:solidFill>
                <a:latin typeface="Calibri" pitchFamily="34" charset="0"/>
                <a:ea typeface="Calibri" pitchFamily="34" charset="-122"/>
                <a:cs typeface="Calibri" pitchFamily="34" charset="-120"/>
              </a:rPr>
              <a:t>.</a:t>
            </a:r>
            <a:endParaRPr lang="en-US" sz="1450" dirty="0"/>
          </a:p>
          <a:p>
            <a:pPr marL="342900" indent="-342900">
              <a:spcAft>
                <a:spcPts val="400"/>
              </a:spcAft>
              <a:buSzPct val="100000"/>
              <a:buChar char="■"/>
            </a:pPr>
            <a:r>
              <a:rPr lang="en-US" sz="1450" dirty="0">
                <a:solidFill>
                  <a:srgbClr val="222B36"/>
                </a:solidFill>
                <a:latin typeface="Calibri" pitchFamily="34" charset="0"/>
                <a:ea typeface="Calibri" pitchFamily="34" charset="-122"/>
                <a:cs typeface="Calibri" pitchFamily="34" charset="-120"/>
              </a:rPr>
              <a:t>January is then for </a:t>
            </a:r>
            <a:r>
              <a:rPr lang="en-US" sz="1450" b="1" dirty="0">
                <a:solidFill>
                  <a:srgbClr val="222B36"/>
                </a:solidFill>
                <a:latin typeface="Calibri" pitchFamily="34" charset="0"/>
                <a:ea typeface="Calibri" pitchFamily="34" charset="-122"/>
                <a:cs typeface="Calibri" pitchFamily="34" charset="-120"/>
              </a:rPr>
              <a:t>editing</a:t>
            </a:r>
            <a:r>
              <a:rPr lang="en-US" sz="1450" dirty="0">
                <a:solidFill>
                  <a:srgbClr val="222B36"/>
                </a:solidFill>
                <a:latin typeface="Calibri" pitchFamily="34" charset="0"/>
                <a:ea typeface="Calibri" pitchFamily="34" charset="-122"/>
                <a:cs typeface="Calibri" pitchFamily="34" charset="-120"/>
              </a:rPr>
              <a:t>, not first drafting, and it is also exam season. The draft on 5 Feb carries no marks and has </a:t>
            </a:r>
            <a:r>
              <a:rPr lang="en-US" sz="1450" b="1" dirty="0">
                <a:solidFill>
                  <a:srgbClr val="222B36"/>
                </a:solidFill>
                <a:latin typeface="Calibri" pitchFamily="34" charset="0"/>
                <a:ea typeface="Calibri" pitchFamily="34" charset="-122"/>
                <a:cs typeface="Calibri" pitchFamily="34" charset="-120"/>
              </a:rPr>
              <a:t>no DASS extensions</a:t>
            </a:r>
            <a:r>
              <a:rPr lang="en-US" sz="1450" dirty="0">
                <a:solidFill>
                  <a:srgbClr val="222B36"/>
                </a:solidFill>
                <a:latin typeface="Calibri" pitchFamily="34" charset="0"/>
                <a:ea typeface="Calibri" pitchFamily="34" charset="-122"/>
                <a:cs typeface="Calibri" pitchFamily="34" charset="-120"/>
              </a:rPr>
              <a:t>; it exists so you get feedback.</a:t>
            </a:r>
            <a:endParaRPr lang="en-US" sz="1450" dirty="0"/>
          </a:p>
          <a:p>
            <a:pPr marL="342900" indent="-342900">
              <a:spcAft>
                <a:spcPts val="400"/>
              </a:spcAft>
              <a:buSzPct val="100000"/>
              <a:buChar char="■"/>
            </a:pPr>
            <a:r>
              <a:rPr lang="en-US" sz="1450" dirty="0">
                <a:solidFill>
                  <a:srgbClr val="222B36"/>
                </a:solidFill>
                <a:latin typeface="Calibri" pitchFamily="34" charset="0"/>
                <a:ea typeface="Calibri" pitchFamily="34" charset="-122"/>
                <a:cs typeface="Calibri" pitchFamily="34" charset="-120"/>
              </a:rPr>
              <a:t>Report: </a:t>
            </a:r>
            <a:r>
              <a:rPr lang="en-US" sz="1450" b="1" dirty="0">
                <a:solidFill>
                  <a:srgbClr val="222B36"/>
                </a:solidFill>
                <a:latin typeface="Calibri" pitchFamily="34" charset="0"/>
                <a:ea typeface="Calibri" pitchFamily="34" charset="-122"/>
                <a:cs typeface="Calibri" pitchFamily="34" charset="-120"/>
              </a:rPr>
              <a:t>max 2,000 words</a:t>
            </a:r>
            <a:r>
              <a:rPr lang="en-US" sz="1450" dirty="0">
                <a:solidFill>
                  <a:srgbClr val="222B36"/>
                </a:solidFill>
                <a:latin typeface="Calibri" pitchFamily="34" charset="0"/>
                <a:ea typeface="Calibri" pitchFamily="34" charset="-122"/>
                <a:cs typeface="Calibri" pitchFamily="34" charset="-120"/>
              </a:rPr>
              <a:t>, individual, 100% of the course mark.  AI category: </a:t>
            </a:r>
            <a:r>
              <a:rPr lang="en-US" sz="1450" b="1" dirty="0">
                <a:solidFill>
                  <a:srgbClr val="222B36"/>
                </a:solidFill>
                <a:latin typeface="Calibri" pitchFamily="34" charset="0"/>
                <a:ea typeface="Calibri" pitchFamily="34" charset="-122"/>
                <a:cs typeface="Calibri" pitchFamily="34" charset="-120"/>
              </a:rPr>
              <a:t>AI Minimal</a:t>
            </a:r>
            <a:r>
              <a:rPr lang="en-US" sz="1450" dirty="0">
                <a:solidFill>
                  <a:srgbClr val="222B36"/>
                </a:solidFill>
                <a:latin typeface="Calibri" pitchFamily="34" charset="0"/>
                <a:ea typeface="Calibri" pitchFamily="34" charset="-122"/>
                <a:cs typeface="Calibri" pitchFamily="34" charset="-120"/>
              </a:rPr>
              <a:t>.</a:t>
            </a:r>
            <a:endParaRPr lang="en-US" sz="14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agl_79"/>
          <p:cNvSpPr/>
          <p:nvPr/>
        </p:nvSpPr>
        <p:spPr>
          <a:xfrm>
            <a:off x="548640" y="329184"/>
            <a:ext cx="969264" cy="237744"/>
          </a:xfrm>
          <a:prstGeom prst="roundRect">
            <a:avLst>
              <a:gd name="adj" fmla="val 19231"/>
            </a:avLst>
          </a:prstGeom>
          <a:solidFill>
            <a:srgbClr val="D98E1F"/>
          </a:solidFill>
          <a:ln w="12700">
            <a:solidFill>
              <a:srgbClr val="D98E1F"/>
            </a:solidFill>
            <a:prstDash val="solid"/>
          </a:ln>
        </p:spPr>
      </p:sp>
      <p:sp>
        <p:nvSpPr>
          <p:cNvPr id="3" name="text_80"/>
          <p:cNvSpPr txBox="1"/>
          <p:nvPr/>
        </p:nvSpPr>
        <p:spPr>
          <a:xfrm>
            <a:off x="548640" y="329184"/>
            <a:ext cx="969264"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RIGHT NOW</a:t>
            </a:r>
            <a:endParaRPr lang="en-US" sz="1000" dirty="0"/>
          </a:p>
        </p:txBody>
      </p:sp>
      <p:sp>
        <p:nvSpPr>
          <p:cNvPr id="4" name="text_81"/>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Right now: a very strong El Niño</a:t>
            </a:r>
            <a:endParaRPr lang="en-US" sz="2800" dirty="0"/>
          </a:p>
        </p:txBody>
      </p:sp>
      <p:sp>
        <p:nvSpPr>
          <p:cNvPr id="5" name="card_82"/>
          <p:cNvSpPr/>
          <p:nvPr/>
        </p:nvSpPr>
        <p:spPr>
          <a:xfrm>
            <a:off x="548640" y="1280160"/>
            <a:ext cx="5852160" cy="3566160"/>
          </a:xfrm>
          <a:prstGeom prst="roundRect">
            <a:avLst>
              <a:gd name="adj" fmla="val 2051"/>
            </a:avLst>
          </a:prstGeom>
          <a:solidFill>
            <a:srgbClr val="F7F4EE"/>
          </a:solidFill>
          <a:ln w="9525">
            <a:solidFill>
              <a:srgbClr val="D5DAE1"/>
            </a:solidFill>
            <a:prstDash val="solid"/>
          </a:ln>
        </p:spPr>
      </p:sp>
      <p:sp>
        <p:nvSpPr>
          <p:cNvPr id="6" name="tag_83"/>
          <p:cNvSpPr/>
          <p:nvPr/>
        </p:nvSpPr>
        <p:spPr>
          <a:xfrm>
            <a:off x="713232" y="1408176"/>
            <a:ext cx="2089404" cy="256032"/>
          </a:xfrm>
          <a:prstGeom prst="roundRect">
            <a:avLst>
              <a:gd name="adj" fmla="val 21429"/>
            </a:avLst>
          </a:prstGeom>
          <a:solidFill>
            <a:srgbClr val="B04A35"/>
          </a:solidFill>
          <a:ln w="12700">
            <a:solidFill>
              <a:srgbClr val="B04A35"/>
            </a:solidFill>
            <a:prstDash val="solid"/>
          </a:ln>
        </p:spPr>
      </p:sp>
      <p:sp>
        <p:nvSpPr>
          <p:cNvPr id="7" name="text_84"/>
          <p:cNvSpPr txBox="1"/>
          <p:nvPr/>
        </p:nvSpPr>
        <p:spPr>
          <a:xfrm>
            <a:off x="713232" y="1408176"/>
            <a:ext cx="208940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AS OF LATE SEPTEMBER 2026</a:t>
            </a:r>
            <a:endParaRPr lang="en-US" sz="1050" dirty="0"/>
          </a:p>
        </p:txBody>
      </p:sp>
      <p:sp>
        <p:nvSpPr>
          <p:cNvPr id="8" name="cardbody_85"/>
          <p:cNvSpPr txBox="1"/>
          <p:nvPr/>
        </p:nvSpPr>
        <p:spPr>
          <a:xfrm>
            <a:off x="713232" y="1755648"/>
            <a:ext cx="5522976" cy="2999232"/>
          </a:xfrm>
          <a:prstGeom prst="rect">
            <a:avLst/>
          </a:prstGeom>
          <a:noFill/>
          <a:ln/>
        </p:spPr>
        <p:txBody>
          <a:bodyPr wrap="square" lIns="381" tIns="381" rIns="381" bIns="381" rtlCol="0" anchor="t"/>
          <a:lstStyle/>
          <a:p>
            <a:pPr marL="342900" indent="-342900">
              <a:spcAft>
                <a:spcPts val="800"/>
              </a:spcAft>
              <a:buSzPct val="100000"/>
              <a:buChar char="■"/>
            </a:pPr>
            <a:r>
              <a:rPr lang="en-US" sz="1500" dirty="0">
                <a:solidFill>
                  <a:srgbClr val="222B36"/>
                </a:solidFill>
                <a:latin typeface="Calibri" pitchFamily="34" charset="0"/>
                <a:ea typeface="Calibri" pitchFamily="34" charset="-122"/>
                <a:cs typeface="Calibri" pitchFamily="34" charset="-120"/>
              </a:rPr>
              <a:t>NOAA's Climate Prediction Center has an </a:t>
            </a:r>
            <a:r>
              <a:rPr lang="en-US" sz="1500" b="1" dirty="0">
                <a:solidFill>
                  <a:srgbClr val="222B36"/>
                </a:solidFill>
                <a:latin typeface="Calibri" pitchFamily="34" charset="0"/>
                <a:ea typeface="Calibri" pitchFamily="34" charset="-122"/>
                <a:cs typeface="Calibri" pitchFamily="34" charset="-120"/>
              </a:rPr>
              <a:t>El Niño Advisory</a:t>
            </a:r>
            <a:r>
              <a:rPr lang="en-US" sz="1500" dirty="0">
                <a:solidFill>
                  <a:srgbClr val="222B36"/>
                </a:solidFill>
                <a:latin typeface="Calibri" pitchFamily="34" charset="0"/>
                <a:ea typeface="Calibri" pitchFamily="34" charset="-122"/>
                <a:cs typeface="Calibri" pitchFamily="34" charset="-120"/>
              </a:rPr>
              <a:t> in place, and expects a </a:t>
            </a:r>
            <a:r>
              <a:rPr lang="en-US" sz="1500" b="1" dirty="0">
                <a:solidFill>
                  <a:srgbClr val="222B36"/>
                </a:solidFill>
                <a:latin typeface="Calibri" pitchFamily="34" charset="0"/>
                <a:ea typeface="Calibri" pitchFamily="34" charset="-122"/>
                <a:cs typeface="Calibri" pitchFamily="34" charset="-120"/>
              </a:rPr>
              <a:t>very strong</a:t>
            </a:r>
            <a:r>
              <a:rPr lang="en-US" sz="1500" dirty="0">
                <a:solidFill>
                  <a:srgbClr val="222B36"/>
                </a:solidFill>
                <a:latin typeface="Calibri" pitchFamily="34" charset="0"/>
                <a:ea typeface="Calibri" pitchFamily="34" charset="-122"/>
                <a:cs typeface="Calibri" pitchFamily="34" charset="-120"/>
              </a:rPr>
              <a:t> event through the northern autumn and winter 2026–27, possibly the strongest since 1950.</a:t>
            </a:r>
            <a:endParaRPr lang="en-US" sz="1500" dirty="0"/>
          </a:p>
          <a:p>
            <a:pPr marL="342900" indent="-342900">
              <a:spcAft>
                <a:spcPts val="800"/>
              </a:spcAft>
              <a:buSzPct val="100000"/>
              <a:buChar char="■"/>
            </a:pPr>
            <a:r>
              <a:rPr lang="en-US" sz="1500" dirty="0">
                <a:solidFill>
                  <a:srgbClr val="222B36"/>
                </a:solidFill>
                <a:latin typeface="Calibri" pitchFamily="34" charset="0"/>
                <a:ea typeface="Calibri" pitchFamily="34" charset="-122"/>
                <a:cs typeface="Calibri" pitchFamily="34" charset="-120"/>
              </a:rPr>
              <a:t>It reports </a:t>
            </a:r>
            <a:r>
              <a:rPr lang="en-US" sz="1500" b="1" dirty="0">
                <a:solidFill>
                  <a:srgbClr val="222B36"/>
                </a:solidFill>
                <a:latin typeface="Calibri" pitchFamily="34" charset="0"/>
                <a:ea typeface="Calibri" pitchFamily="34" charset="-122"/>
                <a:cs typeface="Calibri" pitchFamily="34" charset="-120"/>
              </a:rPr>
              <a:t>enhanced convection and rain from the central to the eastern Pacific</a:t>
            </a:r>
            <a:r>
              <a:rPr lang="en-US" sz="1500" dirty="0">
                <a:solidFill>
                  <a:srgbClr val="222B36"/>
                </a:solidFill>
                <a:latin typeface="Calibri" pitchFamily="34" charset="0"/>
                <a:ea typeface="Calibri" pitchFamily="34" charset="-122"/>
                <a:cs typeface="Calibri" pitchFamily="34" charset="-120"/>
              </a:rPr>
              <a:t> and </a:t>
            </a:r>
            <a:r>
              <a:rPr lang="en-US" sz="1500" b="1" dirty="0">
                <a:solidFill>
                  <a:srgbClr val="222B36"/>
                </a:solidFill>
                <a:latin typeface="Calibri" pitchFamily="34" charset="0"/>
                <a:ea typeface="Calibri" pitchFamily="34" charset="-122"/>
                <a:cs typeface="Calibri" pitchFamily="34" charset="-120"/>
              </a:rPr>
              <a:t>suppressed convection over Indonesia</a:t>
            </a:r>
            <a:r>
              <a:rPr lang="en-US" sz="1500" dirty="0">
                <a:solidFill>
                  <a:srgbClr val="222B36"/>
                </a:solidFill>
                <a:latin typeface="Calibri" pitchFamily="34" charset="0"/>
                <a:ea typeface="Calibri" pitchFamily="34" charset="-122"/>
                <a:cs typeface="Calibri" pitchFamily="34" charset="-120"/>
              </a:rPr>
              <a:t>: the same pattern our cloud maps show for past El Niños.</a:t>
            </a:r>
            <a:endParaRPr lang="en-US" sz="1500" dirty="0"/>
          </a:p>
          <a:p>
            <a:pPr marL="342900" indent="-342900">
              <a:spcAft>
                <a:spcPts val="800"/>
              </a:spcAft>
              <a:buSzPct val="100000"/>
              <a:buChar char="■"/>
            </a:pPr>
            <a:r>
              <a:rPr lang="en-US" sz="1500" dirty="0">
                <a:solidFill>
                  <a:srgbClr val="222B36"/>
                </a:solidFill>
                <a:latin typeface="Calibri" pitchFamily="34" charset="0"/>
                <a:ea typeface="Calibri" pitchFamily="34" charset="-122"/>
                <a:cs typeface="Calibri" pitchFamily="34" charset="-120"/>
              </a:rPr>
              <a:t>Forecasters at IRI (Columbia) report that all 22 forecast models expect it to strengthen further through the winter.</a:t>
            </a:r>
            <a:endParaRPr lang="en-US" sz="1500" dirty="0"/>
          </a:p>
        </p:txBody>
      </p:sp>
      <p:sp>
        <p:nvSpPr>
          <p:cNvPr id="9" name="card_86"/>
          <p:cNvSpPr/>
          <p:nvPr/>
        </p:nvSpPr>
        <p:spPr>
          <a:xfrm>
            <a:off x="548640" y="5029200"/>
            <a:ext cx="5852160" cy="1280160"/>
          </a:xfrm>
          <a:prstGeom prst="roundRect">
            <a:avLst>
              <a:gd name="adj" fmla="val 5714"/>
            </a:avLst>
          </a:prstGeom>
          <a:solidFill>
            <a:srgbClr val="FBEBD0"/>
          </a:solidFill>
          <a:ln w="9525">
            <a:solidFill>
              <a:srgbClr val="FBEBD0"/>
            </a:solidFill>
            <a:prstDash val="solid"/>
          </a:ln>
        </p:spPr>
      </p:sp>
      <p:sp>
        <p:nvSpPr>
          <p:cNvPr id="10" name="tag_87"/>
          <p:cNvSpPr/>
          <p:nvPr/>
        </p:nvSpPr>
        <p:spPr>
          <a:xfrm>
            <a:off x="713232" y="5157216"/>
            <a:ext cx="1001268" cy="256032"/>
          </a:xfrm>
          <a:prstGeom prst="roundRect">
            <a:avLst>
              <a:gd name="adj" fmla="val 21429"/>
            </a:avLst>
          </a:prstGeom>
          <a:solidFill>
            <a:srgbClr val="D98E1F"/>
          </a:solidFill>
          <a:ln w="12700">
            <a:solidFill>
              <a:srgbClr val="D98E1F"/>
            </a:solidFill>
            <a:prstDash val="solid"/>
          </a:ln>
        </p:spPr>
      </p:sp>
      <p:sp>
        <p:nvSpPr>
          <p:cNvPr id="11" name="text_88"/>
          <p:cNvSpPr txBox="1"/>
          <p:nvPr/>
        </p:nvSpPr>
        <p:spPr>
          <a:xfrm>
            <a:off x="713232" y="5157216"/>
            <a:ext cx="1001268"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TWO CAVEATS</a:t>
            </a:r>
            <a:endParaRPr lang="en-US" sz="1050" dirty="0"/>
          </a:p>
        </p:txBody>
      </p:sp>
      <p:sp>
        <p:nvSpPr>
          <p:cNvPr id="12" name="cardbody_89"/>
          <p:cNvSpPr txBox="1"/>
          <p:nvPr/>
        </p:nvSpPr>
        <p:spPr>
          <a:xfrm>
            <a:off x="713232" y="5504688"/>
            <a:ext cx="5522976" cy="713232"/>
          </a:xfrm>
          <a:prstGeom prst="rect">
            <a:avLst/>
          </a:prstGeom>
          <a:noFill/>
          <a:ln/>
        </p:spPr>
        <p:txBody>
          <a:bodyPr wrap="square" lIns="381" tIns="381" rIns="381" bIns="381" rtlCol="0" anchor="t"/>
          <a:lstStyle/>
          <a:p>
            <a:pPr marL="342900" indent="-342900">
              <a:spcAft>
                <a:spcPts val="300"/>
              </a:spcAft>
              <a:buSzPct val="100000"/>
              <a:buChar char="■"/>
            </a:pPr>
            <a:r>
              <a:rPr lang="en-US" sz="1400" dirty="0">
                <a:solidFill>
                  <a:srgbClr val="222B36"/>
                </a:solidFill>
                <a:latin typeface="Calibri" pitchFamily="34" charset="0"/>
                <a:ea typeface="Calibri" pitchFamily="34" charset="-122"/>
                <a:cs typeface="Calibri" pitchFamily="34" charset="-120"/>
              </a:rPr>
              <a:t>Our dataset ends in </a:t>
            </a:r>
            <a:r>
              <a:rPr lang="en-US" sz="1400" b="1" dirty="0">
                <a:solidFill>
                  <a:srgbClr val="222B36"/>
                </a:solidFill>
                <a:latin typeface="Calibri" pitchFamily="34" charset="0"/>
                <a:ea typeface="Calibri" pitchFamily="34" charset="-122"/>
                <a:cs typeface="Calibri" pitchFamily="34" charset="-120"/>
              </a:rPr>
              <a:t>2025</a:t>
            </a:r>
            <a:r>
              <a:rPr lang="en-US" sz="1400" dirty="0">
                <a:solidFill>
                  <a:srgbClr val="222B36"/>
                </a:solidFill>
                <a:latin typeface="Calibri" pitchFamily="34" charset="0"/>
                <a:ea typeface="Calibri" pitchFamily="34" charset="-122"/>
                <a:cs typeface="Calibri" pitchFamily="34" charset="-120"/>
              </a:rPr>
              <a:t>: none of this event is in your analysis.</a:t>
            </a:r>
            <a:endParaRPr lang="en-US" sz="1400" dirty="0"/>
          </a:p>
          <a:p>
            <a:pPr marL="342900" indent="-342900">
              <a:spcAft>
                <a:spcPts val="300"/>
              </a:spcAft>
              <a:buSzPct val="100000"/>
              <a:buChar char="■"/>
            </a:pPr>
            <a:r>
              <a:rPr lang="en-US" sz="1400" dirty="0">
                <a:solidFill>
                  <a:srgbClr val="222B36"/>
                </a:solidFill>
                <a:latin typeface="Calibri" pitchFamily="34" charset="0"/>
                <a:ea typeface="Calibri" pitchFamily="34" charset="-122"/>
                <a:cs typeface="Calibri" pitchFamily="34" charset="-120"/>
              </a:rPr>
              <a:t>Forecasts change: treat this as context, not data.</a:t>
            </a:r>
            <a:endParaRPr lang="en-US" sz="1400" dirty="0"/>
          </a:p>
        </p:txBody>
      </p:sp>
      <p:pic>
        <p:nvPicPr>
          <p:cNvPr id="13" name="img_90" descr="/home/claude/work/build/figs/real_composite_map.png">    </p:cNvPr>
          <p:cNvPicPr>
            <a:picLocks noChangeAspect="1"/>
          </p:cNvPicPr>
          <p:nvPr/>
        </p:nvPicPr>
        <p:blipFill>
          <a:blip r:embed="rId1"/>
          <a:stretch>
            <a:fillRect/>
          </a:stretch>
        </p:blipFill>
        <p:spPr>
          <a:xfrm>
            <a:off x="6675120" y="1280160"/>
            <a:ext cx="4965192" cy="1850324"/>
          </a:xfrm>
          <a:prstGeom prst="rect">
            <a:avLst/>
          </a:prstGeom>
        </p:spPr>
      </p:pic>
      <p:sp>
        <p:nvSpPr>
          <p:cNvPr id="14" name="text_91"/>
          <p:cNvSpPr txBox="1"/>
          <p:nvPr/>
        </p:nvSpPr>
        <p:spPr>
          <a:xfrm>
            <a:off x="6675120" y="3703320"/>
            <a:ext cx="4965192" cy="457200"/>
          </a:xfrm>
          <a:prstGeom prst="rect">
            <a:avLst/>
          </a:prstGeom>
          <a:noFill/>
          <a:ln/>
        </p:spPr>
        <p:txBody>
          <a:bodyPr wrap="square" lIns="635" tIns="635" rIns="635" bIns="635" rtlCol="0" anchor="t"/>
          <a:lstStyle/>
          <a:p>
            <a:pPr algn="ctr" indent="0" marL="0">
              <a:lnSpc>
                <a:spcPct val="100000"/>
              </a:lnSpc>
              <a:buNone/>
            </a:pPr>
            <a:r>
              <a:rPr lang="en-US" sz="1200" i="1" dirty="0">
                <a:solidFill>
                  <a:srgbClr val="5B6573"/>
                </a:solidFill>
                <a:latin typeface="Calibri" pitchFamily="34" charset="0"/>
                <a:ea typeface="Calibri" pitchFamily="34" charset="-122"/>
                <a:cs typeface="Calibri" pitchFamily="34" charset="-120"/>
              </a:rPr>
              <a:t>What past El Niños did to cloud (ERA5, 2005–2025): the shape to watch for this winter.</a:t>
            </a:r>
            <a:endParaRPr lang="en-US" sz="1200" dirty="0"/>
          </a:p>
        </p:txBody>
      </p:sp>
      <p:sp>
        <p:nvSpPr>
          <p:cNvPr id="15" name="card_92"/>
          <p:cNvSpPr/>
          <p:nvPr/>
        </p:nvSpPr>
        <p:spPr>
          <a:xfrm>
            <a:off x="6675120" y="4297680"/>
            <a:ext cx="4965192" cy="2011680"/>
          </a:xfrm>
          <a:prstGeom prst="roundRect">
            <a:avLst>
              <a:gd name="adj" fmla="val 3636"/>
            </a:avLst>
          </a:prstGeom>
          <a:solidFill>
            <a:srgbClr val="DCE7F2"/>
          </a:solidFill>
          <a:ln w="9525">
            <a:solidFill>
              <a:srgbClr val="DCE7F2"/>
            </a:solidFill>
            <a:prstDash val="solid"/>
          </a:ln>
        </p:spPr>
      </p:sp>
      <p:sp>
        <p:nvSpPr>
          <p:cNvPr id="16" name="tag_93"/>
          <p:cNvSpPr/>
          <p:nvPr/>
        </p:nvSpPr>
        <p:spPr>
          <a:xfrm>
            <a:off x="6839712" y="4425696"/>
            <a:ext cx="2011680" cy="256032"/>
          </a:xfrm>
          <a:prstGeom prst="roundRect">
            <a:avLst>
              <a:gd name="adj" fmla="val 21429"/>
            </a:avLst>
          </a:prstGeom>
          <a:solidFill>
            <a:srgbClr val="2E4A6B"/>
          </a:solidFill>
          <a:ln w="12700">
            <a:solidFill>
              <a:srgbClr val="2E4A6B"/>
            </a:solidFill>
            <a:prstDash val="solid"/>
          </a:ln>
        </p:spPr>
      </p:sp>
      <p:sp>
        <p:nvSpPr>
          <p:cNvPr id="17" name="text_94"/>
          <p:cNvSpPr txBox="1"/>
          <p:nvPr/>
        </p:nvSpPr>
        <p:spPr>
          <a:xfrm>
            <a:off x="6839712" y="4425696"/>
            <a:ext cx="201168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OPTIONAL: FOLLOW IT LIVE</a:t>
            </a:r>
            <a:endParaRPr lang="en-US" sz="1050" dirty="0"/>
          </a:p>
        </p:txBody>
      </p:sp>
      <p:sp>
        <p:nvSpPr>
          <p:cNvPr id="18" name="cardbody_95"/>
          <p:cNvSpPr txBox="1"/>
          <p:nvPr/>
        </p:nvSpPr>
        <p:spPr>
          <a:xfrm>
            <a:off x="6839712" y="4773168"/>
            <a:ext cx="4636008" cy="1444752"/>
          </a:xfrm>
          <a:prstGeom prst="rect">
            <a:avLst/>
          </a:prstGeom>
          <a:noFill/>
          <a:ln/>
        </p:spPr>
        <p:txBody>
          <a:bodyPr wrap="square" lIns="381" tIns="381" rIns="381" bIns="381" rtlCol="0" anchor="t"/>
          <a:lstStyle/>
          <a:p>
            <a:pPr marL="342900" indent="-342900">
              <a:spcAft>
                <a:spcPts val="400"/>
              </a:spcAft>
              <a:buSzPct val="100000"/>
              <a:buChar char="■"/>
            </a:pPr>
            <a:r>
              <a:rPr lang="en-US" sz="1350" dirty="0">
                <a:solidFill>
                  <a:srgbClr val="222B36"/>
                </a:solidFill>
                <a:latin typeface="Calibri" pitchFamily="34" charset="0"/>
                <a:ea typeface="Calibri" pitchFamily="34" charset="-122"/>
                <a:cs typeface="Calibri" pitchFamily="34" charset="-120"/>
              </a:rPr>
              <a:t>Look up this week's </a:t>
            </a:r>
            <a:r>
              <a:rPr lang="en-US" sz="1350" b="1" dirty="0">
                <a:solidFill>
                  <a:srgbClr val="222B36"/>
                </a:solidFill>
                <a:latin typeface="Calibri" pitchFamily="34" charset="0"/>
                <a:ea typeface="Calibri" pitchFamily="34" charset="-122"/>
                <a:cs typeface="Calibri" pitchFamily="34" charset="-120"/>
              </a:rPr>
              <a:t>Niño 3.4</a:t>
            </a:r>
            <a:r>
              <a:rPr lang="en-US" sz="1350" dirty="0">
                <a:solidFill>
                  <a:srgbClr val="222B36"/>
                </a:solidFill>
                <a:latin typeface="Calibri" pitchFamily="34" charset="0"/>
                <a:ea typeface="Calibri" pitchFamily="34" charset="-122"/>
                <a:cs typeface="Calibri" pitchFamily="34" charset="-120"/>
              </a:rPr>
              <a:t> value on NOAA CPC's ENSO page.</a:t>
            </a:r>
            <a:endParaRPr lang="en-US" sz="1350" dirty="0"/>
          </a:p>
          <a:p>
            <a:pPr marL="342900" indent="-342900">
              <a:spcAft>
                <a:spcPts val="400"/>
              </a:spcAft>
              <a:buSzPct val="100000"/>
              <a:buChar char="■"/>
            </a:pPr>
            <a:r>
              <a:rPr lang="en-US" sz="1350" dirty="0">
                <a:solidFill>
                  <a:srgbClr val="222B36"/>
                </a:solidFill>
                <a:latin typeface="Calibri" pitchFamily="34" charset="0"/>
                <a:ea typeface="Calibri" pitchFamily="34" charset="-122"/>
                <a:cs typeface="Calibri" pitchFamily="34" charset="-120"/>
              </a:rPr>
              <a:t>Write one sentence: what does it mean for cloud over the central Pacific and the Maritime Continent?</a:t>
            </a:r>
            <a:endParaRPr lang="en-US" sz="1350" dirty="0"/>
          </a:p>
        </p:txBody>
      </p:sp>
      <p:sp>
        <p:nvSpPr>
          <p:cNvPr id="19" name="text_96"/>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Sources: NOAA CPC ENSO Diagnostic Discussion (10 Sep 2026); IRI ENSO Forecast (21 Sep 2026). Information as of late September 2026; forecasts are updated monthly.</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agl_97"/>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98"/>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99"/>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What is ERA5 ‘cloud cover’?</a:t>
            </a:r>
            <a:endParaRPr lang="en-US" sz="2800" dirty="0"/>
          </a:p>
        </p:txBody>
      </p:sp>
      <p:sp>
        <p:nvSpPr>
          <p:cNvPr id="5" name="mbul_100"/>
          <p:cNvSpPr txBox="1"/>
          <p:nvPr/>
        </p:nvSpPr>
        <p:spPr>
          <a:xfrm>
            <a:off x="548640" y="1280160"/>
            <a:ext cx="6035040" cy="3840480"/>
          </a:xfrm>
          <a:prstGeom prst="rect">
            <a:avLst/>
          </a:prstGeom>
          <a:noFill/>
          <a:ln/>
        </p:spPr>
        <p:txBody>
          <a:bodyPr wrap="square" lIns="635" tIns="635" rIns="635" bIns="635" rtlCol="0" anchor="t"/>
          <a:lstStyle/>
          <a:p>
            <a:pPr marL="342900" indent="-342900">
              <a:spcAft>
                <a:spcPts val="700"/>
              </a:spcAft>
              <a:buSzPct val="100000"/>
              <a:buChar char="■"/>
            </a:pPr>
            <a:r>
              <a:rPr lang="en-US" sz="1550" b="1" dirty="0">
                <a:solidFill>
                  <a:srgbClr val="1B2A41"/>
                </a:solidFill>
                <a:latin typeface="Calibri" pitchFamily="34" charset="0"/>
                <a:ea typeface="Calibri" pitchFamily="34" charset="-122"/>
                <a:cs typeface="Calibri" pitchFamily="34" charset="-120"/>
              </a:rPr>
              <a:t>Reanalysis: </a:t>
            </a:r>
            <a:r>
              <a:rPr lang="en-US" sz="1550" dirty="0">
                <a:solidFill>
                  <a:srgbClr val="222B36"/>
                </a:solidFill>
                <a:latin typeface="Calibri" pitchFamily="34" charset="0"/>
                <a:ea typeface="Calibri" pitchFamily="34" charset="-122"/>
                <a:cs typeface="Calibri" pitchFamily="34" charset="-120"/>
              </a:rPr>
              <a:t>a weather model continually corrected by observations, giving a complete gridded record. Ours: monthly means, January 2005 – August 2025.</a:t>
            </a:r>
            <a:endParaRPr lang="en-US" sz="1550" dirty="0"/>
          </a:p>
          <a:p>
            <a:pPr marL="342900" indent="-342900">
              <a:spcAft>
                <a:spcPts val="700"/>
              </a:spcAft>
              <a:buSzPct val="100000"/>
              <a:buChar char="■"/>
            </a:pPr>
            <a:r>
              <a:rPr lang="en-US" sz="1550" b="1" dirty="0">
                <a:solidFill>
                  <a:srgbClr val="1B2A41"/>
                </a:solidFill>
                <a:latin typeface="Calibri" pitchFamily="34" charset="0"/>
                <a:ea typeface="Calibri" pitchFamily="34" charset="-122"/>
                <a:cs typeface="Calibri" pitchFamily="34" charset="-120"/>
              </a:rPr>
              <a:t>Cloud is a model product. </a:t>
            </a:r>
            <a:r>
              <a:rPr lang="en-US" sz="1550" dirty="0">
                <a:solidFill>
                  <a:srgbClr val="222B36"/>
                </a:solidFill>
                <a:latin typeface="Calibri" pitchFamily="34" charset="0"/>
                <a:ea typeface="Calibri" pitchFamily="34" charset="-122"/>
                <a:cs typeface="Calibri" pitchFamily="34" charset="-120"/>
              </a:rPr>
              <a:t>ERA5 cloud comes from the model's cloud scheme; observations constrain it only indirectly. Trust the </a:t>
            </a:r>
            <a:r>
              <a:rPr lang="en-US" sz="1550" b="1" dirty="0">
                <a:solidFill>
                  <a:srgbClr val="222B36"/>
                </a:solidFill>
                <a:latin typeface="Calibri" pitchFamily="34" charset="0"/>
                <a:ea typeface="Calibri" pitchFamily="34" charset="-122"/>
                <a:cs typeface="Calibri" pitchFamily="34" charset="-120"/>
              </a:rPr>
              <a:t>sign</a:t>
            </a:r>
            <a:r>
              <a:rPr lang="en-US" sz="1550" dirty="0">
                <a:solidFill>
                  <a:srgbClr val="222B36"/>
                </a:solidFill>
                <a:latin typeface="Calibri" pitchFamily="34" charset="0"/>
                <a:ea typeface="Calibri" pitchFamily="34" charset="-122"/>
                <a:cs typeface="Calibri" pitchFamily="34" charset="-120"/>
              </a:rPr>
              <a:t> of a change more than its exact size.</a:t>
            </a:r>
            <a:endParaRPr lang="en-US" sz="1550" dirty="0"/>
          </a:p>
          <a:p>
            <a:pPr marL="342900" indent="-342900">
              <a:spcAft>
                <a:spcPts val="700"/>
              </a:spcAft>
              <a:buSzPct val="100000"/>
              <a:buChar char="■"/>
            </a:pPr>
            <a:r>
              <a:rPr lang="en-US" sz="1550" b="1" dirty="0">
                <a:solidFill>
                  <a:srgbClr val="1B2A41"/>
                </a:solidFill>
                <a:latin typeface="Calibri" pitchFamily="34" charset="0"/>
                <a:ea typeface="Calibri" pitchFamily="34" charset="-122"/>
                <a:cs typeface="Calibri" pitchFamily="34" charset="-120"/>
              </a:rPr>
              <a:t>Four variables: </a:t>
            </a:r>
            <a:r>
              <a:rPr lang="en-US" sz="1550" dirty="0">
                <a:solidFill>
                  <a:srgbClr val="222B36"/>
                </a:solidFill>
                <a:latin typeface="Calibri" pitchFamily="34" charset="0"/>
                <a:ea typeface="Calibri" pitchFamily="34" charset="-122"/>
                <a:cs typeface="Calibri" pitchFamily="34" charset="-120"/>
              </a:rPr>
              <a:t>total (TCC), low (LCC), medium (MCC) and high (HCC) cloud cover: the </a:t>
            </a:r>
            <a:r>
              <a:rPr lang="en-US" sz="1550" b="1" dirty="0">
                <a:solidFill>
                  <a:srgbClr val="222B36"/>
                </a:solidFill>
                <a:latin typeface="Calibri" pitchFamily="34" charset="0"/>
                <a:ea typeface="Calibri" pitchFamily="34" charset="-122"/>
                <a:cs typeface="Calibri" pitchFamily="34" charset="-120"/>
              </a:rPr>
              <a:t>fraction</a:t>
            </a:r>
            <a:r>
              <a:rPr lang="en-US" sz="1550" dirty="0">
                <a:solidFill>
                  <a:srgbClr val="222B36"/>
                </a:solidFill>
                <a:latin typeface="Calibri" pitchFamily="34" charset="0"/>
                <a:ea typeface="Calibri" pitchFamily="34" charset="-122"/>
                <a:cs typeface="Calibri" pitchFamily="34" charset="-120"/>
              </a:rPr>
              <a:t> of each grid box covered (0–1, plotted as %).</a:t>
            </a:r>
            <a:endParaRPr lang="en-US" sz="1550" dirty="0"/>
          </a:p>
          <a:p>
            <a:pPr marL="342900" indent="-342900">
              <a:spcAft>
                <a:spcPts val="700"/>
              </a:spcAft>
              <a:buSzPct val="100000"/>
              <a:buChar char="■"/>
            </a:pPr>
            <a:r>
              <a:rPr lang="en-US" sz="1550" b="1" dirty="0">
                <a:solidFill>
                  <a:srgbClr val="1B2A41"/>
                </a:solidFill>
                <a:latin typeface="Calibri" pitchFamily="34" charset="0"/>
                <a:ea typeface="Calibri" pitchFamily="34" charset="-122"/>
                <a:cs typeface="Calibri" pitchFamily="34" charset="-120"/>
              </a:rPr>
              <a:t>TCC ≠ LCC + MCC + HCC. </a:t>
            </a:r>
            <a:r>
              <a:rPr lang="en-US" sz="1550" dirty="0">
                <a:solidFill>
                  <a:srgbClr val="222B36"/>
                </a:solidFill>
                <a:latin typeface="Calibri" pitchFamily="34" charset="0"/>
                <a:ea typeface="Calibri" pitchFamily="34" charset="-122"/>
                <a:cs typeface="Calibri" pitchFamily="34" charset="-120"/>
              </a:rPr>
              <a:t>Layers overlap, so seen from above the total is less than the sum.</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Changes are in </a:t>
            </a:r>
            <a:r>
              <a:rPr lang="en-US" sz="1550" b="1" dirty="0">
                <a:solidFill>
                  <a:srgbClr val="222B36"/>
                </a:solidFill>
                <a:latin typeface="Calibri" pitchFamily="34" charset="0"/>
                <a:ea typeface="Calibri" pitchFamily="34" charset="-122"/>
                <a:cs typeface="Calibri" pitchFamily="34" charset="-120"/>
              </a:rPr>
              <a:t>percentage points (pp)</a:t>
            </a:r>
            <a:r>
              <a:rPr lang="en-US" sz="1550" dirty="0">
                <a:solidFill>
                  <a:srgbClr val="222B36"/>
                </a:solidFill>
                <a:latin typeface="Calibri" pitchFamily="34" charset="0"/>
                <a:ea typeface="Calibri" pitchFamily="34" charset="-122"/>
                <a:cs typeface="Calibri" pitchFamily="34" charset="-120"/>
              </a:rPr>
              <a:t>: 40% → 44% is +4 pp (a 10% relative increase).</a:t>
            </a:r>
            <a:endParaRPr lang="en-US" sz="1550" dirty="0"/>
          </a:p>
        </p:txBody>
      </p:sp>
      <p:sp>
        <p:nvSpPr>
          <p:cNvPr id="6" name="sent_101"/>
          <p:cNvSpPr/>
          <p:nvPr/>
        </p:nvSpPr>
        <p:spPr>
          <a:xfrm>
            <a:off x="548640" y="5257800"/>
            <a:ext cx="6035040" cy="1051560"/>
          </a:xfrm>
          <a:prstGeom prst="roundRect">
            <a:avLst>
              <a:gd name="adj" fmla="val 5217"/>
            </a:avLst>
          </a:prstGeom>
          <a:solidFill>
            <a:srgbClr val="DCEFEA"/>
          </a:solidFill>
          <a:ln w="12700">
            <a:solidFill>
              <a:srgbClr val="1F7A6E"/>
            </a:solidFill>
            <a:prstDash val="solid"/>
          </a:ln>
        </p:spPr>
      </p:sp>
      <p:sp>
        <p:nvSpPr>
          <p:cNvPr id="7" name="text_102"/>
          <p:cNvSpPr txBox="1"/>
          <p:nvPr/>
        </p:nvSpPr>
        <p:spPr>
          <a:xfrm>
            <a:off x="685800" y="5330952"/>
            <a:ext cx="5760720" cy="237744"/>
          </a:xfrm>
          <a:prstGeom prst="rect">
            <a:avLst/>
          </a:prstGeom>
          <a:noFill/>
          <a:ln/>
        </p:spPr>
        <p:txBody>
          <a:bodyPr wrap="square" lIns="635" tIns="635" rIns="635" bIns="635" rtlCol="0" anchor="t"/>
          <a:lstStyle/>
          <a:p>
            <a:pPr algn="l" indent="0" marL="0">
              <a:lnSpc>
                <a:spcPct val="100000"/>
              </a:lnSpc>
              <a:buNone/>
            </a:pPr>
            <a:r>
              <a:rPr lang="en-US" sz="1000" b="1" dirty="0">
                <a:solidFill>
                  <a:srgbClr val="1F7A6E"/>
                </a:solidFill>
                <a:latin typeface="Calibri" pitchFamily="34" charset="0"/>
                <a:ea typeface="Calibri" pitchFamily="34" charset="-122"/>
                <a:cs typeface="Calibri" pitchFamily="34" charset="-120"/>
              </a:rPr>
              <a:t>IN YOUR METHODS, THIS BECOMES</a:t>
            </a:r>
            <a:endParaRPr lang="en-US" sz="1000" dirty="0"/>
          </a:p>
        </p:txBody>
      </p:sp>
      <p:sp>
        <p:nvSpPr>
          <p:cNvPr id="8" name="text_103"/>
          <p:cNvSpPr txBox="1"/>
          <p:nvPr/>
        </p:nvSpPr>
        <p:spPr>
          <a:xfrm>
            <a:off x="685800" y="5568696"/>
            <a:ext cx="5760720" cy="685800"/>
          </a:xfrm>
          <a:prstGeom prst="rect">
            <a:avLst/>
          </a:prstGeom>
          <a:noFill/>
          <a:ln/>
        </p:spPr>
        <p:txBody>
          <a:bodyPr wrap="square" lIns="635" tIns="635" rIns="635" bIns="635" rtlCol="0" anchor="t"/>
          <a:lstStyle/>
          <a:p>
            <a:pPr algn="l" indent="0" marL="0">
              <a:lnSpc>
                <a:spcPct val="100000"/>
              </a:lnSpc>
              <a:buNone/>
            </a:pPr>
            <a:r>
              <a:rPr lang="en-US" sz="1350" i="1" dirty="0">
                <a:solidFill>
                  <a:srgbClr val="222B36"/>
                </a:solidFill>
                <a:latin typeface="Georgia" pitchFamily="34" charset="0"/>
                <a:ea typeface="Georgia" pitchFamily="34" charset="-122"/>
                <a:cs typeface="Georgia" pitchFamily="34" charset="-120"/>
              </a:rPr>
              <a:t>“Monthly mean high-cloud cover (HCC) from the ERA5 reanalysis (Hersbach et al. 2020) was analysed for January 2005 – July 2025.”</a:t>
            </a:r>
            <a:endParaRPr lang="en-US" sz="1350" dirty="0"/>
          </a:p>
        </p:txBody>
      </p:sp>
      <p:sp>
        <p:nvSpPr>
          <p:cNvPr id="9" name="text_104"/>
          <p:cNvSpPr txBox="1"/>
          <p:nvPr/>
        </p:nvSpPr>
        <p:spPr>
          <a:xfrm>
            <a:off x="6858000" y="1280160"/>
            <a:ext cx="4785055" cy="274320"/>
          </a:xfrm>
          <a:prstGeom prst="rect">
            <a:avLst/>
          </a:prstGeom>
          <a:noFill/>
          <a:ln/>
        </p:spPr>
        <p:txBody>
          <a:bodyPr wrap="square" lIns="635" tIns="635" rIns="635" bIns="635" rtlCol="0" anchor="t"/>
          <a:lstStyle/>
          <a:p>
            <a:pPr algn="l" indent="0" marL="0">
              <a:lnSpc>
                <a:spcPct val="100000"/>
              </a:lnSpc>
              <a:buNone/>
            </a:pPr>
            <a:r>
              <a:rPr lang="en-US" sz="1050" b="1" dirty="0">
                <a:solidFill>
                  <a:srgbClr val="D98E1F"/>
                </a:solidFill>
                <a:latin typeface="Calibri" pitchFamily="34" charset="0"/>
                <a:ea typeface="Calibri" pitchFamily="34" charset="-122"/>
                <a:cs typeface="Calibri" pitchFamily="34" charset="-120"/>
              </a:rPr>
              <a:t>ONE GRID BOX, SIDE VIEW</a:t>
            </a:r>
            <a:endParaRPr lang="en-US" sz="1050" dirty="0"/>
          </a:p>
        </p:txBody>
      </p:sp>
      <p:sp>
        <p:nvSpPr>
          <p:cNvPr id="10" name="gb_105"/>
          <p:cNvSpPr/>
          <p:nvPr/>
        </p:nvSpPr>
        <p:spPr>
          <a:xfrm>
            <a:off x="7040880" y="1783080"/>
            <a:ext cx="4419295" cy="2743200"/>
          </a:xfrm>
          <a:prstGeom prst="rect">
            <a:avLst/>
          </a:prstGeom>
          <a:solidFill>
            <a:srgbClr val="F4F7FB"/>
          </a:solidFill>
          <a:ln w="12700">
            <a:solidFill>
              <a:srgbClr val="D5DAE1"/>
            </a:solidFill>
            <a:prstDash val="solid"/>
          </a:ln>
        </p:spPr>
      </p:sp>
      <p:sp>
        <p:nvSpPr>
          <p:cNvPr id="11" name="cl_106"/>
          <p:cNvSpPr/>
          <p:nvPr/>
        </p:nvSpPr>
        <p:spPr>
          <a:xfrm>
            <a:off x="7040880" y="2103120"/>
            <a:ext cx="1767718" cy="457200"/>
          </a:xfrm>
          <a:prstGeom prst="roundRect">
            <a:avLst>
              <a:gd name="adj" fmla="val 40000"/>
            </a:avLst>
          </a:prstGeom>
          <a:solidFill>
            <a:srgbClr val="9DB7D3"/>
          </a:solidFill>
          <a:ln w="12700">
            <a:solidFill>
              <a:srgbClr val="9DB7D3"/>
            </a:solidFill>
            <a:prstDash val="solid"/>
          </a:ln>
        </p:spPr>
      </p:sp>
      <p:sp>
        <p:nvSpPr>
          <p:cNvPr id="12" name="text_107"/>
          <p:cNvSpPr txBox="1"/>
          <p:nvPr/>
        </p:nvSpPr>
        <p:spPr>
          <a:xfrm>
            <a:off x="7040880" y="2103120"/>
            <a:ext cx="1767718" cy="457200"/>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HIGH  40%</a:t>
            </a:r>
            <a:endParaRPr lang="en-US" sz="1150" dirty="0"/>
          </a:p>
        </p:txBody>
      </p:sp>
      <p:sp>
        <p:nvSpPr>
          <p:cNvPr id="13" name="cl_108"/>
          <p:cNvSpPr/>
          <p:nvPr/>
        </p:nvSpPr>
        <p:spPr>
          <a:xfrm>
            <a:off x="8145704" y="2926080"/>
            <a:ext cx="883859" cy="457200"/>
          </a:xfrm>
          <a:prstGeom prst="roundRect">
            <a:avLst>
              <a:gd name="adj" fmla="val 40000"/>
            </a:avLst>
          </a:prstGeom>
          <a:solidFill>
            <a:srgbClr val="6C8EAD"/>
          </a:solidFill>
          <a:ln w="12700">
            <a:solidFill>
              <a:srgbClr val="6C8EAD"/>
            </a:solidFill>
            <a:prstDash val="solid"/>
          </a:ln>
        </p:spPr>
      </p:sp>
      <p:sp>
        <p:nvSpPr>
          <p:cNvPr id="14" name="text_109"/>
          <p:cNvSpPr txBox="1"/>
          <p:nvPr/>
        </p:nvSpPr>
        <p:spPr>
          <a:xfrm>
            <a:off x="8145704" y="2926080"/>
            <a:ext cx="883859" cy="457200"/>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MEDIUM  20%</a:t>
            </a:r>
            <a:endParaRPr lang="en-US" sz="1150" dirty="0"/>
          </a:p>
        </p:txBody>
      </p:sp>
      <p:sp>
        <p:nvSpPr>
          <p:cNvPr id="15" name="cl_110"/>
          <p:cNvSpPr/>
          <p:nvPr/>
        </p:nvSpPr>
        <p:spPr>
          <a:xfrm>
            <a:off x="8366669" y="3749040"/>
            <a:ext cx="1325789" cy="457200"/>
          </a:xfrm>
          <a:prstGeom prst="roundRect">
            <a:avLst>
              <a:gd name="adj" fmla="val 40000"/>
            </a:avLst>
          </a:prstGeom>
          <a:solidFill>
            <a:srgbClr val="4F6F92"/>
          </a:solidFill>
          <a:ln w="12700">
            <a:solidFill>
              <a:srgbClr val="4F6F92"/>
            </a:solidFill>
            <a:prstDash val="solid"/>
          </a:ln>
        </p:spPr>
      </p:sp>
      <p:sp>
        <p:nvSpPr>
          <p:cNvPr id="16" name="text_111"/>
          <p:cNvSpPr txBox="1"/>
          <p:nvPr/>
        </p:nvSpPr>
        <p:spPr>
          <a:xfrm>
            <a:off x="8366669" y="3749040"/>
            <a:ext cx="1325789" cy="457200"/>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LOW  30%</a:t>
            </a:r>
            <a:endParaRPr lang="en-US" sz="1150" dirty="0"/>
          </a:p>
        </p:txBody>
      </p:sp>
      <p:sp>
        <p:nvSpPr>
          <p:cNvPr id="17" name="tcc_112"/>
          <p:cNvSpPr/>
          <p:nvPr/>
        </p:nvSpPr>
        <p:spPr>
          <a:xfrm>
            <a:off x="7040880" y="4663440"/>
            <a:ext cx="2651577" cy="109728"/>
          </a:xfrm>
          <a:prstGeom prst="rect">
            <a:avLst/>
          </a:prstGeom>
          <a:solidFill>
            <a:srgbClr val="D98E1F"/>
          </a:solidFill>
          <a:ln w="12700">
            <a:solidFill>
              <a:srgbClr val="D98E1F"/>
            </a:solidFill>
            <a:prstDash val="solid"/>
          </a:ln>
        </p:spPr>
      </p:sp>
      <p:sp>
        <p:nvSpPr>
          <p:cNvPr id="18" name="text_113"/>
          <p:cNvSpPr txBox="1"/>
          <p:nvPr/>
        </p:nvSpPr>
        <p:spPr>
          <a:xfrm>
            <a:off x="7040880" y="4818888"/>
            <a:ext cx="4419295" cy="320040"/>
          </a:xfrm>
          <a:prstGeom prst="rect">
            <a:avLst/>
          </a:prstGeom>
          <a:noFill/>
          <a:ln/>
        </p:spPr>
        <p:txBody>
          <a:bodyPr wrap="square" lIns="635" tIns="635" rIns="635" bIns="635" rtlCol="0" anchor="t"/>
          <a:lstStyle/>
          <a:p>
            <a:pPr algn="l" indent="0" marL="0">
              <a:lnSpc>
                <a:spcPct val="100000"/>
              </a:lnSpc>
              <a:buNone/>
            </a:pPr>
            <a:r>
              <a:rPr lang="en-US" sz="1300" b="1" dirty="0">
                <a:solidFill>
                  <a:srgbClr val="1B2A41"/>
                </a:solidFill>
                <a:latin typeface="Calibri" pitchFamily="34" charset="0"/>
                <a:ea typeface="Calibri" pitchFamily="34" charset="-122"/>
                <a:cs typeface="Calibri" pitchFamily="34" charset="-120"/>
              </a:rPr>
              <a:t>Covered when seen from above: TCC = 60%</a:t>
            </a:r>
            <a:endParaRPr lang="en-US" sz="1300" dirty="0"/>
          </a:p>
        </p:txBody>
      </p:sp>
      <p:sp>
        <p:nvSpPr>
          <p:cNvPr id="19" name="text_114"/>
          <p:cNvSpPr txBox="1"/>
          <p:nvPr/>
        </p:nvSpPr>
        <p:spPr>
          <a:xfrm>
            <a:off x="7040880" y="5120640"/>
            <a:ext cx="4419295" cy="320040"/>
          </a:xfrm>
          <a:prstGeom prst="rect">
            <a:avLst/>
          </a:prstGeom>
          <a:noFill/>
          <a:ln/>
        </p:spPr>
        <p:txBody>
          <a:bodyPr wrap="square" lIns="635" tIns="635" rIns="635" bIns="635" rtlCol="0" anchor="t"/>
          <a:lstStyle/>
          <a:p>
            <a:pPr algn="l" indent="0" marL="0">
              <a:lnSpc>
                <a:spcPct val="100000"/>
              </a:lnSpc>
              <a:buNone/>
            </a:pPr>
            <a:r>
              <a:rPr lang="en-US" sz="1300" dirty="0">
                <a:solidFill>
                  <a:srgbClr val="5B6573"/>
                </a:solidFill>
                <a:latin typeface="Calibri" pitchFamily="34" charset="0"/>
                <a:ea typeface="Calibri" pitchFamily="34" charset="-122"/>
                <a:cs typeface="Calibri" pitchFamily="34" charset="-120"/>
              </a:rPr>
              <a:t>Sum of the layers: 40 + 20 + 30 = 90%</a:t>
            </a:r>
            <a:endParaRPr lang="en-US" sz="1300" dirty="0"/>
          </a:p>
        </p:txBody>
      </p:sp>
      <p:sp>
        <p:nvSpPr>
          <p:cNvPr id="20" name="text_115"/>
          <p:cNvSpPr txBox="1"/>
          <p:nvPr/>
        </p:nvSpPr>
        <p:spPr>
          <a:xfrm>
            <a:off x="7040880" y="5486400"/>
            <a:ext cx="4419295" cy="365760"/>
          </a:xfrm>
          <a:prstGeom prst="rect">
            <a:avLst/>
          </a:prstGeom>
          <a:noFill/>
          <a:ln/>
        </p:spPr>
        <p:txBody>
          <a:bodyPr wrap="square" lIns="635" tIns="635" rIns="635" bIns="635" rtlCol="0" anchor="t"/>
          <a:lstStyle/>
          <a:p>
            <a:pPr algn="l" indent="0" marL="0">
              <a:lnSpc>
                <a:spcPct val="100000"/>
              </a:lnSpc>
              <a:buNone/>
            </a:pPr>
            <a:r>
              <a:rPr lang="en-US" sz="1100" i="1" dirty="0">
                <a:solidFill>
                  <a:srgbClr val="8A93A0"/>
                </a:solidFill>
                <a:latin typeface="Calibri" pitchFamily="34" charset="0"/>
                <a:ea typeface="Calibri" pitchFamily="34" charset="-122"/>
                <a:cs typeface="Calibri" pitchFamily="34" charset="-120"/>
              </a:rPr>
              <a:t>Schematic. ERA5 combines layers using an overlap assumption.</a:t>
            </a:r>
            <a:endParaRPr lang="en-US" sz="11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agl_116"/>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117"/>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118"/>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Averaging over an area: cos(latitude) weighting</a:t>
            </a:r>
            <a:endParaRPr lang="en-US" sz="2800" dirty="0"/>
          </a:p>
        </p:txBody>
      </p:sp>
      <p:sp>
        <p:nvSpPr>
          <p:cNvPr id="5" name="mbul_119"/>
          <p:cNvSpPr txBox="1"/>
          <p:nvPr/>
        </p:nvSpPr>
        <p:spPr>
          <a:xfrm>
            <a:off x="548640" y="1280160"/>
            <a:ext cx="5852160" cy="3840480"/>
          </a:xfrm>
          <a:prstGeom prst="rect">
            <a:avLst/>
          </a:prstGeom>
          <a:noFill/>
          <a:ln/>
        </p:spPr>
        <p:txBody>
          <a:bodyPr wrap="square" lIns="635" tIns="635" rIns="635" bIns="635" rtlCol="0" anchor="t"/>
          <a:lstStyle/>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On a latitude–longitude grid every box spans the same </a:t>
            </a:r>
            <a:r>
              <a:rPr lang="en-US" sz="1550" b="1" dirty="0">
                <a:solidFill>
                  <a:srgbClr val="222B36"/>
                </a:solidFill>
                <a:latin typeface="Calibri" pitchFamily="34" charset="0"/>
                <a:ea typeface="Calibri" pitchFamily="34" charset="-122"/>
                <a:cs typeface="Calibri" pitchFamily="34" charset="-120"/>
              </a:rPr>
              <a:t>degrees</a:t>
            </a:r>
            <a:r>
              <a:rPr lang="en-US" sz="1550" dirty="0">
                <a:solidFill>
                  <a:srgbClr val="222B36"/>
                </a:solidFill>
                <a:latin typeface="Calibri" pitchFamily="34" charset="0"/>
                <a:ea typeface="Calibri" pitchFamily="34" charset="-122"/>
                <a:cs typeface="Calibri" pitchFamily="34" charset="-120"/>
              </a:rPr>
              <a:t>, but boxes near the poles cover far less </a:t>
            </a:r>
            <a:r>
              <a:rPr lang="en-US" sz="1550" b="1" dirty="0">
                <a:solidFill>
                  <a:srgbClr val="222B36"/>
                </a:solidFill>
                <a:latin typeface="Calibri" pitchFamily="34" charset="0"/>
                <a:ea typeface="Calibri" pitchFamily="34" charset="-122"/>
                <a:cs typeface="Calibri" pitchFamily="34" charset="-120"/>
              </a:rPr>
              <a:t>area</a:t>
            </a:r>
            <a:r>
              <a:rPr lang="en-US" sz="1550" dirty="0">
                <a:solidFill>
                  <a:srgbClr val="222B36"/>
                </a:solidFill>
                <a:latin typeface="Calibri" pitchFamily="34" charset="0"/>
                <a:ea typeface="Calibri" pitchFamily="34" charset="-122"/>
                <a:cs typeface="Calibri" pitchFamily="34" charset="-120"/>
              </a:rPr>
              <a:t>.</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Area ∝ cos(latitude): a box at 60° is </a:t>
            </a:r>
            <a:r>
              <a:rPr lang="en-US" sz="1550" b="1" dirty="0">
                <a:solidFill>
                  <a:srgbClr val="222B36"/>
                </a:solidFill>
                <a:latin typeface="Calibri" pitchFamily="34" charset="0"/>
                <a:ea typeface="Calibri" pitchFamily="34" charset="-122"/>
                <a:cs typeface="Calibri" pitchFamily="34" charset="-120"/>
              </a:rPr>
              <a:t>half</a:t>
            </a:r>
            <a:r>
              <a:rPr lang="en-US" sz="1550" dirty="0">
                <a:solidFill>
                  <a:srgbClr val="222B36"/>
                </a:solidFill>
                <a:latin typeface="Calibri" pitchFamily="34" charset="0"/>
                <a:ea typeface="Calibri" pitchFamily="34" charset="-122"/>
                <a:cs typeface="Calibri" pitchFamily="34" charset="-120"/>
              </a:rPr>
              <a:t> the size of one at the equator.</a:t>
            </a:r>
            <a:endParaRPr lang="en-US" sz="1550" dirty="0"/>
          </a:p>
          <a:p>
            <a:pPr marL="342900" indent="-342900">
              <a:spcAft>
                <a:spcPts val="700"/>
              </a:spcAft>
              <a:buSzPct val="100000"/>
              <a:buChar char="■"/>
            </a:pPr>
            <a:r>
              <a:rPr lang="en-US" sz="1550" b="1" dirty="0">
                <a:solidFill>
                  <a:srgbClr val="1B2A41"/>
                </a:solidFill>
                <a:latin typeface="Calibri" pitchFamily="34" charset="0"/>
                <a:ea typeface="Calibri" pitchFamily="34" charset="-122"/>
                <a:cs typeface="Calibri" pitchFamily="34" charset="-120"/>
              </a:rPr>
              <a:t>Weighted mean: </a:t>
            </a:r>
            <a:r>
              <a:rPr lang="en-US" sz="1550" dirty="0">
                <a:solidFill>
                  <a:srgbClr val="222B36"/>
                </a:solidFill>
                <a:latin typeface="Calibri" pitchFamily="34" charset="0"/>
                <a:ea typeface="Calibri" pitchFamily="34" charset="-122"/>
                <a:cs typeface="Calibri" pitchFamily="34" charset="-120"/>
              </a:rPr>
              <a:t>X̄ = Σ wᵢXᵢ / Σ wᵢ, with wᵢ = cos φᵢ. An unweighted mean over-counts high latitudes.</a:t>
            </a:r>
            <a:endParaRPr lang="en-US" sz="1550" dirty="0"/>
          </a:p>
          <a:p>
            <a:pPr marL="342900" indent="-342900">
              <a:spcAft>
                <a:spcPts val="700"/>
              </a:spcAft>
              <a:buSzPct val="100000"/>
              <a:buChar char="■"/>
            </a:pPr>
            <a:r>
              <a:rPr lang="en-US" sz="1550" b="1" dirty="0">
                <a:solidFill>
                  <a:srgbClr val="1B2A41"/>
                </a:solidFill>
                <a:latin typeface="Calibri" pitchFamily="34" charset="0"/>
                <a:ea typeface="Calibri" pitchFamily="34" charset="-122"/>
                <a:cs typeface="Calibri" pitchFamily="34" charset="-120"/>
              </a:rPr>
              <a:t>When it matters: </a:t>
            </a:r>
            <a:r>
              <a:rPr lang="en-US" sz="1550" dirty="0">
                <a:solidFill>
                  <a:srgbClr val="222B36"/>
                </a:solidFill>
                <a:latin typeface="Calibri" pitchFamily="34" charset="0"/>
                <a:ea typeface="Calibri" pitchFamily="34" charset="-122"/>
                <a:cs typeface="Calibri" pitchFamily="34" charset="-120"/>
              </a:rPr>
              <a:t>hugely for a global mean (weights run from 1 to 0); little for a tropical box (5°S–5°N: 0.996–1.00). Say you did it anyway.</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The notebook weights both global and regional means (area_weights).</a:t>
            </a:r>
            <a:endParaRPr lang="en-US" sz="1550" dirty="0"/>
          </a:p>
        </p:txBody>
      </p:sp>
      <p:sp>
        <p:nvSpPr>
          <p:cNvPr id="6" name="sent_120"/>
          <p:cNvSpPr/>
          <p:nvPr/>
        </p:nvSpPr>
        <p:spPr>
          <a:xfrm>
            <a:off x="548640" y="5257800"/>
            <a:ext cx="5852160" cy="1051560"/>
          </a:xfrm>
          <a:prstGeom prst="roundRect">
            <a:avLst>
              <a:gd name="adj" fmla="val 5217"/>
            </a:avLst>
          </a:prstGeom>
          <a:solidFill>
            <a:srgbClr val="DCEFEA"/>
          </a:solidFill>
          <a:ln w="12700">
            <a:solidFill>
              <a:srgbClr val="1F7A6E"/>
            </a:solidFill>
            <a:prstDash val="solid"/>
          </a:ln>
        </p:spPr>
      </p:sp>
      <p:sp>
        <p:nvSpPr>
          <p:cNvPr id="7" name="text_121"/>
          <p:cNvSpPr txBox="1"/>
          <p:nvPr/>
        </p:nvSpPr>
        <p:spPr>
          <a:xfrm>
            <a:off x="685800" y="5330952"/>
            <a:ext cx="5577840" cy="237744"/>
          </a:xfrm>
          <a:prstGeom prst="rect">
            <a:avLst/>
          </a:prstGeom>
          <a:noFill/>
          <a:ln/>
        </p:spPr>
        <p:txBody>
          <a:bodyPr wrap="square" lIns="635" tIns="635" rIns="635" bIns="635" rtlCol="0" anchor="t"/>
          <a:lstStyle/>
          <a:p>
            <a:pPr algn="l" indent="0" marL="0">
              <a:lnSpc>
                <a:spcPct val="100000"/>
              </a:lnSpc>
              <a:buNone/>
            </a:pPr>
            <a:r>
              <a:rPr lang="en-US" sz="1000" b="1" dirty="0">
                <a:solidFill>
                  <a:srgbClr val="1F7A6E"/>
                </a:solidFill>
                <a:latin typeface="Calibri" pitchFamily="34" charset="0"/>
                <a:ea typeface="Calibri" pitchFamily="34" charset="-122"/>
                <a:cs typeface="Calibri" pitchFamily="34" charset="-120"/>
              </a:rPr>
              <a:t>IN YOUR METHODS, THIS BECOMES</a:t>
            </a:r>
            <a:endParaRPr lang="en-US" sz="1000" dirty="0"/>
          </a:p>
        </p:txBody>
      </p:sp>
      <p:sp>
        <p:nvSpPr>
          <p:cNvPr id="8" name="text_122"/>
          <p:cNvSpPr txBox="1"/>
          <p:nvPr/>
        </p:nvSpPr>
        <p:spPr>
          <a:xfrm>
            <a:off x="685800" y="5568696"/>
            <a:ext cx="5577840" cy="685800"/>
          </a:xfrm>
          <a:prstGeom prst="rect">
            <a:avLst/>
          </a:prstGeom>
          <a:noFill/>
          <a:ln/>
        </p:spPr>
        <p:txBody>
          <a:bodyPr wrap="square" lIns="635" tIns="635" rIns="635" bIns="635" rtlCol="0" anchor="t"/>
          <a:lstStyle/>
          <a:p>
            <a:pPr algn="l" indent="0" marL="0">
              <a:lnSpc>
                <a:spcPct val="100000"/>
              </a:lnSpc>
              <a:buNone/>
            </a:pPr>
            <a:r>
              <a:rPr lang="en-US" sz="1350" i="1" dirty="0">
                <a:solidFill>
                  <a:srgbClr val="222B36"/>
                </a:solidFill>
                <a:latin typeface="Georgia" pitchFamily="34" charset="0"/>
                <a:ea typeface="Georgia" pitchFamily="34" charset="-122"/>
                <a:cs typeface="Georgia" pitchFamily="34" charset="-120"/>
              </a:rPr>
              <a:t>“Regional and global means were area-weighted by the cosine of latitude.”</a:t>
            </a:r>
            <a:endParaRPr lang="en-US" sz="1350" dirty="0"/>
          </a:p>
        </p:txBody>
      </p:sp>
      <p:pic>
        <p:nvPicPr>
          <p:cNvPr id="9" name="img_123" descr="/home/claude/work/build/figs/area_weighting.png">    </p:cNvPr>
          <p:cNvPicPr>
            <a:picLocks noChangeAspect="1"/>
          </p:cNvPicPr>
          <p:nvPr/>
        </p:nvPicPr>
        <p:blipFill>
          <a:blip r:embed="rId1"/>
          <a:stretch>
            <a:fillRect/>
          </a:stretch>
        </p:blipFill>
        <p:spPr>
          <a:xfrm>
            <a:off x="6675120" y="1280160"/>
            <a:ext cx="4967935" cy="3722890"/>
          </a:xfrm>
          <a:prstGeom prst="rect">
            <a:avLst/>
          </a:prstGeom>
        </p:spPr>
      </p:pic>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agl_124"/>
          <p:cNvSpPr/>
          <p:nvPr/>
        </p:nvSpPr>
        <p:spPr>
          <a:xfrm>
            <a:off x="548640" y="329184"/>
            <a:ext cx="804672" cy="237744"/>
          </a:xfrm>
          <a:prstGeom prst="roundRect">
            <a:avLst>
              <a:gd name="adj" fmla="val 19231"/>
            </a:avLst>
          </a:prstGeom>
          <a:solidFill>
            <a:srgbClr val="1F7A6E"/>
          </a:solidFill>
          <a:ln w="12700">
            <a:solidFill>
              <a:srgbClr val="1F7A6E"/>
            </a:solidFill>
            <a:prstDash val="solid"/>
          </a:ln>
        </p:spPr>
      </p:sp>
      <p:sp>
        <p:nvSpPr>
          <p:cNvPr id="3" name="text_125"/>
          <p:cNvSpPr txBox="1"/>
          <p:nvPr/>
        </p:nvSpPr>
        <p:spPr>
          <a:xfrm>
            <a:off x="548640" y="329184"/>
            <a:ext cx="804672"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METHODS</a:t>
            </a:r>
            <a:endParaRPr lang="en-US" sz="1000" dirty="0"/>
          </a:p>
        </p:txBody>
      </p:sp>
      <p:sp>
        <p:nvSpPr>
          <p:cNvPr id="4" name="text_126"/>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Climatology and anomalies</a:t>
            </a:r>
            <a:endParaRPr lang="en-US" sz="2800" dirty="0"/>
          </a:p>
        </p:txBody>
      </p:sp>
      <p:sp>
        <p:nvSpPr>
          <p:cNvPr id="5" name="mbul_127"/>
          <p:cNvSpPr txBox="1"/>
          <p:nvPr/>
        </p:nvSpPr>
        <p:spPr>
          <a:xfrm>
            <a:off x="548640" y="1280160"/>
            <a:ext cx="5852160" cy="3840480"/>
          </a:xfrm>
          <a:prstGeom prst="rect">
            <a:avLst/>
          </a:prstGeom>
          <a:noFill/>
          <a:ln/>
        </p:spPr>
        <p:txBody>
          <a:bodyPr wrap="square" lIns="635" tIns="635" rIns="635" bIns="635" rtlCol="0" anchor="t"/>
          <a:lstStyle/>
          <a:p>
            <a:pPr marL="342900" indent="-342900">
              <a:spcAft>
                <a:spcPts val="700"/>
              </a:spcAft>
              <a:buSzPct val="100000"/>
              <a:buChar char="■"/>
            </a:pPr>
            <a:r>
              <a:rPr lang="en-US" sz="1550" b="1" dirty="0">
                <a:solidFill>
                  <a:srgbClr val="1B2A41"/>
                </a:solidFill>
                <a:latin typeface="Calibri" pitchFamily="34" charset="0"/>
                <a:ea typeface="Calibri" pitchFamily="34" charset="-122"/>
                <a:cs typeface="Calibri" pitchFamily="34" charset="-120"/>
              </a:rPr>
              <a:t>Climatology: </a:t>
            </a:r>
            <a:r>
              <a:rPr lang="en-US" sz="1550" dirty="0">
                <a:solidFill>
                  <a:srgbClr val="222B36"/>
                </a:solidFill>
                <a:latin typeface="Calibri" pitchFamily="34" charset="0"/>
                <a:ea typeface="Calibri" pitchFamily="34" charset="-122"/>
                <a:cs typeface="Calibri" pitchFamily="34" charset="-120"/>
              </a:rPr>
              <a:t>the average for each calendar month over a </a:t>
            </a:r>
            <a:r>
              <a:rPr lang="en-US" sz="1550" b="1" dirty="0">
                <a:solidFill>
                  <a:srgbClr val="222B36"/>
                </a:solidFill>
                <a:latin typeface="Calibri" pitchFamily="34" charset="0"/>
                <a:ea typeface="Calibri" pitchFamily="34" charset="-122"/>
                <a:cs typeface="Calibri" pitchFamily="34" charset="-120"/>
              </a:rPr>
              <a:t>baseline</a:t>
            </a:r>
            <a:r>
              <a:rPr lang="en-US" sz="1550" dirty="0">
                <a:solidFill>
                  <a:srgbClr val="222B36"/>
                </a:solidFill>
                <a:latin typeface="Calibri" pitchFamily="34" charset="0"/>
                <a:ea typeface="Calibri" pitchFamily="34" charset="-122"/>
                <a:cs typeface="Calibri" pitchFamily="34" charset="-120"/>
              </a:rPr>
              <a:t> period (notebook: 2010–2019, CLIM_START/CLIM_END).</a:t>
            </a:r>
            <a:endParaRPr lang="en-US" sz="1550" dirty="0"/>
          </a:p>
          <a:p>
            <a:pPr marL="342900" indent="-342900">
              <a:spcAft>
                <a:spcPts val="700"/>
              </a:spcAft>
              <a:buSzPct val="100000"/>
              <a:buChar char="■"/>
            </a:pPr>
            <a:r>
              <a:rPr lang="en-US" sz="1550" b="1" dirty="0">
                <a:solidFill>
                  <a:srgbClr val="1B2A41"/>
                </a:solidFill>
                <a:latin typeface="Calibri" pitchFamily="34" charset="0"/>
                <a:ea typeface="Calibri" pitchFamily="34" charset="-122"/>
                <a:cs typeface="Calibri" pitchFamily="34" charset="-120"/>
              </a:rPr>
              <a:t>Anomaly = value − climatology for that month. </a:t>
            </a:r>
            <a:r>
              <a:rPr lang="en-US" sz="1550" dirty="0">
                <a:solidFill>
                  <a:srgbClr val="222B36"/>
                </a:solidFill>
                <a:latin typeface="Calibri" pitchFamily="34" charset="0"/>
                <a:ea typeface="Calibri" pitchFamily="34" charset="-122"/>
                <a:cs typeface="Calibri" pitchFamily="34" charset="-120"/>
              </a:rPr>
              <a:t>Positive = cloudier than usual </a:t>
            </a:r>
            <a:r>
              <a:rPr lang="en-US" sz="1550" b="1" dirty="0">
                <a:solidFill>
                  <a:srgbClr val="222B36"/>
                </a:solidFill>
                <a:latin typeface="Calibri" pitchFamily="34" charset="0"/>
                <a:ea typeface="Calibri" pitchFamily="34" charset="-122"/>
                <a:cs typeface="Calibri" pitchFamily="34" charset="-120"/>
              </a:rPr>
              <a:t>for that place and month</a:t>
            </a:r>
            <a:r>
              <a:rPr lang="en-US" sz="1550" dirty="0">
                <a:solidFill>
                  <a:srgbClr val="222B36"/>
                </a:solidFill>
                <a:latin typeface="Calibri" pitchFamily="34" charset="0"/>
                <a:ea typeface="Calibri" pitchFamily="34" charset="-122"/>
                <a:cs typeface="Calibri" pitchFamily="34" charset="-120"/>
              </a:rPr>
              <a:t>, not ‘very cloudy’.</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Removing the seasonal cycle lets the year-to-year (ENSO) signal show through.</a:t>
            </a:r>
            <a:endParaRPr lang="en-US" sz="1550" dirty="0"/>
          </a:p>
          <a:p>
            <a:pPr marL="342900" indent="-342900">
              <a:spcAft>
                <a:spcPts val="700"/>
              </a:spcAft>
              <a:buSzPct val="100000"/>
              <a:buChar char="■"/>
            </a:pPr>
            <a:r>
              <a:rPr lang="en-US" sz="1550" b="1" dirty="0">
                <a:solidFill>
                  <a:srgbClr val="1B2A41"/>
                </a:solidFill>
                <a:latin typeface="Calibri" pitchFamily="34" charset="0"/>
                <a:ea typeface="Calibri" pitchFamily="34" charset="-122"/>
                <a:cs typeface="Calibri" pitchFamily="34" charset="-120"/>
              </a:rPr>
              <a:t>The baseline is a choice: </a:t>
            </a:r>
            <a:r>
              <a:rPr lang="en-US" sz="1550" dirty="0">
                <a:solidFill>
                  <a:srgbClr val="222B36"/>
                </a:solidFill>
                <a:latin typeface="Calibri" pitchFamily="34" charset="0"/>
                <a:ea typeface="Calibri" pitchFamily="34" charset="-122"/>
                <a:cs typeface="Calibri" pitchFamily="34" charset="-120"/>
              </a:rPr>
              <a:t>change it and every anomaly shifts. Say which you used.</a:t>
            </a:r>
            <a:endParaRPr lang="en-US" sz="1550" dirty="0"/>
          </a:p>
          <a:p>
            <a:pPr marL="342900" indent="-342900">
              <a:spcAft>
                <a:spcPts val="700"/>
              </a:spcAft>
              <a:buSzPct val="100000"/>
              <a:buChar char="■"/>
            </a:pPr>
            <a:r>
              <a:rPr lang="en-US" sz="1550" dirty="0">
                <a:solidFill>
                  <a:srgbClr val="222B36"/>
                </a:solidFill>
                <a:latin typeface="Calibri" pitchFamily="34" charset="0"/>
                <a:ea typeface="Calibri" pitchFamily="34" charset="-122"/>
                <a:cs typeface="Calibri" pitchFamily="34" charset="-120"/>
              </a:rPr>
              <a:t>Averaging anomalies over a region gives the same answer as taking the anomaly of the regional mean. Both steps are linear.</a:t>
            </a:r>
            <a:endParaRPr lang="en-US" sz="1550" dirty="0"/>
          </a:p>
        </p:txBody>
      </p:sp>
      <p:sp>
        <p:nvSpPr>
          <p:cNvPr id="6" name="sent_128"/>
          <p:cNvSpPr/>
          <p:nvPr/>
        </p:nvSpPr>
        <p:spPr>
          <a:xfrm>
            <a:off x="548640" y="5257800"/>
            <a:ext cx="5852160" cy="1051560"/>
          </a:xfrm>
          <a:prstGeom prst="roundRect">
            <a:avLst>
              <a:gd name="adj" fmla="val 5217"/>
            </a:avLst>
          </a:prstGeom>
          <a:solidFill>
            <a:srgbClr val="DCEFEA"/>
          </a:solidFill>
          <a:ln w="12700">
            <a:solidFill>
              <a:srgbClr val="1F7A6E"/>
            </a:solidFill>
            <a:prstDash val="solid"/>
          </a:ln>
        </p:spPr>
      </p:sp>
      <p:sp>
        <p:nvSpPr>
          <p:cNvPr id="7" name="text_129"/>
          <p:cNvSpPr txBox="1"/>
          <p:nvPr/>
        </p:nvSpPr>
        <p:spPr>
          <a:xfrm>
            <a:off x="685800" y="5330952"/>
            <a:ext cx="5577840" cy="237744"/>
          </a:xfrm>
          <a:prstGeom prst="rect">
            <a:avLst/>
          </a:prstGeom>
          <a:noFill/>
          <a:ln/>
        </p:spPr>
        <p:txBody>
          <a:bodyPr wrap="square" lIns="635" tIns="635" rIns="635" bIns="635" rtlCol="0" anchor="t"/>
          <a:lstStyle/>
          <a:p>
            <a:pPr algn="l" indent="0" marL="0">
              <a:lnSpc>
                <a:spcPct val="100000"/>
              </a:lnSpc>
              <a:buNone/>
            </a:pPr>
            <a:r>
              <a:rPr lang="en-US" sz="1000" b="1" dirty="0">
                <a:solidFill>
                  <a:srgbClr val="1F7A6E"/>
                </a:solidFill>
                <a:latin typeface="Calibri" pitchFamily="34" charset="0"/>
                <a:ea typeface="Calibri" pitchFamily="34" charset="-122"/>
                <a:cs typeface="Calibri" pitchFamily="34" charset="-120"/>
              </a:rPr>
              <a:t>IN YOUR METHODS, THIS BECOMES</a:t>
            </a:r>
            <a:endParaRPr lang="en-US" sz="1000" dirty="0"/>
          </a:p>
        </p:txBody>
      </p:sp>
      <p:sp>
        <p:nvSpPr>
          <p:cNvPr id="8" name="text_130"/>
          <p:cNvSpPr txBox="1"/>
          <p:nvPr/>
        </p:nvSpPr>
        <p:spPr>
          <a:xfrm>
            <a:off x="685800" y="5568696"/>
            <a:ext cx="5577840" cy="685800"/>
          </a:xfrm>
          <a:prstGeom prst="rect">
            <a:avLst/>
          </a:prstGeom>
          <a:noFill/>
          <a:ln/>
        </p:spPr>
        <p:txBody>
          <a:bodyPr wrap="square" lIns="635" tIns="635" rIns="635" bIns="635" rtlCol="0" anchor="t"/>
          <a:lstStyle/>
          <a:p>
            <a:pPr algn="l" indent="0" marL="0">
              <a:lnSpc>
                <a:spcPct val="100000"/>
              </a:lnSpc>
              <a:buNone/>
            </a:pPr>
            <a:r>
              <a:rPr lang="en-US" sz="1350" i="1" dirty="0">
                <a:solidFill>
                  <a:srgbClr val="222B36"/>
                </a:solidFill>
                <a:latin typeface="Georgia" pitchFamily="34" charset="0"/>
                <a:ea typeface="Georgia" pitchFamily="34" charset="-122"/>
                <a:cs typeface="Georgia" pitchFamily="34" charset="-120"/>
              </a:rPr>
              <a:t>“Anomalies were calculated relative to the 2010–2019 monthly climatology.”</a:t>
            </a:r>
            <a:endParaRPr lang="en-US" sz="1350" dirty="0"/>
          </a:p>
        </p:txBody>
      </p:sp>
      <p:pic>
        <p:nvPicPr>
          <p:cNvPr id="9" name="img_131" descr="/home/claude/work/build/figs/anomaly.png">    </p:cNvPr>
          <p:cNvPicPr>
            <a:picLocks noChangeAspect="1"/>
          </p:cNvPicPr>
          <p:nvPr/>
        </p:nvPicPr>
        <p:blipFill>
          <a:blip r:embed="rId1"/>
          <a:stretch>
            <a:fillRect/>
          </a:stretch>
        </p:blipFill>
        <p:spPr>
          <a:xfrm>
            <a:off x="6675120" y="1280160"/>
            <a:ext cx="4967935" cy="3946003"/>
          </a:xfrm>
          <a:prstGeom prst="rect">
            <a:avLst/>
          </a:prstGeom>
        </p:spPr>
      </p:pic>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_132"/>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How scientists actually read</a:t>
            </a:r>
            <a:endParaRPr lang="en-US" sz="2800" dirty="0"/>
          </a:p>
        </p:txBody>
      </p:sp>
      <p:sp>
        <p:nvSpPr>
          <p:cNvPr id="3" name="bullets_133"/>
          <p:cNvSpPr txBox="1"/>
          <p:nvPr/>
        </p:nvSpPr>
        <p:spPr>
          <a:xfrm>
            <a:off x="548640" y="1325880"/>
            <a:ext cx="5120640" cy="4937760"/>
          </a:xfrm>
          <a:prstGeom prst="rect">
            <a:avLst/>
          </a:prstGeom>
          <a:noFill/>
          <a:ln/>
        </p:spPr>
        <p:txBody>
          <a:bodyPr wrap="square" lIns="635" tIns="635" rIns="635" bIns="635" rtlCol="0" anchor="t"/>
          <a:lstStyle/>
          <a:p>
            <a:pPr marL="342900" indent="-342900">
              <a:spcAft>
                <a:spcPts val="900"/>
              </a:spcAft>
              <a:buSzPct val="100000"/>
              <a:buChar char="■"/>
            </a:pPr>
            <a:r>
              <a:rPr lang="en-US" sz="1700" b="1" dirty="0">
                <a:solidFill>
                  <a:srgbClr val="1B2A41"/>
                </a:solidFill>
                <a:latin typeface="Calibri" pitchFamily="34" charset="0"/>
                <a:ea typeface="Calibri" pitchFamily="34" charset="-122"/>
                <a:cs typeface="Calibri" pitchFamily="34" charset="-120"/>
              </a:rPr>
              <a:t>Almost nobody reads a paper front to back. </a:t>
            </a:r>
            <a:r>
              <a:rPr lang="en-US" sz="1700" dirty="0">
                <a:solidFill>
                  <a:srgbClr val="222B36"/>
                </a:solidFill>
                <a:latin typeface="Calibri" pitchFamily="34" charset="0"/>
                <a:ea typeface="Calibri" pitchFamily="34" charset="-122"/>
                <a:cs typeface="Calibri" pitchFamily="34" charset="-120"/>
              </a:rPr>
              <a:t>Title → abstract/introduction → figures → conclusion, and only then (maybe) the rest. Schultz calls this </a:t>
            </a:r>
            <a:r>
              <a:rPr lang="en-US" sz="1700" b="1" dirty="0">
                <a:solidFill>
                  <a:srgbClr val="222B36"/>
                </a:solidFill>
                <a:latin typeface="Calibri" pitchFamily="34" charset="0"/>
                <a:ea typeface="Calibri" pitchFamily="34" charset="-122"/>
                <a:cs typeface="Calibri" pitchFamily="34" charset="-120"/>
              </a:rPr>
              <a:t>nonlinear reading</a:t>
            </a:r>
            <a:r>
              <a:rPr lang="en-US" sz="1700" dirty="0">
                <a:solidFill>
                  <a:srgbClr val="222B36"/>
                </a:solidFill>
                <a:latin typeface="Calibri" pitchFamily="34" charset="0"/>
                <a:ea typeface="Calibri" pitchFamily="34" charset="-122"/>
                <a:cs typeface="Calibri" pitchFamily="34" charset="-120"/>
              </a:rPr>
              <a:t>.</a:t>
            </a:r>
            <a:endParaRPr lang="en-US" sz="1700" dirty="0"/>
          </a:p>
          <a:p>
            <a:pPr marL="342900" indent="-342900">
              <a:spcAft>
                <a:spcPts val="900"/>
              </a:spcAft>
              <a:buSzPct val="100000"/>
              <a:buChar char="■"/>
            </a:pPr>
            <a:r>
              <a:rPr lang="en-US" sz="1700" b="1" dirty="0">
                <a:solidFill>
                  <a:srgbClr val="1B2A41"/>
                </a:solidFill>
                <a:latin typeface="Calibri" pitchFamily="34" charset="0"/>
                <a:ea typeface="Calibri" pitchFamily="34" charset="-122"/>
                <a:cs typeface="Calibri" pitchFamily="34" charset="-120"/>
              </a:rPr>
              <a:t>Your marker reads every word, </a:t>
            </a:r>
            <a:r>
              <a:rPr lang="en-US" sz="1700" dirty="0">
                <a:solidFill>
                  <a:srgbClr val="222B36"/>
                </a:solidFill>
                <a:latin typeface="Calibri" pitchFamily="34" charset="0"/>
                <a:ea typeface="Calibri" pitchFamily="34" charset="-122"/>
                <a:cs typeface="Calibri" pitchFamily="34" charset="-120"/>
              </a:rPr>
              <a:t>but forms a view early from the </a:t>
            </a:r>
            <a:r>
              <a:rPr lang="en-US" sz="1700" b="1" dirty="0">
                <a:solidFill>
                  <a:srgbClr val="222B36"/>
                </a:solidFill>
                <a:latin typeface="Calibri" pitchFamily="34" charset="0"/>
                <a:ea typeface="Calibri" pitchFamily="34" charset="-122"/>
                <a:cs typeface="Calibri" pitchFamily="34" charset="-120"/>
              </a:rPr>
              <a:t>title, first paragraph, figures and conclusion</a:t>
            </a:r>
            <a:r>
              <a:rPr lang="en-US" sz="1700" dirty="0">
                <a:solidFill>
                  <a:srgbClr val="222B36"/>
                </a:solidFill>
                <a:latin typeface="Calibri" pitchFamily="34" charset="0"/>
                <a:ea typeface="Calibri" pitchFamily="34" charset="-122"/>
                <a:cs typeface="Calibri" pitchFamily="34" charset="-120"/>
              </a:rPr>
              <a:t>.</a:t>
            </a:r>
            <a:endParaRPr lang="en-US" sz="1700" dirty="0"/>
          </a:p>
          <a:p>
            <a:pPr marL="342900" indent="-342900">
              <a:spcAft>
                <a:spcPts val="900"/>
              </a:spcAft>
              <a:buSzPct val="100000"/>
              <a:buChar char="■"/>
            </a:pPr>
            <a:r>
              <a:rPr lang="en-US" sz="1700" b="1" dirty="0">
                <a:solidFill>
                  <a:srgbClr val="1B2A41"/>
                </a:solidFill>
                <a:latin typeface="Calibri" pitchFamily="34" charset="0"/>
                <a:ea typeface="Calibri" pitchFamily="34" charset="-122"/>
                <a:cs typeface="Calibri" pitchFamily="34" charset="-120"/>
              </a:rPr>
              <a:t>So put your best, clearest writing: </a:t>
            </a:r>
            <a:r>
              <a:rPr lang="en-US" sz="1700" dirty="0">
                <a:solidFill>
                  <a:srgbClr val="222B36"/>
                </a:solidFill>
                <a:latin typeface="Calibri" pitchFamily="34" charset="0"/>
                <a:ea typeface="Calibri" pitchFamily="34" charset="-122"/>
                <a:cs typeface="Calibri" pitchFamily="34" charset="-120"/>
              </a:rPr>
              <a:t>where the reader looks first, and make each paragraph's </a:t>
            </a:r>
            <a:r>
              <a:rPr lang="en-US" sz="1700" b="1" dirty="0">
                <a:solidFill>
                  <a:srgbClr val="222B36"/>
                </a:solidFill>
                <a:latin typeface="Calibri" pitchFamily="34" charset="0"/>
                <a:ea typeface="Calibri" pitchFamily="34" charset="-122"/>
                <a:cs typeface="Calibri" pitchFamily="34" charset="-120"/>
              </a:rPr>
              <a:t>first sentence</a:t>
            </a:r>
            <a:r>
              <a:rPr lang="en-US" sz="1700" dirty="0">
                <a:solidFill>
                  <a:srgbClr val="222B36"/>
                </a:solidFill>
                <a:latin typeface="Calibri" pitchFamily="34" charset="0"/>
                <a:ea typeface="Calibri" pitchFamily="34" charset="-122"/>
                <a:cs typeface="Calibri" pitchFamily="34" charset="-120"/>
              </a:rPr>
              <a:t> carry its point.</a:t>
            </a:r>
            <a:endParaRPr lang="en-US" sz="1700" dirty="0"/>
          </a:p>
        </p:txBody>
      </p:sp>
      <p:sp>
        <p:nvSpPr>
          <p:cNvPr id="4" name="text_134"/>
          <p:cNvSpPr txBox="1"/>
          <p:nvPr/>
        </p:nvSpPr>
        <p:spPr>
          <a:xfrm>
            <a:off x="5989320" y="1325880"/>
            <a:ext cx="5653735" cy="457200"/>
          </a:xfrm>
          <a:prstGeom prst="rect">
            <a:avLst/>
          </a:prstGeom>
          <a:noFill/>
          <a:ln/>
        </p:spPr>
        <p:txBody>
          <a:bodyPr wrap="square" lIns="635" tIns="635" rIns="635" bIns="635" rtlCol="0" anchor="t"/>
          <a:lstStyle/>
          <a:p>
            <a:pPr algn="l" indent="0" marL="0">
              <a:lnSpc>
                <a:spcPct val="100000"/>
              </a:lnSpc>
              <a:buNone/>
            </a:pPr>
            <a:r>
              <a:rPr lang="en-US" sz="1300" b="1" dirty="0">
                <a:solidFill>
                  <a:srgbClr val="1B2A41"/>
                </a:solidFill>
                <a:latin typeface="Calibri" pitchFamily="34" charset="0"/>
                <a:ea typeface="Calibri" pitchFamily="34" charset="-122"/>
                <a:cs typeface="Calibri" pitchFamily="34" charset="-120"/>
              </a:rPr>
              <a:t>Westinghouse managers: share who read each part of a report</a:t>
            </a:r>
            <a:endParaRPr lang="en-US" sz="1300" dirty="0"/>
          </a:p>
        </p:txBody>
      </p:sp>
      <p:sp>
        <p:nvSpPr>
          <p:cNvPr id="5" name="text_135"/>
          <p:cNvSpPr txBox="1"/>
          <p:nvPr/>
        </p:nvSpPr>
        <p:spPr>
          <a:xfrm>
            <a:off x="5989320" y="1920240"/>
            <a:ext cx="1828800" cy="457200"/>
          </a:xfrm>
          <a:prstGeom prst="rect">
            <a:avLst/>
          </a:prstGeom>
          <a:noFill/>
          <a:ln/>
        </p:spPr>
        <p:txBody>
          <a:bodyPr wrap="square" lIns="635" tIns="635" rIns="635" bIns="635" rtlCol="0" anchor="ctr"/>
          <a:lstStyle/>
          <a:p>
            <a:pPr algn="r" indent="0" marL="0">
              <a:lnSpc>
                <a:spcPct val="100000"/>
              </a:lnSpc>
              <a:buNone/>
            </a:pPr>
            <a:r>
              <a:rPr lang="en-US" sz="1300" dirty="0">
                <a:solidFill>
                  <a:srgbClr val="222B36"/>
                </a:solidFill>
                <a:latin typeface="Calibri" pitchFamily="34" charset="0"/>
                <a:ea typeface="Calibri" pitchFamily="34" charset="-122"/>
                <a:cs typeface="Calibri" pitchFamily="34" charset="-120"/>
              </a:rPr>
              <a:t>Executive summary</a:t>
            </a:r>
            <a:endParaRPr lang="en-US" sz="1300" dirty="0"/>
          </a:p>
        </p:txBody>
      </p:sp>
      <p:sp>
        <p:nvSpPr>
          <p:cNvPr id="6" name="bar_136"/>
          <p:cNvSpPr/>
          <p:nvPr/>
        </p:nvSpPr>
        <p:spPr>
          <a:xfrm>
            <a:off x="7909560" y="1965960"/>
            <a:ext cx="3093415" cy="384048"/>
          </a:xfrm>
          <a:prstGeom prst="rect">
            <a:avLst/>
          </a:prstGeom>
          <a:solidFill>
            <a:srgbClr val="2E4A6B"/>
          </a:solidFill>
          <a:ln w="12700">
            <a:solidFill>
              <a:srgbClr val="2E4A6B"/>
            </a:solidFill>
            <a:prstDash val="solid"/>
          </a:ln>
        </p:spPr>
      </p:sp>
      <p:sp>
        <p:nvSpPr>
          <p:cNvPr id="7" name="text_137"/>
          <p:cNvSpPr txBox="1"/>
          <p:nvPr/>
        </p:nvSpPr>
        <p:spPr>
          <a:xfrm>
            <a:off x="11076127" y="1920240"/>
            <a:ext cx="640080" cy="457200"/>
          </a:xfrm>
          <a:prstGeom prst="rect">
            <a:avLst/>
          </a:prstGeom>
          <a:noFill/>
          <a:ln/>
        </p:spPr>
        <p:txBody>
          <a:bodyPr wrap="square" lIns="635" tIns="635" rIns="635" bIns="635" rtlCol="0" anchor="ctr"/>
          <a:lstStyle/>
          <a:p>
            <a:pPr algn="l" indent="0" marL="0">
              <a:lnSpc>
                <a:spcPct val="100000"/>
              </a:lnSpc>
              <a:buNone/>
            </a:pPr>
            <a:r>
              <a:rPr lang="en-US" sz="1300" b="1" dirty="0">
                <a:solidFill>
                  <a:srgbClr val="1B2A41"/>
                </a:solidFill>
                <a:latin typeface="Calibri" pitchFamily="34" charset="0"/>
                <a:ea typeface="Calibri" pitchFamily="34" charset="-122"/>
                <a:cs typeface="Calibri" pitchFamily="34" charset="-120"/>
              </a:rPr>
              <a:t>100%</a:t>
            </a:r>
            <a:endParaRPr lang="en-US" sz="1300" dirty="0"/>
          </a:p>
        </p:txBody>
      </p:sp>
      <p:sp>
        <p:nvSpPr>
          <p:cNvPr id="8" name="text_138"/>
          <p:cNvSpPr txBox="1"/>
          <p:nvPr/>
        </p:nvSpPr>
        <p:spPr>
          <a:xfrm>
            <a:off x="5989320" y="2633472"/>
            <a:ext cx="1828800" cy="457200"/>
          </a:xfrm>
          <a:prstGeom prst="rect">
            <a:avLst/>
          </a:prstGeom>
          <a:noFill/>
          <a:ln/>
        </p:spPr>
        <p:txBody>
          <a:bodyPr wrap="square" lIns="635" tIns="635" rIns="635" bIns="635" rtlCol="0" anchor="ctr"/>
          <a:lstStyle/>
          <a:p>
            <a:pPr algn="r" indent="0" marL="0">
              <a:lnSpc>
                <a:spcPct val="100000"/>
              </a:lnSpc>
              <a:buNone/>
            </a:pPr>
            <a:r>
              <a:rPr lang="en-US" sz="1300" dirty="0">
                <a:solidFill>
                  <a:srgbClr val="222B36"/>
                </a:solidFill>
                <a:latin typeface="Calibri" pitchFamily="34" charset="0"/>
                <a:ea typeface="Calibri" pitchFamily="34" charset="-122"/>
                <a:cs typeface="Calibri" pitchFamily="34" charset="-120"/>
              </a:rPr>
              <a:t>Introduction</a:t>
            </a:r>
            <a:endParaRPr lang="en-US" sz="1300" dirty="0"/>
          </a:p>
        </p:txBody>
      </p:sp>
      <p:sp>
        <p:nvSpPr>
          <p:cNvPr id="9" name="bar_139"/>
          <p:cNvSpPr/>
          <p:nvPr/>
        </p:nvSpPr>
        <p:spPr>
          <a:xfrm>
            <a:off x="7909560" y="2679192"/>
            <a:ext cx="1856049" cy="384048"/>
          </a:xfrm>
          <a:prstGeom prst="rect">
            <a:avLst/>
          </a:prstGeom>
          <a:solidFill>
            <a:srgbClr val="2E4A6B"/>
          </a:solidFill>
          <a:ln w="12700">
            <a:solidFill>
              <a:srgbClr val="2E4A6B"/>
            </a:solidFill>
            <a:prstDash val="solid"/>
          </a:ln>
        </p:spPr>
      </p:sp>
      <p:sp>
        <p:nvSpPr>
          <p:cNvPr id="10" name="text_140"/>
          <p:cNvSpPr txBox="1"/>
          <p:nvPr/>
        </p:nvSpPr>
        <p:spPr>
          <a:xfrm>
            <a:off x="9838761" y="2633472"/>
            <a:ext cx="640080" cy="457200"/>
          </a:xfrm>
          <a:prstGeom prst="rect">
            <a:avLst/>
          </a:prstGeom>
          <a:noFill/>
          <a:ln/>
        </p:spPr>
        <p:txBody>
          <a:bodyPr wrap="square" lIns="635" tIns="635" rIns="635" bIns="635" rtlCol="0" anchor="ctr"/>
          <a:lstStyle/>
          <a:p>
            <a:pPr algn="l" indent="0" marL="0">
              <a:lnSpc>
                <a:spcPct val="100000"/>
              </a:lnSpc>
              <a:buNone/>
            </a:pPr>
            <a:r>
              <a:rPr lang="en-US" sz="1300" b="1" dirty="0">
                <a:solidFill>
                  <a:srgbClr val="1B2A41"/>
                </a:solidFill>
                <a:latin typeface="Calibri" pitchFamily="34" charset="0"/>
                <a:ea typeface="Calibri" pitchFamily="34" charset="-122"/>
                <a:cs typeface="Calibri" pitchFamily="34" charset="-120"/>
              </a:rPr>
              <a:t>60%</a:t>
            </a:r>
            <a:endParaRPr lang="en-US" sz="1300" dirty="0"/>
          </a:p>
        </p:txBody>
      </p:sp>
      <p:sp>
        <p:nvSpPr>
          <p:cNvPr id="11" name="text_141"/>
          <p:cNvSpPr txBox="1"/>
          <p:nvPr/>
        </p:nvSpPr>
        <p:spPr>
          <a:xfrm>
            <a:off x="5989320" y="3346704"/>
            <a:ext cx="1828800" cy="457200"/>
          </a:xfrm>
          <a:prstGeom prst="rect">
            <a:avLst/>
          </a:prstGeom>
          <a:noFill/>
          <a:ln/>
        </p:spPr>
        <p:txBody>
          <a:bodyPr wrap="square" lIns="635" tIns="635" rIns="635" bIns="635" rtlCol="0" anchor="ctr"/>
          <a:lstStyle/>
          <a:p>
            <a:pPr algn="r" indent="0" marL="0">
              <a:lnSpc>
                <a:spcPct val="100000"/>
              </a:lnSpc>
              <a:buNone/>
            </a:pPr>
            <a:r>
              <a:rPr lang="en-US" sz="1300" dirty="0">
                <a:solidFill>
                  <a:srgbClr val="222B36"/>
                </a:solidFill>
                <a:latin typeface="Calibri" pitchFamily="34" charset="0"/>
                <a:ea typeface="Calibri" pitchFamily="34" charset="-122"/>
                <a:cs typeface="Calibri" pitchFamily="34" charset="-120"/>
              </a:rPr>
              <a:t>Conclusion</a:t>
            </a:r>
            <a:endParaRPr lang="en-US" sz="1300" dirty="0"/>
          </a:p>
        </p:txBody>
      </p:sp>
      <p:sp>
        <p:nvSpPr>
          <p:cNvPr id="12" name="bar_142"/>
          <p:cNvSpPr/>
          <p:nvPr/>
        </p:nvSpPr>
        <p:spPr>
          <a:xfrm>
            <a:off x="7909560" y="3392424"/>
            <a:ext cx="1546708" cy="384048"/>
          </a:xfrm>
          <a:prstGeom prst="rect">
            <a:avLst/>
          </a:prstGeom>
          <a:solidFill>
            <a:srgbClr val="2E4A6B"/>
          </a:solidFill>
          <a:ln w="12700">
            <a:solidFill>
              <a:srgbClr val="2E4A6B"/>
            </a:solidFill>
            <a:prstDash val="solid"/>
          </a:ln>
        </p:spPr>
      </p:sp>
      <p:sp>
        <p:nvSpPr>
          <p:cNvPr id="13" name="text_143"/>
          <p:cNvSpPr txBox="1"/>
          <p:nvPr/>
        </p:nvSpPr>
        <p:spPr>
          <a:xfrm>
            <a:off x="9529420" y="3346704"/>
            <a:ext cx="640080" cy="457200"/>
          </a:xfrm>
          <a:prstGeom prst="rect">
            <a:avLst/>
          </a:prstGeom>
          <a:noFill/>
          <a:ln/>
        </p:spPr>
        <p:txBody>
          <a:bodyPr wrap="square" lIns="635" tIns="635" rIns="635" bIns="635" rtlCol="0" anchor="ctr"/>
          <a:lstStyle/>
          <a:p>
            <a:pPr algn="l" indent="0" marL="0">
              <a:lnSpc>
                <a:spcPct val="100000"/>
              </a:lnSpc>
              <a:buNone/>
            </a:pPr>
            <a:r>
              <a:rPr lang="en-US" sz="1300" b="1" dirty="0">
                <a:solidFill>
                  <a:srgbClr val="1B2A41"/>
                </a:solidFill>
                <a:latin typeface="Calibri" pitchFamily="34" charset="0"/>
                <a:ea typeface="Calibri" pitchFamily="34" charset="-122"/>
                <a:cs typeface="Calibri" pitchFamily="34" charset="-120"/>
              </a:rPr>
              <a:t>50%</a:t>
            </a:r>
            <a:endParaRPr lang="en-US" sz="1300" dirty="0"/>
          </a:p>
        </p:txBody>
      </p:sp>
      <p:sp>
        <p:nvSpPr>
          <p:cNvPr id="14" name="text_144"/>
          <p:cNvSpPr txBox="1"/>
          <p:nvPr/>
        </p:nvSpPr>
        <p:spPr>
          <a:xfrm>
            <a:off x="5989320" y="4059936"/>
            <a:ext cx="1828800" cy="457200"/>
          </a:xfrm>
          <a:prstGeom prst="rect">
            <a:avLst/>
          </a:prstGeom>
          <a:noFill/>
          <a:ln/>
        </p:spPr>
        <p:txBody>
          <a:bodyPr wrap="square" lIns="635" tIns="635" rIns="635" bIns="635" rtlCol="0" anchor="ctr"/>
          <a:lstStyle/>
          <a:p>
            <a:pPr algn="r" indent="0" marL="0">
              <a:lnSpc>
                <a:spcPct val="100000"/>
              </a:lnSpc>
              <a:buNone/>
            </a:pPr>
            <a:r>
              <a:rPr lang="en-US" sz="1300" dirty="0">
                <a:solidFill>
                  <a:srgbClr val="222B36"/>
                </a:solidFill>
                <a:latin typeface="Calibri" pitchFamily="34" charset="0"/>
                <a:ea typeface="Calibri" pitchFamily="34" charset="-122"/>
                <a:cs typeface="Calibri" pitchFamily="34" charset="-120"/>
              </a:rPr>
              <a:t>Body of report</a:t>
            </a:r>
            <a:endParaRPr lang="en-US" sz="1300" dirty="0"/>
          </a:p>
        </p:txBody>
      </p:sp>
      <p:sp>
        <p:nvSpPr>
          <p:cNvPr id="15" name="bar_145"/>
          <p:cNvSpPr/>
          <p:nvPr/>
        </p:nvSpPr>
        <p:spPr>
          <a:xfrm>
            <a:off x="7909560" y="4105656"/>
            <a:ext cx="464012" cy="384048"/>
          </a:xfrm>
          <a:prstGeom prst="rect">
            <a:avLst/>
          </a:prstGeom>
          <a:solidFill>
            <a:srgbClr val="9AA9BA"/>
          </a:solidFill>
          <a:ln w="12700">
            <a:solidFill>
              <a:srgbClr val="9AA9BA"/>
            </a:solidFill>
            <a:prstDash val="solid"/>
          </a:ln>
        </p:spPr>
      </p:sp>
      <p:sp>
        <p:nvSpPr>
          <p:cNvPr id="16" name="text_146"/>
          <p:cNvSpPr txBox="1"/>
          <p:nvPr/>
        </p:nvSpPr>
        <p:spPr>
          <a:xfrm>
            <a:off x="8446724" y="4059936"/>
            <a:ext cx="640080" cy="457200"/>
          </a:xfrm>
          <a:prstGeom prst="rect">
            <a:avLst/>
          </a:prstGeom>
          <a:noFill/>
          <a:ln/>
        </p:spPr>
        <p:txBody>
          <a:bodyPr wrap="square" lIns="635" tIns="635" rIns="635" bIns="635" rtlCol="0" anchor="ctr"/>
          <a:lstStyle/>
          <a:p>
            <a:pPr algn="l" indent="0" marL="0">
              <a:lnSpc>
                <a:spcPct val="100000"/>
              </a:lnSpc>
              <a:buNone/>
            </a:pPr>
            <a:r>
              <a:rPr lang="en-US" sz="1300" b="1" dirty="0">
                <a:solidFill>
                  <a:srgbClr val="1B2A41"/>
                </a:solidFill>
                <a:latin typeface="Calibri" pitchFamily="34" charset="0"/>
                <a:ea typeface="Calibri" pitchFamily="34" charset="-122"/>
                <a:cs typeface="Calibri" pitchFamily="34" charset="-120"/>
              </a:rPr>
              <a:t>15%</a:t>
            </a:r>
            <a:endParaRPr lang="en-US" sz="1300" dirty="0"/>
          </a:p>
        </p:txBody>
      </p:sp>
      <p:sp>
        <p:nvSpPr>
          <p:cNvPr id="17" name="text_147"/>
          <p:cNvSpPr txBox="1"/>
          <p:nvPr/>
        </p:nvSpPr>
        <p:spPr>
          <a:xfrm>
            <a:off x="5989320" y="4773168"/>
            <a:ext cx="1828800" cy="457200"/>
          </a:xfrm>
          <a:prstGeom prst="rect">
            <a:avLst/>
          </a:prstGeom>
          <a:noFill/>
          <a:ln/>
        </p:spPr>
        <p:txBody>
          <a:bodyPr wrap="square" lIns="635" tIns="635" rIns="635" bIns="635" rtlCol="0" anchor="ctr"/>
          <a:lstStyle/>
          <a:p>
            <a:pPr algn="r" indent="0" marL="0">
              <a:lnSpc>
                <a:spcPct val="100000"/>
              </a:lnSpc>
              <a:buNone/>
            </a:pPr>
            <a:r>
              <a:rPr lang="en-US" sz="1300" dirty="0">
                <a:solidFill>
                  <a:srgbClr val="222B36"/>
                </a:solidFill>
                <a:latin typeface="Calibri" pitchFamily="34" charset="0"/>
                <a:ea typeface="Calibri" pitchFamily="34" charset="-122"/>
                <a:cs typeface="Calibri" pitchFamily="34" charset="-120"/>
              </a:rPr>
              <a:t>Appendix</a:t>
            </a:r>
            <a:endParaRPr lang="en-US" sz="1300" dirty="0"/>
          </a:p>
        </p:txBody>
      </p:sp>
      <p:sp>
        <p:nvSpPr>
          <p:cNvPr id="18" name="bar_148"/>
          <p:cNvSpPr/>
          <p:nvPr/>
        </p:nvSpPr>
        <p:spPr>
          <a:xfrm>
            <a:off x="7909560" y="4818888"/>
            <a:ext cx="309342" cy="384048"/>
          </a:xfrm>
          <a:prstGeom prst="rect">
            <a:avLst/>
          </a:prstGeom>
          <a:solidFill>
            <a:srgbClr val="9AA9BA"/>
          </a:solidFill>
          <a:ln w="12700">
            <a:solidFill>
              <a:srgbClr val="9AA9BA"/>
            </a:solidFill>
            <a:prstDash val="solid"/>
          </a:ln>
        </p:spPr>
      </p:sp>
      <p:sp>
        <p:nvSpPr>
          <p:cNvPr id="19" name="text_149"/>
          <p:cNvSpPr txBox="1"/>
          <p:nvPr/>
        </p:nvSpPr>
        <p:spPr>
          <a:xfrm>
            <a:off x="8292054" y="4773168"/>
            <a:ext cx="640080" cy="457200"/>
          </a:xfrm>
          <a:prstGeom prst="rect">
            <a:avLst/>
          </a:prstGeom>
          <a:noFill/>
          <a:ln/>
        </p:spPr>
        <p:txBody>
          <a:bodyPr wrap="square" lIns="635" tIns="635" rIns="635" bIns="635" rtlCol="0" anchor="ctr"/>
          <a:lstStyle/>
          <a:p>
            <a:pPr algn="l" indent="0" marL="0">
              <a:lnSpc>
                <a:spcPct val="100000"/>
              </a:lnSpc>
              <a:buNone/>
            </a:pPr>
            <a:r>
              <a:rPr lang="en-US" sz="1300" b="1" dirty="0">
                <a:solidFill>
                  <a:srgbClr val="1B2A41"/>
                </a:solidFill>
                <a:latin typeface="Calibri" pitchFamily="34" charset="0"/>
                <a:ea typeface="Calibri" pitchFamily="34" charset="-122"/>
                <a:cs typeface="Calibri" pitchFamily="34" charset="-120"/>
              </a:rPr>
              <a:t>10%</a:t>
            </a:r>
            <a:endParaRPr lang="en-US" sz="1300" dirty="0"/>
          </a:p>
        </p:txBody>
      </p:sp>
      <p:sp>
        <p:nvSpPr>
          <p:cNvPr id="20" name="text_150"/>
          <p:cNvSpPr txBox="1"/>
          <p:nvPr/>
        </p:nvSpPr>
        <p:spPr>
          <a:xfrm>
            <a:off x="5989320" y="5577840"/>
            <a:ext cx="5653735" cy="548640"/>
          </a:xfrm>
          <a:prstGeom prst="rect">
            <a:avLst/>
          </a:prstGeom>
          <a:noFill/>
          <a:ln/>
        </p:spPr>
        <p:txBody>
          <a:bodyPr wrap="square" lIns="635" tIns="635" rIns="635" bIns="635" rtlCol="0" anchor="t"/>
          <a:lstStyle/>
          <a:p>
            <a:pPr algn="l" indent="0" marL="0">
              <a:lnSpc>
                <a:spcPct val="100000"/>
              </a:lnSpc>
              <a:buNone/>
            </a:pPr>
            <a:r>
              <a:rPr lang="en-US" sz="1150" i="1" dirty="0">
                <a:solidFill>
                  <a:srgbClr val="5B6573"/>
                </a:solidFill>
                <a:latin typeface="Calibri" pitchFamily="34" charset="0"/>
                <a:ea typeface="Calibri" pitchFamily="34" charset="-122"/>
                <a:cs typeface="Calibri" pitchFamily="34" charset="-120"/>
              </a:rPr>
              <a:t>Schultz (2009, §4.2): ‘Nine reports sat on their shelves largely unread for every one that was read in its entirety.’</a:t>
            </a:r>
            <a:endParaRPr lang="en-US" sz="1150" dirty="0"/>
          </a:p>
        </p:txBody>
      </p:sp>
      <p:sp>
        <p:nvSpPr>
          <p:cNvPr id="21" name="text_151"/>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 Schultz, D. M. (2009) Eloquent Science, American Meteorological Society, §4.2 ‘Nonlinear reading’.</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_152"/>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Four things your marker must believe</a:t>
            </a:r>
            <a:endParaRPr lang="en-US" sz="2800" dirty="0"/>
          </a:p>
        </p:txBody>
      </p:sp>
      <p:sp>
        <p:nvSpPr>
          <p:cNvPr id="3" name="text_153"/>
          <p:cNvSpPr txBox="1"/>
          <p:nvPr/>
        </p:nvSpPr>
        <p:spPr>
          <a:xfrm>
            <a:off x="548640" y="1188720"/>
            <a:ext cx="11064240" cy="457200"/>
          </a:xfrm>
          <a:prstGeom prst="rect">
            <a:avLst/>
          </a:prstGeom>
          <a:noFill/>
          <a:ln/>
        </p:spPr>
        <p:txBody>
          <a:bodyPr wrap="square" lIns="635" tIns="635" rIns="635" bIns="635" rtlCol="0" anchor="t"/>
          <a:lstStyle/>
          <a:p>
            <a:pPr algn="l" indent="0" marL="0">
              <a:lnSpc>
                <a:spcPct val="100000"/>
              </a:lnSpc>
              <a:buNone/>
            </a:pPr>
            <a:r>
              <a:rPr lang="en-US" sz="1500" i="1" dirty="0">
                <a:solidFill>
                  <a:srgbClr val="5B6573"/>
                </a:solidFill>
                <a:latin typeface="Calibri" pitchFamily="34" charset="0"/>
                <a:ea typeface="Calibri" pitchFamily="34" charset="-122"/>
                <a:cs typeface="Calibri" pitchFamily="34" charset="-120"/>
              </a:rPr>
              <a:t>Research funders judge proposals on four propositions (Research Funding Toolkit). A report is judged the same way: only the tense changes.</a:t>
            </a:r>
            <a:endParaRPr lang="en-US" sz="1500" dirty="0"/>
          </a:p>
        </p:txBody>
      </p:sp>
      <p:sp>
        <p:nvSpPr>
          <p:cNvPr id="4" name="card_154"/>
          <p:cNvSpPr/>
          <p:nvPr/>
        </p:nvSpPr>
        <p:spPr>
          <a:xfrm>
            <a:off x="548640" y="1783080"/>
            <a:ext cx="5440680" cy="2057400"/>
          </a:xfrm>
          <a:prstGeom prst="roundRect">
            <a:avLst>
              <a:gd name="adj" fmla="val 3556"/>
            </a:avLst>
          </a:prstGeom>
          <a:solidFill>
            <a:srgbClr val="F7F4EE"/>
          </a:solidFill>
          <a:ln w="9525">
            <a:solidFill>
              <a:srgbClr val="D5DAE1"/>
            </a:solidFill>
            <a:prstDash val="solid"/>
          </a:ln>
        </p:spPr>
      </p:sp>
      <p:sp>
        <p:nvSpPr>
          <p:cNvPr id="5" name="tag_155"/>
          <p:cNvSpPr/>
          <p:nvPr/>
        </p:nvSpPr>
        <p:spPr>
          <a:xfrm>
            <a:off x="713232" y="1911096"/>
            <a:ext cx="923544" cy="256032"/>
          </a:xfrm>
          <a:prstGeom prst="roundRect">
            <a:avLst>
              <a:gd name="adj" fmla="val 21429"/>
            </a:avLst>
          </a:prstGeom>
          <a:solidFill>
            <a:srgbClr val="1B2A41"/>
          </a:solidFill>
          <a:ln w="12700">
            <a:solidFill>
              <a:srgbClr val="1B2A41"/>
            </a:solidFill>
            <a:prstDash val="solid"/>
          </a:ln>
        </p:spPr>
      </p:sp>
      <p:sp>
        <p:nvSpPr>
          <p:cNvPr id="6" name="text_156"/>
          <p:cNvSpPr txBox="1"/>
          <p:nvPr/>
        </p:nvSpPr>
        <p:spPr>
          <a:xfrm>
            <a:off x="713232" y="1911096"/>
            <a:ext cx="92354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IMPORTANCE</a:t>
            </a:r>
            <a:endParaRPr lang="en-US" sz="1050" dirty="0"/>
          </a:p>
        </p:txBody>
      </p:sp>
      <p:sp>
        <p:nvSpPr>
          <p:cNvPr id="7" name="text_157"/>
          <p:cNvSpPr txBox="1"/>
          <p:nvPr/>
        </p:nvSpPr>
        <p:spPr>
          <a:xfrm>
            <a:off x="713232" y="2258568"/>
            <a:ext cx="5111496" cy="457200"/>
          </a:xfrm>
          <a:prstGeom prst="rect">
            <a:avLst/>
          </a:prstGeom>
          <a:noFill/>
          <a:ln/>
        </p:spPr>
        <p:txBody>
          <a:bodyPr wrap="square" lIns="635" tIns="635" rIns="635" bIns="635" rtlCol="0" anchor="t"/>
          <a:lstStyle/>
          <a:p>
            <a:pPr algn="l" indent="0" marL="0">
              <a:lnSpc>
                <a:spcPct val="100000"/>
              </a:lnSpc>
              <a:buNone/>
            </a:pPr>
            <a:r>
              <a:rPr lang="en-US" sz="1700" b="1" dirty="0">
                <a:solidFill>
                  <a:srgbClr val="1B2A41"/>
                </a:solidFill>
                <a:latin typeface="Calibri" pitchFamily="34" charset="0"/>
                <a:ea typeface="Calibri" pitchFamily="34" charset="-122"/>
                <a:cs typeface="Calibri" pitchFamily="34" charset="-120"/>
              </a:rPr>
              <a:t>The question is worth asking.</a:t>
            </a:r>
            <a:endParaRPr lang="en-US" sz="1700" dirty="0"/>
          </a:p>
        </p:txBody>
      </p:sp>
      <p:sp>
        <p:nvSpPr>
          <p:cNvPr id="8" name="text_158"/>
          <p:cNvSpPr txBox="1"/>
          <p:nvPr/>
        </p:nvSpPr>
        <p:spPr>
          <a:xfrm>
            <a:off x="713232" y="2715768"/>
            <a:ext cx="5111496" cy="1033272"/>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Introduction: why should anyone care what ENSO does to this cloud, here?</a:t>
            </a:r>
            <a:endParaRPr lang="en-US" sz="1500" dirty="0"/>
          </a:p>
        </p:txBody>
      </p:sp>
      <p:sp>
        <p:nvSpPr>
          <p:cNvPr id="9" name="card_159"/>
          <p:cNvSpPr/>
          <p:nvPr/>
        </p:nvSpPr>
        <p:spPr>
          <a:xfrm>
            <a:off x="6199632" y="1783080"/>
            <a:ext cx="5440680" cy="2057400"/>
          </a:xfrm>
          <a:prstGeom prst="roundRect">
            <a:avLst>
              <a:gd name="adj" fmla="val 3556"/>
            </a:avLst>
          </a:prstGeom>
          <a:solidFill>
            <a:srgbClr val="F7F4EE"/>
          </a:solidFill>
          <a:ln w="9525">
            <a:solidFill>
              <a:srgbClr val="D5DAE1"/>
            </a:solidFill>
            <a:prstDash val="solid"/>
          </a:ln>
        </p:spPr>
      </p:sp>
      <p:sp>
        <p:nvSpPr>
          <p:cNvPr id="10" name="tag_160"/>
          <p:cNvSpPr/>
          <p:nvPr/>
        </p:nvSpPr>
        <p:spPr>
          <a:xfrm>
            <a:off x="6364224" y="1911096"/>
            <a:ext cx="690372" cy="256032"/>
          </a:xfrm>
          <a:prstGeom prst="roundRect">
            <a:avLst>
              <a:gd name="adj" fmla="val 21429"/>
            </a:avLst>
          </a:prstGeom>
          <a:solidFill>
            <a:srgbClr val="1F7A6E"/>
          </a:solidFill>
          <a:ln w="12700">
            <a:solidFill>
              <a:srgbClr val="1F7A6E"/>
            </a:solidFill>
            <a:prstDash val="solid"/>
          </a:ln>
        </p:spPr>
      </p:sp>
      <p:sp>
        <p:nvSpPr>
          <p:cNvPr id="11" name="text_161"/>
          <p:cNvSpPr txBox="1"/>
          <p:nvPr/>
        </p:nvSpPr>
        <p:spPr>
          <a:xfrm>
            <a:off x="6364224" y="1911096"/>
            <a:ext cx="690372"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SUCCESS</a:t>
            </a:r>
            <a:endParaRPr lang="en-US" sz="1050" dirty="0"/>
          </a:p>
        </p:txBody>
      </p:sp>
      <p:sp>
        <p:nvSpPr>
          <p:cNvPr id="12" name="text_162"/>
          <p:cNvSpPr txBox="1"/>
          <p:nvPr/>
        </p:nvSpPr>
        <p:spPr>
          <a:xfrm>
            <a:off x="6364224" y="2258568"/>
            <a:ext cx="5111496" cy="457200"/>
          </a:xfrm>
          <a:prstGeom prst="rect">
            <a:avLst/>
          </a:prstGeom>
          <a:noFill/>
          <a:ln/>
        </p:spPr>
        <p:txBody>
          <a:bodyPr wrap="square" lIns="635" tIns="635" rIns="635" bIns="635" rtlCol="0" anchor="t"/>
          <a:lstStyle/>
          <a:p>
            <a:pPr algn="l" indent="0" marL="0">
              <a:lnSpc>
                <a:spcPct val="100000"/>
              </a:lnSpc>
              <a:buNone/>
            </a:pPr>
            <a:r>
              <a:rPr lang="en-US" sz="1700" b="1" dirty="0">
                <a:solidFill>
                  <a:srgbClr val="1B2A41"/>
                </a:solidFill>
                <a:latin typeface="Calibri" pitchFamily="34" charset="0"/>
                <a:ea typeface="Calibri" pitchFamily="34" charset="-122"/>
                <a:cs typeface="Calibri" pitchFamily="34" charset="-120"/>
              </a:rPr>
              <a:t>The report actually answers it.</a:t>
            </a:r>
            <a:endParaRPr lang="en-US" sz="1700" dirty="0"/>
          </a:p>
        </p:txBody>
      </p:sp>
      <p:sp>
        <p:nvSpPr>
          <p:cNvPr id="13" name="text_163"/>
          <p:cNvSpPr txBox="1"/>
          <p:nvPr/>
        </p:nvSpPr>
        <p:spPr>
          <a:xfrm>
            <a:off x="6364224" y="2715768"/>
            <a:ext cx="5111496" cy="1033272"/>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Results + Conclusion: a direct answer, backed by quantified evidence.</a:t>
            </a:r>
            <a:endParaRPr lang="en-US" sz="1500" dirty="0"/>
          </a:p>
        </p:txBody>
      </p:sp>
      <p:sp>
        <p:nvSpPr>
          <p:cNvPr id="14" name="card_164"/>
          <p:cNvSpPr/>
          <p:nvPr/>
        </p:nvSpPr>
        <p:spPr>
          <a:xfrm>
            <a:off x="548640" y="4023360"/>
            <a:ext cx="5440680" cy="2057400"/>
          </a:xfrm>
          <a:prstGeom prst="roundRect">
            <a:avLst>
              <a:gd name="adj" fmla="val 3556"/>
            </a:avLst>
          </a:prstGeom>
          <a:solidFill>
            <a:srgbClr val="F7F4EE"/>
          </a:solidFill>
          <a:ln w="9525">
            <a:solidFill>
              <a:srgbClr val="D5DAE1"/>
            </a:solidFill>
            <a:prstDash val="solid"/>
          </a:ln>
        </p:spPr>
      </p:sp>
      <p:sp>
        <p:nvSpPr>
          <p:cNvPr id="15" name="tag_165"/>
          <p:cNvSpPr/>
          <p:nvPr/>
        </p:nvSpPr>
        <p:spPr>
          <a:xfrm>
            <a:off x="713232" y="4151376"/>
            <a:ext cx="534924" cy="256032"/>
          </a:xfrm>
          <a:prstGeom prst="roundRect">
            <a:avLst>
              <a:gd name="adj" fmla="val 21429"/>
            </a:avLst>
          </a:prstGeom>
          <a:solidFill>
            <a:srgbClr val="D98E1F"/>
          </a:solidFill>
          <a:ln w="12700">
            <a:solidFill>
              <a:srgbClr val="D98E1F"/>
            </a:solidFill>
            <a:prstDash val="solid"/>
          </a:ln>
        </p:spPr>
      </p:sp>
      <p:sp>
        <p:nvSpPr>
          <p:cNvPr id="16" name="text_166"/>
          <p:cNvSpPr txBox="1"/>
          <p:nvPr/>
        </p:nvSpPr>
        <p:spPr>
          <a:xfrm>
            <a:off x="713232" y="4151376"/>
            <a:ext cx="53492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VALUE</a:t>
            </a:r>
            <a:endParaRPr lang="en-US" sz="1050" dirty="0"/>
          </a:p>
        </p:txBody>
      </p:sp>
      <p:sp>
        <p:nvSpPr>
          <p:cNvPr id="17" name="text_167"/>
          <p:cNvSpPr txBox="1"/>
          <p:nvPr/>
        </p:nvSpPr>
        <p:spPr>
          <a:xfrm>
            <a:off x="713232" y="4498848"/>
            <a:ext cx="5111496" cy="457200"/>
          </a:xfrm>
          <a:prstGeom prst="rect">
            <a:avLst/>
          </a:prstGeom>
          <a:noFill/>
          <a:ln/>
        </p:spPr>
        <p:txBody>
          <a:bodyPr wrap="square" lIns="635" tIns="635" rIns="635" bIns="635" rtlCol="0" anchor="t"/>
          <a:lstStyle/>
          <a:p>
            <a:pPr algn="l" indent="0" marL="0">
              <a:lnSpc>
                <a:spcPct val="100000"/>
              </a:lnSpc>
              <a:buNone/>
            </a:pPr>
            <a:r>
              <a:rPr lang="en-US" sz="1700" b="1" dirty="0">
                <a:solidFill>
                  <a:srgbClr val="1B2A41"/>
                </a:solidFill>
                <a:latin typeface="Calibri" pitchFamily="34" charset="0"/>
                <a:ea typeface="Calibri" pitchFamily="34" charset="-122"/>
                <a:cs typeface="Calibri" pitchFamily="34" charset="-120"/>
              </a:rPr>
              <a:t>Every figure and sentence earns its place.</a:t>
            </a:r>
            <a:endParaRPr lang="en-US" sz="1700" dirty="0"/>
          </a:p>
        </p:txBody>
      </p:sp>
      <p:sp>
        <p:nvSpPr>
          <p:cNvPr id="18" name="text_168"/>
          <p:cNvSpPr txBox="1"/>
          <p:nvPr/>
        </p:nvSpPr>
        <p:spPr>
          <a:xfrm>
            <a:off x="713232" y="4956048"/>
            <a:ext cx="5111496" cy="1033272"/>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2,000 words, 3–5 figures: anything that doesn't serve the question goes.</a:t>
            </a:r>
            <a:endParaRPr lang="en-US" sz="1500" dirty="0"/>
          </a:p>
        </p:txBody>
      </p:sp>
      <p:sp>
        <p:nvSpPr>
          <p:cNvPr id="19" name="card_169"/>
          <p:cNvSpPr/>
          <p:nvPr/>
        </p:nvSpPr>
        <p:spPr>
          <a:xfrm>
            <a:off x="6199632" y="4023360"/>
            <a:ext cx="5440680" cy="2057400"/>
          </a:xfrm>
          <a:prstGeom prst="roundRect">
            <a:avLst>
              <a:gd name="adj" fmla="val 3556"/>
            </a:avLst>
          </a:prstGeom>
          <a:solidFill>
            <a:srgbClr val="F7F4EE"/>
          </a:solidFill>
          <a:ln w="9525">
            <a:solidFill>
              <a:srgbClr val="D5DAE1"/>
            </a:solidFill>
            <a:prstDash val="solid"/>
          </a:ln>
        </p:spPr>
      </p:sp>
      <p:sp>
        <p:nvSpPr>
          <p:cNvPr id="20" name="tag_170"/>
          <p:cNvSpPr/>
          <p:nvPr/>
        </p:nvSpPr>
        <p:spPr>
          <a:xfrm>
            <a:off x="6364224" y="4151376"/>
            <a:ext cx="923544" cy="256032"/>
          </a:xfrm>
          <a:prstGeom prst="roundRect">
            <a:avLst>
              <a:gd name="adj" fmla="val 21429"/>
            </a:avLst>
          </a:prstGeom>
          <a:solidFill>
            <a:srgbClr val="B04A35"/>
          </a:solidFill>
          <a:ln w="12700">
            <a:solidFill>
              <a:srgbClr val="B04A35"/>
            </a:solidFill>
            <a:prstDash val="solid"/>
          </a:ln>
        </p:spPr>
      </p:sp>
      <p:sp>
        <p:nvSpPr>
          <p:cNvPr id="21" name="text_171"/>
          <p:cNvSpPr txBox="1"/>
          <p:nvPr/>
        </p:nvSpPr>
        <p:spPr>
          <a:xfrm>
            <a:off x="6364224" y="4151376"/>
            <a:ext cx="92354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COMPETENCE</a:t>
            </a:r>
            <a:endParaRPr lang="en-US" sz="1050" dirty="0"/>
          </a:p>
        </p:txBody>
      </p:sp>
      <p:sp>
        <p:nvSpPr>
          <p:cNvPr id="22" name="text_172"/>
          <p:cNvSpPr txBox="1"/>
          <p:nvPr/>
        </p:nvSpPr>
        <p:spPr>
          <a:xfrm>
            <a:off x="6364224" y="4498848"/>
            <a:ext cx="5111496" cy="457200"/>
          </a:xfrm>
          <a:prstGeom prst="rect">
            <a:avLst/>
          </a:prstGeom>
          <a:noFill/>
          <a:ln/>
        </p:spPr>
        <p:txBody>
          <a:bodyPr wrap="square" lIns="635" tIns="635" rIns="635" bIns="635" rtlCol="0" anchor="t"/>
          <a:lstStyle/>
          <a:p>
            <a:pPr algn="l" indent="0" marL="0">
              <a:lnSpc>
                <a:spcPct val="100000"/>
              </a:lnSpc>
              <a:buNone/>
            </a:pPr>
            <a:r>
              <a:rPr lang="en-US" sz="1700" b="1" dirty="0">
                <a:solidFill>
                  <a:srgbClr val="1B2A41"/>
                </a:solidFill>
                <a:latin typeface="Calibri" pitchFamily="34" charset="0"/>
                <a:ea typeface="Calibri" pitchFamily="34" charset="-122"/>
                <a:cs typeface="Calibri" pitchFamily="34" charset="-120"/>
              </a:rPr>
              <a:t>The methods are sound and the limits honest.</a:t>
            </a:r>
            <a:endParaRPr lang="en-US" sz="1700" dirty="0"/>
          </a:p>
        </p:txBody>
      </p:sp>
      <p:sp>
        <p:nvSpPr>
          <p:cNvPr id="23" name="text_173"/>
          <p:cNvSpPr txBox="1"/>
          <p:nvPr/>
        </p:nvSpPr>
        <p:spPr>
          <a:xfrm>
            <a:off x="6364224" y="4956048"/>
            <a:ext cx="5111496" cy="1033272"/>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Methods + Discussion: could someone repeat it, and do you know where it could fail?</a:t>
            </a:r>
            <a:endParaRPr lang="en-US" sz="1500" dirty="0"/>
          </a:p>
        </p:txBody>
      </p:sp>
      <p:sp>
        <p:nvSpPr>
          <p:cNvPr id="24" name="text_174"/>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Adapted from the four propositions in Aldridge &amp; Derrington, The Research Funding Toolkit (used in the EART29200 proposal tutorials).</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_175"/>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AI Minimal: what it means in practice</a:t>
            </a:r>
            <a:endParaRPr lang="en-US" sz="2800" dirty="0"/>
          </a:p>
        </p:txBody>
      </p:sp>
      <p:sp>
        <p:nvSpPr>
          <p:cNvPr id="3" name="bullets_176"/>
          <p:cNvSpPr txBox="1"/>
          <p:nvPr/>
        </p:nvSpPr>
        <p:spPr>
          <a:xfrm>
            <a:off x="548640" y="1325880"/>
            <a:ext cx="5486400" cy="4937760"/>
          </a:xfrm>
          <a:prstGeom prst="rect">
            <a:avLst/>
          </a:prstGeom>
          <a:noFill/>
          <a:ln/>
        </p:spPr>
        <p:txBody>
          <a:bodyPr wrap="square" lIns="635" tIns="635" rIns="635" bIns="635" rtlCol="0" anchor="t"/>
          <a:lstStyle/>
          <a:p>
            <a:pPr marL="342900" indent="-342900">
              <a:spcAft>
                <a:spcPts val="900"/>
              </a:spcAft>
              <a:buSzPct val="100000"/>
              <a:buChar char="■"/>
            </a:pPr>
            <a:r>
              <a:rPr lang="en-US" sz="1650" b="1" dirty="0">
                <a:solidFill>
                  <a:srgbClr val="222B36"/>
                </a:solidFill>
                <a:latin typeface="Calibri" pitchFamily="34" charset="0"/>
                <a:ea typeface="Calibri" pitchFamily="34" charset="-122"/>
                <a:cs typeface="Calibri" pitchFamily="34" charset="-120"/>
              </a:rPr>
              <a:t>Allowed:</a:t>
            </a:r>
            <a:r>
              <a:rPr lang="en-US" sz="1650" dirty="0">
                <a:solidFill>
                  <a:srgbClr val="222B36"/>
                </a:solidFill>
                <a:latin typeface="Calibri" pitchFamily="34" charset="0"/>
                <a:ea typeface="Calibri" pitchFamily="34" charset="-122"/>
                <a:cs typeface="Calibri" pitchFamily="34" charset="-120"/>
              </a:rPr>
              <a:t> grammar, spelling, fluency and formatting support </a:t>
            </a:r>
            <a:r>
              <a:rPr lang="en-US" sz="1650" b="1" dirty="0">
                <a:solidFill>
                  <a:srgbClr val="222B36"/>
                </a:solidFill>
                <a:latin typeface="Calibri" pitchFamily="34" charset="0"/>
                <a:ea typeface="Calibri" pitchFamily="34" charset="-122"/>
                <a:cs typeface="Calibri" pitchFamily="34" charset="-120"/>
              </a:rPr>
              <a:t>on text you have already written</a:t>
            </a:r>
            <a:r>
              <a:rPr lang="en-US" sz="1650" dirty="0">
                <a:solidFill>
                  <a:srgbClr val="222B36"/>
                </a:solidFill>
                <a:latin typeface="Calibri" pitchFamily="34" charset="0"/>
                <a:ea typeface="Calibri" pitchFamily="34" charset="-122"/>
                <a:cs typeface="Calibri" pitchFamily="34" charset="-120"/>
              </a:rPr>
              <a:t>.</a:t>
            </a:r>
            <a:endParaRPr lang="en-US" sz="1650" dirty="0"/>
          </a:p>
          <a:p>
            <a:pPr marL="342900" indent="-342900">
              <a:spcAft>
                <a:spcPts val="900"/>
              </a:spcAft>
              <a:buSzPct val="100000"/>
              <a:buChar char="■"/>
            </a:pPr>
            <a:r>
              <a:rPr lang="en-US" sz="1650" b="1" dirty="0">
                <a:solidFill>
                  <a:srgbClr val="222B36"/>
                </a:solidFill>
                <a:latin typeface="Calibri" pitchFamily="34" charset="0"/>
                <a:ea typeface="Calibri" pitchFamily="34" charset="-122"/>
                <a:cs typeface="Calibri" pitchFamily="34" charset="-120"/>
              </a:rPr>
              <a:t>Not allowed:</a:t>
            </a:r>
            <a:r>
              <a:rPr lang="en-US" sz="1650" dirty="0">
                <a:solidFill>
                  <a:srgbClr val="222B36"/>
                </a:solidFill>
                <a:latin typeface="Calibri" pitchFamily="34" charset="0"/>
                <a:ea typeface="Calibri" pitchFamily="34" charset="-122"/>
                <a:cs typeface="Calibri" pitchFamily="34" charset="-120"/>
              </a:rPr>
              <a:t> generating or choosing your question, structure, arguments, interpretation or conclusions; summarising papers for you; drafting or rewriting paragraphs.</a:t>
            </a:r>
            <a:endParaRPr lang="en-US" sz="1650" dirty="0"/>
          </a:p>
          <a:p>
            <a:pPr marL="342900" indent="-342900">
              <a:spcAft>
                <a:spcPts val="900"/>
              </a:spcAft>
              <a:buSzPct val="100000"/>
              <a:buChar char="■"/>
            </a:pPr>
            <a:r>
              <a:rPr lang="en-US" sz="1650" b="1" dirty="0">
                <a:solidFill>
                  <a:srgbClr val="1B2A41"/>
                </a:solidFill>
                <a:latin typeface="Calibri" pitchFamily="34" charset="0"/>
                <a:ea typeface="Calibri" pitchFamily="34" charset="-122"/>
                <a:cs typeface="Calibri" pitchFamily="34" charset="-120"/>
              </a:rPr>
              <a:t>Why it matters here: </a:t>
            </a:r>
            <a:r>
              <a:rPr lang="en-US" sz="1650" dirty="0">
                <a:solidFill>
                  <a:srgbClr val="222B36"/>
                </a:solidFill>
                <a:latin typeface="Calibri" pitchFamily="34" charset="0"/>
                <a:ea typeface="Calibri" pitchFamily="34" charset="-122"/>
                <a:cs typeface="Calibri" pitchFamily="34" charset="-120"/>
              </a:rPr>
              <a:t>the marks are for </a:t>
            </a:r>
            <a:r>
              <a:rPr lang="en-US" sz="1650" b="1" dirty="0">
                <a:solidFill>
                  <a:srgbClr val="222B36"/>
                </a:solidFill>
                <a:latin typeface="Calibri" pitchFamily="34" charset="0"/>
                <a:ea typeface="Calibri" pitchFamily="34" charset="-122"/>
                <a:cs typeface="Calibri" pitchFamily="34" charset="-120"/>
              </a:rPr>
              <a:t>your</a:t>
            </a:r>
            <a:r>
              <a:rPr lang="en-US" sz="1650" dirty="0">
                <a:solidFill>
                  <a:srgbClr val="222B36"/>
                </a:solidFill>
                <a:latin typeface="Calibri" pitchFamily="34" charset="0"/>
                <a:ea typeface="Calibri" pitchFamily="34" charset="-122"/>
                <a:cs typeface="Calibri" pitchFamily="34" charset="-120"/>
              </a:rPr>
              <a:t> scientific thinking, and in this course the writing </a:t>
            </a:r>
            <a:r>
              <a:rPr lang="en-US" sz="1650" b="1" dirty="0">
                <a:solidFill>
                  <a:srgbClr val="222B36"/>
                </a:solidFill>
                <a:latin typeface="Calibri" pitchFamily="34" charset="0"/>
                <a:ea typeface="Calibri" pitchFamily="34" charset="-122"/>
                <a:cs typeface="Calibri" pitchFamily="34" charset="-120"/>
              </a:rPr>
              <a:t>is</a:t>
            </a:r>
            <a:r>
              <a:rPr lang="en-US" sz="1650" dirty="0">
                <a:solidFill>
                  <a:srgbClr val="222B36"/>
                </a:solidFill>
                <a:latin typeface="Calibri" pitchFamily="34" charset="0"/>
                <a:ea typeface="Calibri" pitchFamily="34" charset="-122"/>
                <a:cs typeface="Calibri" pitchFamily="34" charset="-120"/>
              </a:rPr>
              <a:t> the thinking we are teaching.</a:t>
            </a:r>
            <a:endParaRPr lang="en-US" sz="1650" dirty="0"/>
          </a:p>
          <a:p>
            <a:pPr marL="342900" indent="-342900">
              <a:spcAft>
                <a:spcPts val="900"/>
              </a:spcAft>
              <a:buSzPct val="100000"/>
              <a:buChar char="■"/>
            </a:pPr>
            <a:r>
              <a:rPr lang="en-US" sz="1650" b="1" dirty="0">
                <a:solidFill>
                  <a:srgbClr val="1B2A41"/>
                </a:solidFill>
                <a:latin typeface="Calibri" pitchFamily="34" charset="0"/>
                <a:ea typeface="Calibri" pitchFamily="34" charset="-122"/>
                <a:cs typeface="Calibri" pitchFamily="34" charset="-120"/>
              </a:rPr>
              <a:t>Protect yourself: </a:t>
            </a:r>
            <a:r>
              <a:rPr lang="en-US" sz="1650" dirty="0">
                <a:solidFill>
                  <a:srgbClr val="222B36"/>
                </a:solidFill>
                <a:latin typeface="Calibri" pitchFamily="34" charset="0"/>
                <a:ea typeface="Calibri" pitchFamily="34" charset="-122"/>
                <a:cs typeface="Calibri" pitchFamily="34" charset="-120"/>
              </a:rPr>
              <a:t>keep </a:t>
            </a:r>
            <a:r>
              <a:rPr lang="en-US" sz="1650" b="1" dirty="0">
                <a:solidFill>
                  <a:srgbClr val="222B36"/>
                </a:solidFill>
                <a:latin typeface="Calibri" pitchFamily="34" charset="0"/>
                <a:ea typeface="Calibri" pitchFamily="34" charset="-122"/>
                <a:cs typeface="Calibri" pitchFamily="34" charset="-120"/>
              </a:rPr>
              <a:t>dated versions</a:t>
            </a:r>
            <a:r>
              <a:rPr lang="en-US" sz="1650" dirty="0">
                <a:solidFill>
                  <a:srgbClr val="222B36"/>
                </a:solidFill>
                <a:latin typeface="Calibri" pitchFamily="34" charset="0"/>
                <a:ea typeface="Calibri" pitchFamily="34" charset="-122"/>
                <a:cs typeface="Calibri" pitchFamily="34" charset="-120"/>
              </a:rPr>
              <a:t> (e.g. report_v04_2026-11-12.docx) and your </a:t>
            </a:r>
            <a:r>
              <a:rPr lang="en-US" sz="1650" b="1" dirty="0">
                <a:solidFill>
                  <a:srgbClr val="222B36"/>
                </a:solidFill>
                <a:latin typeface="Calibri" pitchFamily="34" charset="0"/>
                <a:ea typeface="Calibri" pitchFamily="34" charset="-122"/>
                <a:cs typeface="Calibri" pitchFamily="34" charset="-120"/>
              </a:rPr>
              <a:t>writing log</a:t>
            </a:r>
            <a:r>
              <a:rPr lang="en-US" sz="1650" dirty="0">
                <a:solidFill>
                  <a:srgbClr val="222B36"/>
                </a:solidFill>
                <a:latin typeface="Calibri" pitchFamily="34" charset="0"/>
                <a:ea typeface="Calibri" pitchFamily="34" charset="-122"/>
                <a:cs typeface="Calibri" pitchFamily="34" charset="-120"/>
              </a:rPr>
              <a:t>. Together they show how your work developed.</a:t>
            </a:r>
            <a:endParaRPr lang="en-US" sz="1650" dirty="0"/>
          </a:p>
          <a:p>
            <a:pPr marL="342900" indent="-342900">
              <a:spcAft>
                <a:spcPts val="900"/>
              </a:spcAft>
              <a:buSzPct val="100000"/>
              <a:buChar char="■"/>
            </a:pPr>
            <a:r>
              <a:rPr lang="en-US" sz="1650" b="1" dirty="0">
                <a:solidFill>
                  <a:srgbClr val="1B2A41"/>
                </a:solidFill>
                <a:latin typeface="Calibri" pitchFamily="34" charset="0"/>
                <a:ea typeface="Calibri" pitchFamily="34" charset="-122"/>
                <a:cs typeface="Calibri" pitchFamily="34" charset="-120"/>
              </a:rPr>
              <a:t>Unsure whether something is allowed? </a:t>
            </a:r>
            <a:r>
              <a:rPr lang="en-US" sz="1650" dirty="0">
                <a:solidFill>
                  <a:srgbClr val="222B36"/>
                </a:solidFill>
                <a:latin typeface="Calibri" pitchFamily="34" charset="0"/>
                <a:ea typeface="Calibri" pitchFamily="34" charset="-122"/>
                <a:cs typeface="Calibri" pitchFamily="34" charset="-120"/>
              </a:rPr>
              <a:t>Ask your tutor </a:t>
            </a:r>
            <a:r>
              <a:rPr lang="en-US" sz="1650" b="1" dirty="0">
                <a:solidFill>
                  <a:srgbClr val="222B36"/>
                </a:solidFill>
                <a:latin typeface="Calibri" pitchFamily="34" charset="0"/>
                <a:ea typeface="Calibri" pitchFamily="34" charset="-122"/>
                <a:cs typeface="Calibri" pitchFamily="34" charset="-120"/>
              </a:rPr>
              <a:t>before</a:t>
            </a:r>
            <a:r>
              <a:rPr lang="en-US" sz="1650" dirty="0">
                <a:solidFill>
                  <a:srgbClr val="222B36"/>
                </a:solidFill>
                <a:latin typeface="Calibri" pitchFamily="34" charset="0"/>
                <a:ea typeface="Calibri" pitchFamily="34" charset="-122"/>
                <a:cs typeface="Calibri" pitchFamily="34" charset="-120"/>
              </a:rPr>
              <a:t> you do it, not after.</a:t>
            </a:r>
            <a:endParaRPr lang="en-US" sz="1650" dirty="0"/>
          </a:p>
        </p:txBody>
      </p:sp>
      <p:sp>
        <p:nvSpPr>
          <p:cNvPr id="4" name="card_177"/>
          <p:cNvSpPr/>
          <p:nvPr/>
        </p:nvSpPr>
        <p:spPr>
          <a:xfrm>
            <a:off x="6355080" y="1325880"/>
            <a:ext cx="5287975" cy="4754880"/>
          </a:xfrm>
          <a:prstGeom prst="roundRect">
            <a:avLst>
              <a:gd name="adj" fmla="val 1538"/>
            </a:avLst>
          </a:prstGeom>
          <a:solidFill>
            <a:srgbClr val="DCE7F2"/>
          </a:solidFill>
          <a:ln w="9525">
            <a:solidFill>
              <a:srgbClr val="DCE7F2"/>
            </a:solidFill>
            <a:prstDash val="solid"/>
          </a:ln>
        </p:spPr>
      </p:sp>
      <p:sp>
        <p:nvSpPr>
          <p:cNvPr id="5" name="tag_178"/>
          <p:cNvSpPr/>
          <p:nvPr/>
        </p:nvSpPr>
        <p:spPr>
          <a:xfrm>
            <a:off x="6519672" y="1453896"/>
            <a:ext cx="923544" cy="256032"/>
          </a:xfrm>
          <a:prstGeom prst="roundRect">
            <a:avLst>
              <a:gd name="adj" fmla="val 21429"/>
            </a:avLst>
          </a:prstGeom>
          <a:solidFill>
            <a:srgbClr val="2E4A6B"/>
          </a:solidFill>
          <a:ln w="12700">
            <a:solidFill>
              <a:srgbClr val="2E4A6B"/>
            </a:solidFill>
            <a:prstDash val="solid"/>
          </a:ln>
        </p:spPr>
      </p:sp>
      <p:sp>
        <p:nvSpPr>
          <p:cNvPr id="6" name="text_179"/>
          <p:cNvSpPr txBox="1"/>
          <p:nvPr/>
        </p:nvSpPr>
        <p:spPr>
          <a:xfrm>
            <a:off x="6519672" y="1453896"/>
            <a:ext cx="92354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THE POLICY</a:t>
            </a:r>
            <a:endParaRPr lang="en-US" sz="1050" dirty="0"/>
          </a:p>
        </p:txBody>
      </p:sp>
      <p:sp>
        <p:nvSpPr>
          <p:cNvPr id="7" name="text_180"/>
          <p:cNvSpPr txBox="1"/>
          <p:nvPr/>
        </p:nvSpPr>
        <p:spPr>
          <a:xfrm>
            <a:off x="6519672" y="1801368"/>
            <a:ext cx="4958791" cy="457200"/>
          </a:xfrm>
          <a:prstGeom prst="rect">
            <a:avLst/>
          </a:prstGeom>
          <a:noFill/>
          <a:ln/>
        </p:spPr>
        <p:txBody>
          <a:bodyPr wrap="square" lIns="635" tIns="635" rIns="635" bIns="635" rtlCol="0" anchor="t"/>
          <a:lstStyle/>
          <a:p>
            <a:pPr algn="l" indent="0" marL="0">
              <a:lnSpc>
                <a:spcPct val="100000"/>
              </a:lnSpc>
              <a:buNone/>
            </a:pPr>
            <a:r>
              <a:rPr lang="en-US" sz="1700" b="1" dirty="0">
                <a:solidFill>
                  <a:srgbClr val="1B2A41"/>
                </a:solidFill>
                <a:latin typeface="Calibri" pitchFamily="34" charset="0"/>
                <a:ea typeface="Calibri" pitchFamily="34" charset="-122"/>
                <a:cs typeface="Calibri" pitchFamily="34" charset="-120"/>
              </a:rPr>
              <a:t>Category: AI Minimal</a:t>
            </a:r>
            <a:endParaRPr lang="en-US" sz="1700" dirty="0"/>
          </a:p>
        </p:txBody>
      </p:sp>
      <p:sp>
        <p:nvSpPr>
          <p:cNvPr id="8" name="text_181"/>
          <p:cNvSpPr txBox="1"/>
          <p:nvPr/>
        </p:nvSpPr>
        <p:spPr>
          <a:xfrm>
            <a:off x="6519672" y="2258568"/>
            <a:ext cx="4958791" cy="3730752"/>
          </a:xfrm>
          <a:prstGeom prst="rect">
            <a:avLst/>
          </a:prstGeom>
          <a:noFill/>
          <a:ln/>
        </p:spPr>
        <p:txBody>
          <a:bodyPr wrap="square" lIns="635" tIns="635" rIns="635" bIns="635" rtlCol="0" anchor="t"/>
          <a:lstStyle/>
          <a:p>
            <a:pPr algn="l" indent="0" marL="0">
              <a:lnSpc>
                <a:spcPct val="100000"/>
              </a:lnSpc>
              <a:buNone/>
            </a:pPr>
            <a:r>
              <a:rPr lang="en-US" sz="1500" i="1" dirty="0">
                <a:solidFill>
                  <a:srgbClr val="222B36"/>
                </a:solidFill>
                <a:latin typeface="Calibri" pitchFamily="34" charset="0"/>
                <a:ea typeface="Calibri" pitchFamily="34" charset="-122"/>
                <a:cs typeface="Calibri" pitchFamily="34" charset="-120"/>
              </a:rPr>
              <a:t>“AI may be used only for limited presentation-related support, such as grammar, fluency, spelling, or formatting. Students' ideas, arguments, and conclusions must remain their own.”</a:t>
            </a:r>
            <a:endParaRPr lang="en-US" sz="1500" dirty="0"/>
          </a:p>
          <a:p>
            <a:pPr algn="l" indent="0" marL="0">
              <a:lnSpc>
                <a:spcPct val="100000"/>
              </a:lnSpc>
              <a:buNone/>
            </a:pPr>
            <a:endParaRPr lang="en-US" sz="1500" dirty="0"/>
          </a:p>
          <a:p>
            <a:pPr algn="l" indent="0" marL="0">
              <a:lnSpc>
                <a:spcPct val="100000"/>
              </a:lnSpc>
              <a:buNone/>
            </a:pPr>
            <a:r>
              <a:rPr lang="en-US" sz="1500" i="1" dirty="0">
                <a:solidFill>
                  <a:srgbClr val="222B36"/>
                </a:solidFill>
                <a:latin typeface="Calibri" pitchFamily="34" charset="0"/>
                <a:ea typeface="Calibri" pitchFamily="34" charset="-122"/>
                <a:cs typeface="Calibri" pitchFamily="34" charset="-120"/>
              </a:rPr>
              <a:t>EART29200 course unit description</a:t>
            </a:r>
            <a:endParaRPr lang="en-US" sz="15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actband_182"/>
          <p:cNvSpPr/>
          <p:nvPr/>
        </p:nvSpPr>
        <p:spPr>
          <a:xfrm>
            <a:off x="0" y="237744"/>
            <a:ext cx="12191695" cy="914400"/>
          </a:xfrm>
          <a:prstGeom prst="rect">
            <a:avLst/>
          </a:prstGeom>
          <a:solidFill>
            <a:srgbClr val="FBEBD0"/>
          </a:solidFill>
          <a:ln w="12700">
            <a:solidFill>
              <a:srgbClr val="FBEBD0"/>
            </a:solidFill>
            <a:prstDash val="solid"/>
          </a:ln>
        </p:spPr>
      </p:sp>
      <p:sp>
        <p:nvSpPr>
          <p:cNvPr id="3" name="text_183"/>
          <p:cNvSpPr txBox="1"/>
          <p:nvPr/>
        </p:nvSpPr>
        <p:spPr>
          <a:xfrm>
            <a:off x="548640" y="329184"/>
            <a:ext cx="5486400" cy="274320"/>
          </a:xfrm>
          <a:prstGeom prst="rect">
            <a:avLst/>
          </a:prstGeom>
          <a:noFill/>
          <a:ln/>
        </p:spPr>
        <p:txBody>
          <a:bodyPr wrap="square" lIns="635" tIns="635" rIns="635" bIns="635" rtlCol="0" anchor="t"/>
          <a:lstStyle/>
          <a:p>
            <a:pPr algn="l" indent="0" marL="0">
              <a:lnSpc>
                <a:spcPct val="100000"/>
              </a:lnSpc>
              <a:buNone/>
            </a:pPr>
            <a:r>
              <a:rPr lang="en-US" sz="1100" b="1" dirty="0">
                <a:solidFill>
                  <a:srgbClr val="D98E1F"/>
                </a:solidFill>
                <a:latin typeface="Calibri" pitchFamily="34" charset="0"/>
                <a:ea typeface="Calibri" pitchFamily="34" charset="-122"/>
                <a:cs typeface="Calibri" pitchFamily="34" charset="-120"/>
              </a:rPr>
              <a:t>IN-CLASS ACTIVITY  ·  13 MIN</a:t>
            </a:r>
            <a:endParaRPr lang="en-US" sz="1100" dirty="0"/>
          </a:p>
        </p:txBody>
      </p:sp>
      <p:sp>
        <p:nvSpPr>
          <p:cNvPr id="4" name="text_184"/>
          <p:cNvSpPr txBox="1"/>
          <p:nvPr/>
        </p:nvSpPr>
        <p:spPr>
          <a:xfrm>
            <a:off x="548640" y="548640"/>
            <a:ext cx="11064240" cy="548640"/>
          </a:xfrm>
          <a:prstGeom prst="rect">
            <a:avLst/>
          </a:prstGeom>
          <a:noFill/>
          <a:ln/>
        </p:spPr>
        <p:txBody>
          <a:bodyPr wrap="square" lIns="635" tIns="635" rIns="635" bIns="635" rtlCol="0" anchor="t"/>
          <a:lstStyle/>
          <a:p>
            <a:pPr algn="l" indent="0" marL="0">
              <a:lnSpc>
                <a:spcPct val="100000"/>
              </a:lnSpc>
              <a:buNone/>
            </a:pPr>
            <a:r>
              <a:rPr lang="en-US" sz="2600" b="1" dirty="0">
                <a:solidFill>
                  <a:srgbClr val="1B2A41"/>
                </a:solidFill>
                <a:latin typeface="Georgia" pitchFamily="34" charset="0"/>
                <a:ea typeface="Georgia" pitchFamily="34" charset="-122"/>
                <a:cs typeface="Georgia" pitchFamily="34" charset="-120"/>
              </a:rPr>
              <a:t>Explain it to a friend</a:t>
            </a:r>
            <a:endParaRPr lang="en-US" sz="2600" dirty="0"/>
          </a:p>
        </p:txBody>
      </p:sp>
      <p:sp>
        <p:nvSpPr>
          <p:cNvPr id="5" name="num_185"/>
          <p:cNvSpPr/>
          <p:nvPr/>
        </p:nvSpPr>
        <p:spPr>
          <a:xfrm>
            <a:off x="594360" y="1435608"/>
            <a:ext cx="365760" cy="365760"/>
          </a:xfrm>
          <a:prstGeom prst="ellipse">
            <a:avLst/>
          </a:prstGeom>
          <a:solidFill>
            <a:srgbClr val="D98E1F"/>
          </a:solidFill>
          <a:ln w="12700">
            <a:solidFill>
              <a:srgbClr val="D98E1F"/>
            </a:solidFill>
            <a:prstDash val="solid"/>
          </a:ln>
        </p:spPr>
      </p:sp>
      <p:sp>
        <p:nvSpPr>
          <p:cNvPr id="6" name="text_186"/>
          <p:cNvSpPr txBox="1"/>
          <p:nvPr/>
        </p:nvSpPr>
        <p:spPr>
          <a:xfrm>
            <a:off x="594360" y="1435608"/>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_187"/>
          <p:cNvSpPr txBox="1"/>
          <p:nvPr/>
        </p:nvSpPr>
        <p:spPr>
          <a:xfrm>
            <a:off x="1097280" y="1417320"/>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Imagine writing to a friend who studies something else (Schultz: write ‘a letter to a friend about your work in plain language’).</a:t>
            </a:r>
            <a:endParaRPr lang="en-US" sz="1500" dirty="0"/>
          </a:p>
        </p:txBody>
      </p:sp>
      <p:sp>
        <p:nvSpPr>
          <p:cNvPr id="8" name="num_188"/>
          <p:cNvSpPr/>
          <p:nvPr/>
        </p:nvSpPr>
        <p:spPr>
          <a:xfrm>
            <a:off x="594360" y="2221992"/>
            <a:ext cx="365760" cy="365760"/>
          </a:xfrm>
          <a:prstGeom prst="ellipse">
            <a:avLst/>
          </a:prstGeom>
          <a:solidFill>
            <a:srgbClr val="D98E1F"/>
          </a:solidFill>
          <a:ln w="12700">
            <a:solidFill>
              <a:srgbClr val="D98E1F"/>
            </a:solidFill>
            <a:prstDash val="solid"/>
          </a:ln>
        </p:spPr>
      </p:sp>
      <p:sp>
        <p:nvSpPr>
          <p:cNvPr id="9" name="text_189"/>
          <p:cNvSpPr txBox="1"/>
          <p:nvPr/>
        </p:nvSpPr>
        <p:spPr>
          <a:xfrm>
            <a:off x="594360" y="2221992"/>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_190"/>
          <p:cNvSpPr txBox="1"/>
          <p:nvPr/>
        </p:nvSpPr>
        <p:spPr>
          <a:xfrm>
            <a:off x="1097280" y="2203704"/>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In </a:t>
            </a:r>
            <a:r>
              <a:rPr lang="en-US" sz="1500" b="1" dirty="0">
                <a:solidFill>
                  <a:srgbClr val="222B36"/>
                </a:solidFill>
                <a:latin typeface="Calibri" pitchFamily="34" charset="0"/>
                <a:ea typeface="Calibri" pitchFamily="34" charset="-122"/>
                <a:cs typeface="Calibri" pitchFamily="34" charset="-120"/>
              </a:rPr>
              <a:t>150 words, by hand, no notes</a:t>
            </a:r>
            <a:r>
              <a:rPr lang="en-US" sz="1500" dirty="0">
                <a:solidFill>
                  <a:srgbClr val="222B36"/>
                </a:solidFill>
                <a:latin typeface="Calibri" pitchFamily="34" charset="0"/>
                <a:ea typeface="Calibri" pitchFamily="34" charset="-122"/>
                <a:cs typeface="Calibri" pitchFamily="34" charset="-120"/>
              </a:rPr>
              <a:t>, explain (a) what a cloud-cover </a:t>
            </a:r>
            <a:r>
              <a:rPr lang="en-US" sz="1500" b="1" dirty="0">
                <a:solidFill>
                  <a:srgbClr val="222B36"/>
                </a:solidFill>
                <a:latin typeface="Calibri" pitchFamily="34" charset="0"/>
                <a:ea typeface="Calibri" pitchFamily="34" charset="-122"/>
                <a:cs typeface="Calibri" pitchFamily="34" charset="-120"/>
              </a:rPr>
              <a:t>anomaly</a:t>
            </a:r>
            <a:r>
              <a:rPr lang="en-US" sz="1500" dirty="0">
                <a:solidFill>
                  <a:srgbClr val="222B36"/>
                </a:solidFill>
                <a:latin typeface="Calibri" pitchFamily="34" charset="0"/>
                <a:ea typeface="Calibri" pitchFamily="34" charset="-122"/>
                <a:cs typeface="Calibri" pitchFamily="34" charset="-120"/>
              </a:rPr>
              <a:t> is and (b) why ENSO might change cloud somewhere.</a:t>
            </a:r>
            <a:endParaRPr lang="en-US" sz="1500" dirty="0"/>
          </a:p>
        </p:txBody>
      </p:sp>
      <p:sp>
        <p:nvSpPr>
          <p:cNvPr id="11" name="num_191"/>
          <p:cNvSpPr/>
          <p:nvPr/>
        </p:nvSpPr>
        <p:spPr>
          <a:xfrm>
            <a:off x="594360" y="3008376"/>
            <a:ext cx="365760" cy="365760"/>
          </a:xfrm>
          <a:prstGeom prst="ellipse">
            <a:avLst/>
          </a:prstGeom>
          <a:solidFill>
            <a:srgbClr val="D98E1F"/>
          </a:solidFill>
          <a:ln w="12700">
            <a:solidFill>
              <a:srgbClr val="D98E1F"/>
            </a:solidFill>
            <a:prstDash val="solid"/>
          </a:ln>
        </p:spPr>
      </p:sp>
      <p:sp>
        <p:nvSpPr>
          <p:cNvPr id="12" name="text_192"/>
          <p:cNvSpPr txBox="1"/>
          <p:nvPr/>
        </p:nvSpPr>
        <p:spPr>
          <a:xfrm>
            <a:off x="594360" y="3008376"/>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_193"/>
          <p:cNvSpPr txBox="1"/>
          <p:nvPr/>
        </p:nvSpPr>
        <p:spPr>
          <a:xfrm>
            <a:off x="1097280" y="2990088"/>
            <a:ext cx="6126480" cy="457200"/>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Stop at 7 minutes, even if unfinished. Count your words.</a:t>
            </a:r>
            <a:endParaRPr lang="en-US" sz="1500" dirty="0"/>
          </a:p>
        </p:txBody>
      </p:sp>
      <p:sp>
        <p:nvSpPr>
          <p:cNvPr id="14" name="num_194"/>
          <p:cNvSpPr/>
          <p:nvPr/>
        </p:nvSpPr>
        <p:spPr>
          <a:xfrm>
            <a:off x="594360" y="3593592"/>
            <a:ext cx="365760" cy="365760"/>
          </a:xfrm>
          <a:prstGeom prst="ellipse">
            <a:avLst/>
          </a:prstGeom>
          <a:solidFill>
            <a:srgbClr val="D98E1F"/>
          </a:solidFill>
          <a:ln w="12700">
            <a:solidFill>
              <a:srgbClr val="D98E1F"/>
            </a:solidFill>
            <a:prstDash val="solid"/>
          </a:ln>
        </p:spPr>
      </p:sp>
      <p:sp>
        <p:nvSpPr>
          <p:cNvPr id="15" name="text_195"/>
          <p:cNvSpPr txBox="1"/>
          <p:nvPr/>
        </p:nvSpPr>
        <p:spPr>
          <a:xfrm>
            <a:off x="594360" y="3593592"/>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_196"/>
          <p:cNvSpPr txBox="1"/>
          <p:nvPr/>
        </p:nvSpPr>
        <p:spPr>
          <a:xfrm>
            <a:off x="1097280" y="3575304"/>
            <a:ext cx="6126480" cy="658368"/>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Swap with a neighbour. </a:t>
            </a:r>
            <a:r>
              <a:rPr lang="en-US" sz="1500" b="1" dirty="0">
                <a:solidFill>
                  <a:srgbClr val="222B36"/>
                </a:solidFill>
                <a:latin typeface="Calibri" pitchFamily="34" charset="0"/>
                <a:ea typeface="Calibri" pitchFamily="34" charset="-122"/>
                <a:cs typeface="Calibri" pitchFamily="34" charset="-120"/>
              </a:rPr>
              <a:t>Underline</a:t>
            </a:r>
            <a:r>
              <a:rPr lang="en-US" sz="1500" dirty="0">
                <a:solidFill>
                  <a:srgbClr val="222B36"/>
                </a:solidFill>
                <a:latin typeface="Calibri" pitchFamily="34" charset="0"/>
                <a:ea typeface="Calibri" pitchFamily="34" charset="-122"/>
                <a:cs typeface="Calibri" pitchFamily="34" charset="-120"/>
              </a:rPr>
              <a:t> the clearest sentence. </a:t>
            </a:r>
            <a:r>
              <a:rPr lang="en-US" sz="1500" b="1" dirty="0">
                <a:solidFill>
                  <a:srgbClr val="222B36"/>
                </a:solidFill>
                <a:latin typeface="Calibri" pitchFamily="34" charset="0"/>
                <a:ea typeface="Calibri" pitchFamily="34" charset="-122"/>
                <a:cs typeface="Calibri" pitchFamily="34" charset="-120"/>
              </a:rPr>
              <a:t>Circle</a:t>
            </a:r>
            <a:r>
              <a:rPr lang="en-US" sz="1500" dirty="0">
                <a:solidFill>
                  <a:srgbClr val="222B36"/>
                </a:solidFill>
                <a:latin typeface="Calibri" pitchFamily="34" charset="0"/>
                <a:ea typeface="Calibri" pitchFamily="34" charset="-122"/>
                <a:cs typeface="Calibri" pitchFamily="34" charset="-120"/>
              </a:rPr>
              <a:t> the first place you had to reread.</a:t>
            </a:r>
            <a:endParaRPr lang="en-US" sz="1500" dirty="0"/>
          </a:p>
        </p:txBody>
      </p:sp>
      <p:sp>
        <p:nvSpPr>
          <p:cNvPr id="17" name="num_197"/>
          <p:cNvSpPr/>
          <p:nvPr/>
        </p:nvSpPr>
        <p:spPr>
          <a:xfrm>
            <a:off x="594360" y="4379976"/>
            <a:ext cx="365760" cy="365760"/>
          </a:xfrm>
          <a:prstGeom prst="ellipse">
            <a:avLst/>
          </a:prstGeom>
          <a:solidFill>
            <a:srgbClr val="D98E1F"/>
          </a:solidFill>
          <a:ln w="12700">
            <a:solidFill>
              <a:srgbClr val="D98E1F"/>
            </a:solidFill>
            <a:prstDash val="solid"/>
          </a:ln>
        </p:spPr>
      </p:sp>
      <p:sp>
        <p:nvSpPr>
          <p:cNvPr id="18" name="text_198"/>
          <p:cNvSpPr txBox="1"/>
          <p:nvPr/>
        </p:nvSpPr>
        <p:spPr>
          <a:xfrm>
            <a:off x="594360" y="4379976"/>
            <a:ext cx="365760" cy="365760"/>
          </a:xfrm>
          <a:prstGeom prst="rect">
            <a:avLst/>
          </a:prstGeom>
          <a:noFill/>
          <a:ln/>
        </p:spPr>
        <p:txBody>
          <a:bodyPr wrap="square" lIns="0" tIns="0" rIns="0" bIns="0" rtlCol="0" anchor="ctr"/>
          <a:lstStyle/>
          <a:p>
            <a:pPr algn="ctr" indent="0" marL="0">
              <a:lnSpc>
                <a:spcPct val="100000"/>
              </a:lnSpc>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9" name="text_199"/>
          <p:cNvSpPr txBox="1"/>
          <p:nvPr/>
        </p:nvSpPr>
        <p:spPr>
          <a:xfrm>
            <a:off x="1097280" y="4361688"/>
            <a:ext cx="6126480" cy="457200"/>
          </a:xfrm>
          <a:prstGeom prst="rect">
            <a:avLst/>
          </a:prstGeom>
          <a:noFill/>
          <a:ln/>
        </p:spPr>
        <p:txBody>
          <a:bodyPr wrap="square" lIns="635" tIns="635" rIns="635" bIns="635" rtlCol="0" anchor="t"/>
          <a:lstStyle/>
          <a:p>
            <a:pPr algn="l" indent="0" marL="0">
              <a:lnSpc>
                <a:spcPct val="100000"/>
              </a:lnSpc>
              <a:buNone/>
            </a:pPr>
            <a:r>
              <a:rPr lang="en-US" sz="1500" dirty="0">
                <a:solidFill>
                  <a:srgbClr val="222B36"/>
                </a:solidFill>
                <a:latin typeface="Calibri" pitchFamily="34" charset="0"/>
                <a:ea typeface="Calibri" pitchFamily="34" charset="-122"/>
                <a:cs typeface="Calibri" pitchFamily="34" charset="-120"/>
              </a:rPr>
              <a:t>Get yours back. Rewrite the circled sentence in the margin.</a:t>
            </a:r>
            <a:endParaRPr lang="en-US" sz="1500" dirty="0"/>
          </a:p>
        </p:txBody>
      </p:sp>
      <p:sp>
        <p:nvSpPr>
          <p:cNvPr id="20" name="card_200"/>
          <p:cNvSpPr/>
          <p:nvPr/>
        </p:nvSpPr>
        <p:spPr>
          <a:xfrm>
            <a:off x="7680960" y="1417320"/>
            <a:ext cx="3959352" cy="2331720"/>
          </a:xfrm>
          <a:prstGeom prst="roundRect">
            <a:avLst>
              <a:gd name="adj" fmla="val 3137"/>
            </a:avLst>
          </a:prstGeom>
          <a:solidFill>
            <a:srgbClr val="1B2A41"/>
          </a:solidFill>
          <a:ln w="9525">
            <a:solidFill>
              <a:srgbClr val="1B2A41"/>
            </a:solidFill>
            <a:prstDash val="solid"/>
          </a:ln>
        </p:spPr>
      </p:sp>
      <p:sp>
        <p:nvSpPr>
          <p:cNvPr id="21" name="tag_201"/>
          <p:cNvSpPr/>
          <p:nvPr/>
        </p:nvSpPr>
        <p:spPr>
          <a:xfrm>
            <a:off x="7845552" y="1545336"/>
            <a:ext cx="1234440" cy="256032"/>
          </a:xfrm>
          <a:prstGeom prst="roundRect">
            <a:avLst>
              <a:gd name="adj" fmla="val 21429"/>
            </a:avLst>
          </a:prstGeom>
          <a:solidFill>
            <a:srgbClr val="D98E1F"/>
          </a:solidFill>
          <a:ln w="12700">
            <a:solidFill>
              <a:srgbClr val="D98E1F"/>
            </a:solidFill>
            <a:prstDash val="solid"/>
          </a:ln>
        </p:spPr>
      </p:sp>
      <p:sp>
        <p:nvSpPr>
          <p:cNvPr id="22" name="text_202"/>
          <p:cNvSpPr txBox="1"/>
          <p:nvPr/>
        </p:nvSpPr>
        <p:spPr>
          <a:xfrm>
            <a:off x="7845552" y="1545336"/>
            <a:ext cx="1234440"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YOU LEAVE WITH</a:t>
            </a:r>
            <a:endParaRPr lang="en-US" sz="1050" dirty="0"/>
          </a:p>
        </p:txBody>
      </p:sp>
      <p:sp>
        <p:nvSpPr>
          <p:cNvPr id="23" name="cardbody_203"/>
          <p:cNvSpPr txBox="1"/>
          <p:nvPr/>
        </p:nvSpPr>
        <p:spPr>
          <a:xfrm>
            <a:off x="7845552" y="1892808"/>
            <a:ext cx="3630168" cy="1764792"/>
          </a:xfrm>
          <a:prstGeom prst="rect">
            <a:avLst/>
          </a:prstGeom>
          <a:noFill/>
          <a:ln/>
        </p:spPr>
        <p:txBody>
          <a:bodyPr wrap="square" lIns="381" tIns="381" rIns="381" bIns="381" rtlCol="0" anchor="t"/>
          <a:lstStyle/>
          <a:p>
            <a:pPr marL="342900" indent="-342900">
              <a:spcAft>
                <a:spcPts val="500"/>
              </a:spcAft>
              <a:buSzPct val="100000"/>
              <a:buChar char="■"/>
            </a:pPr>
            <a:r>
              <a:rPr lang="en-US" sz="1450" dirty="0">
                <a:solidFill>
                  <a:srgbClr val="FFFFFF"/>
                </a:solidFill>
                <a:latin typeface="Calibri" pitchFamily="34" charset="0"/>
                <a:ea typeface="Calibri" pitchFamily="34" charset="-122"/>
                <a:cs typeface="Calibri" pitchFamily="34" charset="-120"/>
              </a:rPr>
              <a:t>150 words in your workbook (Task 2A)</a:t>
            </a:r>
            <a:endParaRPr lang="en-US" sz="1450" dirty="0"/>
          </a:p>
          <a:p>
            <a:pPr marL="342900" indent="-342900">
              <a:spcAft>
                <a:spcPts val="500"/>
              </a:spcAft>
              <a:buSzPct val="100000"/>
              <a:buChar char="■"/>
            </a:pPr>
            <a:r>
              <a:rPr lang="en-US" sz="1450" dirty="0">
                <a:solidFill>
                  <a:srgbClr val="FFFFFF"/>
                </a:solidFill>
                <a:latin typeface="Calibri" pitchFamily="34" charset="0"/>
                <a:ea typeface="Calibri" pitchFamily="34" charset="-122"/>
                <a:cs typeface="Calibri" pitchFamily="34" charset="-120"/>
              </a:rPr>
              <a:t>Raw material for your </a:t>
            </a:r>
            <a:r>
              <a:rPr lang="en-US" sz="1450" b="1" dirty="0">
                <a:solidFill>
                  <a:srgbClr val="FFFFFF"/>
                </a:solidFill>
                <a:latin typeface="Calibri" pitchFamily="34" charset="0"/>
                <a:ea typeface="Calibri" pitchFamily="34" charset="-122"/>
                <a:cs typeface="Calibri" pitchFamily="34" charset="-120"/>
              </a:rPr>
              <a:t>Methods</a:t>
            </a:r>
            <a:r>
              <a:rPr lang="en-US" sz="1450" dirty="0">
                <a:solidFill>
                  <a:srgbClr val="FFFFFF"/>
                </a:solidFill>
                <a:latin typeface="Calibri" pitchFamily="34" charset="0"/>
                <a:ea typeface="Calibri" pitchFamily="34" charset="-122"/>
                <a:cs typeface="Calibri" pitchFamily="34" charset="-120"/>
              </a:rPr>
              <a:t> (anomaly) and </a:t>
            </a:r>
            <a:r>
              <a:rPr lang="en-US" sz="1450" b="1" dirty="0">
                <a:solidFill>
                  <a:srgbClr val="FFFFFF"/>
                </a:solidFill>
                <a:latin typeface="Calibri" pitchFamily="34" charset="0"/>
                <a:ea typeface="Calibri" pitchFamily="34" charset="-122"/>
                <a:cs typeface="Calibri" pitchFamily="34" charset="-120"/>
              </a:rPr>
              <a:t>Introduction</a:t>
            </a:r>
            <a:r>
              <a:rPr lang="en-US" sz="1450" dirty="0">
                <a:solidFill>
                  <a:srgbClr val="FFFFFF"/>
                </a:solidFill>
                <a:latin typeface="Calibri" pitchFamily="34" charset="0"/>
                <a:ea typeface="Calibri" pitchFamily="34" charset="-122"/>
                <a:cs typeface="Calibri" pitchFamily="34" charset="-120"/>
              </a:rPr>
              <a:t> (why ENSO matters for cloud)</a:t>
            </a:r>
            <a:endParaRPr lang="en-US" sz="1450" dirty="0"/>
          </a:p>
        </p:txBody>
      </p:sp>
      <p:sp>
        <p:nvSpPr>
          <p:cNvPr id="24" name="card_204"/>
          <p:cNvSpPr/>
          <p:nvPr/>
        </p:nvSpPr>
        <p:spPr>
          <a:xfrm>
            <a:off x="7680960" y="3931920"/>
            <a:ext cx="3959352" cy="2377440"/>
          </a:xfrm>
          <a:prstGeom prst="roundRect">
            <a:avLst>
              <a:gd name="adj" fmla="val 3077"/>
            </a:avLst>
          </a:prstGeom>
          <a:solidFill>
            <a:srgbClr val="DCE7F2"/>
          </a:solidFill>
          <a:ln w="9525">
            <a:solidFill>
              <a:srgbClr val="DCE7F2"/>
            </a:solidFill>
            <a:prstDash val="solid"/>
          </a:ln>
        </p:spPr>
      </p:sp>
      <p:sp>
        <p:nvSpPr>
          <p:cNvPr id="25" name="tag_205"/>
          <p:cNvSpPr/>
          <p:nvPr/>
        </p:nvSpPr>
        <p:spPr>
          <a:xfrm>
            <a:off x="7845552" y="4059936"/>
            <a:ext cx="923544" cy="256032"/>
          </a:xfrm>
          <a:prstGeom prst="roundRect">
            <a:avLst>
              <a:gd name="adj" fmla="val 21429"/>
            </a:avLst>
          </a:prstGeom>
          <a:solidFill>
            <a:srgbClr val="2E4A6B"/>
          </a:solidFill>
          <a:ln w="12700">
            <a:solidFill>
              <a:srgbClr val="2E4A6B"/>
            </a:solidFill>
            <a:prstDash val="solid"/>
          </a:ln>
        </p:spPr>
      </p:sp>
      <p:sp>
        <p:nvSpPr>
          <p:cNvPr id="26" name="text_206"/>
          <p:cNvSpPr txBox="1"/>
          <p:nvPr/>
        </p:nvSpPr>
        <p:spPr>
          <a:xfrm>
            <a:off x="7845552" y="4059936"/>
            <a:ext cx="92354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PAIR CHECK</a:t>
            </a:r>
            <a:endParaRPr lang="en-US" sz="1050" dirty="0"/>
          </a:p>
        </p:txBody>
      </p:sp>
      <p:sp>
        <p:nvSpPr>
          <p:cNvPr id="27" name="cardbody_207"/>
          <p:cNvSpPr txBox="1"/>
          <p:nvPr/>
        </p:nvSpPr>
        <p:spPr>
          <a:xfrm>
            <a:off x="7845552" y="4407408"/>
            <a:ext cx="3630168" cy="1810512"/>
          </a:xfrm>
          <a:prstGeom prst="rect">
            <a:avLst/>
          </a:prstGeom>
          <a:noFill/>
          <a:ln/>
        </p:spPr>
        <p:txBody>
          <a:bodyPr wrap="square" lIns="381" tIns="381" rIns="381" bIns="381" rtlCol="0" anchor="t"/>
          <a:lstStyle/>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Did they use the word ‘anomaly’ correctly: unusual </a:t>
            </a:r>
            <a:r>
              <a:rPr lang="en-US" sz="1400" b="1" dirty="0">
                <a:solidFill>
                  <a:srgbClr val="222B36"/>
                </a:solidFill>
                <a:latin typeface="Calibri" pitchFamily="34" charset="0"/>
                <a:ea typeface="Calibri" pitchFamily="34" charset="-122"/>
                <a:cs typeface="Calibri" pitchFamily="34" charset="-120"/>
              </a:rPr>
              <a:t>for that month</a:t>
            </a:r>
            <a:r>
              <a:rPr lang="en-US" sz="1400" dirty="0">
                <a:solidFill>
                  <a:srgbClr val="222B36"/>
                </a:solidFill>
                <a:latin typeface="Calibri" pitchFamily="34" charset="0"/>
                <a:ea typeface="Calibri" pitchFamily="34" charset="-122"/>
                <a:cs typeface="Calibri" pitchFamily="34" charset="-120"/>
              </a:rPr>
              <a:t>, not just ‘high’?</a:t>
            </a:r>
            <a:endParaRPr lang="en-US" sz="1400" dirty="0"/>
          </a:p>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Did the ENSO explanation name a </a:t>
            </a:r>
            <a:r>
              <a:rPr lang="en-US" sz="1400" b="1" dirty="0">
                <a:solidFill>
                  <a:srgbClr val="222B36"/>
                </a:solidFill>
                <a:latin typeface="Calibri" pitchFamily="34" charset="0"/>
                <a:ea typeface="Calibri" pitchFamily="34" charset="-122"/>
                <a:cs typeface="Calibri" pitchFamily="34" charset="-120"/>
              </a:rPr>
              <a:t>mechanism</a:t>
            </a:r>
            <a:r>
              <a:rPr lang="en-US" sz="1400" dirty="0">
                <a:solidFill>
                  <a:srgbClr val="222B36"/>
                </a:solidFill>
                <a:latin typeface="Calibri" pitchFamily="34" charset="0"/>
                <a:ea typeface="Calibri" pitchFamily="34" charset="-122"/>
                <a:cs typeface="Calibri" pitchFamily="34" charset="-120"/>
              </a:rPr>
              <a:t> (e.g. the Walker circulation), not just ‘ENSO affects weather’?</a:t>
            </a:r>
            <a:endParaRPr lang="en-US" sz="1400" dirty="0"/>
          </a:p>
        </p:txBody>
      </p:sp>
      <p:sp>
        <p:nvSpPr>
          <p:cNvPr id="28" name="text_208"/>
          <p:cNvSpPr txBox="1"/>
          <p:nvPr/>
        </p:nvSpPr>
        <p:spPr>
          <a:xfrm>
            <a:off x="548640" y="6446520"/>
            <a:ext cx="10424160" cy="256032"/>
          </a:xfrm>
          <a:prstGeom prst="rect">
            <a:avLst/>
          </a:prstGeom>
          <a:noFill/>
          <a:ln/>
        </p:spPr>
        <p:txBody>
          <a:bodyPr wrap="square" lIns="635" tIns="635" rIns="635" bIns="635" rtlCol="0" anchor="t"/>
          <a:lstStyle/>
          <a:p>
            <a:pPr algn="l" indent="0" marL="0">
              <a:lnSpc>
                <a:spcPct val="100000"/>
              </a:lnSpc>
              <a:buNone/>
            </a:pPr>
            <a:r>
              <a:rPr lang="en-US" sz="900" i="1" dirty="0">
                <a:solidFill>
                  <a:srgbClr val="8A93A0"/>
                </a:solidFill>
                <a:latin typeface="Calibri" pitchFamily="34" charset="0"/>
                <a:ea typeface="Calibri" pitchFamily="34" charset="-122"/>
                <a:cs typeface="Calibri" pitchFamily="34" charset="-120"/>
              </a:rPr>
              <a:t>Source: Schultz, D. M. (2009) Eloquent Science, American Meteorological Society, §5.4 ‘Opening the floodgates’.</a:t>
            </a:r>
            <a:endParaRPr lang="en-US" sz="9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agl_209"/>
          <p:cNvSpPr/>
          <p:nvPr/>
        </p:nvSpPr>
        <p:spPr>
          <a:xfrm>
            <a:off x="548640" y="329184"/>
            <a:ext cx="1051560" cy="237744"/>
          </a:xfrm>
          <a:prstGeom prst="roundRect">
            <a:avLst>
              <a:gd name="adj" fmla="val 19231"/>
            </a:avLst>
          </a:prstGeom>
          <a:solidFill>
            <a:srgbClr val="2E4A6B"/>
          </a:solidFill>
          <a:ln w="12700">
            <a:solidFill>
              <a:srgbClr val="2E4A6B"/>
            </a:solidFill>
            <a:prstDash val="solid"/>
          </a:ln>
        </p:spPr>
      </p:sp>
      <p:sp>
        <p:nvSpPr>
          <p:cNvPr id="3" name="text_210"/>
          <p:cNvSpPr txBox="1"/>
          <p:nvPr/>
        </p:nvSpPr>
        <p:spPr>
          <a:xfrm>
            <a:off x="548640" y="329184"/>
            <a:ext cx="1051560"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LITERATURE</a:t>
            </a:r>
            <a:endParaRPr lang="en-US" sz="1000" dirty="0"/>
          </a:p>
        </p:txBody>
      </p:sp>
      <p:sp>
        <p:nvSpPr>
          <p:cNvPr id="4" name="text_211"/>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Finding sources, and keeping track of them</a:t>
            </a:r>
            <a:endParaRPr lang="en-US" sz="2800" dirty="0"/>
          </a:p>
        </p:txBody>
      </p:sp>
      <p:sp>
        <p:nvSpPr>
          <p:cNvPr id="5" name="bullets_212"/>
          <p:cNvSpPr txBox="1"/>
          <p:nvPr/>
        </p:nvSpPr>
        <p:spPr>
          <a:xfrm>
            <a:off x="548640" y="1325880"/>
            <a:ext cx="5943600" cy="4937760"/>
          </a:xfrm>
          <a:prstGeom prst="rect">
            <a:avLst/>
          </a:prstGeom>
          <a:noFill/>
          <a:ln/>
        </p:spPr>
        <p:txBody>
          <a:bodyPr wrap="square" lIns="635" tIns="635" rIns="635" bIns="635" rtlCol="0" anchor="t"/>
          <a:lstStyle/>
          <a:p>
            <a:pPr marL="342900" indent="-342900">
              <a:spcAft>
                <a:spcPts val="900"/>
              </a:spcAft>
              <a:buSzPct val="100000"/>
              <a:buChar char="■"/>
            </a:pPr>
            <a:r>
              <a:rPr lang="en-US" sz="1500" b="1" dirty="0">
                <a:solidFill>
                  <a:srgbClr val="1B2A41"/>
                </a:solidFill>
                <a:latin typeface="Calibri" pitchFamily="34" charset="0"/>
                <a:ea typeface="Calibri" pitchFamily="34" charset="-122"/>
                <a:cs typeface="Calibri" pitchFamily="34" charset="-120"/>
              </a:rPr>
              <a:t>Google Scholar: </a:t>
            </a:r>
            <a:r>
              <a:rPr lang="en-US" sz="1500" dirty="0">
                <a:solidFill>
                  <a:srgbClr val="222B36"/>
                </a:solidFill>
                <a:latin typeface="Calibri" pitchFamily="34" charset="0"/>
                <a:ea typeface="Calibri" pitchFamily="34" charset="-122"/>
                <a:cs typeface="Calibri" pitchFamily="34" charset="-120"/>
              </a:rPr>
              <a:t>broad and fast (preprints, theses too) but noisy. Settings → Library links → University of Manchester, so full texts open through your login.</a:t>
            </a:r>
            <a:endParaRPr lang="en-US" sz="1500" dirty="0"/>
          </a:p>
          <a:p>
            <a:pPr marL="342900" indent="-342900">
              <a:spcAft>
                <a:spcPts val="900"/>
              </a:spcAft>
              <a:buSzPct val="100000"/>
              <a:buChar char="■"/>
            </a:pPr>
            <a:r>
              <a:rPr lang="en-US" sz="1500" b="1" dirty="0">
                <a:solidFill>
                  <a:srgbClr val="1B2A41"/>
                </a:solidFill>
                <a:latin typeface="Calibri" pitchFamily="34" charset="0"/>
                <a:ea typeface="Calibri" pitchFamily="34" charset="-122"/>
                <a:cs typeface="Calibri" pitchFamily="34" charset="-120"/>
              </a:rPr>
              <a:t>Web of Science (formerly ‘Web of Knowledge’): </a:t>
            </a:r>
            <a:r>
              <a:rPr lang="en-US" sz="1500" dirty="0">
                <a:solidFill>
                  <a:srgbClr val="222B36"/>
                </a:solidFill>
                <a:latin typeface="Calibri" pitchFamily="34" charset="0"/>
                <a:ea typeface="Calibri" pitchFamily="34" charset="-122"/>
                <a:cs typeface="Calibri" pitchFamily="34" charset="-120"/>
              </a:rPr>
              <a:t>webofscience.com → sign in through the University (institutional login). Curated peer-reviewed journals, precise filters. Start from </a:t>
            </a:r>
            <a:r>
              <a:rPr lang="en-US" sz="1500" b="1" dirty="0">
                <a:solidFill>
                  <a:srgbClr val="222B36"/>
                </a:solidFill>
                <a:latin typeface="Calibri" pitchFamily="34" charset="0"/>
                <a:ea typeface="Calibri" pitchFamily="34" charset="-122"/>
                <a:cs typeface="Calibri" pitchFamily="34" charset="-120"/>
              </a:rPr>
              <a:t>one good paper</a:t>
            </a:r>
            <a:r>
              <a:rPr lang="en-US" sz="1500" dirty="0">
                <a:solidFill>
                  <a:srgbClr val="222B36"/>
                </a:solidFill>
                <a:latin typeface="Calibri" pitchFamily="34" charset="0"/>
                <a:ea typeface="Calibri" pitchFamily="34" charset="-122"/>
                <a:cs typeface="Calibri" pitchFamily="34" charset="-120"/>
              </a:rPr>
              <a:t>, go </a:t>
            </a:r>
            <a:r>
              <a:rPr lang="en-US" sz="1500" b="1" dirty="0">
                <a:solidFill>
                  <a:srgbClr val="222B36"/>
                </a:solidFill>
                <a:latin typeface="Calibri" pitchFamily="34" charset="0"/>
                <a:ea typeface="Calibri" pitchFamily="34" charset="-122"/>
                <a:cs typeface="Calibri" pitchFamily="34" charset="-120"/>
              </a:rPr>
              <a:t>backward</a:t>
            </a:r>
            <a:r>
              <a:rPr lang="en-US" sz="1500" dirty="0">
                <a:solidFill>
                  <a:srgbClr val="222B36"/>
                </a:solidFill>
                <a:latin typeface="Calibri" pitchFamily="34" charset="0"/>
                <a:ea typeface="Calibri" pitchFamily="34" charset="-122"/>
                <a:cs typeface="Calibri" pitchFamily="34" charset="-120"/>
              </a:rPr>
              <a:t> (references) and </a:t>
            </a:r>
            <a:r>
              <a:rPr lang="en-US" sz="1500" b="1" dirty="0">
                <a:solidFill>
                  <a:srgbClr val="222B36"/>
                </a:solidFill>
                <a:latin typeface="Calibri" pitchFamily="34" charset="0"/>
                <a:ea typeface="Calibri" pitchFamily="34" charset="-122"/>
                <a:cs typeface="Calibri" pitchFamily="34" charset="-120"/>
              </a:rPr>
              <a:t>forward</a:t>
            </a:r>
            <a:r>
              <a:rPr lang="en-US" sz="1500" dirty="0">
                <a:solidFill>
                  <a:srgbClr val="222B36"/>
                </a:solidFill>
                <a:latin typeface="Calibri" pitchFamily="34" charset="0"/>
                <a:ea typeface="Calibri" pitchFamily="34" charset="-122"/>
                <a:cs typeface="Calibri" pitchFamily="34" charset="-120"/>
              </a:rPr>
              <a:t> (‘Times cited’); filter for reviews.</a:t>
            </a:r>
            <a:endParaRPr lang="en-US" sz="1500" dirty="0"/>
          </a:p>
          <a:p>
            <a:pPr marL="342900" indent="-342900">
              <a:spcAft>
                <a:spcPts val="900"/>
              </a:spcAft>
              <a:buSzPct val="100000"/>
              <a:buChar char="■"/>
            </a:pPr>
            <a:r>
              <a:rPr lang="en-US" sz="1500" b="1" dirty="0">
                <a:solidFill>
                  <a:srgbClr val="1B2A41"/>
                </a:solidFill>
                <a:latin typeface="Calibri" pitchFamily="34" charset="0"/>
                <a:ea typeface="Calibri" pitchFamily="34" charset="-122"/>
                <a:cs typeface="Calibri" pitchFamily="34" charset="-120"/>
              </a:rPr>
              <a:t>Library Search: </a:t>
            </a:r>
            <a:r>
              <a:rPr lang="en-US" sz="1500" dirty="0">
                <a:solidFill>
                  <a:srgbClr val="222B36"/>
                </a:solidFill>
                <a:latin typeface="Calibri" pitchFamily="34" charset="0"/>
                <a:ea typeface="Calibri" pitchFamily="34" charset="-122"/>
                <a:cs typeface="Calibri" pitchFamily="34" charset="-120"/>
              </a:rPr>
              <a:t>books and full text. Core journals: Journal of Climate, J. Atmos. Sci., Geophys. Res. Lett., Q. J. R. Meteorol. Soc.</a:t>
            </a:r>
            <a:endParaRPr lang="en-US" sz="1500" dirty="0"/>
          </a:p>
          <a:p>
            <a:pPr marL="342900" indent="-342900">
              <a:spcAft>
                <a:spcPts val="900"/>
              </a:spcAft>
              <a:buSzPct val="100000"/>
              <a:buChar char="■"/>
            </a:pPr>
            <a:r>
              <a:rPr lang="en-US" sz="1500" b="1" dirty="0">
                <a:solidFill>
                  <a:srgbClr val="1B2A41"/>
                </a:solidFill>
                <a:latin typeface="Calibri" pitchFamily="34" charset="0"/>
                <a:ea typeface="Calibri" pitchFamily="34" charset="-122"/>
                <a:cs typeface="Calibri" pitchFamily="34" charset="-120"/>
              </a:rPr>
              <a:t>Background vs evidence: </a:t>
            </a:r>
            <a:r>
              <a:rPr lang="en-US" sz="1500" dirty="0">
                <a:solidFill>
                  <a:srgbClr val="222B36"/>
                </a:solidFill>
                <a:latin typeface="Calibri" pitchFamily="34" charset="0"/>
                <a:ea typeface="Calibri" pitchFamily="34" charset="-122"/>
                <a:cs typeface="Calibri" pitchFamily="34" charset="-120"/>
              </a:rPr>
              <a:t>NOAA Climate.gov is great background; scientific claims need peer-reviewed sources.</a:t>
            </a:r>
            <a:endParaRPr lang="en-US" sz="1500" dirty="0"/>
          </a:p>
          <a:p>
            <a:pPr marL="342900" indent="-342900">
              <a:spcAft>
                <a:spcPts val="900"/>
              </a:spcAft>
              <a:buSzPct val="100000"/>
              <a:buChar char="■"/>
            </a:pPr>
            <a:r>
              <a:rPr lang="en-US" sz="1500" b="1" dirty="0">
                <a:solidFill>
                  <a:srgbClr val="1B2A41"/>
                </a:solidFill>
                <a:latin typeface="Calibri" pitchFamily="34" charset="0"/>
                <a:ea typeface="Calibri" pitchFamily="34" charset="-122"/>
                <a:cs typeface="Calibri" pitchFamily="34" charset="-120"/>
              </a:rPr>
              <a:t>AI Minimal: </a:t>
            </a:r>
            <a:r>
              <a:rPr lang="en-US" sz="1500" dirty="0">
                <a:solidFill>
                  <a:srgbClr val="222B36"/>
                </a:solidFill>
                <a:latin typeface="Calibri" pitchFamily="34" charset="0"/>
                <a:ea typeface="Calibri" pitchFamily="34" charset="-122"/>
                <a:cs typeface="Calibri" pitchFamily="34" charset="-120"/>
              </a:rPr>
              <a:t>don't use AI tools to find, choose or summarise papers for you.</a:t>
            </a:r>
            <a:endParaRPr lang="en-US" sz="1500" dirty="0"/>
          </a:p>
        </p:txBody>
      </p:sp>
      <p:sp>
        <p:nvSpPr>
          <p:cNvPr id="6" name="card_213"/>
          <p:cNvSpPr/>
          <p:nvPr/>
        </p:nvSpPr>
        <p:spPr>
          <a:xfrm>
            <a:off x="6812280" y="1325880"/>
            <a:ext cx="4830775" cy="4754880"/>
          </a:xfrm>
          <a:prstGeom prst="roundRect">
            <a:avLst>
              <a:gd name="adj" fmla="val 1538"/>
            </a:avLst>
          </a:prstGeom>
          <a:solidFill>
            <a:srgbClr val="DCE7F2"/>
          </a:solidFill>
          <a:ln w="9525">
            <a:solidFill>
              <a:srgbClr val="DCE7F2"/>
            </a:solidFill>
            <a:prstDash val="solid"/>
          </a:ln>
        </p:spPr>
      </p:sp>
      <p:sp>
        <p:nvSpPr>
          <p:cNvPr id="7" name="tag_214"/>
          <p:cNvSpPr/>
          <p:nvPr/>
        </p:nvSpPr>
        <p:spPr>
          <a:xfrm>
            <a:off x="6976872" y="1453896"/>
            <a:ext cx="2944368" cy="256032"/>
          </a:xfrm>
          <a:prstGeom prst="roundRect">
            <a:avLst>
              <a:gd name="adj" fmla="val 21429"/>
            </a:avLst>
          </a:prstGeom>
          <a:solidFill>
            <a:srgbClr val="2E4A6B"/>
          </a:solidFill>
          <a:ln w="12700">
            <a:solidFill>
              <a:srgbClr val="2E4A6B"/>
            </a:solidFill>
            <a:prstDash val="solid"/>
          </a:ln>
        </p:spPr>
      </p:sp>
      <p:sp>
        <p:nvSpPr>
          <p:cNvPr id="8" name="text_215"/>
          <p:cNvSpPr txBox="1"/>
          <p:nvPr/>
        </p:nvSpPr>
        <p:spPr>
          <a:xfrm>
            <a:off x="6976872" y="1453896"/>
            <a:ext cx="2944368"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SET UP A REFERENCE MANAGER THIS WEEK</a:t>
            </a:r>
            <a:endParaRPr lang="en-US" sz="1050" dirty="0"/>
          </a:p>
        </p:txBody>
      </p:sp>
      <p:sp>
        <p:nvSpPr>
          <p:cNvPr id="9" name="text_216"/>
          <p:cNvSpPr txBox="1"/>
          <p:nvPr/>
        </p:nvSpPr>
        <p:spPr>
          <a:xfrm>
            <a:off x="6976872" y="1801368"/>
            <a:ext cx="4501591" cy="457200"/>
          </a:xfrm>
          <a:prstGeom prst="rect">
            <a:avLst/>
          </a:prstGeom>
          <a:noFill/>
          <a:ln/>
        </p:spPr>
        <p:txBody>
          <a:bodyPr wrap="square" lIns="635" tIns="635" rIns="635" bIns="635" rtlCol="0" anchor="t"/>
          <a:lstStyle/>
          <a:p>
            <a:pPr algn="l" indent="0" marL="0">
              <a:lnSpc>
                <a:spcPct val="100000"/>
              </a:lnSpc>
              <a:buNone/>
            </a:pPr>
            <a:r>
              <a:rPr lang="en-US" sz="1700" b="1" dirty="0">
                <a:solidFill>
                  <a:srgbClr val="1B2A41"/>
                </a:solidFill>
                <a:latin typeface="Calibri" pitchFamily="34" charset="0"/>
                <a:ea typeface="Calibri" pitchFamily="34" charset="-122"/>
                <a:cs typeface="Calibri" pitchFamily="34" charset="-120"/>
              </a:rPr>
              <a:t>Zotero (recommended) or EndNote</a:t>
            </a:r>
            <a:endParaRPr lang="en-US" sz="1700" dirty="0"/>
          </a:p>
        </p:txBody>
      </p:sp>
      <p:sp>
        <p:nvSpPr>
          <p:cNvPr id="10" name="cardbody_217"/>
          <p:cNvSpPr txBox="1"/>
          <p:nvPr/>
        </p:nvSpPr>
        <p:spPr>
          <a:xfrm>
            <a:off x="6976872" y="2258568"/>
            <a:ext cx="4501591" cy="3730752"/>
          </a:xfrm>
          <a:prstGeom prst="rect">
            <a:avLst/>
          </a:prstGeom>
          <a:noFill/>
          <a:ln/>
        </p:spPr>
        <p:txBody>
          <a:bodyPr wrap="square" lIns="381" tIns="381" rIns="381" bIns="381" rtlCol="0" anchor="t"/>
          <a:lstStyle/>
          <a:p>
            <a:pPr marL="342900" indent="-342900">
              <a:spcAft>
                <a:spcPts val="500"/>
              </a:spcAft>
              <a:buSzPct val="100000"/>
              <a:buChar char="■"/>
            </a:pPr>
            <a:r>
              <a:rPr lang="en-US" sz="1400" b="1" dirty="0">
                <a:solidFill>
                  <a:srgbClr val="222B36"/>
                </a:solidFill>
                <a:latin typeface="Calibri" pitchFamily="34" charset="0"/>
                <a:ea typeface="Calibri" pitchFamily="34" charset="-122"/>
                <a:cs typeface="Calibri" pitchFamily="34" charset="-120"/>
              </a:rPr>
              <a:t>Zotero</a:t>
            </a:r>
            <a:r>
              <a:rPr lang="en-US" sz="1400" dirty="0">
                <a:solidFill>
                  <a:srgbClr val="222B36"/>
                </a:solidFill>
                <a:latin typeface="Calibri" pitchFamily="34" charset="0"/>
                <a:ea typeface="Calibri" pitchFamily="34" charset="-122"/>
                <a:cs typeface="Calibri" pitchFamily="34" charset="-120"/>
              </a:rPr>
              <a:t> (free, zotero.org): the browser connector saves a paper in one click; the Word / Google Docs plugin inserts citations and builds the reference list.</a:t>
            </a:r>
            <a:endParaRPr lang="en-US" sz="1400" dirty="0"/>
          </a:p>
          <a:p>
            <a:pPr marL="342900" indent="-342900">
              <a:spcAft>
                <a:spcPts val="500"/>
              </a:spcAft>
              <a:buSzPct val="100000"/>
              <a:buChar char="■"/>
            </a:pPr>
            <a:r>
              <a:rPr lang="en-US" sz="1400" b="1" dirty="0">
                <a:solidFill>
                  <a:srgbClr val="222B36"/>
                </a:solidFill>
                <a:latin typeface="Calibri" pitchFamily="34" charset="0"/>
                <a:ea typeface="Calibri" pitchFamily="34" charset="-122"/>
                <a:cs typeface="Calibri" pitchFamily="34" charset="-120"/>
              </a:rPr>
              <a:t>EndNote</a:t>
            </a:r>
            <a:r>
              <a:rPr lang="en-US" sz="1400" dirty="0">
                <a:solidFill>
                  <a:srgbClr val="222B36"/>
                </a:solidFill>
                <a:latin typeface="Calibri" pitchFamily="34" charset="0"/>
                <a:ea typeface="Calibri" pitchFamily="34" charset="-122"/>
                <a:cs typeface="Calibri" pitchFamily="34" charset="-120"/>
              </a:rPr>
              <a:t>: licensed by the University (free via the software download service); Harvard Manchester style; Library workshops.</a:t>
            </a:r>
            <a:endParaRPr lang="en-US" sz="1400" dirty="0"/>
          </a:p>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Avoid starting on </a:t>
            </a:r>
            <a:r>
              <a:rPr lang="en-US" sz="1400" b="1" dirty="0">
                <a:solidFill>
                  <a:srgbClr val="222B36"/>
                </a:solidFill>
                <a:latin typeface="Calibri" pitchFamily="34" charset="0"/>
                <a:ea typeface="Calibri" pitchFamily="34" charset="-122"/>
                <a:cs typeface="Calibri" pitchFamily="34" charset="-120"/>
              </a:rPr>
              <a:t>Mendeley Desktop</a:t>
            </a:r>
            <a:r>
              <a:rPr lang="en-US" sz="1400" dirty="0">
                <a:solidFill>
                  <a:srgbClr val="222B36"/>
                </a:solidFill>
                <a:latin typeface="Calibri" pitchFamily="34" charset="0"/>
                <a:ea typeface="Calibri" pitchFamily="34" charset="-122"/>
                <a:cs typeface="Calibri" pitchFamily="34" charset="-120"/>
              </a:rPr>
              <a:t>: legacy, no further updates.</a:t>
            </a:r>
            <a:endParaRPr lang="en-US" sz="1400" dirty="0"/>
          </a:p>
          <a:p>
            <a:pPr marL="342900" indent="-342900">
              <a:spcAft>
                <a:spcPts val="500"/>
              </a:spcAft>
              <a:buSzPct val="100000"/>
              <a:buChar char="■"/>
            </a:pPr>
            <a:r>
              <a:rPr lang="en-US" sz="1400" dirty="0">
                <a:solidFill>
                  <a:srgbClr val="222B36"/>
                </a:solidFill>
                <a:latin typeface="Calibri" pitchFamily="34" charset="0"/>
                <a:ea typeface="Calibri" pitchFamily="34" charset="-122"/>
                <a:cs typeface="Calibri" pitchFamily="34" charset="-120"/>
              </a:rPr>
              <a:t>Pick </a:t>
            </a:r>
            <a:r>
              <a:rPr lang="en-US" sz="1400" b="1" dirty="0">
                <a:solidFill>
                  <a:srgbClr val="222B36"/>
                </a:solidFill>
                <a:latin typeface="Calibri" pitchFamily="34" charset="0"/>
                <a:ea typeface="Calibri" pitchFamily="34" charset="-122"/>
                <a:cs typeface="Calibri" pitchFamily="34" charset="-120"/>
              </a:rPr>
              <a:t>one</a:t>
            </a:r>
            <a:r>
              <a:rPr lang="en-US" sz="1400" dirty="0">
                <a:solidFill>
                  <a:srgbClr val="222B36"/>
                </a:solidFill>
                <a:latin typeface="Calibri" pitchFamily="34" charset="0"/>
                <a:ea typeface="Calibri" pitchFamily="34" charset="-122"/>
                <a:cs typeface="Calibri" pitchFamily="34" charset="-120"/>
              </a:rPr>
              <a:t> author–year style and keep it.</a:t>
            </a:r>
            <a:endParaRPr lang="en-US" sz="14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_218"/>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Before Tutorial 3  ·  Thu 15 Oct</a:t>
            </a:r>
            <a:endParaRPr lang="en-US" sz="2800" dirty="0"/>
          </a:p>
        </p:txBody>
      </p:sp>
      <p:sp>
        <p:nvSpPr>
          <p:cNvPr id="3" name="text_219"/>
          <p:cNvSpPr txBox="1"/>
          <p:nvPr/>
        </p:nvSpPr>
        <p:spPr>
          <a:xfrm>
            <a:off x="548640" y="1188720"/>
            <a:ext cx="11064240" cy="411480"/>
          </a:xfrm>
          <a:prstGeom prst="rect">
            <a:avLst/>
          </a:prstGeom>
          <a:noFill/>
          <a:ln/>
        </p:spPr>
        <p:txBody>
          <a:bodyPr wrap="square" lIns="635" tIns="635" rIns="635" bIns="635" rtlCol="0" anchor="t"/>
          <a:lstStyle/>
          <a:p>
            <a:pPr algn="l" indent="0" marL="0">
              <a:lnSpc>
                <a:spcPct val="100000"/>
              </a:lnSpc>
              <a:buNone/>
            </a:pPr>
            <a:r>
              <a:rPr lang="en-US" sz="1500" i="1" dirty="0">
                <a:solidFill>
                  <a:srgbClr val="5B6573"/>
                </a:solidFill>
                <a:latin typeface="Calibri" pitchFamily="34" charset="0"/>
                <a:ea typeface="Calibri" pitchFamily="34" charset="-122"/>
                <a:cs typeface="Calibri" pitchFamily="34" charset="-120"/>
              </a:rPr>
              <a:t>About 2½ hours in total. Everything goes in your writing workbook; bring it next week.</a:t>
            </a:r>
            <a:endParaRPr lang="en-US" sz="1500" dirty="0"/>
          </a:p>
        </p:txBody>
      </p:sp>
      <p:sp>
        <p:nvSpPr>
          <p:cNvPr id="4" name="card_220"/>
          <p:cNvSpPr/>
          <p:nvPr/>
        </p:nvSpPr>
        <p:spPr>
          <a:xfrm>
            <a:off x="548640" y="1691640"/>
            <a:ext cx="3563112" cy="2971800"/>
          </a:xfrm>
          <a:prstGeom prst="roundRect">
            <a:avLst>
              <a:gd name="adj" fmla="val 2462"/>
            </a:avLst>
          </a:prstGeom>
          <a:solidFill>
            <a:srgbClr val="F7F4EE"/>
          </a:solidFill>
          <a:ln w="9525">
            <a:solidFill>
              <a:srgbClr val="D5DAE1"/>
            </a:solidFill>
            <a:prstDash val="solid"/>
          </a:ln>
        </p:spPr>
      </p:sp>
      <p:sp>
        <p:nvSpPr>
          <p:cNvPr id="5" name="tag_221"/>
          <p:cNvSpPr/>
          <p:nvPr/>
        </p:nvSpPr>
        <p:spPr>
          <a:xfrm>
            <a:off x="713232" y="1819656"/>
            <a:ext cx="1156716" cy="256032"/>
          </a:xfrm>
          <a:prstGeom prst="roundRect">
            <a:avLst>
              <a:gd name="adj" fmla="val 21429"/>
            </a:avLst>
          </a:prstGeom>
          <a:solidFill>
            <a:srgbClr val="1B2A41"/>
          </a:solidFill>
          <a:ln w="12700">
            <a:solidFill>
              <a:srgbClr val="1B2A41"/>
            </a:solidFill>
            <a:prstDash val="solid"/>
          </a:ln>
        </p:spPr>
      </p:sp>
      <p:sp>
        <p:nvSpPr>
          <p:cNvPr id="6" name="text_222"/>
          <p:cNvSpPr txBox="1"/>
          <p:nvPr/>
        </p:nvSpPr>
        <p:spPr>
          <a:xfrm>
            <a:off x="71323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2A  ·  20 min</a:t>
            </a:r>
            <a:endParaRPr lang="en-US" sz="1050" dirty="0"/>
          </a:p>
        </p:txBody>
      </p:sp>
      <p:sp>
        <p:nvSpPr>
          <p:cNvPr id="7" name="text_223"/>
          <p:cNvSpPr txBox="1"/>
          <p:nvPr/>
        </p:nvSpPr>
        <p:spPr>
          <a:xfrm>
            <a:off x="713232" y="2167128"/>
            <a:ext cx="323392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Explain it to a friend (final)</a:t>
            </a:r>
            <a:endParaRPr lang="en-US" sz="1600" dirty="0"/>
          </a:p>
        </p:txBody>
      </p:sp>
      <p:sp>
        <p:nvSpPr>
          <p:cNvPr id="8" name="cardbody_224"/>
          <p:cNvSpPr txBox="1"/>
          <p:nvPr/>
        </p:nvSpPr>
        <p:spPr>
          <a:xfrm>
            <a:off x="713232" y="2807208"/>
            <a:ext cx="323392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Redraft today's piece to </a:t>
            </a:r>
            <a:r>
              <a:rPr lang="en-US" sz="1350" b="1" dirty="0">
                <a:solidFill>
                  <a:srgbClr val="222B36"/>
                </a:solidFill>
                <a:latin typeface="Calibri" pitchFamily="34" charset="0"/>
                <a:ea typeface="Calibri" pitchFamily="34" charset="-122"/>
                <a:cs typeface="Calibri" pitchFamily="34" charset="-120"/>
              </a:rPr>
              <a:t>≤200 words</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Fix the circled sentence</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Add one sentence on </a:t>
            </a:r>
            <a:r>
              <a:rPr lang="en-US" sz="1350" b="1" dirty="0">
                <a:solidFill>
                  <a:srgbClr val="222B36"/>
                </a:solidFill>
                <a:latin typeface="Calibri" pitchFamily="34" charset="0"/>
                <a:ea typeface="Calibri" pitchFamily="34" charset="-122"/>
                <a:cs typeface="Calibri" pitchFamily="34" charset="-120"/>
              </a:rPr>
              <a:t>where</a:t>
            </a:r>
            <a:r>
              <a:rPr lang="en-US" sz="1350" dirty="0">
                <a:solidFill>
                  <a:srgbClr val="222B36"/>
                </a:solidFill>
                <a:latin typeface="Calibri" pitchFamily="34" charset="0"/>
                <a:ea typeface="Calibri" pitchFamily="34" charset="-122"/>
                <a:cs typeface="Calibri" pitchFamily="34" charset="-120"/>
              </a:rPr>
              <a:t> you'd look for an ENSO cloud signal</a:t>
            </a:r>
            <a:endParaRPr lang="en-US" sz="1350" dirty="0"/>
          </a:p>
        </p:txBody>
      </p:sp>
      <p:sp>
        <p:nvSpPr>
          <p:cNvPr id="9" name="card_225"/>
          <p:cNvSpPr/>
          <p:nvPr/>
        </p:nvSpPr>
        <p:spPr>
          <a:xfrm>
            <a:off x="4312920" y="1691640"/>
            <a:ext cx="3563112" cy="2971800"/>
          </a:xfrm>
          <a:prstGeom prst="roundRect">
            <a:avLst>
              <a:gd name="adj" fmla="val 2462"/>
            </a:avLst>
          </a:prstGeom>
          <a:solidFill>
            <a:srgbClr val="F7F4EE"/>
          </a:solidFill>
          <a:ln w="9525">
            <a:solidFill>
              <a:srgbClr val="D5DAE1"/>
            </a:solidFill>
            <a:prstDash val="solid"/>
          </a:ln>
        </p:spPr>
      </p:sp>
      <p:sp>
        <p:nvSpPr>
          <p:cNvPr id="10" name="tag_226"/>
          <p:cNvSpPr/>
          <p:nvPr/>
        </p:nvSpPr>
        <p:spPr>
          <a:xfrm>
            <a:off x="4477512" y="1819656"/>
            <a:ext cx="1156716" cy="256032"/>
          </a:xfrm>
          <a:prstGeom prst="roundRect">
            <a:avLst>
              <a:gd name="adj" fmla="val 21429"/>
            </a:avLst>
          </a:prstGeom>
          <a:solidFill>
            <a:srgbClr val="1B2A41"/>
          </a:solidFill>
          <a:ln w="12700">
            <a:solidFill>
              <a:srgbClr val="1B2A41"/>
            </a:solidFill>
            <a:prstDash val="solid"/>
          </a:ln>
        </p:spPr>
      </p:sp>
      <p:sp>
        <p:nvSpPr>
          <p:cNvPr id="11" name="text_227"/>
          <p:cNvSpPr txBox="1"/>
          <p:nvPr/>
        </p:nvSpPr>
        <p:spPr>
          <a:xfrm>
            <a:off x="447751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2B  ·  45 min</a:t>
            </a:r>
            <a:endParaRPr lang="en-US" sz="1050" dirty="0"/>
          </a:p>
        </p:txBody>
      </p:sp>
      <p:sp>
        <p:nvSpPr>
          <p:cNvPr id="12" name="text_228"/>
          <p:cNvSpPr txBox="1"/>
          <p:nvPr/>
        </p:nvSpPr>
        <p:spPr>
          <a:xfrm>
            <a:off x="4477512" y="2167128"/>
            <a:ext cx="323392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Reverse-outline a real paper</a:t>
            </a:r>
            <a:endParaRPr lang="en-US" sz="1600" dirty="0"/>
          </a:p>
        </p:txBody>
      </p:sp>
      <p:sp>
        <p:nvSpPr>
          <p:cNvPr id="13" name="cardbody_229"/>
          <p:cNvSpPr txBox="1"/>
          <p:nvPr/>
        </p:nvSpPr>
        <p:spPr>
          <a:xfrm>
            <a:off x="4477512" y="2807208"/>
            <a:ext cx="323392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Find one paper on ENSO and clouds (Google Scholar or library)</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One line per Introduction paragraph: its </a:t>
            </a:r>
            <a:r>
              <a:rPr lang="en-US" sz="1350" b="1" dirty="0">
                <a:solidFill>
                  <a:srgbClr val="222B36"/>
                </a:solidFill>
                <a:latin typeface="Calibri" pitchFamily="34" charset="0"/>
                <a:ea typeface="Calibri" pitchFamily="34" charset="-122"/>
                <a:cs typeface="Calibri" pitchFamily="34" charset="-120"/>
              </a:rPr>
              <a:t>job</a:t>
            </a:r>
            <a:r>
              <a:rPr lang="en-US" sz="1350" dirty="0">
                <a:solidFill>
                  <a:srgbClr val="222B36"/>
                </a:solidFill>
                <a:latin typeface="Calibri" pitchFamily="34" charset="0"/>
                <a:ea typeface="Calibri" pitchFamily="34" charset="-122"/>
                <a:cs typeface="Calibri" pitchFamily="34" charset="-120"/>
              </a:rPr>
              <a:t> + its point</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Where is the </a:t>
            </a:r>
            <a:r>
              <a:rPr lang="en-US" sz="1350" b="1" dirty="0">
                <a:solidFill>
                  <a:srgbClr val="222B36"/>
                </a:solidFill>
                <a:latin typeface="Calibri" pitchFamily="34" charset="0"/>
                <a:ea typeface="Calibri" pitchFamily="34" charset="-122"/>
                <a:cs typeface="Calibri" pitchFamily="34" charset="-120"/>
              </a:rPr>
              <a:t>‘however’</a:t>
            </a:r>
            <a:r>
              <a:rPr lang="en-US" sz="1350" dirty="0">
                <a:solidFill>
                  <a:srgbClr val="222B36"/>
                </a:solidFill>
                <a:latin typeface="Calibri" pitchFamily="34" charset="0"/>
                <a:ea typeface="Calibri" pitchFamily="34" charset="-122"/>
                <a:cs typeface="Calibri" pitchFamily="34" charset="-120"/>
              </a:rPr>
              <a:t>? Where is the purpose?</a:t>
            </a:r>
            <a:endParaRPr lang="en-US" sz="1350" dirty="0"/>
          </a:p>
        </p:txBody>
      </p:sp>
      <p:sp>
        <p:nvSpPr>
          <p:cNvPr id="14" name="card_230"/>
          <p:cNvSpPr/>
          <p:nvPr/>
        </p:nvSpPr>
        <p:spPr>
          <a:xfrm>
            <a:off x="8077200" y="1691640"/>
            <a:ext cx="3563112" cy="2971800"/>
          </a:xfrm>
          <a:prstGeom prst="roundRect">
            <a:avLst>
              <a:gd name="adj" fmla="val 2462"/>
            </a:avLst>
          </a:prstGeom>
          <a:solidFill>
            <a:srgbClr val="F7F4EE"/>
          </a:solidFill>
          <a:ln w="9525">
            <a:solidFill>
              <a:srgbClr val="D5DAE1"/>
            </a:solidFill>
            <a:prstDash val="solid"/>
          </a:ln>
        </p:spPr>
      </p:sp>
      <p:sp>
        <p:nvSpPr>
          <p:cNvPr id="15" name="tag_231"/>
          <p:cNvSpPr/>
          <p:nvPr/>
        </p:nvSpPr>
        <p:spPr>
          <a:xfrm>
            <a:off x="8241792" y="1819656"/>
            <a:ext cx="1156716" cy="256032"/>
          </a:xfrm>
          <a:prstGeom prst="roundRect">
            <a:avLst>
              <a:gd name="adj" fmla="val 21429"/>
            </a:avLst>
          </a:prstGeom>
          <a:solidFill>
            <a:srgbClr val="1B2A41"/>
          </a:solidFill>
          <a:ln w="12700">
            <a:solidFill>
              <a:srgbClr val="1B2A41"/>
            </a:solidFill>
            <a:prstDash val="solid"/>
          </a:ln>
        </p:spPr>
      </p:sp>
      <p:sp>
        <p:nvSpPr>
          <p:cNvPr id="16" name="text_232"/>
          <p:cNvSpPr txBox="1"/>
          <p:nvPr/>
        </p:nvSpPr>
        <p:spPr>
          <a:xfrm>
            <a:off x="8241792" y="1819656"/>
            <a:ext cx="1156716"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2C  ·  20 min</a:t>
            </a:r>
            <a:endParaRPr lang="en-US" sz="1050" dirty="0"/>
          </a:p>
        </p:txBody>
      </p:sp>
      <p:sp>
        <p:nvSpPr>
          <p:cNvPr id="17" name="text_233"/>
          <p:cNvSpPr txBox="1"/>
          <p:nvPr/>
        </p:nvSpPr>
        <p:spPr>
          <a:xfrm>
            <a:off x="8241792" y="2167128"/>
            <a:ext cx="3233928" cy="640080"/>
          </a:xfrm>
          <a:prstGeom prst="rect">
            <a:avLst/>
          </a:prstGeom>
          <a:noFill/>
          <a:ln/>
        </p:spPr>
        <p:txBody>
          <a:bodyPr wrap="square" lIns="635" tIns="635" rIns="635" bIns="635" rtlCol="0" anchor="t"/>
          <a:lstStyle/>
          <a:p>
            <a:pPr algn="l" indent="0" marL="0">
              <a:lnSpc>
                <a:spcPct val="100000"/>
              </a:lnSpc>
              <a:buNone/>
            </a:pPr>
            <a:r>
              <a:rPr lang="en-US" sz="1600" b="1" dirty="0">
                <a:solidFill>
                  <a:srgbClr val="1B2A41"/>
                </a:solidFill>
                <a:latin typeface="Calibri" pitchFamily="34" charset="0"/>
                <a:ea typeface="Calibri" pitchFamily="34" charset="-122"/>
                <a:cs typeface="Calibri" pitchFamily="34" charset="-120"/>
              </a:rPr>
              <a:t>Set up: log + reference manager</a:t>
            </a:r>
            <a:endParaRPr lang="en-US" sz="1600" dirty="0"/>
          </a:p>
        </p:txBody>
      </p:sp>
      <p:sp>
        <p:nvSpPr>
          <p:cNvPr id="18" name="cardbody_234"/>
          <p:cNvSpPr txBox="1"/>
          <p:nvPr/>
        </p:nvSpPr>
        <p:spPr>
          <a:xfrm>
            <a:off x="8241792" y="2807208"/>
            <a:ext cx="3233928" cy="1764792"/>
          </a:xfrm>
          <a:prstGeom prst="rect">
            <a:avLst/>
          </a:prstGeom>
          <a:noFill/>
          <a:ln/>
        </p:spPr>
        <p:txBody>
          <a:bodyPr wrap="square" lIns="381" tIns="381" rIns="381" bIns="381" rtlCol="0" anchor="t"/>
          <a:lstStyle/>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Writing log:</a:t>
            </a:r>
            <a:r>
              <a:rPr lang="en-US" sz="1350" dirty="0">
                <a:solidFill>
                  <a:srgbClr val="222B36"/>
                </a:solidFill>
                <a:latin typeface="Calibri" pitchFamily="34" charset="0"/>
                <a:ea typeface="Calibri" pitchFamily="34" charset="-122"/>
                <a:cs typeface="Calibri" pitchFamily="34" charset="-120"/>
              </a:rPr>
              <a:t> after every notebook session, what I ran / noticed / puzzled me</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Install </a:t>
            </a:r>
            <a:r>
              <a:rPr lang="en-US" sz="1350" b="1" dirty="0">
                <a:solidFill>
                  <a:srgbClr val="222B36"/>
                </a:solidFill>
                <a:latin typeface="Calibri" pitchFamily="34" charset="0"/>
                <a:ea typeface="Calibri" pitchFamily="34" charset="-122"/>
                <a:cs typeface="Calibri" pitchFamily="34" charset="-120"/>
              </a:rPr>
              <a:t>Zotero</a:t>
            </a:r>
            <a:r>
              <a:rPr lang="en-US" sz="1350" dirty="0">
                <a:solidFill>
                  <a:srgbClr val="222B36"/>
                </a:solidFill>
                <a:latin typeface="Calibri" pitchFamily="34" charset="0"/>
                <a:ea typeface="Calibri" pitchFamily="34" charset="-122"/>
                <a:cs typeface="Calibri" pitchFamily="34" charset="-120"/>
              </a:rPr>
              <a:t> (or EndNote); save your 2B paper into it</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Choose one author–year citation style</a:t>
            </a:r>
            <a:endParaRPr lang="en-US" sz="1350" dirty="0"/>
          </a:p>
        </p:txBody>
      </p:sp>
      <p:sp>
        <p:nvSpPr>
          <p:cNvPr id="19" name="card_235"/>
          <p:cNvSpPr/>
          <p:nvPr/>
        </p:nvSpPr>
        <p:spPr>
          <a:xfrm>
            <a:off x="548640" y="4846320"/>
            <a:ext cx="5440680" cy="1463040"/>
          </a:xfrm>
          <a:prstGeom prst="roundRect">
            <a:avLst>
              <a:gd name="adj" fmla="val 5000"/>
            </a:avLst>
          </a:prstGeom>
          <a:solidFill>
            <a:srgbClr val="DCE7F2"/>
          </a:solidFill>
          <a:ln w="9525">
            <a:solidFill>
              <a:srgbClr val="DCE7F2"/>
            </a:solidFill>
            <a:prstDash val="solid"/>
          </a:ln>
        </p:spPr>
      </p:sp>
      <p:sp>
        <p:nvSpPr>
          <p:cNvPr id="20" name="tag_236"/>
          <p:cNvSpPr/>
          <p:nvPr/>
        </p:nvSpPr>
        <p:spPr>
          <a:xfrm>
            <a:off x="713232" y="4974336"/>
            <a:ext cx="1312164" cy="256032"/>
          </a:xfrm>
          <a:prstGeom prst="roundRect">
            <a:avLst>
              <a:gd name="adj" fmla="val 21429"/>
            </a:avLst>
          </a:prstGeom>
          <a:solidFill>
            <a:srgbClr val="2E4A6B"/>
          </a:solidFill>
          <a:ln w="12700">
            <a:solidFill>
              <a:srgbClr val="2E4A6B"/>
            </a:solidFill>
            <a:prstDash val="solid"/>
          </a:ln>
        </p:spPr>
      </p:sp>
      <p:sp>
        <p:nvSpPr>
          <p:cNvPr id="21" name="text_237"/>
          <p:cNvSpPr txBox="1"/>
          <p:nvPr/>
        </p:nvSpPr>
        <p:spPr>
          <a:xfrm>
            <a:off x="713232" y="4974336"/>
            <a:ext cx="131216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NOTEBOOK STRAND</a:t>
            </a:r>
            <a:endParaRPr lang="en-US" sz="1050" dirty="0"/>
          </a:p>
        </p:txBody>
      </p:sp>
      <p:sp>
        <p:nvSpPr>
          <p:cNvPr id="22" name="cardbody_238"/>
          <p:cNvSpPr txBox="1"/>
          <p:nvPr/>
        </p:nvSpPr>
        <p:spPr>
          <a:xfrm>
            <a:off x="713232" y="5321808"/>
            <a:ext cx="5111496" cy="896112"/>
          </a:xfrm>
          <a:prstGeom prst="rect">
            <a:avLst/>
          </a:prstGeom>
          <a:noFill/>
          <a:ln/>
        </p:spPr>
        <p:txBody>
          <a:bodyPr wrap="square" lIns="381" tIns="381" rIns="381" bIns="381" rtlCol="0" anchor="t"/>
          <a:lstStyle/>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Run notebook </a:t>
            </a:r>
            <a:r>
              <a:rPr lang="en-US" sz="1350" b="1" dirty="0">
                <a:solidFill>
                  <a:srgbClr val="222B36"/>
                </a:solidFill>
                <a:latin typeface="Calibri" pitchFamily="34" charset="0"/>
                <a:ea typeface="Calibri" pitchFamily="34" charset="-122"/>
                <a:cs typeface="Calibri" pitchFamily="34" charset="-120"/>
              </a:rPr>
              <a:t>sections 1–3</a:t>
            </a:r>
            <a:r>
              <a:rPr lang="en-US" sz="1350" dirty="0">
                <a:solidFill>
                  <a:srgbClr val="222B36"/>
                </a:solidFill>
                <a:latin typeface="Calibri" pitchFamily="34" charset="0"/>
                <a:ea typeface="Calibri" pitchFamily="34" charset="-122"/>
                <a:cs typeface="Calibri" pitchFamily="34" charset="-120"/>
              </a:rPr>
              <a:t> (seasonal cycle, global ENSO maps, global-mean anomalies).</a:t>
            </a:r>
            <a:endParaRPr lang="en-US" sz="1350" dirty="0"/>
          </a:p>
          <a:p>
            <a:pPr marL="342900" indent="-342900">
              <a:spcAft>
                <a:spcPts val="500"/>
              </a:spcAft>
              <a:buSzPct val="100000"/>
              <a:buChar char="■"/>
            </a:pPr>
            <a:r>
              <a:rPr lang="en-US" sz="1350" dirty="0">
                <a:solidFill>
                  <a:srgbClr val="222B36"/>
                </a:solidFill>
                <a:latin typeface="Calibri" pitchFamily="34" charset="0"/>
                <a:ea typeface="Calibri" pitchFamily="34" charset="-122"/>
                <a:cs typeface="Calibri" pitchFamily="34" charset="-120"/>
              </a:rPr>
              <a:t>Each section opens with a short explanation: read it before you run the cells.</a:t>
            </a:r>
            <a:endParaRPr lang="en-US" sz="1350" dirty="0"/>
          </a:p>
        </p:txBody>
      </p:sp>
      <p:sp>
        <p:nvSpPr>
          <p:cNvPr id="23" name="card_239"/>
          <p:cNvSpPr/>
          <p:nvPr/>
        </p:nvSpPr>
        <p:spPr>
          <a:xfrm>
            <a:off x="6199632" y="4846320"/>
            <a:ext cx="5440680" cy="1463040"/>
          </a:xfrm>
          <a:prstGeom prst="roundRect">
            <a:avLst>
              <a:gd name="adj" fmla="val 5000"/>
            </a:avLst>
          </a:prstGeom>
          <a:solidFill>
            <a:srgbClr val="FBEBD0"/>
          </a:solidFill>
          <a:ln w="9525">
            <a:solidFill>
              <a:srgbClr val="FBEBD0"/>
            </a:solidFill>
            <a:prstDash val="solid"/>
          </a:ln>
        </p:spPr>
      </p:sp>
      <p:sp>
        <p:nvSpPr>
          <p:cNvPr id="24" name="tag_240"/>
          <p:cNvSpPr/>
          <p:nvPr/>
        </p:nvSpPr>
        <p:spPr>
          <a:xfrm>
            <a:off x="6364224" y="4974336"/>
            <a:ext cx="3255264" cy="256032"/>
          </a:xfrm>
          <a:prstGeom prst="roundRect">
            <a:avLst>
              <a:gd name="adj" fmla="val 21429"/>
            </a:avLst>
          </a:prstGeom>
          <a:solidFill>
            <a:srgbClr val="D98E1F"/>
          </a:solidFill>
          <a:ln w="12700">
            <a:solidFill>
              <a:srgbClr val="D98E1F"/>
            </a:solidFill>
            <a:prstDash val="solid"/>
          </a:ln>
        </p:spPr>
      </p:sp>
      <p:sp>
        <p:nvSpPr>
          <p:cNvPr id="25" name="text_241"/>
          <p:cNvSpPr txBox="1"/>
          <p:nvPr/>
        </p:nvSpPr>
        <p:spPr>
          <a:xfrm>
            <a:off x="6364224" y="4974336"/>
            <a:ext cx="325526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READ  ·  SCHULTZ (2009) ELOQUENT SCIENCE</a:t>
            </a:r>
            <a:endParaRPr lang="en-US" sz="1050" dirty="0"/>
          </a:p>
        </p:txBody>
      </p:sp>
      <p:sp>
        <p:nvSpPr>
          <p:cNvPr id="26" name="cardbody_242"/>
          <p:cNvSpPr txBox="1"/>
          <p:nvPr/>
        </p:nvSpPr>
        <p:spPr>
          <a:xfrm>
            <a:off x="6364224" y="5321808"/>
            <a:ext cx="5111496" cy="896112"/>
          </a:xfrm>
          <a:prstGeom prst="rect">
            <a:avLst/>
          </a:prstGeom>
          <a:noFill/>
          <a:ln/>
        </p:spPr>
        <p:txBody>
          <a:bodyPr wrap="square" lIns="381" tIns="381" rIns="381" bIns="381" rtlCol="0" anchor="t"/>
          <a:lstStyle/>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§4.1–4.2</a:t>
            </a:r>
            <a:r>
              <a:rPr lang="en-US" sz="1350" dirty="0">
                <a:solidFill>
                  <a:srgbClr val="222B36"/>
                </a:solidFill>
                <a:latin typeface="Calibri" pitchFamily="34" charset="0"/>
                <a:ea typeface="Calibri" pitchFamily="34" charset="-122"/>
                <a:cs typeface="Calibri" pitchFamily="34" charset="-120"/>
              </a:rPr>
              <a:t> (parts of a paper; nonlinear reading)</a:t>
            </a:r>
            <a:endParaRPr lang="en-US" sz="1350" dirty="0"/>
          </a:p>
          <a:p>
            <a:pPr marL="342900" indent="-342900">
              <a:spcAft>
                <a:spcPts val="500"/>
              </a:spcAft>
              <a:buSzPct val="100000"/>
              <a:buChar char="■"/>
            </a:pPr>
            <a:r>
              <a:rPr lang="en-US" sz="1350" b="1" dirty="0">
                <a:solidFill>
                  <a:srgbClr val="222B36"/>
                </a:solidFill>
                <a:latin typeface="Calibri" pitchFamily="34" charset="0"/>
                <a:ea typeface="Calibri" pitchFamily="34" charset="-122"/>
                <a:cs typeface="Calibri" pitchFamily="34" charset="-120"/>
              </a:rPr>
              <a:t>Ch. 7</a:t>
            </a:r>
            <a:r>
              <a:rPr lang="en-US" sz="1350" dirty="0">
                <a:solidFill>
                  <a:srgbClr val="222B36"/>
                </a:solidFill>
                <a:latin typeface="Calibri" pitchFamily="34" charset="0"/>
                <a:ea typeface="Calibri" pitchFamily="34" charset="-122"/>
                <a:cs typeface="Calibri" pitchFamily="34" charset="-120"/>
              </a:rPr>
              <a:t> Accessible scientific writing (≈ 6 pages)</a:t>
            </a:r>
            <a:endParaRPr lang="en-US" sz="13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agl_243"/>
          <p:cNvSpPr/>
          <p:nvPr/>
        </p:nvSpPr>
        <p:spPr>
          <a:xfrm>
            <a:off x="548640" y="329184"/>
            <a:ext cx="1051560" cy="237744"/>
          </a:xfrm>
          <a:prstGeom prst="roundRect">
            <a:avLst>
              <a:gd name="adj" fmla="val 19231"/>
            </a:avLst>
          </a:prstGeom>
          <a:solidFill>
            <a:srgbClr val="2E4A6B"/>
          </a:solidFill>
          <a:ln w="12700">
            <a:solidFill>
              <a:srgbClr val="2E4A6B"/>
            </a:solidFill>
            <a:prstDash val="solid"/>
          </a:ln>
        </p:spPr>
      </p:sp>
      <p:sp>
        <p:nvSpPr>
          <p:cNvPr id="3" name="text_244"/>
          <p:cNvSpPr txBox="1"/>
          <p:nvPr/>
        </p:nvSpPr>
        <p:spPr>
          <a:xfrm>
            <a:off x="548640" y="329184"/>
            <a:ext cx="1051560"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LITERATURE</a:t>
            </a:r>
            <a:endParaRPr lang="en-US" sz="1000" dirty="0"/>
          </a:p>
        </p:txBody>
      </p:sp>
      <p:sp>
        <p:nvSpPr>
          <p:cNvPr id="4" name="text_245"/>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Searching Web of Science: a quick guide</a:t>
            </a:r>
            <a:endParaRPr lang="en-US" sz="2800" dirty="0"/>
          </a:p>
        </p:txBody>
      </p:sp>
      <p:sp>
        <p:nvSpPr>
          <p:cNvPr id="5" name="card_246"/>
          <p:cNvSpPr/>
          <p:nvPr/>
        </p:nvSpPr>
        <p:spPr>
          <a:xfrm>
            <a:off x="548640" y="1280160"/>
            <a:ext cx="5760720" cy="5029200"/>
          </a:xfrm>
          <a:prstGeom prst="roundRect">
            <a:avLst>
              <a:gd name="adj" fmla="val 1455"/>
            </a:avLst>
          </a:prstGeom>
          <a:solidFill>
            <a:srgbClr val="F7F4EE"/>
          </a:solidFill>
          <a:ln w="9525">
            <a:solidFill>
              <a:srgbClr val="D5DAE1"/>
            </a:solidFill>
            <a:prstDash val="solid"/>
          </a:ln>
        </p:spPr>
      </p:sp>
      <p:sp>
        <p:nvSpPr>
          <p:cNvPr id="6" name="tag_247"/>
          <p:cNvSpPr/>
          <p:nvPr/>
        </p:nvSpPr>
        <p:spPr>
          <a:xfrm>
            <a:off x="713232" y="1408176"/>
            <a:ext cx="2244852" cy="256032"/>
          </a:xfrm>
          <a:prstGeom prst="roundRect">
            <a:avLst>
              <a:gd name="adj" fmla="val 21429"/>
            </a:avLst>
          </a:prstGeom>
          <a:solidFill>
            <a:srgbClr val="2E4A6B"/>
          </a:solidFill>
          <a:ln w="12700">
            <a:solidFill>
              <a:srgbClr val="2E4A6B"/>
            </a:solidFill>
            <a:prstDash val="solid"/>
          </a:ln>
        </p:spPr>
      </p:sp>
      <p:sp>
        <p:nvSpPr>
          <p:cNvPr id="7" name="text_248"/>
          <p:cNvSpPr txBox="1"/>
          <p:nvPr/>
        </p:nvSpPr>
        <p:spPr>
          <a:xfrm>
            <a:off x="713232" y="1408176"/>
            <a:ext cx="2244852"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SEARCH, REFINE, CHASE, SAVE</a:t>
            </a:r>
            <a:endParaRPr lang="en-US" sz="1050" dirty="0"/>
          </a:p>
        </p:txBody>
      </p:sp>
      <p:sp>
        <p:nvSpPr>
          <p:cNvPr id="8" name="cardbody_249"/>
          <p:cNvSpPr txBox="1"/>
          <p:nvPr/>
        </p:nvSpPr>
        <p:spPr>
          <a:xfrm>
            <a:off x="713232" y="1755648"/>
            <a:ext cx="5431536" cy="4462272"/>
          </a:xfrm>
          <a:prstGeom prst="rect">
            <a:avLst/>
          </a:prstGeom>
          <a:noFill/>
          <a:ln/>
        </p:spPr>
        <p:txBody>
          <a:bodyPr wrap="square" lIns="381" tIns="381" rIns="381" bIns="381" rtlCol="0" anchor="t"/>
          <a:lstStyle/>
          <a:p>
            <a:pPr marL="342900" indent="-342900">
              <a:spcAft>
                <a:spcPts val="500"/>
              </a:spcAft>
              <a:buSzPct val="100000"/>
              <a:buChar char="■"/>
            </a:pPr>
            <a:r>
              <a:rPr lang="en-US" sz="1450" b="1" dirty="0">
                <a:solidFill>
                  <a:srgbClr val="222B36"/>
                </a:solidFill>
                <a:latin typeface="Calibri" pitchFamily="34" charset="0"/>
                <a:ea typeface="Calibri" pitchFamily="34" charset="-122"/>
                <a:cs typeface="Calibri" pitchFamily="34" charset="-120"/>
              </a:rPr>
              <a:t>Sign in:</a:t>
            </a:r>
            <a:r>
              <a:rPr lang="en-US" sz="1450" dirty="0">
                <a:solidFill>
                  <a:srgbClr val="222B36"/>
                </a:solidFill>
                <a:latin typeface="Calibri" pitchFamily="34" charset="0"/>
                <a:ea typeface="Calibri" pitchFamily="34" charset="-122"/>
                <a:cs typeface="Calibri" pitchFamily="34" charset="-120"/>
              </a:rPr>
              <a:t> webofscience.com → sign in through the University (institutional login).</a:t>
            </a:r>
            <a:endParaRPr lang="en-US" sz="1450" dirty="0"/>
          </a:p>
          <a:p>
            <a:pPr marL="342900" indent="-342900">
              <a:spcAft>
                <a:spcPts val="500"/>
              </a:spcAft>
              <a:buSzPct val="100000"/>
              <a:buChar char="■"/>
            </a:pPr>
            <a:r>
              <a:rPr lang="en-US" sz="1450" b="1" dirty="0">
                <a:solidFill>
                  <a:srgbClr val="222B36"/>
                </a:solidFill>
                <a:latin typeface="Calibri" pitchFamily="34" charset="0"/>
                <a:ea typeface="Calibri" pitchFamily="34" charset="-122"/>
                <a:cs typeface="Calibri" pitchFamily="34" charset="-120"/>
              </a:rPr>
              <a:t>Advanced Search</a:t>
            </a:r>
            <a:r>
              <a:rPr lang="en-US" sz="1450" dirty="0">
                <a:solidFill>
                  <a:srgbClr val="222B36"/>
                </a:solidFill>
                <a:latin typeface="Calibri" pitchFamily="34" charset="0"/>
                <a:ea typeface="Calibri" pitchFamily="34" charset="-122"/>
                <a:cs typeface="Calibri" pitchFamily="34" charset="-120"/>
              </a:rPr>
              <a:t>, Core Collection. </a:t>
            </a:r>
            <a:r>
              <a:rPr lang="en-US" sz="1450" b="1" dirty="0">
                <a:solidFill>
                  <a:srgbClr val="222B36"/>
                </a:solidFill>
                <a:latin typeface="Calibri" pitchFamily="34" charset="0"/>
                <a:ea typeface="Calibri" pitchFamily="34" charset="-122"/>
                <a:cs typeface="Calibri" pitchFamily="34" charset="-120"/>
              </a:rPr>
              <a:t>Fielded Search</a:t>
            </a:r>
            <a:r>
              <a:rPr lang="en-US" sz="1450" dirty="0">
                <a:solidFill>
                  <a:srgbClr val="222B36"/>
                </a:solidFill>
                <a:latin typeface="Calibri" pitchFamily="34" charset="0"/>
                <a:ea typeface="Calibri" pitchFamily="34" charset="-122"/>
                <a:cs typeface="Calibri" pitchFamily="34" charset="-120"/>
              </a:rPr>
              <a:t> tab: one idea per </a:t>
            </a:r>
            <a:r>
              <a:rPr lang="en-US" sz="1450" b="1" dirty="0">
                <a:solidFill>
                  <a:srgbClr val="222B36"/>
                </a:solidFill>
                <a:latin typeface="Calibri" pitchFamily="34" charset="0"/>
                <a:ea typeface="Calibri" pitchFamily="34" charset="-122"/>
                <a:cs typeface="Calibri" pitchFamily="34" charset="-120"/>
              </a:rPr>
              <a:t>Topic</a:t>
            </a:r>
            <a:r>
              <a:rPr lang="en-US" sz="1450" dirty="0">
                <a:solidFill>
                  <a:srgbClr val="222B36"/>
                </a:solidFill>
                <a:latin typeface="Calibri" pitchFamily="34" charset="0"/>
                <a:ea typeface="Calibri" pitchFamily="34" charset="-122"/>
                <a:cs typeface="Calibri" pitchFamily="34" charset="-120"/>
              </a:rPr>
              <a:t> row, joined by AND, with </a:t>
            </a:r>
            <a:r>
              <a:rPr lang="en-US" sz="1450" b="1" dirty="0">
                <a:solidFill>
                  <a:srgbClr val="222B36"/>
                </a:solidFill>
                <a:latin typeface="Calibri" pitchFamily="34" charset="0"/>
                <a:ea typeface="Calibri" pitchFamily="34" charset="-122"/>
                <a:cs typeface="Calibri" pitchFamily="34" charset="-120"/>
              </a:rPr>
              <a:t>no</a:t>
            </a:r>
            <a:r>
              <a:rPr lang="en-US" sz="1450" dirty="0">
                <a:solidFill>
                  <a:srgbClr val="222B36"/>
                </a:solidFill>
                <a:latin typeface="Calibri" pitchFamily="34" charset="0"/>
                <a:ea typeface="Calibri" pitchFamily="34" charset="-122"/>
                <a:cs typeface="Calibri" pitchFamily="34" charset="-120"/>
              </a:rPr>
              <a:t> TS= tags. </a:t>
            </a:r>
            <a:r>
              <a:rPr lang="en-US" sz="1450" b="1" dirty="0">
                <a:solidFill>
                  <a:srgbClr val="222B36"/>
                </a:solidFill>
                <a:latin typeface="Calibri" pitchFamily="34" charset="0"/>
                <a:ea typeface="Calibri" pitchFamily="34" charset="-122"/>
                <a:cs typeface="Calibri" pitchFamily="34" charset="-120"/>
              </a:rPr>
              <a:t>Query Builder</a:t>
            </a:r>
            <a:r>
              <a:rPr lang="en-US" sz="1450" dirty="0">
                <a:solidFill>
                  <a:srgbClr val="222B36"/>
                </a:solidFill>
                <a:latin typeface="Calibri" pitchFamily="34" charset="0"/>
                <a:ea typeface="Calibri" pitchFamily="34" charset="-122"/>
                <a:cs typeface="Calibri" pitchFamily="34" charset="-120"/>
              </a:rPr>
              <a:t> tab: paste a tagged query straight into the </a:t>
            </a:r>
            <a:r>
              <a:rPr lang="en-US" sz="1450" b="1" dirty="0">
                <a:solidFill>
                  <a:srgbClr val="222B36"/>
                </a:solidFill>
                <a:latin typeface="Calibri" pitchFamily="34" charset="0"/>
                <a:ea typeface="Calibri" pitchFamily="34" charset="-122"/>
                <a:cs typeface="Calibri" pitchFamily="34" charset="-120"/>
              </a:rPr>
              <a:t>Query Preview</a:t>
            </a:r>
            <a:r>
              <a:rPr lang="en-US" sz="1450" dirty="0">
                <a:solidFill>
                  <a:srgbClr val="222B36"/>
                </a:solidFill>
                <a:latin typeface="Calibri" pitchFamily="34" charset="0"/>
                <a:ea typeface="Calibri" pitchFamily="34" charset="-122"/>
                <a:cs typeface="Calibri" pitchFamily="34" charset="-120"/>
              </a:rPr>
              <a:t> box (TS= topic, TI= title, AU= author, PY= year).</a:t>
            </a:r>
            <a:endParaRPr lang="en-US" sz="1450" dirty="0"/>
          </a:p>
          <a:p>
            <a:pPr marL="342900" indent="-342900">
              <a:spcAft>
                <a:spcPts val="500"/>
              </a:spcAft>
              <a:buSzPct val="100000"/>
              <a:buChar char="■"/>
            </a:pPr>
            <a:r>
              <a:rPr lang="en-US" sz="1450" b="1" dirty="0">
                <a:solidFill>
                  <a:srgbClr val="222B36"/>
                </a:solidFill>
                <a:latin typeface="Calibri" pitchFamily="34" charset="0"/>
                <a:ea typeface="Calibri" pitchFamily="34" charset="-122"/>
                <a:cs typeface="Calibri" pitchFamily="34" charset="-120"/>
              </a:rPr>
              <a:t>Phrases</a:t>
            </a:r>
            <a:r>
              <a:rPr lang="en-US" sz="1450" dirty="0">
                <a:solidFill>
                  <a:srgbClr val="222B36"/>
                </a:solidFill>
                <a:latin typeface="Calibri" pitchFamily="34" charset="0"/>
                <a:ea typeface="Calibri" pitchFamily="34" charset="-122"/>
                <a:cs typeface="Calibri" pitchFamily="34" charset="-120"/>
              </a:rPr>
              <a:t> in quotes ("Walker circulation"); </a:t>
            </a:r>
            <a:r>
              <a:rPr lang="en-US" sz="1450" b="1" dirty="0">
                <a:solidFill>
                  <a:srgbClr val="222B36"/>
                </a:solidFill>
                <a:latin typeface="Calibri" pitchFamily="34" charset="0"/>
                <a:ea typeface="Calibri" pitchFamily="34" charset="-122"/>
                <a:cs typeface="Calibri" pitchFamily="34" charset="-120"/>
              </a:rPr>
              <a:t>AND / OR / NOT</a:t>
            </a:r>
            <a:r>
              <a:rPr lang="en-US" sz="1450" dirty="0">
                <a:solidFill>
                  <a:srgbClr val="222B36"/>
                </a:solidFill>
                <a:latin typeface="Calibri" pitchFamily="34" charset="0"/>
                <a:ea typeface="Calibri" pitchFamily="34" charset="-122"/>
                <a:cs typeface="Calibri" pitchFamily="34" charset="-120"/>
              </a:rPr>
              <a:t>; truncation with * (cloud* = cloud, clouds, cloudiness); NEAR/3 for words close together.</a:t>
            </a:r>
            <a:endParaRPr lang="en-US" sz="1450" dirty="0"/>
          </a:p>
          <a:p>
            <a:pPr marL="342900" indent="-342900">
              <a:spcAft>
                <a:spcPts val="500"/>
              </a:spcAft>
              <a:buSzPct val="100000"/>
              <a:buChar char="■"/>
            </a:pPr>
            <a:r>
              <a:rPr lang="en-US" sz="1450" b="1" dirty="0">
                <a:solidFill>
                  <a:srgbClr val="222B36"/>
                </a:solidFill>
                <a:latin typeface="Calibri" pitchFamily="34" charset="0"/>
                <a:ea typeface="Calibri" pitchFamily="34" charset="-122"/>
                <a:cs typeface="Calibri" pitchFamily="34" charset="-120"/>
              </a:rPr>
              <a:t>Refine:</a:t>
            </a:r>
            <a:r>
              <a:rPr lang="en-US" sz="1450" dirty="0">
                <a:solidFill>
                  <a:srgbClr val="222B36"/>
                </a:solidFill>
                <a:latin typeface="Calibri" pitchFamily="34" charset="0"/>
                <a:ea typeface="Calibri" pitchFamily="34" charset="-122"/>
                <a:cs typeface="Calibri" pitchFamily="34" charset="-120"/>
              </a:rPr>
              <a:t> Document Types → Review Article; Web of Science Categories → Meteorology &amp; Atmospheric Sciences; publication years.</a:t>
            </a:r>
            <a:endParaRPr lang="en-US" sz="1450" dirty="0"/>
          </a:p>
          <a:p>
            <a:pPr marL="342900" indent="-342900">
              <a:spcAft>
                <a:spcPts val="500"/>
              </a:spcAft>
              <a:buSzPct val="100000"/>
              <a:buChar char="■"/>
            </a:pPr>
            <a:r>
              <a:rPr lang="en-US" sz="1450" b="1" dirty="0">
                <a:solidFill>
                  <a:srgbClr val="222B36"/>
                </a:solidFill>
                <a:latin typeface="Calibri" pitchFamily="34" charset="0"/>
                <a:ea typeface="Calibri" pitchFamily="34" charset="-122"/>
                <a:cs typeface="Calibri" pitchFamily="34" charset="-120"/>
              </a:rPr>
              <a:t>Sort</a:t>
            </a:r>
            <a:r>
              <a:rPr lang="en-US" sz="1450" dirty="0">
                <a:solidFill>
                  <a:srgbClr val="222B36"/>
                </a:solidFill>
                <a:latin typeface="Calibri" pitchFamily="34" charset="0"/>
                <a:ea typeface="Calibri" pitchFamily="34" charset="-122"/>
                <a:cs typeface="Calibri" pitchFamily="34" charset="-120"/>
              </a:rPr>
              <a:t> by Citations (highest first) to find the classics; by Date for the newest.</a:t>
            </a:r>
            <a:endParaRPr lang="en-US" sz="1450" dirty="0"/>
          </a:p>
          <a:p>
            <a:pPr marL="342900" indent="-342900">
              <a:spcAft>
                <a:spcPts val="500"/>
              </a:spcAft>
              <a:buSzPct val="100000"/>
              <a:buChar char="■"/>
            </a:pPr>
            <a:r>
              <a:rPr lang="en-US" sz="1450" b="1" dirty="0">
                <a:solidFill>
                  <a:srgbClr val="222B36"/>
                </a:solidFill>
                <a:latin typeface="Calibri" pitchFamily="34" charset="0"/>
                <a:ea typeface="Calibri" pitchFamily="34" charset="-122"/>
                <a:cs typeface="Calibri" pitchFamily="34" charset="-120"/>
              </a:rPr>
              <a:t>Chase:</a:t>
            </a:r>
            <a:r>
              <a:rPr lang="en-US" sz="1450" dirty="0">
                <a:solidFill>
                  <a:srgbClr val="222B36"/>
                </a:solidFill>
                <a:latin typeface="Calibri" pitchFamily="34" charset="0"/>
                <a:ea typeface="Calibri" pitchFamily="34" charset="-122"/>
                <a:cs typeface="Calibri" pitchFamily="34" charset="-120"/>
              </a:rPr>
              <a:t> Cited References (backward), Times Cited (forward), Related Records (similar papers).</a:t>
            </a:r>
            <a:endParaRPr lang="en-US" sz="1450" dirty="0"/>
          </a:p>
          <a:p>
            <a:pPr marL="342900" indent="-342900">
              <a:spcAft>
                <a:spcPts val="500"/>
              </a:spcAft>
              <a:buSzPct val="100000"/>
              <a:buChar char="■"/>
            </a:pPr>
            <a:r>
              <a:rPr lang="en-US" sz="1450" b="1" dirty="0">
                <a:solidFill>
                  <a:srgbClr val="222B36"/>
                </a:solidFill>
                <a:latin typeface="Calibri" pitchFamily="34" charset="0"/>
                <a:ea typeface="Calibri" pitchFamily="34" charset="-122"/>
                <a:cs typeface="Calibri" pitchFamily="34" charset="-120"/>
              </a:rPr>
              <a:t>History:</a:t>
            </a:r>
            <a:r>
              <a:rPr lang="en-US" sz="1450" dirty="0">
                <a:solidFill>
                  <a:srgbClr val="222B36"/>
                </a:solidFill>
                <a:latin typeface="Calibri" pitchFamily="34" charset="0"/>
                <a:ea typeface="Calibri" pitchFamily="34" charset="-122"/>
                <a:cs typeface="Calibri" pitchFamily="34" charset="-120"/>
              </a:rPr>
              <a:t> combine searches (#1 AND #2) without retyping.</a:t>
            </a:r>
            <a:endParaRPr lang="en-US" sz="1450" dirty="0"/>
          </a:p>
          <a:p>
            <a:pPr marL="342900" indent="-342900">
              <a:spcAft>
                <a:spcPts val="500"/>
              </a:spcAft>
              <a:buSzPct val="100000"/>
              <a:buChar char="■"/>
            </a:pPr>
            <a:r>
              <a:rPr lang="en-US" sz="1450" b="1" dirty="0">
                <a:solidFill>
                  <a:srgbClr val="222B36"/>
                </a:solidFill>
                <a:latin typeface="Calibri" pitchFamily="34" charset="0"/>
                <a:ea typeface="Calibri" pitchFamily="34" charset="-122"/>
                <a:cs typeface="Calibri" pitchFamily="34" charset="-120"/>
              </a:rPr>
              <a:t>Save:</a:t>
            </a:r>
            <a:r>
              <a:rPr lang="en-US" sz="1450" dirty="0">
                <a:solidFill>
                  <a:srgbClr val="222B36"/>
                </a:solidFill>
                <a:latin typeface="Calibri" pitchFamily="34" charset="0"/>
                <a:ea typeface="Calibri" pitchFamily="34" charset="-122"/>
                <a:cs typeface="Calibri" pitchFamily="34" charset="-120"/>
              </a:rPr>
              <a:t> the Zotero Connector grabs one result or a whole page; or Export → RIS / EndNote.</a:t>
            </a:r>
            <a:endParaRPr lang="en-US" sz="1450" dirty="0"/>
          </a:p>
        </p:txBody>
      </p:sp>
      <p:sp>
        <p:nvSpPr>
          <p:cNvPr id="9" name="card_250"/>
          <p:cNvSpPr/>
          <p:nvPr/>
        </p:nvSpPr>
        <p:spPr>
          <a:xfrm>
            <a:off x="6519672" y="1280160"/>
            <a:ext cx="5120640" cy="2971800"/>
          </a:xfrm>
          <a:prstGeom prst="roundRect">
            <a:avLst>
              <a:gd name="adj" fmla="val 2462"/>
            </a:avLst>
          </a:prstGeom>
          <a:solidFill>
            <a:srgbClr val="1B2A41"/>
          </a:solidFill>
          <a:ln w="9525">
            <a:solidFill>
              <a:srgbClr val="1B2A41"/>
            </a:solidFill>
            <a:prstDash val="solid"/>
          </a:ln>
        </p:spPr>
      </p:sp>
      <p:sp>
        <p:nvSpPr>
          <p:cNvPr id="10" name="tag_251"/>
          <p:cNvSpPr/>
          <p:nvPr/>
        </p:nvSpPr>
        <p:spPr>
          <a:xfrm>
            <a:off x="6684264" y="1408176"/>
            <a:ext cx="1312164" cy="256032"/>
          </a:xfrm>
          <a:prstGeom prst="roundRect">
            <a:avLst>
              <a:gd name="adj" fmla="val 21429"/>
            </a:avLst>
          </a:prstGeom>
          <a:solidFill>
            <a:srgbClr val="D98E1F"/>
          </a:solidFill>
          <a:ln w="12700">
            <a:solidFill>
              <a:srgbClr val="D98E1F"/>
            </a:solidFill>
            <a:prstDash val="solid"/>
          </a:ln>
        </p:spPr>
      </p:sp>
      <p:sp>
        <p:nvSpPr>
          <p:cNvPr id="11" name="text_252"/>
          <p:cNvSpPr txBox="1"/>
          <p:nvPr/>
        </p:nvSpPr>
        <p:spPr>
          <a:xfrm>
            <a:off x="6684264" y="1408176"/>
            <a:ext cx="1312164"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TRY THIS SEARCH</a:t>
            </a:r>
            <a:endParaRPr lang="en-US" sz="1050" dirty="0"/>
          </a:p>
        </p:txBody>
      </p:sp>
      <p:sp>
        <p:nvSpPr>
          <p:cNvPr id="12" name="cardbody_253"/>
          <p:cNvSpPr txBox="1"/>
          <p:nvPr/>
        </p:nvSpPr>
        <p:spPr>
          <a:xfrm>
            <a:off x="6684264" y="1755648"/>
            <a:ext cx="4791456" cy="2404872"/>
          </a:xfrm>
          <a:prstGeom prst="rect">
            <a:avLst/>
          </a:prstGeom>
          <a:noFill/>
          <a:ln/>
        </p:spPr>
        <p:txBody>
          <a:bodyPr wrap="square" lIns="381" tIns="381" rIns="381" bIns="381" rtlCol="0" anchor="t"/>
          <a:lstStyle/>
          <a:p>
            <a:pPr indent="0" marL="0">
              <a:spcAft>
                <a:spcPts val="500"/>
              </a:spcAft>
              <a:buNone/>
            </a:pPr>
            <a:r>
              <a:rPr lang="en-US" sz="1500" dirty="0">
                <a:solidFill>
                  <a:srgbClr val="FFFFFF"/>
                </a:solidFill>
                <a:latin typeface="Calibri" pitchFamily="34" charset="0"/>
                <a:ea typeface="Calibri" pitchFamily="34" charset="-122"/>
                <a:cs typeface="Calibri" pitchFamily="34" charset="-120"/>
              </a:rPr>
              <a:t>TS=("El Nino" OR ENSO OR "Southern Oscillation")</a:t>
            </a:r>
            <a:endParaRPr lang="en-US" sz="1500" dirty="0"/>
          </a:p>
          <a:p>
            <a:pPr indent="0" marL="0">
              <a:spcAft>
                <a:spcPts val="500"/>
              </a:spcAft>
              <a:buNone/>
            </a:pPr>
            <a:r>
              <a:rPr lang="en-US" sz="1500" dirty="0">
                <a:solidFill>
                  <a:srgbClr val="FFFFFF"/>
                </a:solidFill>
                <a:latin typeface="Calibri" pitchFamily="34" charset="0"/>
                <a:ea typeface="Calibri" pitchFamily="34" charset="-122"/>
                <a:cs typeface="Calibri" pitchFamily="34" charset="-120"/>
              </a:rPr>
              <a:t>AND TS=("cloud cover" OR "cloud fraction" OR "cloud amount")</a:t>
            </a:r>
            <a:endParaRPr lang="en-US" sz="1500" dirty="0"/>
          </a:p>
          <a:p>
            <a:pPr indent="0" marL="0">
              <a:spcAft>
                <a:spcPts val="500"/>
              </a:spcAft>
              <a:buNone/>
            </a:pPr>
            <a:r>
              <a:rPr lang="en-US" sz="1500" dirty="0">
                <a:solidFill>
                  <a:srgbClr val="FFFFFF"/>
                </a:solidFill>
                <a:latin typeface="Calibri" pitchFamily="34" charset="0"/>
                <a:ea typeface="Calibri" pitchFamily="34" charset="-122"/>
                <a:cs typeface="Calibri" pitchFamily="34" charset="-120"/>
              </a:rPr>
              <a:t>AND TS=(reanalysis OR ERA5 OR satellite)</a:t>
            </a:r>
            <a:endParaRPr lang="en-US" sz="1500" dirty="0"/>
          </a:p>
          <a:p>
            <a:pPr indent="0" marL="0">
              <a:spcAft>
                <a:spcPts val="500"/>
              </a:spcAft>
              <a:buNone/>
            </a:pPr>
            <a:r>
              <a:rPr lang="en-US" sz="1500" dirty="0">
                <a:solidFill>
                  <a:srgbClr val="FFFFFF"/>
                </a:solidFill>
                <a:latin typeface="Calibri" pitchFamily="34" charset="0"/>
                <a:ea typeface="Calibri" pitchFamily="34" charset="-122"/>
                <a:cs typeface="Calibri" pitchFamily="34" charset="-120"/>
              </a:rPr>
              <a:t>Query Builder tab: paste into the </a:t>
            </a:r>
            <a:r>
              <a:rPr lang="en-US" sz="1500" b="1" dirty="0">
                <a:solidFill>
                  <a:srgbClr val="FFFFFF"/>
                </a:solidFill>
                <a:latin typeface="Calibri" pitchFamily="34" charset="0"/>
                <a:ea typeface="Calibri" pitchFamily="34" charset="-122"/>
                <a:cs typeface="Calibri" pitchFamily="34" charset="-120"/>
              </a:rPr>
              <a:t>Query Preview</a:t>
            </a:r>
            <a:r>
              <a:rPr lang="en-US" sz="1500" dirty="0">
                <a:solidFill>
                  <a:srgbClr val="FFFFFF"/>
                </a:solidFill>
                <a:latin typeface="Calibri" pitchFamily="34" charset="0"/>
                <a:ea typeface="Calibri" pitchFamily="34" charset="-122"/>
                <a:cs typeface="Calibri" pitchFamily="34" charset="-120"/>
              </a:rPr>
              <a:t> box (not the term box above it). Or use three Topic rows in Fielded Search, minus TS=( ). Then refine to Review Article, sort by Citations, and swap in your own region or cloud type.</a:t>
            </a:r>
            <a:endParaRPr lang="en-US" sz="1500" dirty="0"/>
          </a:p>
        </p:txBody>
      </p:sp>
      <p:sp>
        <p:nvSpPr>
          <p:cNvPr id="13" name="card_254"/>
          <p:cNvSpPr/>
          <p:nvPr/>
        </p:nvSpPr>
        <p:spPr>
          <a:xfrm>
            <a:off x="6519672" y="4434840"/>
            <a:ext cx="5120640" cy="1874520"/>
          </a:xfrm>
          <a:prstGeom prst="roundRect">
            <a:avLst>
              <a:gd name="adj" fmla="val 3902"/>
            </a:avLst>
          </a:prstGeom>
          <a:solidFill>
            <a:srgbClr val="DCE7F2"/>
          </a:solidFill>
          <a:ln w="9525">
            <a:solidFill>
              <a:srgbClr val="DCE7F2"/>
            </a:solidFill>
            <a:prstDash val="solid"/>
          </a:ln>
        </p:spPr>
      </p:sp>
      <p:sp>
        <p:nvSpPr>
          <p:cNvPr id="14" name="tag_255"/>
          <p:cNvSpPr/>
          <p:nvPr/>
        </p:nvSpPr>
        <p:spPr>
          <a:xfrm>
            <a:off x="6684264" y="4562856"/>
            <a:ext cx="2167128" cy="256032"/>
          </a:xfrm>
          <a:prstGeom prst="roundRect">
            <a:avLst>
              <a:gd name="adj" fmla="val 21429"/>
            </a:avLst>
          </a:prstGeom>
          <a:solidFill>
            <a:srgbClr val="2E4A6B"/>
          </a:solidFill>
          <a:ln w="12700">
            <a:solidFill>
              <a:srgbClr val="2E4A6B"/>
            </a:solidFill>
            <a:prstDash val="solid"/>
          </a:ln>
        </p:spPr>
      </p:sp>
      <p:sp>
        <p:nvSpPr>
          <p:cNvPr id="15" name="text_256"/>
          <p:cNvSpPr txBox="1"/>
          <p:nvPr/>
        </p:nvSpPr>
        <p:spPr>
          <a:xfrm>
            <a:off x="6684264" y="4562856"/>
            <a:ext cx="2167128"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SCHOLAR OR WEB OF SCIENCE?</a:t>
            </a:r>
            <a:endParaRPr lang="en-US" sz="1050" dirty="0"/>
          </a:p>
        </p:txBody>
      </p:sp>
      <p:sp>
        <p:nvSpPr>
          <p:cNvPr id="16" name="cardbody_257"/>
          <p:cNvSpPr txBox="1"/>
          <p:nvPr/>
        </p:nvSpPr>
        <p:spPr>
          <a:xfrm>
            <a:off x="6684264" y="4910328"/>
            <a:ext cx="4791456" cy="1307592"/>
          </a:xfrm>
          <a:prstGeom prst="rect">
            <a:avLst/>
          </a:prstGeom>
          <a:noFill/>
          <a:ln/>
        </p:spPr>
        <p:txBody>
          <a:bodyPr wrap="square" lIns="381" tIns="381" rIns="381" bIns="381" rtlCol="0" anchor="t"/>
          <a:lstStyle/>
          <a:p>
            <a:pPr marL="342900" indent="-342900">
              <a:spcAft>
                <a:spcPts val="500"/>
              </a:spcAft>
              <a:buSzPct val="100000"/>
              <a:buChar char="■"/>
            </a:pPr>
            <a:r>
              <a:rPr lang="en-US" sz="1400" b="1" dirty="0">
                <a:solidFill>
                  <a:srgbClr val="222B36"/>
                </a:solidFill>
                <a:latin typeface="Calibri" pitchFamily="34" charset="0"/>
                <a:ea typeface="Calibri" pitchFamily="34" charset="-122"/>
                <a:cs typeface="Calibri" pitchFamily="34" charset="-120"/>
              </a:rPr>
              <a:t>Scholar</a:t>
            </a:r>
            <a:r>
              <a:rPr lang="en-US" sz="1400" dirty="0">
                <a:solidFill>
                  <a:srgbClr val="222B36"/>
                </a:solidFill>
                <a:latin typeface="Calibri" pitchFamily="34" charset="0"/>
                <a:ea typeface="Calibri" pitchFamily="34" charset="-122"/>
                <a:cs typeface="Calibri" pitchFamily="34" charset="-120"/>
              </a:rPr>
              <a:t> to explore broadly and find full texts fast.</a:t>
            </a:r>
            <a:endParaRPr lang="en-US" sz="1400" dirty="0"/>
          </a:p>
          <a:p>
            <a:pPr marL="342900" indent="-342900">
              <a:spcAft>
                <a:spcPts val="500"/>
              </a:spcAft>
              <a:buSzPct val="100000"/>
              <a:buChar char="■"/>
            </a:pPr>
            <a:r>
              <a:rPr lang="en-US" sz="1400" b="1" dirty="0">
                <a:solidFill>
                  <a:srgbClr val="222B36"/>
                </a:solidFill>
                <a:latin typeface="Calibri" pitchFamily="34" charset="0"/>
                <a:ea typeface="Calibri" pitchFamily="34" charset="-122"/>
                <a:cs typeface="Calibri" pitchFamily="34" charset="-120"/>
              </a:rPr>
              <a:t>Web of Science</a:t>
            </a:r>
            <a:r>
              <a:rPr lang="en-US" sz="1400" dirty="0">
                <a:solidFill>
                  <a:srgbClr val="222B36"/>
                </a:solidFill>
                <a:latin typeface="Calibri" pitchFamily="34" charset="0"/>
                <a:ea typeface="Calibri" pitchFamily="34" charset="-122"/>
                <a:cs typeface="Calibri" pitchFamily="34" charset="-120"/>
              </a:rPr>
              <a:t> for a precise search of peer-reviewed journals, reliable citation counts and filters.</a:t>
            </a:r>
            <a:endParaRPr lang="en-US" sz="140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agl_258"/>
          <p:cNvSpPr/>
          <p:nvPr/>
        </p:nvSpPr>
        <p:spPr>
          <a:xfrm>
            <a:off x="548640" y="329184"/>
            <a:ext cx="1051560" cy="237744"/>
          </a:xfrm>
          <a:prstGeom prst="roundRect">
            <a:avLst>
              <a:gd name="adj" fmla="val 19231"/>
            </a:avLst>
          </a:prstGeom>
          <a:solidFill>
            <a:srgbClr val="2E4A6B"/>
          </a:solidFill>
          <a:ln w="12700">
            <a:solidFill>
              <a:srgbClr val="2E4A6B"/>
            </a:solidFill>
            <a:prstDash val="solid"/>
          </a:ln>
        </p:spPr>
      </p:sp>
      <p:sp>
        <p:nvSpPr>
          <p:cNvPr id="3" name="text_259"/>
          <p:cNvSpPr txBox="1"/>
          <p:nvPr/>
        </p:nvSpPr>
        <p:spPr>
          <a:xfrm>
            <a:off x="548640" y="329184"/>
            <a:ext cx="1051560" cy="237744"/>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LITERATURE</a:t>
            </a:r>
            <a:endParaRPr lang="en-US" sz="1000" dirty="0"/>
          </a:p>
        </p:txBody>
      </p:sp>
      <p:sp>
        <p:nvSpPr>
          <p:cNvPr id="4" name="text_260"/>
          <p:cNvSpPr txBox="1"/>
          <p:nvPr/>
        </p:nvSpPr>
        <p:spPr>
          <a:xfrm>
            <a:off x="548640" y="365760"/>
            <a:ext cx="11064240" cy="640080"/>
          </a:xfrm>
          <a:prstGeom prst="rect">
            <a:avLst/>
          </a:prstGeom>
          <a:noFill/>
          <a:ln/>
        </p:spPr>
        <p:txBody>
          <a:bodyPr wrap="square" lIns="635" tIns="635" rIns="635" bIns="635" rtlCol="0" anchor="b"/>
          <a:lstStyle/>
          <a:p>
            <a:pPr algn="l" indent="0" marL="0">
              <a:lnSpc>
                <a:spcPct val="100000"/>
              </a:lnSpc>
              <a:buNone/>
            </a:pPr>
            <a:r>
              <a:rPr lang="en-US" sz="2800" b="1" dirty="0">
                <a:solidFill>
                  <a:srgbClr val="1B2A41"/>
                </a:solidFill>
                <a:latin typeface="Georgia" pitchFamily="34" charset="0"/>
                <a:ea typeface="Georgia" pitchFamily="34" charset="-122"/>
                <a:cs typeface="Georgia" pitchFamily="34" charset="-120"/>
              </a:rPr>
              <a:t>Zotero in Word: set up once, then three rules</a:t>
            </a:r>
            <a:endParaRPr lang="en-US" sz="2800" dirty="0"/>
          </a:p>
        </p:txBody>
      </p:sp>
      <p:sp>
        <p:nvSpPr>
          <p:cNvPr id="5" name="card_261"/>
          <p:cNvSpPr/>
          <p:nvPr/>
        </p:nvSpPr>
        <p:spPr>
          <a:xfrm>
            <a:off x="548640" y="1280160"/>
            <a:ext cx="5760720" cy="5029200"/>
          </a:xfrm>
          <a:prstGeom prst="roundRect">
            <a:avLst>
              <a:gd name="adj" fmla="val 1455"/>
            </a:avLst>
          </a:prstGeom>
          <a:solidFill>
            <a:srgbClr val="F7F4EE"/>
          </a:solidFill>
          <a:ln w="9525">
            <a:solidFill>
              <a:srgbClr val="D5DAE1"/>
            </a:solidFill>
            <a:prstDash val="solid"/>
          </a:ln>
        </p:spPr>
      </p:sp>
      <p:sp>
        <p:nvSpPr>
          <p:cNvPr id="6" name="tag_262"/>
          <p:cNvSpPr/>
          <p:nvPr/>
        </p:nvSpPr>
        <p:spPr>
          <a:xfrm>
            <a:off x="713232" y="1408176"/>
            <a:ext cx="1778508" cy="256032"/>
          </a:xfrm>
          <a:prstGeom prst="roundRect">
            <a:avLst>
              <a:gd name="adj" fmla="val 21429"/>
            </a:avLst>
          </a:prstGeom>
          <a:solidFill>
            <a:srgbClr val="2E4A6B"/>
          </a:solidFill>
          <a:ln w="12700">
            <a:solidFill>
              <a:srgbClr val="2E4A6B"/>
            </a:solidFill>
            <a:prstDash val="solid"/>
          </a:ln>
        </p:spPr>
      </p:sp>
      <p:sp>
        <p:nvSpPr>
          <p:cNvPr id="7" name="text_263"/>
          <p:cNvSpPr txBox="1"/>
          <p:nvPr/>
        </p:nvSpPr>
        <p:spPr>
          <a:xfrm>
            <a:off x="713232" y="1408176"/>
            <a:ext cx="1778508"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SET UP (15 MIN, ONCE)</a:t>
            </a:r>
            <a:endParaRPr lang="en-US" sz="1050" dirty="0"/>
          </a:p>
        </p:txBody>
      </p:sp>
      <p:sp>
        <p:nvSpPr>
          <p:cNvPr id="8" name="cardbody_264"/>
          <p:cNvSpPr txBox="1"/>
          <p:nvPr/>
        </p:nvSpPr>
        <p:spPr>
          <a:xfrm>
            <a:off x="713232" y="1755648"/>
            <a:ext cx="5431536" cy="4462272"/>
          </a:xfrm>
          <a:prstGeom prst="rect">
            <a:avLst/>
          </a:prstGeom>
          <a:noFill/>
          <a:ln/>
        </p:spPr>
        <p:txBody>
          <a:bodyPr wrap="square" lIns="381" tIns="381" rIns="381" bIns="381" rtlCol="0" anchor="t"/>
          <a:lstStyle/>
          <a:p>
            <a:pPr marL="342900" indent="-342900">
              <a:spcAft>
                <a:spcPts val="700"/>
              </a:spcAft>
              <a:buSzPct val="100000"/>
              <a:buChar char="■"/>
            </a:pPr>
            <a:r>
              <a:rPr lang="en-US" sz="1500" dirty="0">
                <a:solidFill>
                  <a:srgbClr val="222B36"/>
                </a:solidFill>
                <a:latin typeface="Calibri" pitchFamily="34" charset="0"/>
                <a:ea typeface="Calibri" pitchFamily="34" charset="-122"/>
                <a:cs typeface="Calibri" pitchFamily="34" charset="-120"/>
              </a:rPr>
              <a:t>Install </a:t>
            </a:r>
            <a:r>
              <a:rPr lang="en-US" sz="1500" b="1" dirty="0">
                <a:solidFill>
                  <a:srgbClr val="222B36"/>
                </a:solidFill>
                <a:latin typeface="Calibri" pitchFamily="34" charset="0"/>
                <a:ea typeface="Calibri" pitchFamily="34" charset="-122"/>
                <a:cs typeface="Calibri" pitchFamily="34" charset="-120"/>
              </a:rPr>
              <a:t>Zotero</a:t>
            </a:r>
            <a:r>
              <a:rPr lang="en-US" sz="1500" dirty="0">
                <a:solidFill>
                  <a:srgbClr val="222B36"/>
                </a:solidFill>
                <a:latin typeface="Calibri" pitchFamily="34" charset="0"/>
                <a:ea typeface="Calibri" pitchFamily="34" charset="-122"/>
                <a:cs typeface="Calibri" pitchFamily="34" charset="-120"/>
              </a:rPr>
              <a:t> (desktop) and the </a:t>
            </a:r>
            <a:r>
              <a:rPr lang="en-US" sz="1500" b="1" dirty="0">
                <a:solidFill>
                  <a:srgbClr val="222B36"/>
                </a:solidFill>
                <a:latin typeface="Calibri" pitchFamily="34" charset="0"/>
                <a:ea typeface="Calibri" pitchFamily="34" charset="-122"/>
                <a:cs typeface="Calibri" pitchFamily="34" charset="-120"/>
              </a:rPr>
              <a:t>Zotero Connector</a:t>
            </a:r>
            <a:r>
              <a:rPr lang="en-US" sz="1500" dirty="0">
                <a:solidFill>
                  <a:srgbClr val="222B36"/>
                </a:solidFill>
                <a:latin typeface="Calibri" pitchFamily="34" charset="0"/>
                <a:ea typeface="Calibri" pitchFamily="34" charset="-122"/>
                <a:cs typeface="Calibri" pitchFamily="34" charset="-120"/>
              </a:rPr>
              <a:t> for your browser from zotero.org.</a:t>
            </a:r>
            <a:endParaRPr lang="en-US" sz="1500" dirty="0"/>
          </a:p>
          <a:p>
            <a:pPr marL="342900" indent="-342900">
              <a:spcAft>
                <a:spcPts val="700"/>
              </a:spcAft>
              <a:buSzPct val="100000"/>
              <a:buChar char="■"/>
            </a:pPr>
            <a:r>
              <a:rPr lang="en-US" sz="1500" dirty="0">
                <a:solidFill>
                  <a:srgbClr val="222B36"/>
                </a:solidFill>
                <a:latin typeface="Calibri" pitchFamily="34" charset="0"/>
                <a:ea typeface="Calibri" pitchFamily="34" charset="-122"/>
                <a:cs typeface="Calibri" pitchFamily="34" charset="-120"/>
              </a:rPr>
              <a:t>The </a:t>
            </a:r>
            <a:r>
              <a:rPr lang="en-US" sz="1500" b="1" dirty="0">
                <a:solidFill>
                  <a:srgbClr val="222B36"/>
                </a:solidFill>
                <a:latin typeface="Calibri" pitchFamily="34" charset="0"/>
                <a:ea typeface="Calibri" pitchFamily="34" charset="-122"/>
                <a:cs typeface="Calibri" pitchFamily="34" charset="-120"/>
              </a:rPr>
              <a:t>Word plugin</a:t>
            </a:r>
            <a:r>
              <a:rPr lang="en-US" sz="1500" dirty="0">
                <a:solidFill>
                  <a:srgbClr val="222B36"/>
                </a:solidFill>
                <a:latin typeface="Calibri" pitchFamily="34" charset="0"/>
                <a:ea typeface="Calibri" pitchFamily="34" charset="-122"/>
                <a:cs typeface="Calibri" pitchFamily="34" charset="-120"/>
              </a:rPr>
              <a:t> installs itself the first time Zotero runs; restart Word and a </a:t>
            </a:r>
            <a:r>
              <a:rPr lang="en-US" sz="1500" b="1" dirty="0">
                <a:solidFill>
                  <a:srgbClr val="222B36"/>
                </a:solidFill>
                <a:latin typeface="Calibri" pitchFamily="34" charset="0"/>
                <a:ea typeface="Calibri" pitchFamily="34" charset="-122"/>
                <a:cs typeface="Calibri" pitchFamily="34" charset="-120"/>
              </a:rPr>
              <a:t>Zotero tab</a:t>
            </a:r>
            <a:r>
              <a:rPr lang="en-US" sz="1500" dirty="0">
                <a:solidFill>
                  <a:srgbClr val="222B36"/>
                </a:solidFill>
                <a:latin typeface="Calibri" pitchFamily="34" charset="0"/>
                <a:ea typeface="Calibri" pitchFamily="34" charset="-122"/>
                <a:cs typeface="Calibri" pitchFamily="34" charset="-120"/>
              </a:rPr>
              <a:t> appears (Windows and Mac).</a:t>
            </a:r>
            <a:endParaRPr lang="en-US" sz="1500" dirty="0"/>
          </a:p>
          <a:p>
            <a:pPr marL="342900" indent="-342900">
              <a:spcAft>
                <a:spcPts val="700"/>
              </a:spcAft>
              <a:buSzPct val="100000"/>
              <a:buChar char="■"/>
            </a:pPr>
            <a:r>
              <a:rPr lang="en-US" sz="1500" b="1" dirty="0">
                <a:solidFill>
                  <a:srgbClr val="1B2A41"/>
                </a:solidFill>
                <a:latin typeface="Calibri" pitchFamily="34" charset="0"/>
                <a:ea typeface="Calibri" pitchFamily="34" charset="-122"/>
                <a:cs typeface="Calibri" pitchFamily="34" charset="-120"/>
              </a:rPr>
              <a:t>Zotero tab: </a:t>
            </a:r>
            <a:r>
              <a:rPr lang="en-US" sz="1500" b="1" dirty="0">
                <a:solidFill>
                  <a:srgbClr val="222B36"/>
                </a:solidFill>
                <a:latin typeface="Calibri" pitchFamily="34" charset="0"/>
                <a:ea typeface="Calibri" pitchFamily="34" charset="-122"/>
                <a:cs typeface="Calibri" pitchFamily="34" charset="-120"/>
              </a:rPr>
              <a:t>Add/Edit Citation</a:t>
            </a:r>
            <a:r>
              <a:rPr lang="en-US" sz="1500" dirty="0">
                <a:solidFill>
                  <a:srgbClr val="222B36"/>
                </a:solidFill>
                <a:latin typeface="Calibri" pitchFamily="34" charset="0"/>
                <a:ea typeface="Calibri" pitchFamily="34" charset="-122"/>
                <a:cs typeface="Calibri" pitchFamily="34" charset="-120"/>
              </a:rPr>
              <a:t> inserts a citation; </a:t>
            </a:r>
            <a:r>
              <a:rPr lang="en-US" sz="1500" b="1" dirty="0">
                <a:solidFill>
                  <a:srgbClr val="222B36"/>
                </a:solidFill>
                <a:latin typeface="Calibri" pitchFamily="34" charset="0"/>
                <a:ea typeface="Calibri" pitchFamily="34" charset="-122"/>
                <a:cs typeface="Calibri" pitchFamily="34" charset="-120"/>
              </a:rPr>
              <a:t>Add/Edit Bibliography</a:t>
            </a:r>
            <a:r>
              <a:rPr lang="en-US" sz="1500" dirty="0">
                <a:solidFill>
                  <a:srgbClr val="222B36"/>
                </a:solidFill>
                <a:latin typeface="Calibri" pitchFamily="34" charset="0"/>
                <a:ea typeface="Calibri" pitchFamily="34" charset="-122"/>
                <a:cs typeface="Calibri" pitchFamily="34" charset="-120"/>
              </a:rPr>
              <a:t> builds the reference list; </a:t>
            </a:r>
            <a:r>
              <a:rPr lang="en-US" sz="1500" b="1" dirty="0">
                <a:solidFill>
                  <a:srgbClr val="222B36"/>
                </a:solidFill>
                <a:latin typeface="Calibri" pitchFamily="34" charset="0"/>
                <a:ea typeface="Calibri" pitchFamily="34" charset="-122"/>
                <a:cs typeface="Calibri" pitchFamily="34" charset="-120"/>
              </a:rPr>
              <a:t>Document Preferences</a:t>
            </a:r>
            <a:r>
              <a:rPr lang="en-US" sz="1500" dirty="0">
                <a:solidFill>
                  <a:srgbClr val="222B36"/>
                </a:solidFill>
                <a:latin typeface="Calibri" pitchFamily="34" charset="0"/>
                <a:ea typeface="Calibri" pitchFamily="34" charset="-122"/>
                <a:cs typeface="Calibri" pitchFamily="34" charset="-120"/>
              </a:rPr>
              <a:t> sets the style.</a:t>
            </a:r>
            <a:endParaRPr lang="en-US" sz="1500" dirty="0"/>
          </a:p>
          <a:p>
            <a:pPr marL="342900" indent="-342900">
              <a:spcAft>
                <a:spcPts val="700"/>
              </a:spcAft>
              <a:buSzPct val="100000"/>
              <a:buChar char="■"/>
            </a:pPr>
            <a:r>
              <a:rPr lang="en-US" sz="1500" b="1" dirty="0">
                <a:solidFill>
                  <a:srgbClr val="222B36"/>
                </a:solidFill>
                <a:latin typeface="Calibri" pitchFamily="34" charset="0"/>
                <a:ea typeface="Calibri" pitchFamily="34" charset="-122"/>
                <a:cs typeface="Calibri" pitchFamily="34" charset="-120"/>
              </a:rPr>
              <a:t>Google Docs:</a:t>
            </a:r>
            <a:r>
              <a:rPr lang="en-US" sz="1500" dirty="0">
                <a:solidFill>
                  <a:srgbClr val="222B36"/>
                </a:solidFill>
                <a:latin typeface="Calibri" pitchFamily="34" charset="0"/>
                <a:ea typeface="Calibri" pitchFamily="34" charset="-122"/>
                <a:cs typeface="Calibri" pitchFamily="34" charset="-120"/>
              </a:rPr>
              <a:t> use the Zotero menu that the Connector adds. </a:t>
            </a:r>
            <a:r>
              <a:rPr lang="en-US" sz="1500" b="1" dirty="0">
                <a:solidFill>
                  <a:srgbClr val="222B36"/>
                </a:solidFill>
                <a:latin typeface="Calibri" pitchFamily="34" charset="0"/>
                <a:ea typeface="Calibri" pitchFamily="34" charset="-122"/>
                <a:cs typeface="Calibri" pitchFamily="34" charset="-120"/>
              </a:rPr>
              <a:t>LibreOffice</a:t>
            </a:r>
            <a:r>
              <a:rPr lang="en-US" sz="1500" dirty="0">
                <a:solidFill>
                  <a:srgbClr val="222B36"/>
                </a:solidFill>
                <a:latin typeface="Calibri" pitchFamily="34" charset="0"/>
                <a:ea typeface="Calibri" pitchFamily="34" charset="-122"/>
                <a:cs typeface="Calibri" pitchFamily="34" charset="-120"/>
              </a:rPr>
              <a:t> has its own plugin.</a:t>
            </a:r>
            <a:endParaRPr lang="en-US" sz="1500" dirty="0"/>
          </a:p>
          <a:p>
            <a:pPr marL="342900" indent="-342900">
              <a:spcAft>
                <a:spcPts val="700"/>
              </a:spcAft>
              <a:buSzPct val="100000"/>
              <a:buChar char="■"/>
            </a:pPr>
            <a:r>
              <a:rPr lang="en-US" sz="1500" b="1" dirty="0">
                <a:solidFill>
                  <a:srgbClr val="222B36"/>
                </a:solidFill>
                <a:latin typeface="Calibri" pitchFamily="34" charset="0"/>
                <a:ea typeface="Calibri" pitchFamily="34" charset="-122"/>
                <a:cs typeface="Calibri" pitchFamily="34" charset="-120"/>
              </a:rPr>
              <a:t>Word for the web (OneDrive in a browser) is not supported:</a:t>
            </a:r>
            <a:r>
              <a:rPr lang="en-US" sz="1500" dirty="0">
                <a:solidFill>
                  <a:srgbClr val="222B36"/>
                </a:solidFill>
                <a:latin typeface="Calibri" pitchFamily="34" charset="0"/>
                <a:ea typeface="Calibri" pitchFamily="34" charset="-122"/>
                <a:cs typeface="Calibri" pitchFamily="34" charset="-120"/>
              </a:rPr>
              <a:t> open the file in the desktop Word app to cite.</a:t>
            </a:r>
            <a:endParaRPr lang="en-US" sz="1500" dirty="0"/>
          </a:p>
          <a:p>
            <a:pPr marL="342900" indent="-342900">
              <a:spcAft>
                <a:spcPts val="700"/>
              </a:spcAft>
              <a:buSzPct val="100000"/>
              <a:buChar char="■"/>
            </a:pPr>
            <a:r>
              <a:rPr lang="en-US" sz="1500" dirty="0">
                <a:solidFill>
                  <a:srgbClr val="222B36"/>
                </a:solidFill>
                <a:latin typeface="Calibri" pitchFamily="34" charset="0"/>
                <a:ea typeface="Calibri" pitchFamily="34" charset="-122"/>
                <a:cs typeface="Calibri" pitchFamily="34" charset="-120"/>
              </a:rPr>
              <a:t>Optional: a free Zotero account syncs your library between computers (300 MB free storage).</a:t>
            </a:r>
            <a:endParaRPr lang="en-US" sz="1500" dirty="0"/>
          </a:p>
        </p:txBody>
      </p:sp>
      <p:sp>
        <p:nvSpPr>
          <p:cNvPr id="9" name="card_265"/>
          <p:cNvSpPr/>
          <p:nvPr/>
        </p:nvSpPr>
        <p:spPr>
          <a:xfrm>
            <a:off x="6519672" y="1280160"/>
            <a:ext cx="5120640" cy="5029200"/>
          </a:xfrm>
          <a:prstGeom prst="roundRect">
            <a:avLst>
              <a:gd name="adj" fmla="val 1455"/>
            </a:avLst>
          </a:prstGeom>
          <a:solidFill>
            <a:srgbClr val="FBEBD0"/>
          </a:solidFill>
          <a:ln w="9525">
            <a:solidFill>
              <a:srgbClr val="FBEBD0"/>
            </a:solidFill>
            <a:prstDash val="solid"/>
          </a:ln>
        </p:spPr>
      </p:sp>
      <p:sp>
        <p:nvSpPr>
          <p:cNvPr id="10" name="tag_266"/>
          <p:cNvSpPr/>
          <p:nvPr/>
        </p:nvSpPr>
        <p:spPr>
          <a:xfrm>
            <a:off x="6684264" y="1408176"/>
            <a:ext cx="1001268" cy="256032"/>
          </a:xfrm>
          <a:prstGeom prst="roundRect">
            <a:avLst>
              <a:gd name="adj" fmla="val 21429"/>
            </a:avLst>
          </a:prstGeom>
          <a:solidFill>
            <a:srgbClr val="D98E1F"/>
          </a:solidFill>
          <a:ln w="12700">
            <a:solidFill>
              <a:srgbClr val="D98E1F"/>
            </a:solidFill>
            <a:prstDash val="solid"/>
          </a:ln>
        </p:spPr>
      </p:sp>
      <p:sp>
        <p:nvSpPr>
          <p:cNvPr id="11" name="text_267"/>
          <p:cNvSpPr txBox="1"/>
          <p:nvPr/>
        </p:nvSpPr>
        <p:spPr>
          <a:xfrm>
            <a:off x="6684264" y="1408176"/>
            <a:ext cx="1001268" cy="256032"/>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THREE RULES</a:t>
            </a:r>
            <a:endParaRPr lang="en-US" sz="1050" dirty="0"/>
          </a:p>
        </p:txBody>
      </p:sp>
      <p:sp>
        <p:nvSpPr>
          <p:cNvPr id="12" name="cardbody_268"/>
          <p:cNvSpPr txBox="1"/>
          <p:nvPr/>
        </p:nvSpPr>
        <p:spPr>
          <a:xfrm>
            <a:off x="6684264" y="1755648"/>
            <a:ext cx="4791456" cy="4462272"/>
          </a:xfrm>
          <a:prstGeom prst="rect">
            <a:avLst/>
          </a:prstGeom>
          <a:noFill/>
          <a:ln/>
        </p:spPr>
        <p:txBody>
          <a:bodyPr wrap="square" lIns="381" tIns="381" rIns="381" bIns="381" rtlCol="0" anchor="t"/>
          <a:lstStyle/>
          <a:p>
            <a:pPr marL="342900" indent="-342900">
              <a:spcAft>
                <a:spcPts val="1200"/>
              </a:spcAft>
              <a:buSzPct val="100000"/>
              <a:buChar char="■"/>
            </a:pPr>
            <a:r>
              <a:rPr lang="en-US" sz="1550" b="1" dirty="0">
                <a:solidFill>
                  <a:srgbClr val="222B36"/>
                </a:solidFill>
                <a:latin typeface="Calibri" pitchFamily="34" charset="0"/>
                <a:ea typeface="Calibri" pitchFamily="34" charset="-122"/>
                <a:cs typeface="Calibri" pitchFamily="34" charset="-120"/>
              </a:rPr>
              <a:t>1  Never hand-edit</a:t>
            </a:r>
            <a:r>
              <a:rPr lang="en-US" sz="1550" dirty="0">
                <a:solidFill>
                  <a:srgbClr val="222B36"/>
                </a:solidFill>
                <a:latin typeface="Calibri" pitchFamily="34" charset="0"/>
                <a:ea typeface="Calibri" pitchFamily="34" charset="-122"/>
                <a:cs typeface="Calibri" pitchFamily="34" charset="-120"/>
              </a:rPr>
              <a:t> a citation or the reference list: Zotero overwrites it on the next refresh. Fix the entry in your Zotero library instead.</a:t>
            </a:r>
            <a:endParaRPr lang="en-US" sz="1550" dirty="0"/>
          </a:p>
          <a:p>
            <a:pPr marL="342900" indent="-342900">
              <a:spcAft>
                <a:spcPts val="1200"/>
              </a:spcAft>
              <a:buSzPct val="100000"/>
              <a:buChar char="■"/>
            </a:pPr>
            <a:r>
              <a:rPr lang="en-US" sz="1550" b="1" dirty="0">
                <a:solidFill>
                  <a:srgbClr val="222B36"/>
                </a:solidFill>
                <a:latin typeface="Calibri" pitchFamily="34" charset="0"/>
                <a:ea typeface="Calibri" pitchFamily="34" charset="-122"/>
                <a:cs typeface="Calibri" pitchFamily="34" charset="-120"/>
              </a:rPr>
              <a:t>2  One style, chosen once</a:t>
            </a:r>
            <a:r>
              <a:rPr lang="en-US" sz="1550" dirty="0">
                <a:solidFill>
                  <a:srgbClr val="222B36"/>
                </a:solidFill>
                <a:latin typeface="Calibri" pitchFamily="34" charset="0"/>
                <a:ea typeface="Calibri" pitchFamily="34" charset="-122"/>
                <a:cs typeface="Calibri" pitchFamily="34" charset="-120"/>
              </a:rPr>
              <a:t> in Document Preferences (an author–year style, e.g. a Harvard variant or the AMS journal style).</a:t>
            </a:r>
            <a:endParaRPr lang="en-US" sz="1550" dirty="0"/>
          </a:p>
          <a:p>
            <a:pPr marL="342900" indent="-342900">
              <a:spcAft>
                <a:spcPts val="1200"/>
              </a:spcAft>
              <a:buSzPct val="100000"/>
              <a:buChar char="■"/>
            </a:pPr>
            <a:r>
              <a:rPr lang="en-US" sz="1550" b="1" dirty="0">
                <a:solidFill>
                  <a:srgbClr val="222B36"/>
                </a:solidFill>
                <a:latin typeface="Calibri" pitchFamily="34" charset="0"/>
                <a:ea typeface="Calibri" pitchFamily="34" charset="-122"/>
                <a:cs typeface="Calibri" pitchFamily="34" charset="-120"/>
              </a:rPr>
              <a:t>3  Share a PDF</a:t>
            </a:r>
            <a:r>
              <a:rPr lang="en-US" sz="1550" dirty="0">
                <a:solidFill>
                  <a:srgbClr val="222B36"/>
                </a:solidFill>
                <a:latin typeface="Calibri" pitchFamily="34" charset="0"/>
                <a:ea typeface="Calibri" pitchFamily="34" charset="-122"/>
                <a:cs typeface="Calibri" pitchFamily="34" charset="-120"/>
              </a:rPr>
              <a:t>, not the live Word file, for the February peer swap, so citations show correctly for someone without Zotero.</a:t>
            </a:r>
            <a:endParaRPr lang="en-US" sz="1550" dirty="0"/>
          </a:p>
          <a:p>
            <a:pPr marL="342900" indent="-342900">
              <a:spcAft>
                <a:spcPts val="1200"/>
              </a:spcAft>
              <a:buSzPct val="100000"/>
              <a:buChar char="■"/>
            </a:pPr>
            <a:r>
              <a:rPr lang="en-US" sz="1550" dirty="0">
                <a:solidFill>
                  <a:srgbClr val="222B36"/>
                </a:solidFill>
                <a:latin typeface="Calibri" pitchFamily="34" charset="0"/>
                <a:ea typeface="Calibri" pitchFamily="34" charset="-122"/>
                <a:cs typeface="Calibri" pitchFamily="34" charset="-120"/>
              </a:rPr>
              <a:t>Check every saved item: title, authors, year, journal and DOI. Connectors occasionally grab messy metadata.</a:t>
            </a:r>
            <a:endParaRPr lang="en-US" sz="1550" dirty="0"/>
          </a:p>
        </p:txBody>
      </p:sp>
      <p:sp>
        <p:nvSpPr>
          <p:cNvPr id="25" name="Slide Number Placeholder 0"/>
          <p:cNvSpPr>
            <a:spLocks noGrp="1"/>
          </p:cNvSpPr>
          <p:nvPr>
            <p:ph type="sldNum" sz="quarter" idx="4294967295"/>
          </p:nvPr>
        </p:nvSpPr>
        <p:spPr>
          <a:xfrm>
            <a:off x="11274552" y="6473952"/>
            <a:ext cx="54864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A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EART29200 Writing Strand">
  <a:themeElements>
    <a:clrScheme name="EART29200 Writing Strand">
      <a:dk1>
        <a:srgbClr val="222B36"/>
      </a:dk1>
      <a:lt1>
        <a:srgbClr val="FFFFFF"/>
      </a:lt1>
      <a:dk2>
        <a:srgbClr val="1B2A41"/>
      </a:dk2>
      <a:lt2>
        <a:srgbClr val="F7F4EE"/>
      </a:lt2>
      <a:accent1>
        <a:srgbClr val="2E4A6B"/>
      </a:accent1>
      <a:accent2>
        <a:srgbClr val="D98E1F"/>
      </a:accent2>
      <a:accent3>
        <a:srgbClr val="1F7A6E"/>
      </a:accent3>
      <a:accent4>
        <a:srgbClr val="B04A35"/>
      </a:accent4>
      <a:accent5>
        <a:srgbClr val="6C8EAD"/>
      </a:accent5>
      <a:accent6>
        <a:srgbClr val="9AA5B1"/>
      </a:accent6>
      <a:hlink>
        <a:srgbClr val="2E4A6B"/>
      </a:hlink>
      <a:folHlink>
        <a:srgbClr val="5B6573"/>
      </a:folHlink>
    </a:clrScheme>
    <a:fontScheme name="EART29200 Writing Strand">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Tutorial 2 — Who reads your report, and how?</dc:title>
  <dc:subject>ENSO and cloud cover mini-project — writing strand</dc:subject>
  <dc:creator>EART29200 course team</dc:creator>
  <cp:lastModifiedBy>EART29200 course team</cp:lastModifiedBy>
  <cp:revision>1</cp:revision>
  <dcterms:created xsi:type="dcterms:W3CDTF">2026-10-03T17:07:49Z</dcterms:created>
  <dcterms:modified xsi:type="dcterms:W3CDTF">2026-10-03T17:07:49Z</dcterms:modified>
</cp:coreProperties>
</file>