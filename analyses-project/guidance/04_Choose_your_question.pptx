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7" r:id="rId4"/>
    <p:sldId id="264" r:id="rId5"/>
    <p:sldId id="265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86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Point at it, don't read it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 min. Different cloud levels = different physics (boundary-layer vs deep convection) -- this is one of the easiest ways to narrow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Quick, real photos -- let the image land, don't over-narrate.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Same -- these are here to make the schematic concrete, not for detailed commentary.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 min. Marine stratocumulus as a concrete, visual example of a low-cloud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 min. Flag as optional -- only dwell on this if several students are drawn to a timing/persistence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min. Narrowing checklist: cloud type / region / season / timing -- pick one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~5 min. Active exercise -- have every student write their four lines before hands-on time starts, not during it.</a:t>
            </a:r>
          </a:p>
          <a:p>
            <a:endParaRPr/>
          </a:p>
          <a:p>
            <a:r>
              <a:t>Sources: ERA5 (ECMWF/Copernicus) and ENSO/ONI (NOAA Climate.gov, NOAA CPC). Full source list is on the closing slide of Tutorial 1 -- it applies to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07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400" b="1">
                <a:solidFill>
                  <a:srgbClr val="660099"/>
                </a:solidFill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Tutorial 4 — Choose what interests you</a:t>
            </a:r>
          </a:p>
          <a:p>
            <a:pPr algn="ctr">
              <a:defRPr sz="2000"/>
            </a:pPr>
            <a:r>
              <a:rPr sz="1800" b="0" i="1">
                <a:solidFill>
                  <a:srgbClr val="E9F1F6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788919"/>
            <a:ext cx="1143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34495" y="342900"/>
            <a:ext cx="27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Tutorial 4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8000"/>
            <a:ext cx="60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E9F1F6"/>
                </a:solidFill>
                <a:latin typeface="Calibri"/>
              </a:rPr>
              <a:t>ENSO and cloud cover mini-project - tutorial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2E5824"/>
                </a:solidFill>
                <a:latin typeface="Calibri"/>
              </a:rPr>
              <a:t>Today's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4  ·  Slide 1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20000"/>
            <a:ext cx="107308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5824"/>
                </a:solidFill>
                <a:latin typeface="Calibri"/>
              </a:rPr>
              <a:t>Goal: </a:t>
            </a:r>
            <a:r>
              <a:rPr sz="2000" b="1">
                <a:solidFill>
                  <a:srgbClr val="222222"/>
                </a:solidFill>
                <a:latin typeface="Calibri"/>
              </a:rPr>
              <a:t>Leave with one written research question and a rough figure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50000"/>
            <a:ext cx="107308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Calibri"/>
              </a:rPr>
              <a:t>What you'll do today: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70000"/>
            <a:ext cx="420000" cy="420000"/>
          </a:xfrm>
          <a:prstGeom prst="ellipse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1520" y="256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Explore different cloud levels/regions (low marine cloud vs. deep tropical convection).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10000"/>
            <a:ext cx="420000" cy="420000"/>
          </a:xfrm>
          <a:prstGeom prst="ellipse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1520" y="320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Optionally explore persistence/lag if it interests you.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50000"/>
            <a:ext cx="420000" cy="420000"/>
          </a:xfrm>
          <a:prstGeom prst="ellipse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1520" y="384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Narrow from “everything ENSO and clouds” to ONE focused question.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90000"/>
            <a:ext cx="420000" cy="420000"/>
          </a:xfrm>
          <a:prstGeom prst="ellipse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1520" y="448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Fill in the “Before you leave” card: question, why it interests you, figures needed.</a:t>
            </a:r>
          </a:p>
        </p:txBody>
      </p:sp>
      <p:sp>
        <p:nvSpPr>
          <p:cNvPr id="17" name="Oval 16"/>
          <p:cNvSpPr/>
          <p:nvPr/>
        </p:nvSpPr>
        <p:spPr>
          <a:xfrm>
            <a:off x="4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65847" y="6298000"/>
            <a:ext cx="260000" cy="260000"/>
          </a:xfrm>
          <a:prstGeom prst="ellipse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0" y="6038000"/>
            <a:ext cx="1219169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Tutorial 4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2E5824"/>
                </a:solidFill>
                <a:latin typeface="Calibri"/>
              </a:rPr>
              <a:t>Different cloud levels, different 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Low cloud: boundary layer, stability, inversion and subsidence can be important.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High tropical cloud: closely linked to deep convection.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Medium cloud samples another part of the vertical structure.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TCC can hide differences between cloud levels.</a:t>
            </a:r>
          </a:p>
        </p:txBody>
      </p:sp>
      <p:pic>
        <p:nvPicPr>
          <p:cNvPr id="4" name="Picture 3" descr="cloud_lev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9849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4  ·  Slide 2 of 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E5824"/>
                </a:solidFill>
                <a:latin typeface="Calibri"/>
              </a:rPr>
              <a:t>What deep convection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4  ·  Slide 3 of 8</a:t>
            </a:r>
          </a:p>
        </p:txBody>
      </p:sp>
      <p:pic>
        <p:nvPicPr>
          <p:cNvPr id="7" name="Picture 6" descr="deep_convection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374" y="1150000"/>
            <a:ext cx="7945945" cy="49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E5824"/>
                </a:solidFill>
                <a:latin typeface="Calibri"/>
              </a:rPr>
              <a:t>Anvils, seen from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4  ·  Slide 4 of 8</a:t>
            </a:r>
          </a:p>
        </p:txBody>
      </p:sp>
      <p:pic>
        <p:nvPicPr>
          <p:cNvPr id="9" name="Picture 8" descr="bce35d2d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77076"/>
            <a:ext cx="5215440" cy="3225846"/>
          </a:xfrm>
          <a:prstGeom prst="rect">
            <a:avLst/>
          </a:prstGeom>
          <a:ln w="12700">
            <a:solidFill>
              <a:srgbClr val="2E5824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1520" y="5460000"/>
            <a:ext cx="52154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Credit: NASA/ISS Crew Earth Observations, Expedition 16 (astronaut photograph ISS016-E-27426, 5 Feb 2008).</a:t>
            </a:r>
          </a:p>
        </p:txBody>
      </p:sp>
      <p:pic>
        <p:nvPicPr>
          <p:cNvPr id="11" name="Picture 10" descr="maritime_continent_resiz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960" y="1555866"/>
            <a:ext cx="5215440" cy="3468267"/>
          </a:xfrm>
          <a:prstGeom prst="rect">
            <a:avLst/>
          </a:prstGeom>
          <a:ln w="12700">
            <a:solidFill>
              <a:srgbClr val="2E5824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46960" y="5460000"/>
            <a:ext cx="52154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Credit: NASA/ISS Crew Earth Observations, Expedition 40 (astronaut photograph ISS040-E-88891, 5 Aug 2014).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2E5824"/>
                </a:solidFill>
                <a:latin typeface="Calibri"/>
              </a:rPr>
              <a:t>What does a marine low-cloud deck look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Marine stratocumulus covers large areas of subtropical eastern oceans.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The SE Pacific is a natural region for a low-cloud ENSO question.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Satellite imagery makes the scale and texture of these clouds obvious.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Compare this regime with tropical convective cloud.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4  ·  Slide 5 of 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89ab13da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738" y="1325880"/>
            <a:ext cx="3161242" cy="4023400"/>
          </a:xfrm>
          <a:prstGeom prst="rect">
            <a:avLst/>
          </a:prstGeom>
          <a:ln w="12700">
            <a:solidFill>
              <a:srgbClr val="2E5824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989320" y="537928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Credit: NASA Earth Observatory, image by Joshua Stevens/Jeff Schmaltz (VIIRS, Suomi NPP / NOAA-20, 3 Dec 2019).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2E5824"/>
                </a:solidFill>
                <a:latin typeface="Calibri"/>
              </a:rPr>
              <a:t>Optional: persistence and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Autocorrelation asks whether anomalies persist from one month to the next.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Lead/lag analysis asks whether the strongest relationship is simultaneous or delayed.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These can make a good project direction.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They are NOT compulsory if your question is about something else.</a:t>
            </a:r>
          </a:p>
        </p:txBody>
      </p:sp>
      <p:pic>
        <p:nvPicPr>
          <p:cNvPr id="4" name="Picture 3" descr="autocorrelation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33947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4  ·  Slide 6 of 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2E5824"/>
                </a:solidFill>
                <a:latin typeface="Calibri"/>
              </a:rPr>
              <a:t>Narrow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Cloud type? Region? Season? Timing?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Write ONE answerable question.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Choose only the notebook analyses that test it.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Plan 3–5 figures before generating more output.</a:t>
            </a:r>
          </a:p>
          <a:p>
            <a:r>
              <a:rPr sz="2000" i="1">
                <a:solidFill>
                  <a:srgbClr val="2B2B2B"/>
                </a:solidFill>
              </a:rPr>
              <a:t>Say your one-sentence question out loud to a neighbour before you write it down.</a:t>
            </a:r>
          </a:p>
        </p:txBody>
      </p:sp>
      <p:pic>
        <p:nvPicPr>
          <p:cNvPr id="4" name="Picture 3" descr="report_funnel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751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4  ·  Slide 7 of 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2E5824"/>
                </a:solidFill>
                <a:latin typeface="Calibri"/>
              </a:rPr>
              <a:t>Before you leave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2200"/>
            </a:pPr>
            <a:r>
              <a:rPr sz="2000">
                <a:solidFill>
                  <a:srgbClr val="2B2B2B"/>
                </a:solidFill>
              </a:rPr>
              <a:t>My question is…</a:t>
            </a:r>
          </a:p>
          <a:p>
            <a:pPr>
              <a:spcAft>
                <a:spcPts val="1000"/>
              </a:spcAft>
              <a:defRPr sz="2200"/>
            </a:pPr>
            <a:r>
              <a:rPr sz="2000">
                <a:solidFill>
                  <a:srgbClr val="2B2B2B"/>
                </a:solidFill>
              </a:rPr>
              <a:t>I find it interesting because…</a:t>
            </a:r>
          </a:p>
          <a:p>
            <a:pPr>
              <a:spcAft>
                <a:spcPts val="1000"/>
              </a:spcAft>
              <a:defRPr sz="2200"/>
            </a:pPr>
            <a:r>
              <a:rPr sz="2000">
                <a:solidFill>
                  <a:srgbClr val="2B2B2B"/>
                </a:solidFill>
              </a:rPr>
              <a:t>The figures I need are…</a:t>
            </a:r>
          </a:p>
          <a:p>
            <a:pPr>
              <a:spcAft>
                <a:spcPts val="1000"/>
              </a:spcAft>
              <a:defRPr sz="2200"/>
            </a:pPr>
            <a:r>
              <a:rPr sz="2000">
                <a:solidFill>
                  <a:srgbClr val="2B2B2B"/>
                </a:solidFill>
              </a:rPr>
              <a:t>The notebook sections I can ignore are…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4  ·  Slide 8 of 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2E5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efore_you_le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91590"/>
            <a:ext cx="5486400" cy="445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732</Words>
  <Application>Microsoft Macintosh PowerPoint</Application>
  <PresentationFormat>Widescreen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Paul Connolly</cp:lastModifiedBy>
  <cp:revision>2</cp:revision>
  <dcterms:created xsi:type="dcterms:W3CDTF">2013-01-27T09:14:16Z</dcterms:created>
  <dcterms:modified xsi:type="dcterms:W3CDTF">2026-09-17T21:02:39Z</dcterms:modified>
  <cp:category/>
</cp:coreProperties>
</file>