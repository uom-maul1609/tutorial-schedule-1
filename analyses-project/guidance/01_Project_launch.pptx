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5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56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 min. Housekeeping: who's who, where the notebook link is, what today's goal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Point at it, don't read it aloud -- they can read. Just flag the goal and today's headline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Let it sit for a few seconds before talking -- it's a hook, not a lecture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 min. Set expectations: this is exploration, not a checklist to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~4 min. ERA5 = observations + model, blended by data assimilation. Check they can say why that's not the same as either raw observations or a free-running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~4 min. El Nino/La Nina as opposite SST patterns; the ocean signal drags winds/convection/cloud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~4 min. Walker circulation shift is the mechanistic link from SST to cloud -- this is the 'why' they'll need for their Discussion in December.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Don't over-explain -- say 'full detail is in the handbook, we'll use this every week'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 to launch, then hands-on. TOTAL HANDS-ON BUDGET TODAY: ~25 min (open Binder, run notebook top to first cloud figures, write down two patterns). Binder launch is the main time risk -- see tutor note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 presented -- leave on screen while students work; point to it once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60704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400" b="1">
                <a:solidFill>
                  <a:srgbClr val="660099"/>
                </a:solidFill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Tutorial 1 — What are we investigating?</a:t>
            </a:r>
          </a:p>
          <a:p>
            <a:pPr algn="ctr">
              <a:defRPr sz="2000"/>
            </a:pPr>
            <a:r>
              <a:rPr sz="1800" b="0" i="1">
                <a:solidFill>
                  <a:srgbClr val="E9F1F6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788919"/>
            <a:ext cx="1143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34495" y="342900"/>
            <a:ext cx="27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Tutorial 1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8000"/>
            <a:ext cx="60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E9F1F6"/>
                </a:solidFill>
                <a:latin typeface="Calibri"/>
              </a:rPr>
              <a:t>ENSO and cloud cover mini-project - tutorial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B4F6C"/>
                </a:solidFill>
                <a:latin typeface="Calibri"/>
              </a:rPr>
              <a:t>Today's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1  ·  Slide 1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20000"/>
            <a:ext cx="107308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4F6C"/>
                </a:solidFill>
                <a:latin typeface="Calibri"/>
              </a:rPr>
              <a:t>Goal: </a:t>
            </a:r>
            <a:r>
              <a:rPr sz="2000" b="1">
                <a:solidFill>
                  <a:srgbClr val="222222"/>
                </a:solidFill>
                <a:latin typeface="Calibri"/>
              </a:rPr>
              <a:t>Get the notebook running and see your first cloud figures.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50000"/>
            <a:ext cx="107308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Calibri"/>
              </a:rPr>
              <a:t>What you'll do today: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70000"/>
            <a:ext cx="420000" cy="42000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1520" y="256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Understand the project's shape: explore broadly today, pick ONE focused question later.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10000"/>
            <a:ext cx="420000" cy="42000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1520" y="320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See why ERA5 (reanalysis) and ENSO are the two ingredients of this project.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50000"/>
            <a:ext cx="420000" cy="42000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1520" y="384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Launch the notebook on Binder and run it from the top.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90000"/>
            <a:ext cx="420000" cy="42000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1520" y="448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Look at the first cloud figures and note two patterns that catch your eye.</a:t>
            </a:r>
          </a:p>
        </p:txBody>
      </p:sp>
      <p:sp>
        <p:nvSpPr>
          <p:cNvPr id="17" name="Oval 16"/>
          <p:cNvSpPr/>
          <p:nvPr/>
        </p:nvSpPr>
        <p:spPr>
          <a:xfrm>
            <a:off x="4965847" y="6298000"/>
            <a:ext cx="260000" cy="260000"/>
          </a:xfrm>
          <a:prstGeom prst="ellipse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0" y="6038000"/>
            <a:ext cx="12191695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Tutorial 1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B4F6C"/>
                </a:solidFill>
                <a:latin typeface="Calibri"/>
              </a:rPr>
              <a:t>The bigger picture: Earth's cloud cover from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1  ·  Slide 2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60000"/>
            <a:ext cx="1073088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  <a:latin typeface="Calibri"/>
              </a:rPr>
              <a:t>This whole project is about explaining patterns like these -- and they're not just pretty pictures: cloud bands like these shift with ENSO and reorganise drought and flood risk for a large part of the planet. Keep that real-world stake in mind as you zoom into specific regions later.</a:t>
            </a:r>
          </a:p>
        </p:txBody>
      </p:sp>
      <p:pic>
        <p:nvPicPr>
          <p:cNvPr id="8" name="Picture 7" descr="797c4662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960" y="1750000"/>
            <a:ext cx="3980000" cy="3980000"/>
          </a:xfrm>
          <a:prstGeom prst="rect">
            <a:avLst/>
          </a:prstGeom>
          <a:ln w="12700">
            <a:solidFill>
              <a:srgbClr val="0B4F6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31520" y="5760000"/>
            <a:ext cx="107308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Credit: NASA/NOAA/GSFC/Suomi NPP/VIIRS, Norman Kuring (“Blue Marble” composite, 4 Jan 2012).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0B4F6C"/>
                </a:solidFill>
                <a:latin typeface="Calibri"/>
              </a:rPr>
              <a:t>This is a mini research project, not a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The notebook contains more analyses than you can use in a short report.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Explore first. Then choose an aspect of ENSO/clouds that interests you.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Answer ONE focused question with about 3–5 figures.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You are not expected to write the Python from scratch.</a:t>
            </a:r>
          </a:p>
        </p:txBody>
      </p:sp>
      <p:pic>
        <p:nvPicPr>
          <p:cNvPr id="4" name="Picture 3" descr="report_funnel_b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2751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1  ·  Slide 3 of 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0B4F6C"/>
                </a:solidFill>
                <a:latin typeface="Calibri"/>
              </a:rPr>
              <a:t>ERA5: reconstructing the atmosphere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Observations are incomplete in space and time.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 weather model represents atmospheric physics and dynamics.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Data assimilation combines model and observations.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ERA5 gives a complete gridded estimate that we can analyse.</a:t>
            </a:r>
          </a:p>
        </p:txBody>
      </p:sp>
      <p:pic>
        <p:nvPicPr>
          <p:cNvPr id="4" name="Picture 3" descr="reanalysis_b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2607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1  ·  Slide 4 of 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0B4F6C"/>
                </a:solidFill>
                <a:latin typeface="Calibri"/>
              </a:rPr>
              <a:t>ENSO is coupled ocean–atmosphere variability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El Niño: anomalously warm central/eastern tropical Pacific.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La Niña: anomalously cool central/eastern tropical Pacific.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The ocean pattern is accompanied by changes in winds, convection and rainfall.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Cloud is therefore a useful atmospheric response to investigate.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1  ·  Slide 5 of 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cf1cc00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969580"/>
            <a:ext cx="5212080" cy="2736000"/>
          </a:xfrm>
          <a:prstGeom prst="rect">
            <a:avLst/>
          </a:prstGeom>
          <a:ln w="12700">
            <a:solidFill>
              <a:srgbClr val="0B4F6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989320" y="5379280"/>
            <a:ext cx="5212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Credit: Maps by NOAA Climate.gov, based on data from NOAA's Physical Sciences Laboratory.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0B4F6C"/>
                </a:solidFill>
                <a:latin typeface="Calibri"/>
              </a:rPr>
              <a:t>Why should the clouds change?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Warm SST and atmospheric circulation are coupled.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The Maritime Continent (TWP) stays the Walker cell's rising branch -- El Niño weakens it, La Niña strengthens it.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El Niño can add a little extra, usually thin, cloud further east near S. America -- not a new deep-convection centre.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Low-cloud responses can involve different physics.</a:t>
            </a:r>
          </a:p>
        </p:txBody>
      </p:sp>
      <p:pic>
        <p:nvPicPr>
          <p:cNvPr id="4" name="Picture 3" descr="walker_course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39222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1  ·  Slide 6 of 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0B4F6C"/>
                </a:solidFill>
                <a:latin typeface="Calibri"/>
              </a:rPr>
              <a:t>How your report will be marked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1  ·  Slide 7 of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50000"/>
          <a:ext cx="10730880" cy="4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666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Band</a:t>
                      </a:r>
                    </a:p>
                  </a:txBody>
                  <a:tcPr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Roughly</a:t>
                      </a:r>
                    </a:p>
                  </a:txBody>
                  <a:tcPr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looks like</a:t>
                      </a:r>
                    </a:p>
                  </a:txBody>
                  <a:tcPr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40–49%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Question present but vague/broad; some figures but not well-chosen; reads like a notebook summary rather than an argument.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50–59%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2:2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One reasonably specific question, answered with somewhat thin reasoning; figures mostly relevant; attribution present.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60–69%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2:1 — a solid, competent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A focused question, clearly and directly answered; 3–5 well-designed figures each earning its place; quantified, physically-interpreted evidence.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70–79%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First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Well-chosen question; figures show real physical insight; consistent Claim → Evidence → Interpretation → Qualification; independent scientific thinking in the Discussion.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6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80%+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Exceptional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All of the above, plus something beyond what was directly taught — an original angle or a careful treatment of a subtlety. Rare.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890000"/>
            <a:ext cx="1073088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>
                <a:solidFill>
                  <a:srgbClr val="555555"/>
                </a:solidFill>
                <a:latin typeface="Calibri"/>
              </a:rPr>
              <a:t>Full descriptors are in the handbook (§9). Same scheme every week — know it from day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0B4F6C"/>
                </a:solidFill>
                <a:latin typeface="Calibri"/>
              </a:rPr>
              <a:t>Today: get something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Open the project through Binder.</a:t>
            </a:r>
          </a:p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Run the notebook from the top.</a:t>
            </a:r>
          </a:p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Look at the first cloud figures.</a:t>
            </a:r>
          </a:p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Write down two patterns/regions that interest you.</a:t>
            </a:r>
          </a:p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Save your work: Binder sessions are temporary.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pic>
        <p:nvPicPr>
          <p:cNvPr id="5" name="Picture 4" descr="project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787044"/>
            <a:ext cx="5486400" cy="15582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1  ·  Slide 8 of 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notebook_shot_load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432" y="1325880"/>
            <a:ext cx="5435294" cy="14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7880" y="2735880"/>
            <a:ext cx="5486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What you will actually see when "0b. Load the data" finishes running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0B4F6C"/>
                </a:solidFill>
                <a:latin typeface="Calibri"/>
              </a:rPr>
              <a:t>Sources and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ERA5: ECMWF / Copernicus Climate Change Service.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ENSO and ONI: NOAA Climate.gov and NOAA Climate Prediction Center.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External science-image sources are identified on the relevant slides. Inserted source suggestions are NOAA/NASA public-sector science imagery.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All other diagrams marked as course-team schematics were created specifically for these tutorials.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1  ·  Slide 9 of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1115</Words>
  <Application>Microsoft Macintosh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Paul Connolly</cp:lastModifiedBy>
  <cp:revision>2</cp:revision>
  <dcterms:created xsi:type="dcterms:W3CDTF">2013-01-27T09:14:16Z</dcterms:created>
  <dcterms:modified xsi:type="dcterms:W3CDTF">2026-09-17T21:01:30Z</dcterms:modified>
  <cp:category/>
</cp:coreProperties>
</file>