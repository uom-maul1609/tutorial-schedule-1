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5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36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Point at it, don't read it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min. The one-sentence test: does this section answer my question?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 min. Funnel structure for the Introduction -- broad ENSO science down to their specific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 min. Methods describes the science/analysis choices, not Python syntax -- worth saying explicitly, it's the most common slip-up.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 min. Results vs Discussion have different jobs -- this is the trickiest distinction; use the two-box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 min. Claim -&gt; evidence -&gt; interpretation -&gt; qualification as a paragraph template they can literally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Quick recap, not a re-teach -- 'same scheme as week 1, here's where you are relative to it'.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min. Conclusion check -- no new results, 2-3 supported findings, answer the question directly.</a:t>
            </a:r>
          </a:p>
          <a:p>
            <a:endParaRPr/>
          </a:p>
          <a:p>
            <a:r>
              <a:t>Sources: ERA5 (ECMWF/Copernicus) and ENSO/ONI (NOAA Climate.gov, NOAA CPC). Full source list is on the closing slide of Tutorial 1 -- it applies to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400" b="1">
                <a:solidFill>
                  <a:srgbClr val="660099"/>
                </a:solidFill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Tutorial 6 — Write a short scientific story</a:t>
            </a:r>
          </a:p>
          <a:p>
            <a:pPr algn="ctr">
              <a:defRPr sz="2000"/>
            </a:pPr>
            <a:r>
              <a:rPr sz="1800" b="0" i="1">
                <a:solidFill>
                  <a:srgbClr val="E9F1F6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788919"/>
            <a:ext cx="1143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34495" y="342900"/>
            <a:ext cx="27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Tutorial 6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8000"/>
            <a:ext cx="60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E9F1F6"/>
                </a:solidFill>
                <a:latin typeface="Calibri"/>
              </a:rPr>
              <a:t>ENSO and cloud cover mini-project - tutorial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6B4A06"/>
                </a:solidFill>
                <a:latin typeface="Calibri"/>
              </a:rPr>
              <a:t>Today's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6  ·  Slide 1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20000"/>
            <a:ext cx="107308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B4A06"/>
                </a:solidFill>
                <a:latin typeface="Calibri"/>
              </a:rPr>
              <a:t>Goal: </a:t>
            </a:r>
            <a:r>
              <a:rPr sz="2000" b="1">
                <a:solidFill>
                  <a:srgbClr val="222222"/>
                </a:solidFill>
                <a:latin typeface="Calibri"/>
              </a:rPr>
              <a:t>Leave with a structured draft you can finish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0000"/>
            <a:ext cx="107308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Calibri"/>
              </a:rPr>
              <a:t>What you'll do today: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70000"/>
            <a:ext cx="420000" cy="420000"/>
          </a:xfrm>
          <a:prstGeom prst="ellipse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1520" y="256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See how a short report is one argument, not a diary of the notebook.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10000"/>
            <a:ext cx="420000" cy="420000"/>
          </a:xfrm>
          <a:prstGeom prst="ellipse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1520" y="320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Learn the funnel structure for the Introduction and what belongs in Methods.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50000"/>
            <a:ext cx="420000" cy="420000"/>
          </a:xfrm>
          <a:prstGeom prst="ellipse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1520" y="384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Practice writing around evidence: Claim → Evidence → Interpretation → Qualification.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90000"/>
            <a:ext cx="420000" cy="420000"/>
          </a:xfrm>
          <a:prstGeom prst="ellipse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1520" y="448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Run the final check against the Conclusion checklist before you leave.</a:t>
            </a:r>
          </a:p>
        </p:txBody>
      </p:sp>
      <p:sp>
        <p:nvSpPr>
          <p:cNvPr id="17" name="Oval 16"/>
          <p:cNvSpPr/>
          <p:nvPr/>
        </p:nvSpPr>
        <p:spPr>
          <a:xfrm>
            <a:off x="4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65847" y="6298000"/>
            <a:ext cx="260000" cy="260000"/>
          </a:xfrm>
          <a:prstGeom prst="ellipse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6038000"/>
            <a:ext cx="1219169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Tutorial 6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6B4A06"/>
                </a:solidFill>
                <a:latin typeface="Calibri"/>
              </a:rPr>
              <a:t>One question should hold the report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Do not write 'first I ran this code, then I made this plot'.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Organise around the research question.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Every section and figure should help answer it.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 narrow, well-interpreted report is the aim.</a:t>
            </a:r>
          </a:p>
        </p:txBody>
      </p:sp>
      <p:pic>
        <p:nvPicPr>
          <p:cNvPr id="4" name="Picture 3" descr="report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279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6  ·  Slide 2 of 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6B4A06"/>
                </a:solidFill>
                <a:latin typeface="Calibri"/>
              </a:rPr>
              <a:t>Introduction: funnel towards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What is ENSO?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Why can ENSO alter circulation and clouds?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What is interesting about your chosen cloud type/region/process?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What exactly will you investigate?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Finish with the research question (and hypothesis if useful).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6  ·  Slide 3 of 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eport_funnel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164674"/>
            <a:ext cx="5486400" cy="2711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6B4A06"/>
                </a:solidFill>
                <a:latin typeface="Calibri"/>
              </a:rPr>
              <a:t>Methods: science, not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ERA5 variable(s), period and region.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ONI and how ENSO is represented.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Anomaly/weighting calculation where relevant.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Composite, correlation, regression or lag ONLY if you use them.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Do not paste code or describe notebook cells.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6  ·  Slide 4 of 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6B4A06"/>
                </a:solidFill>
                <a:latin typeface="Calibri"/>
              </a:rPr>
              <a:t>Results versus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RESULTS: what pattern, sign, magnitude or relationship did you find?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DISCUSSION: what physical processes could explain it?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Use figures as evidence in Results.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Use atmospheric science to interpret them in Discussion.</a:t>
            </a:r>
          </a:p>
        </p:txBody>
      </p:sp>
      <p:pic>
        <p:nvPicPr>
          <p:cNvPr id="4" name="Picture 3" descr="results_discussion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5929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6  ·  Slide 5 of 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6B4A06"/>
                </a:solidFill>
                <a:latin typeface="Calibri"/>
              </a:rPr>
              <a:t>Write around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Claim → evidence → interpretation → qualification.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Quantify where possible: sign, magnitude, r/R², region.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Avoid narrating every colour on a map.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Compare analyses only when the comparison adds to the answer.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Report numbers with units, a baseline and a sample size, and caption every figure fully (Section 8 checklist).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6  ·  Slide 6 of 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idence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14884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6B4A06"/>
                </a:solidFill>
                <a:latin typeface="Calibri"/>
              </a:rPr>
              <a:t>Remember: how this gets marked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6  ·  Slide 7 of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50000"/>
          <a:ext cx="10730880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666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>
                    <a:solidFill>
                      <a:srgbClr val="6B4A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Roughly</a:t>
                      </a:r>
                    </a:p>
                  </a:txBody>
                  <a:tcPr>
                    <a:solidFill>
                      <a:srgbClr val="6B4A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looks like</a:t>
                      </a:r>
                    </a:p>
                  </a:txBody>
                  <a:tcPr>
                    <a:solidFill>
                      <a:srgbClr val="6B4A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40–49%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Question present but vague/broad; some figures but not well-chosen; reads like a notebook summary rather than an argument.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50–59%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2:2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One reasonably specific question, answered with somewhat thin reasoning; figures mostly relevant; attribution present.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60–69%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2:1 — a solid, competent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 focused question, clearly and directly answered; 3–5 well-designed figures each earning its place; quantified, physically-interpreted evidence.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6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70–79%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First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Well-chosen question; figures show real physical insight; consistent Claim → Evidence → Interpretation → Qualification; independent scientific thinking in the Discussion.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67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80%+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Exceptional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All of the above, plus something beyond what was directly taught — an original angle or a careful treatment of a subtlety. Rare.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6B4A06"/>
                </a:solidFill>
                <a:latin typeface="Calibri"/>
              </a:rPr>
              <a:t>Conclusion and final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Answer the question directly in a short paragraph.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Give 2–3 supported take-home findings.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No new analysis in the Conclusion.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Check every figure is referred to and every dataset/external image is attributed.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Ask: can I remove anything without weakening the answer?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6  ·  Slide 8 of 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6B4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nal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91590"/>
            <a:ext cx="5486400" cy="445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867</Words>
  <Application>Microsoft Macintosh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Paul Connolly</cp:lastModifiedBy>
  <cp:revision>2</cp:revision>
  <dcterms:created xsi:type="dcterms:W3CDTF">2013-01-27T09:14:16Z</dcterms:created>
  <dcterms:modified xsi:type="dcterms:W3CDTF">2026-09-17T21:03:33Z</dcterms:modified>
  <cp:category/>
</cp:coreProperties>
</file>